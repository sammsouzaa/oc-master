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8"/>
  </p:notesMasterIdLst>
  <p:sldIdLst>
    <p:sldId id="256" r:id="rId2"/>
    <p:sldId id="284" r:id="rId3"/>
    <p:sldId id="291" r:id="rId4"/>
    <p:sldId id="292" r:id="rId5"/>
    <p:sldId id="293" r:id="rId6"/>
    <p:sldId id="294" r:id="rId7"/>
    <p:sldId id="296" r:id="rId8"/>
    <p:sldId id="297" r:id="rId9"/>
    <p:sldId id="299" r:id="rId10"/>
    <p:sldId id="301" r:id="rId11"/>
    <p:sldId id="303" r:id="rId12"/>
    <p:sldId id="298" r:id="rId13"/>
    <p:sldId id="305" r:id="rId14"/>
    <p:sldId id="306" r:id="rId15"/>
    <p:sldId id="308" r:id="rId16"/>
    <p:sldId id="307" r:id="rId17"/>
    <p:sldId id="313" r:id="rId18"/>
    <p:sldId id="314" r:id="rId19"/>
    <p:sldId id="315" r:id="rId20"/>
    <p:sldId id="309" r:id="rId21"/>
    <p:sldId id="310" r:id="rId22"/>
    <p:sldId id="311" r:id="rId23"/>
    <p:sldId id="353" r:id="rId24"/>
    <p:sldId id="312" r:id="rId25"/>
    <p:sldId id="317" r:id="rId26"/>
    <p:sldId id="316" r:id="rId27"/>
    <p:sldId id="319" r:id="rId28"/>
    <p:sldId id="318" r:id="rId29"/>
    <p:sldId id="320" r:id="rId30"/>
    <p:sldId id="321" r:id="rId31"/>
    <p:sldId id="322" r:id="rId32"/>
    <p:sldId id="323" r:id="rId33"/>
    <p:sldId id="300" r:id="rId34"/>
    <p:sldId id="324" r:id="rId35"/>
    <p:sldId id="352" r:id="rId36"/>
    <p:sldId id="448" r:id="rId37"/>
    <p:sldId id="450" r:id="rId38"/>
    <p:sldId id="325" r:id="rId39"/>
    <p:sldId id="326" r:id="rId40"/>
    <p:sldId id="327" r:id="rId41"/>
    <p:sldId id="328" r:id="rId42"/>
    <p:sldId id="329" r:id="rId43"/>
    <p:sldId id="330" r:id="rId44"/>
    <p:sldId id="460" r:id="rId45"/>
    <p:sldId id="461" r:id="rId46"/>
    <p:sldId id="333" r:id="rId47"/>
    <p:sldId id="331" r:id="rId48"/>
    <p:sldId id="451" r:id="rId49"/>
    <p:sldId id="453" r:id="rId50"/>
    <p:sldId id="340" r:id="rId51"/>
    <p:sldId id="452" r:id="rId52"/>
    <p:sldId id="455" r:id="rId53"/>
    <p:sldId id="454" r:id="rId54"/>
    <p:sldId id="457" r:id="rId55"/>
    <p:sldId id="458" r:id="rId56"/>
    <p:sldId id="459" r:id="rId57"/>
    <p:sldId id="341" r:id="rId58"/>
    <p:sldId id="335" r:id="rId59"/>
    <p:sldId id="342" r:id="rId60"/>
    <p:sldId id="343" r:id="rId61"/>
    <p:sldId id="334" r:id="rId62"/>
    <p:sldId id="332" r:id="rId63"/>
    <p:sldId id="336" r:id="rId64"/>
    <p:sldId id="337" r:id="rId65"/>
    <p:sldId id="338" r:id="rId66"/>
    <p:sldId id="345" r:id="rId67"/>
    <p:sldId id="346" r:id="rId68"/>
    <p:sldId id="344" r:id="rId69"/>
    <p:sldId id="339" r:id="rId70"/>
    <p:sldId id="347" r:id="rId71"/>
    <p:sldId id="348" r:id="rId72"/>
    <p:sldId id="349" r:id="rId73"/>
    <p:sldId id="350" r:id="rId74"/>
    <p:sldId id="351" r:id="rId75"/>
    <p:sldId id="354" r:id="rId76"/>
    <p:sldId id="355" r:id="rId77"/>
    <p:sldId id="357" r:id="rId78"/>
    <p:sldId id="358" r:id="rId79"/>
    <p:sldId id="359" r:id="rId80"/>
    <p:sldId id="360" r:id="rId81"/>
    <p:sldId id="362" r:id="rId82"/>
    <p:sldId id="364" r:id="rId83"/>
    <p:sldId id="363" r:id="rId84"/>
    <p:sldId id="361" r:id="rId85"/>
    <p:sldId id="365" r:id="rId86"/>
    <p:sldId id="434" r:id="rId87"/>
    <p:sldId id="367" r:id="rId88"/>
    <p:sldId id="366" r:id="rId89"/>
    <p:sldId id="368" r:id="rId90"/>
    <p:sldId id="369" r:id="rId91"/>
    <p:sldId id="370" r:id="rId92"/>
    <p:sldId id="371" r:id="rId93"/>
    <p:sldId id="372" r:id="rId94"/>
    <p:sldId id="373" r:id="rId95"/>
    <p:sldId id="435" r:id="rId96"/>
    <p:sldId id="374" r:id="rId97"/>
    <p:sldId id="375" r:id="rId98"/>
    <p:sldId id="376" r:id="rId99"/>
    <p:sldId id="377" r:id="rId100"/>
    <p:sldId id="436" r:id="rId101"/>
    <p:sldId id="438" r:id="rId102"/>
    <p:sldId id="437" r:id="rId103"/>
    <p:sldId id="440" r:id="rId104"/>
    <p:sldId id="441" r:id="rId105"/>
    <p:sldId id="442" r:id="rId106"/>
    <p:sldId id="443" r:id="rId107"/>
    <p:sldId id="444" r:id="rId108"/>
    <p:sldId id="445" r:id="rId109"/>
    <p:sldId id="446" r:id="rId110"/>
    <p:sldId id="447" r:id="rId111"/>
    <p:sldId id="378" r:id="rId112"/>
    <p:sldId id="462" r:id="rId113"/>
    <p:sldId id="379" r:id="rId114"/>
    <p:sldId id="380" r:id="rId115"/>
    <p:sldId id="381" r:id="rId116"/>
    <p:sldId id="382" r:id="rId117"/>
    <p:sldId id="384" r:id="rId118"/>
    <p:sldId id="385" r:id="rId119"/>
    <p:sldId id="386" r:id="rId120"/>
    <p:sldId id="388" r:id="rId121"/>
    <p:sldId id="463" r:id="rId122"/>
    <p:sldId id="389" r:id="rId123"/>
    <p:sldId id="390" r:id="rId124"/>
    <p:sldId id="392" r:id="rId125"/>
    <p:sldId id="393" r:id="rId126"/>
    <p:sldId id="391" r:id="rId127"/>
    <p:sldId id="394" r:id="rId128"/>
    <p:sldId id="395" r:id="rId129"/>
    <p:sldId id="396" r:id="rId130"/>
    <p:sldId id="398" r:id="rId131"/>
    <p:sldId id="400" r:id="rId132"/>
    <p:sldId id="397" r:id="rId133"/>
    <p:sldId id="401" r:id="rId134"/>
    <p:sldId id="402" r:id="rId135"/>
    <p:sldId id="403" r:id="rId136"/>
    <p:sldId id="404" r:id="rId137"/>
    <p:sldId id="405" r:id="rId138"/>
    <p:sldId id="406" r:id="rId139"/>
    <p:sldId id="407" r:id="rId140"/>
    <p:sldId id="408" r:id="rId141"/>
    <p:sldId id="410" r:id="rId142"/>
    <p:sldId id="412" r:id="rId143"/>
    <p:sldId id="409" r:id="rId144"/>
    <p:sldId id="411" r:id="rId145"/>
    <p:sldId id="414" r:id="rId146"/>
    <p:sldId id="413" r:id="rId147"/>
    <p:sldId id="415" r:id="rId148"/>
    <p:sldId id="416" r:id="rId149"/>
    <p:sldId id="417" r:id="rId150"/>
    <p:sldId id="418" r:id="rId151"/>
    <p:sldId id="419" r:id="rId152"/>
    <p:sldId id="420" r:id="rId153"/>
    <p:sldId id="421" r:id="rId154"/>
    <p:sldId id="422" r:id="rId155"/>
    <p:sldId id="423" r:id="rId156"/>
    <p:sldId id="424" r:id="rId157"/>
    <p:sldId id="425" r:id="rId158"/>
    <p:sldId id="426" r:id="rId159"/>
    <p:sldId id="427" r:id="rId160"/>
    <p:sldId id="428" r:id="rId161"/>
    <p:sldId id="429" r:id="rId162"/>
    <p:sldId id="432" r:id="rId163"/>
    <p:sldId id="430" r:id="rId164"/>
    <p:sldId id="431" r:id="rId165"/>
    <p:sldId id="282" r:id="rId166"/>
    <p:sldId id="295" r:id="rId1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8B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D5C050-8EC5-44F9-8C0C-D127BE865922}" v="1" dt="2026-09-15T12:13:46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35" autoAdjust="0"/>
  </p:normalViewPr>
  <p:slideViewPr>
    <p:cSldViewPr snapToGrid="0" showGuides="1">
      <p:cViewPr varScale="1">
        <p:scale>
          <a:sx n="75" d="100"/>
          <a:sy n="75" d="100"/>
        </p:scale>
        <p:origin x="1622" y="43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viewProps" Target="view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theme" Target="theme/theme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customXml" Target="../customXml/item3.xml"/><Relationship Id="rId172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microsoft.com/office/2015/10/relationships/revisionInfo" Target="revisionInfo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customXml" Target="../customXml/item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customXml" Target="../customXml/item2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2A30EAE0-20CD-46EA-A10B-ED45FE71C15D}"/>
    <pc:docChg chg="undo custSel addSld modSld">
      <pc:chgData name="matheus raffael simon" userId="b81fe4e685964744" providerId="LiveId" clId="{2A30EAE0-20CD-46EA-A10B-ED45FE71C15D}" dt="2026-09-15T12:13:57.086" v="553" actId="1076"/>
      <pc:docMkLst>
        <pc:docMk/>
      </pc:docMkLst>
      <pc:sldChg chg="addSp delSp modSp mod">
        <pc:chgData name="matheus raffael simon" userId="b81fe4e685964744" providerId="LiveId" clId="{2A30EAE0-20CD-46EA-A10B-ED45FE71C15D}" dt="2026-09-07T20:54:11.822" v="538" actId="20577"/>
        <pc:sldMkLst>
          <pc:docMk/>
          <pc:sldMk cId="304507065" sldId="303"/>
        </pc:sldMkLst>
        <pc:spChg chg="add mod">
          <ac:chgData name="matheus raffael simon" userId="b81fe4e685964744" providerId="LiveId" clId="{2A30EAE0-20CD-46EA-A10B-ED45FE71C15D}" dt="2026-09-07T20:54:11.822" v="538" actId="20577"/>
          <ac:spMkLst>
            <pc:docMk/>
            <pc:sldMk cId="304507065" sldId="303"/>
            <ac:spMk id="3" creationId="{929E0693-7BC3-EC2D-8202-C16F30329272}"/>
          </ac:spMkLst>
        </pc:spChg>
      </pc:sldChg>
      <pc:sldChg chg="modSp">
        <pc:chgData name="matheus raffael simon" userId="b81fe4e685964744" providerId="LiveId" clId="{2A30EAE0-20CD-46EA-A10B-ED45FE71C15D}" dt="2026-09-08T11:32:14.426" v="539" actId="20577"/>
        <pc:sldMkLst>
          <pc:docMk/>
          <pc:sldMk cId="101339394" sldId="306"/>
        </pc:sldMkLst>
        <pc:spChg chg="mod">
          <ac:chgData name="matheus raffael simon" userId="b81fe4e685964744" providerId="LiveId" clId="{2A30EAE0-20CD-46EA-A10B-ED45FE71C15D}" dt="2026-09-08T11:32:14.426" v="539" actId="20577"/>
          <ac:spMkLst>
            <pc:docMk/>
            <pc:sldMk cId="101339394" sldId="306"/>
            <ac:spMk id="45" creationId="{19ABC0D4-70D6-4228-89D2-D470CD25EC24}"/>
          </ac:spMkLst>
        </pc:spChg>
      </pc:sldChg>
      <pc:sldChg chg="addSp modSp mod">
        <pc:chgData name="matheus raffael simon" userId="b81fe4e685964744" providerId="LiveId" clId="{2A30EAE0-20CD-46EA-A10B-ED45FE71C15D}" dt="2026-09-15T12:13:57.086" v="553" actId="1076"/>
        <pc:sldMkLst>
          <pc:docMk/>
          <pc:sldMk cId="2711408570" sldId="344"/>
        </pc:sldMkLst>
        <pc:spChg chg="add mod">
          <ac:chgData name="matheus raffael simon" userId="b81fe4e685964744" providerId="LiveId" clId="{2A30EAE0-20CD-46EA-A10B-ED45FE71C15D}" dt="2026-09-15T12:13:57.086" v="553" actId="1076"/>
          <ac:spMkLst>
            <pc:docMk/>
            <pc:sldMk cId="2711408570" sldId="344"/>
            <ac:spMk id="6" creationId="{28DB04DB-BC71-82A5-CF00-E544806ACD18}"/>
          </ac:spMkLst>
        </pc:spChg>
        <pc:cxnChg chg="add mod">
          <ac:chgData name="matheus raffael simon" userId="b81fe4e685964744" providerId="LiveId" clId="{2A30EAE0-20CD-46EA-A10B-ED45FE71C15D}" dt="2026-09-15T12:13:27.968" v="543" actId="208"/>
          <ac:cxnSpMkLst>
            <pc:docMk/>
            <pc:sldMk cId="2711408570" sldId="344"/>
            <ac:cxnSpMk id="5" creationId="{B8A472E2-5E82-8BF1-FB11-F48EF883C749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2025\Disciplinas\OC\Col&#244;nia%20de%20Formiga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Planilha3!$O$26</c:f>
              <c:strCache>
                <c:ptCount val="1"/>
                <c:pt idx="0">
                  <c:v>AB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5C9-44BF-AAB0-5818E7C7DA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Planilha3!$O$27:$O$37</c:f>
              <c:numCache>
                <c:formatCode>0.0000</c:formatCode>
                <c:ptCount val="11"/>
                <c:pt idx="0">
                  <c:v>1</c:v>
                </c:pt>
                <c:pt idx="1">
                  <c:v>1.3769285714285715</c:v>
                </c:pt>
                <c:pt idx="2">
                  <c:v>1.5447357142857143</c:v>
                </c:pt>
                <c:pt idx="3">
                  <c:v>1.7235621428571428</c:v>
                </c:pt>
                <c:pt idx="4">
                  <c:v>1.8845059285714285</c:v>
                </c:pt>
                <c:pt idx="5">
                  <c:v>2.0293553357142859</c:v>
                </c:pt>
                <c:pt idx="6">
                  <c:v>2.1597198021428574</c:v>
                </c:pt>
                <c:pt idx="7">
                  <c:v>2.2770478219285719</c:v>
                </c:pt>
                <c:pt idx="8">
                  <c:v>2.3826430397357146</c:v>
                </c:pt>
                <c:pt idx="9">
                  <c:v>2.4776787357621433</c:v>
                </c:pt>
                <c:pt idx="10">
                  <c:v>2.5632108621859291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C9-44BF-AAB0-5818E7C7DADD}"/>
            </c:ext>
          </c:extLst>
        </c:ser>
        <c:ser>
          <c:idx val="2"/>
          <c:order val="1"/>
          <c:tx>
            <c:strRef>
              <c:f>Planilha3!$P$26</c:f>
              <c:strCache>
                <c:ptCount val="1"/>
                <c:pt idx="0">
                  <c:v>AC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Planilha3!$P$27:$P$37</c:f>
              <c:numCache>
                <c:formatCode>0.0000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1.2000000000000002</c:v>
                </c:pt>
                <c:pt idx="3">
                  <c:v>1.3800000000000006</c:v>
                </c:pt>
                <c:pt idx="4">
                  <c:v>1.5420000000000007</c:v>
                </c:pt>
                <c:pt idx="5">
                  <c:v>1.6878000000000009</c:v>
                </c:pt>
                <c:pt idx="6">
                  <c:v>1.819020000000001</c:v>
                </c:pt>
                <c:pt idx="7">
                  <c:v>1.9371180000000012</c:v>
                </c:pt>
                <c:pt idx="8">
                  <c:v>2.0434062000000015</c:v>
                </c:pt>
                <c:pt idx="9">
                  <c:v>2.1390655800000014</c:v>
                </c:pt>
                <c:pt idx="10">
                  <c:v>2.2251590220000015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5C9-44BF-AAB0-5818E7C7DADD}"/>
            </c:ext>
          </c:extLst>
        </c:ser>
        <c:ser>
          <c:idx val="3"/>
          <c:order val="2"/>
          <c:tx>
            <c:strRef>
              <c:f>Planilha3!$Q$26</c:f>
              <c:strCache>
                <c:ptCount val="1"/>
                <c:pt idx="0">
                  <c:v>BD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Planilha3!$Q$27:$Q$37</c:f>
              <c:numCache>
                <c:formatCode>0.0000</c:formatCode>
                <c:ptCount val="11"/>
                <c:pt idx="0">
                  <c:v>1</c:v>
                </c:pt>
                <c:pt idx="1">
                  <c:v>1.0547285714285715</c:v>
                </c:pt>
                <c:pt idx="2">
                  <c:v>1.0325557142857142</c:v>
                </c:pt>
                <c:pt idx="3">
                  <c:v>0.9293001428571428</c:v>
                </c:pt>
                <c:pt idx="4">
                  <c:v>0.83637012857142856</c:v>
                </c:pt>
                <c:pt idx="5">
                  <c:v>0.75273311571428569</c:v>
                </c:pt>
                <c:pt idx="6">
                  <c:v>0.67745980414285711</c:v>
                </c:pt>
                <c:pt idx="7">
                  <c:v>0.60971382372857141</c:v>
                </c:pt>
                <c:pt idx="8">
                  <c:v>0.54874244135571426</c:v>
                </c:pt>
                <c:pt idx="9">
                  <c:v>0.49386819722014286</c:v>
                </c:pt>
                <c:pt idx="10">
                  <c:v>0.4444813774981286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5C9-44BF-AAB0-5818E7C7DADD}"/>
            </c:ext>
          </c:extLst>
        </c:ser>
        <c:ser>
          <c:idx val="4"/>
          <c:order val="3"/>
          <c:tx>
            <c:strRef>
              <c:f>Planilha3!$R$26</c:f>
              <c:strCache>
                <c:ptCount val="1"/>
                <c:pt idx="0">
                  <c:v>BE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Planilha3!$R$27:$R$37</c:f>
              <c:numCache>
                <c:formatCode>0.0000</c:formatCode>
                <c:ptCount val="11"/>
                <c:pt idx="0">
                  <c:v>1</c:v>
                </c:pt>
                <c:pt idx="1">
                  <c:v>1.2222000000000002</c:v>
                </c:pt>
                <c:pt idx="2">
                  <c:v>1.3221800000000001</c:v>
                </c:pt>
                <c:pt idx="3">
                  <c:v>1.5232620000000001</c:v>
                </c:pt>
                <c:pt idx="4">
                  <c:v>1.7042358</c:v>
                </c:pt>
                <c:pt idx="5">
                  <c:v>1.8671122199999999</c:v>
                </c:pt>
                <c:pt idx="6">
                  <c:v>2.013700998</c:v>
                </c:pt>
                <c:pt idx="7">
                  <c:v>2.1456308982000003</c:v>
                </c:pt>
                <c:pt idx="8">
                  <c:v>2.2643678083800003</c:v>
                </c:pt>
                <c:pt idx="9">
                  <c:v>2.3712310275420001</c:v>
                </c:pt>
                <c:pt idx="10">
                  <c:v>2.4674079247878002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5C9-44BF-AAB0-5818E7C7DADD}"/>
            </c:ext>
          </c:extLst>
        </c:ser>
        <c:ser>
          <c:idx val="5"/>
          <c:order val="4"/>
          <c:tx>
            <c:strRef>
              <c:f>Planilha3!$S$26</c:f>
              <c:strCache>
                <c:ptCount val="1"/>
                <c:pt idx="0">
                  <c:v>CD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Planilha3!$S$27:$S$37</c:f>
              <c:numCache>
                <c:formatCode>0.0000</c:formatCode>
                <c:ptCount val="11"/>
                <c:pt idx="0">
                  <c:v>1</c:v>
                </c:pt>
                <c:pt idx="1">
                  <c:v>0.97142857142857142</c:v>
                </c:pt>
                <c:pt idx="2">
                  <c:v>1.0742857142857143</c:v>
                </c:pt>
                <c:pt idx="3">
                  <c:v>1.2668571428571431</c:v>
                </c:pt>
                <c:pt idx="4">
                  <c:v>1.4401714285714291</c:v>
                </c:pt>
                <c:pt idx="5">
                  <c:v>1.5961542857142865</c:v>
                </c:pt>
                <c:pt idx="6">
                  <c:v>1.7365388571428582</c:v>
                </c:pt>
                <c:pt idx="7">
                  <c:v>1.8628849714285727</c:v>
                </c:pt>
                <c:pt idx="8">
                  <c:v>1.9765964742857156</c:v>
                </c:pt>
                <c:pt idx="9">
                  <c:v>2.0789368268571442</c:v>
                </c:pt>
                <c:pt idx="10">
                  <c:v>2.17104314417143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5C9-44BF-AAB0-5818E7C7DADD}"/>
            </c:ext>
          </c:extLst>
        </c:ser>
        <c:ser>
          <c:idx val="6"/>
          <c:order val="5"/>
          <c:tx>
            <c:strRef>
              <c:f>Planilha3!$T$26</c:f>
              <c:strCache>
                <c:ptCount val="1"/>
                <c:pt idx="0">
                  <c:v>CF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Planilha3!$T$27:$T$37</c:f>
              <c:numCache>
                <c:formatCode>0.0000</c:formatCode>
                <c:ptCount val="11"/>
                <c:pt idx="0">
                  <c:v>1</c:v>
                </c:pt>
                <c:pt idx="1">
                  <c:v>1.0714000000000001</c:v>
                </c:pt>
                <c:pt idx="2">
                  <c:v>1.0642600000000002</c:v>
                </c:pt>
                <c:pt idx="3">
                  <c:v>0.95783400000000019</c:v>
                </c:pt>
                <c:pt idx="4">
                  <c:v>0.86205060000000022</c:v>
                </c:pt>
                <c:pt idx="5">
                  <c:v>0.77584554000000017</c:v>
                </c:pt>
                <c:pt idx="6">
                  <c:v>0.69826098600000019</c:v>
                </c:pt>
                <c:pt idx="7">
                  <c:v>0.6284348874000002</c:v>
                </c:pt>
                <c:pt idx="8">
                  <c:v>0.56559139866000019</c:v>
                </c:pt>
                <c:pt idx="9">
                  <c:v>0.50903225879400016</c:v>
                </c:pt>
                <c:pt idx="10">
                  <c:v>0.45812903291460016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5C9-44BF-AAB0-5818E7C7DADD}"/>
            </c:ext>
          </c:extLst>
        </c:ser>
        <c:ser>
          <c:idx val="7"/>
          <c:order val="6"/>
          <c:tx>
            <c:strRef>
              <c:f>Planilha3!$U$26</c:f>
              <c:strCache>
                <c:ptCount val="1"/>
                <c:pt idx="0">
                  <c:v>DG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Planilha3!$U$27:$U$37</c:f>
              <c:numCache>
                <c:formatCode>0.0000</c:formatCode>
                <c:ptCount val="11"/>
                <c:pt idx="0">
                  <c:v>1</c:v>
                </c:pt>
                <c:pt idx="1">
                  <c:v>0.98330000000000006</c:v>
                </c:pt>
                <c:pt idx="2">
                  <c:v>1.1682700000000001</c:v>
                </c:pt>
                <c:pt idx="3">
                  <c:v>1.3514430000000004</c:v>
                </c:pt>
                <c:pt idx="4">
                  <c:v>1.5162987000000006</c:v>
                </c:pt>
                <c:pt idx="5">
                  <c:v>1.6646688300000008</c:v>
                </c:pt>
                <c:pt idx="6">
                  <c:v>1.798201947000001</c:v>
                </c:pt>
                <c:pt idx="7">
                  <c:v>1.9183817523000013</c:v>
                </c:pt>
                <c:pt idx="8">
                  <c:v>2.0265435770700013</c:v>
                </c:pt>
                <c:pt idx="9">
                  <c:v>2.1238892193630012</c:v>
                </c:pt>
                <c:pt idx="10">
                  <c:v>2.2115002974267015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45C9-44BF-AAB0-5818E7C7DADD}"/>
            </c:ext>
          </c:extLst>
        </c:ser>
        <c:ser>
          <c:idx val="8"/>
          <c:order val="7"/>
          <c:tx>
            <c:strRef>
              <c:f>Planilha3!$V$26</c:f>
              <c:strCache>
                <c:ptCount val="1"/>
                <c:pt idx="0">
                  <c:v>EG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Planilha3!$V$27:$V$37</c:f>
              <c:numCache>
                <c:formatCode>0.0000</c:formatCode>
                <c:ptCount val="11"/>
                <c:pt idx="0">
                  <c:v>1</c:v>
                </c:pt>
                <c:pt idx="1">
                  <c:v>1.2222000000000002</c:v>
                </c:pt>
                <c:pt idx="2">
                  <c:v>1.3221800000000001</c:v>
                </c:pt>
                <c:pt idx="3">
                  <c:v>1.5232620000000001</c:v>
                </c:pt>
                <c:pt idx="4">
                  <c:v>1.7042358</c:v>
                </c:pt>
                <c:pt idx="5">
                  <c:v>1.8671122199999999</c:v>
                </c:pt>
                <c:pt idx="6">
                  <c:v>2.013700998</c:v>
                </c:pt>
                <c:pt idx="7">
                  <c:v>2.1456308982000003</c:v>
                </c:pt>
                <c:pt idx="8">
                  <c:v>2.2643678083800003</c:v>
                </c:pt>
                <c:pt idx="9">
                  <c:v>2.3712310275420001</c:v>
                </c:pt>
                <c:pt idx="10">
                  <c:v>2.4674079247878002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45C9-44BF-AAB0-5818E7C7DADD}"/>
            </c:ext>
          </c:extLst>
        </c:ser>
        <c:ser>
          <c:idx val="9"/>
          <c:order val="8"/>
          <c:tx>
            <c:strRef>
              <c:f>Planilha3!$W$26</c:f>
              <c:strCache>
                <c:ptCount val="1"/>
                <c:pt idx="0">
                  <c:v>FG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5C9-44BF-AAB0-5818E7C7DA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Planilha3!$W$27:$W$37</c:f>
              <c:numCache>
                <c:formatCode>0.0000</c:formatCode>
                <c:ptCount val="11"/>
                <c:pt idx="0">
                  <c:v>1</c:v>
                </c:pt>
                <c:pt idx="1">
                  <c:v>1.0714300000000001</c:v>
                </c:pt>
                <c:pt idx="2">
                  <c:v>1.0642870000000002</c:v>
                </c:pt>
                <c:pt idx="3">
                  <c:v>0.95785830000000016</c:v>
                </c:pt>
                <c:pt idx="4">
                  <c:v>0.8620724700000002</c:v>
                </c:pt>
                <c:pt idx="5">
                  <c:v>0.77586522300000016</c:v>
                </c:pt>
                <c:pt idx="6">
                  <c:v>0.6982787007000002</c:v>
                </c:pt>
                <c:pt idx="7">
                  <c:v>0.62845083063000018</c:v>
                </c:pt>
                <c:pt idx="8">
                  <c:v>0.56560574756700022</c:v>
                </c:pt>
                <c:pt idx="9">
                  <c:v>0.50904517281030026</c:v>
                </c:pt>
                <c:pt idx="10">
                  <c:v>0.45814065552927025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45C9-44BF-AAB0-5818E7C7DA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40099752"/>
        <c:axId val="340098440"/>
      </c:lineChart>
      <c:catAx>
        <c:axId val="3400997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 sz="1200">
                    <a:solidFill>
                      <a:sysClr val="windowText" lastClr="000000"/>
                    </a:solidFill>
                  </a:rPr>
                  <a:t>Iterações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40098440"/>
        <c:crosses val="autoZero"/>
        <c:auto val="1"/>
        <c:lblAlgn val="ctr"/>
        <c:lblOffset val="100"/>
        <c:noMultiLvlLbl val="0"/>
      </c:catAx>
      <c:valAx>
        <c:axId val="340098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>
                    <a:solidFill>
                      <a:sysClr val="windowText" lastClr="000000"/>
                    </a:solidFill>
                  </a:rPr>
                  <a:t>Quantidade de Feromônio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0.0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40099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DEED8-6BED-4F13-8C8A-863D4F82DE30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EBCED-39D9-4F30-9C0A-5B616ECD8E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81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9156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013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Logo, cada aresta que a formiga F1 percorreu (1–4, 4–2, 2–3, 3–1) recebe 0,6667 unidades de feromônio.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64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741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CEB06C5-9180-47A5-9CD9-3F1B3EC9F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11404-A1A2-4B02-B337-B530A37B3E59}" type="datetime1">
              <a:rPr lang="pt-BR" smtClean="0"/>
              <a:t>07/09/2026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6515F0A-B9EE-48F0-A501-102F477B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321D10-4545-41D6-B331-0EECB55E5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88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2300" y="285750"/>
            <a:ext cx="6623050" cy="790574"/>
          </a:xfrm>
        </p:spPr>
        <p:txBody>
          <a:bodyPr/>
          <a:lstStyle>
            <a:lvl1pPr algn="ctr">
              <a:defRPr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u="sng"/>
            </a:lvl1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5FE6-B6AA-4F1D-8740-CEAA95B701AE}" type="datetime1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142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40113-B93C-4864-BEF0-38E6CFFE8DD3}" type="datetime1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03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0DEC1-A850-4808-8A12-A222F9DBC54B}" type="datetime1">
              <a:rPr lang="pt-BR" smtClean="0"/>
              <a:t>07/09/2026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6750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9DF1-721C-471C-BAFC-499D0CBBBEB1}" type="datetime1">
              <a:rPr lang="pt-BR" smtClean="0"/>
              <a:t>07/09/2026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7520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D371-3D5F-44DF-A934-24AD5EAF3779}" type="datetime1">
              <a:rPr lang="pt-BR" smtClean="0"/>
              <a:t>07/09/2026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917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B045C-34DC-4715-9E71-7DFF8682A16E}" type="datetime1">
              <a:rPr lang="pt-BR" smtClean="0"/>
              <a:t>07/09/2026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2859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16BB-661A-4ED1-B912-136C19B1066B}" type="datetime1">
              <a:rPr lang="pt-BR" smtClean="0"/>
              <a:t>07/09/2026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294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99DD4-189B-4E07-8D5D-844B1590078C}" type="datetime1">
              <a:rPr lang="pt-BR" smtClean="0"/>
              <a:t>07/09/2026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3165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0829-A9A7-4598-9149-E87CFA7AE371}" type="datetime1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9696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39CF-83F6-4F5E-A0DD-84FE79B04ADA}" type="datetime1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59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C9B1D-949C-4CA9-BF7D-41E59A275EA0}" type="datetime1">
              <a:rPr lang="pt-BR" smtClean="0"/>
              <a:t>07/09/2026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98B52"/>
                </a:solidFill>
              </a:defRPr>
            </a:lvl1pPr>
          </a:lstStyle>
          <a:p>
            <a:r>
              <a:rPr lang="pt-BR"/>
              <a:t>Otimização Combinatória 2024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298B52"/>
                </a:solidFill>
              </a:defRPr>
            </a:lvl1pPr>
          </a:lstStyle>
          <a:p>
            <a:fld id="{91C2A521-5815-4629-9305-32B7ECC1C04A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C7EC6E4-B348-4B5B-8517-74C9A11A4025}"/>
              </a:ext>
            </a:extLst>
          </p:cNvPr>
          <p:cNvSpPr/>
          <p:nvPr userDrawn="1"/>
        </p:nvSpPr>
        <p:spPr>
          <a:xfrm>
            <a:off x="1" y="1"/>
            <a:ext cx="9144000" cy="1325563"/>
          </a:xfrm>
          <a:prstGeom prst="rect">
            <a:avLst/>
          </a:prstGeom>
          <a:solidFill>
            <a:srgbClr val="298B52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pic>
        <p:nvPicPr>
          <p:cNvPr id="10" name="Imagem 9" descr="Uma imagem contendo material de papelaria, lápis&#10;&#10;Descrição gerada automaticamente">
            <a:extLst>
              <a:ext uri="{FF2B5EF4-FFF2-40B4-BE49-F238E27FC236}">
                <a16:creationId xmlns:a16="http://schemas.microsoft.com/office/drawing/2014/main" id="{205EF4E5-AF27-42B7-B553-C06E34360BB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532" y="62323"/>
            <a:ext cx="1849066" cy="132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59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emf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4235.585892" TargetMode="External"/><Relationship Id="rId2" Type="http://schemas.openxmlformats.org/officeDocument/2006/relationships/hyperlink" Target="https://doi.org/10.1162/10645469956872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j.cogsys.2007.06.009" TargetMode="Externa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hyperlink" Target="http://dx.doi.org/10.13140/RG.2.2.19853.3632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40843F8C-1F1B-4309-9BB1-ACADCB734F21}"/>
              </a:ext>
            </a:extLst>
          </p:cNvPr>
          <p:cNvSpPr/>
          <p:nvPr/>
        </p:nvSpPr>
        <p:spPr>
          <a:xfrm>
            <a:off x="0" y="1704026"/>
            <a:ext cx="9144000" cy="1485741"/>
          </a:xfrm>
          <a:prstGeom prst="rect">
            <a:avLst/>
          </a:prstGeom>
          <a:solidFill>
            <a:srgbClr val="298B5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C809DA3-1BE5-4FB3-81F8-9D037262E4F9}"/>
              </a:ext>
            </a:extLst>
          </p:cNvPr>
          <p:cNvSpPr txBox="1">
            <a:spLocks/>
          </p:cNvSpPr>
          <p:nvPr/>
        </p:nvSpPr>
        <p:spPr>
          <a:xfrm>
            <a:off x="1044942" y="2051609"/>
            <a:ext cx="7070725" cy="7905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5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+mn-lt"/>
              </a:rPr>
              <a:t>Otimização Combinatória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2E217D7-099A-4AE2-9799-FF59C27D7FAB}"/>
              </a:ext>
            </a:extLst>
          </p:cNvPr>
          <p:cNvSpPr/>
          <p:nvPr/>
        </p:nvSpPr>
        <p:spPr>
          <a:xfrm>
            <a:off x="0" y="0"/>
            <a:ext cx="9144000" cy="16636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54B5864-D2FD-4238-B1B5-0AD7B58B48C7}"/>
              </a:ext>
            </a:extLst>
          </p:cNvPr>
          <p:cNvSpPr txBox="1"/>
          <p:nvPr/>
        </p:nvSpPr>
        <p:spPr>
          <a:xfrm>
            <a:off x="3663322" y="5259581"/>
            <a:ext cx="26002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Matheus Raffael Simon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0D3277-FFCD-403E-9A91-B6E35EC93598}"/>
              </a:ext>
            </a:extLst>
          </p:cNvPr>
          <p:cNvSpPr txBox="1"/>
          <p:nvPr/>
        </p:nvSpPr>
        <p:spPr>
          <a:xfrm>
            <a:off x="4230613" y="6268308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2025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8556100-2B4A-4B9C-ABE2-3313DAA2EA03}"/>
              </a:ext>
            </a:extLst>
          </p:cNvPr>
          <p:cNvSpPr txBox="1">
            <a:spLocks/>
          </p:cNvSpPr>
          <p:nvPr/>
        </p:nvSpPr>
        <p:spPr>
          <a:xfrm>
            <a:off x="1044942" y="3184635"/>
            <a:ext cx="7070725" cy="7905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ln w="12700">
                  <a:solidFill>
                    <a:schemeClr val="tx1"/>
                  </a:solidFill>
                </a:ln>
                <a:solidFill>
                  <a:srgbClr val="298B52"/>
                </a:solidFill>
                <a:latin typeface="+mn-lt"/>
              </a:rPr>
              <a:t>Colônia de Formigas</a:t>
            </a:r>
          </a:p>
        </p:txBody>
      </p:sp>
    </p:spTree>
    <p:extLst>
      <p:ext uri="{BB962C8B-B14F-4D97-AF65-F5344CB8AC3E}">
        <p14:creationId xmlns:p14="http://schemas.microsoft.com/office/powerpoint/2010/main" val="62381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B4C85-2609-4A2B-A9AA-1C2E9EAC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8DCC3B-ED7F-4C6E-BD56-F547A1D0A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u="none" dirty="0"/>
              <a:t>Proposta no início dos anos 90 fruto da pesquisa de doutorado de Marco </a:t>
            </a:r>
            <a:r>
              <a:rPr lang="pt-BR" u="none" dirty="0" err="1"/>
              <a:t>Dorigo</a:t>
            </a:r>
            <a:r>
              <a:rPr lang="pt-BR" u="none" dirty="0"/>
              <a:t> com foco no TSP (</a:t>
            </a:r>
            <a:r>
              <a:rPr lang="pt-BR" u="none" dirty="0" err="1"/>
              <a:t>caxiero</a:t>
            </a:r>
            <a:r>
              <a:rPr lang="pt-BR" u="none" dirty="0"/>
              <a:t> viajante)</a:t>
            </a:r>
          </a:p>
          <a:p>
            <a:pPr marL="0" indent="0" algn="just">
              <a:buNone/>
            </a:pPr>
            <a:endParaRPr lang="pt-BR" u="none" dirty="0"/>
          </a:p>
          <a:p>
            <a:pPr marL="0" indent="0" algn="just">
              <a:buNone/>
            </a:pPr>
            <a:r>
              <a:rPr lang="pt-BR" u="none" dirty="0"/>
              <a:t>Posteriormente foi difundida com trabalhos em parceria com </a:t>
            </a:r>
            <a:r>
              <a:rPr lang="pt-BR" u="none" dirty="0" err="1"/>
              <a:t>Gambardella</a:t>
            </a:r>
            <a:endParaRPr lang="pt-BR" u="none" dirty="0"/>
          </a:p>
          <a:p>
            <a:pPr marL="0" indent="0" algn="just">
              <a:buNone/>
            </a:pPr>
            <a:endParaRPr lang="pt-BR" u="none" dirty="0"/>
          </a:p>
          <a:p>
            <a:pPr marL="0" indent="0" algn="just">
              <a:buNone/>
            </a:pPr>
            <a:r>
              <a:rPr lang="pt-BR" u="none" dirty="0"/>
              <a:t>Aplicado em uma gama de problemas combinatórios e não lineares</a:t>
            </a:r>
          </a:p>
          <a:p>
            <a:pPr marL="0" indent="0" algn="just">
              <a:buNone/>
            </a:pPr>
            <a:endParaRPr lang="pt-BR" u="none" dirty="0"/>
          </a:p>
          <a:p>
            <a:pPr marL="0" indent="0" algn="just">
              <a:buNone/>
            </a:pPr>
            <a:endParaRPr lang="pt-BR" u="none" dirty="0"/>
          </a:p>
          <a:p>
            <a:pPr marL="0" indent="0" algn="just">
              <a:buNone/>
            </a:pPr>
            <a:endParaRPr lang="pt-BR" u="none" dirty="0"/>
          </a:p>
          <a:p>
            <a:pPr marL="0" indent="0" algn="just">
              <a:buNone/>
            </a:pPr>
            <a:endParaRPr lang="pt-BR" u="none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DC6783C-07C0-CFD4-87FC-148589F7B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672" y="5508908"/>
            <a:ext cx="835663" cy="75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97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DE991-9979-47D6-A3FA-80816C76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F6D7F6-0895-4AA2-9359-D63160FEF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393" y="1825624"/>
            <a:ext cx="3788970" cy="4351338"/>
          </a:xfrm>
        </p:spPr>
        <p:txBody>
          <a:bodyPr/>
          <a:lstStyle/>
          <a:p>
            <a:pPr algn="just"/>
            <a:r>
              <a:rPr lang="pt-BR" sz="2000" u="none" dirty="0"/>
              <a:t>As colônias de insetos, apesar de serem formados por elementos de caráter simplistas, possuem uma organização social bastante estruturada</a:t>
            </a:r>
          </a:p>
          <a:p>
            <a:pPr algn="just"/>
            <a:endParaRPr lang="pt-BR" sz="2000" u="none" dirty="0"/>
          </a:p>
          <a:p>
            <a:pPr algn="just"/>
            <a:r>
              <a:rPr lang="pt-BR" sz="2000" u="none" dirty="0"/>
              <a:t>Individualmente cada elemento não conseguiria resolver um problema de ordem complexa. No entanto, ao se empregar uma organização no estilo de colônia as tarefas realizadas têm alto grau de complexidade</a:t>
            </a:r>
          </a:p>
          <a:p>
            <a:pPr algn="just"/>
            <a:endParaRPr lang="pt-BR" u="none" dirty="0"/>
          </a:p>
          <a:p>
            <a:pPr algn="just"/>
            <a:endParaRPr lang="pt-BR" u="none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DE7856D-079D-079C-7224-D00C4CA44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924" y="1825625"/>
            <a:ext cx="1076326" cy="928688"/>
          </a:xfrm>
          <a:prstGeom prst="rect">
            <a:avLst/>
          </a:prstGeom>
        </p:spPr>
      </p:pic>
      <p:pic>
        <p:nvPicPr>
          <p:cNvPr id="8" name="Imagem 7" descr="Planta com folhas verdes&#10;&#10;Descrição gerada automaticamente">
            <a:extLst>
              <a:ext uri="{FF2B5EF4-FFF2-40B4-BE49-F238E27FC236}">
                <a16:creationId xmlns:a16="http://schemas.microsoft.com/office/drawing/2014/main" id="{25DAF779-3FD0-79BA-2461-EF03D94CC8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924" y="3484940"/>
            <a:ext cx="3949038" cy="246698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2450C82-858E-44BF-6AB8-8C2B2CF89177}"/>
              </a:ext>
            </a:extLst>
          </p:cNvPr>
          <p:cNvSpPr txBox="1"/>
          <p:nvPr/>
        </p:nvSpPr>
        <p:spPr>
          <a:xfrm>
            <a:off x="6697883" y="6023074"/>
            <a:ext cx="2260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none" dirty="0"/>
              <a:t>Fonte: Maughan-</a:t>
            </a:r>
            <a:r>
              <a:rPr lang="en-US" sz="1400" u="none" dirty="0" err="1"/>
              <a:t>Carr</a:t>
            </a:r>
            <a:r>
              <a:rPr lang="en-US" sz="1400" u="none" dirty="0"/>
              <a:t> (2018)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070202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DE991-9979-47D6-A3FA-80816C76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F6D7F6-0895-4AA2-9359-D63160FEF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u="none" dirty="0"/>
              <a:t>Enquanto nos AGs o paradigma de otimização era baseado em competição entre os indivíduos, na otimização por colônias de formigas (</a:t>
            </a:r>
            <a:r>
              <a:rPr lang="pt-BR" sz="2000" u="none" dirty="0" err="1"/>
              <a:t>Ant</a:t>
            </a:r>
            <a:r>
              <a:rPr lang="pt-BR" sz="2000" u="none" dirty="0"/>
              <a:t> </a:t>
            </a:r>
            <a:r>
              <a:rPr lang="pt-BR" sz="2000" u="none" dirty="0" err="1"/>
              <a:t>Colony</a:t>
            </a:r>
            <a:r>
              <a:rPr lang="pt-BR" sz="2000" u="none" dirty="0"/>
              <a:t> </a:t>
            </a:r>
            <a:r>
              <a:rPr lang="pt-BR" sz="2000" u="none" dirty="0" err="1"/>
              <a:t>Optimization</a:t>
            </a:r>
            <a:r>
              <a:rPr lang="pt-BR" sz="2000" u="none" dirty="0"/>
              <a:t> – ACO) a estratégia empregada é de cooperação.</a:t>
            </a:r>
          </a:p>
          <a:p>
            <a:pPr algn="just"/>
            <a:r>
              <a:rPr lang="pt-BR" sz="2000" u="none" dirty="0"/>
              <a:t>Em geral, as formigas vão escolher e adotar o caminho mais curto entre o formigueiro e o alimento</a:t>
            </a:r>
          </a:p>
          <a:p>
            <a:pPr algn="just"/>
            <a:endParaRPr lang="pt-BR" sz="2000" u="none" dirty="0"/>
          </a:p>
          <a:p>
            <a:pPr algn="just"/>
            <a:endParaRPr lang="pt-BR" sz="2000" u="none" dirty="0"/>
          </a:p>
          <a:p>
            <a:pPr algn="just"/>
            <a:endParaRPr lang="pt-BR" sz="2000" u="none" dirty="0"/>
          </a:p>
        </p:txBody>
      </p:sp>
      <p:pic>
        <p:nvPicPr>
          <p:cNvPr id="6" name="Imagem 5" descr="Diagrama&#10;&#10;Descrição gerada automaticamente">
            <a:extLst>
              <a:ext uri="{FF2B5EF4-FFF2-40B4-BE49-F238E27FC236}">
                <a16:creationId xmlns:a16="http://schemas.microsoft.com/office/drawing/2014/main" id="{26A05847-9DFF-016C-E2EA-81A25BFF5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326" y="3626427"/>
            <a:ext cx="4539347" cy="255053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F472775-931C-85B2-29B8-9A90AA32186F}"/>
              </a:ext>
            </a:extLst>
          </p:cNvPr>
          <p:cNvSpPr txBox="1"/>
          <p:nvPr/>
        </p:nvSpPr>
        <p:spPr>
          <a:xfrm>
            <a:off x="7051559" y="6023074"/>
            <a:ext cx="1533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none" dirty="0"/>
              <a:t>Fonte: Silva (2016)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735326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DE991-9979-47D6-A3FA-80816C76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F6D7F6-0895-4AA2-9359-D63160FEF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pt-BR" u="none" dirty="0"/>
              <a:t>Ao percorrer um determinado trajeto as formigas vão depositando uma substância química chamada feromônio</a:t>
            </a:r>
          </a:p>
          <a:p>
            <a:pPr algn="just"/>
            <a:endParaRPr lang="pt-BR" u="none" dirty="0"/>
          </a:p>
          <a:p>
            <a:pPr algn="just"/>
            <a:r>
              <a:rPr lang="pt-BR" u="none" dirty="0"/>
              <a:t>A presença do feromônio em um determinado trajeto faz com que outras formigas tomem aquele caminho</a:t>
            </a:r>
          </a:p>
          <a:p>
            <a:pPr algn="just"/>
            <a:endParaRPr lang="pt-BR" u="none" dirty="0"/>
          </a:p>
          <a:p>
            <a:pPr algn="just"/>
            <a:r>
              <a:rPr lang="pt-BR" u="none" dirty="0"/>
              <a:t>Esse processo de adotar o caminho é baseada na quantidade de feromônio presente: quanto maior a quantidade, mais chance do caminho ser detectado e seguido</a:t>
            </a:r>
          </a:p>
          <a:p>
            <a:pPr algn="just"/>
            <a:endParaRPr lang="pt-BR" u="none" dirty="0"/>
          </a:p>
          <a:p>
            <a:pPr algn="just"/>
            <a:r>
              <a:rPr lang="pt-BR" sz="2800" u="none" dirty="0"/>
              <a:t>Inicialmente o processo é uma busca cega. Cada formiga sai na esperança de achar alimento</a:t>
            </a:r>
            <a:endParaRPr lang="pt-BR" u="none" dirty="0"/>
          </a:p>
        </p:txBody>
      </p:sp>
    </p:spTree>
    <p:extLst>
      <p:ext uri="{BB962C8B-B14F-4D97-AF65-F5344CB8AC3E}">
        <p14:creationId xmlns:p14="http://schemas.microsoft.com/office/powerpoint/2010/main" val="2520461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DE991-9979-47D6-A3FA-80816C76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F6D7F6-0895-4AA2-9359-D63160FEF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200" u="none" dirty="0"/>
              <a:t>Quando uma formiga encontra alimento em sua rota, ela volta a esse caminho novamente. Assim, se o caminho encontrado for curto, esse processo é rápido e pode ser repetido mais vezes, diferentemente de um caminho mais longo que levará mais tempo para ser percorrido.</a:t>
            </a:r>
          </a:p>
          <a:p>
            <a:pPr algn="just"/>
            <a:endParaRPr lang="pt-BR" sz="2200" u="none" dirty="0"/>
          </a:p>
          <a:p>
            <a:pPr algn="just"/>
            <a:r>
              <a:rPr lang="pt-BR" sz="2200" u="none" dirty="0"/>
              <a:t>Caminhos curtos então terão mais visitas e, portanto, maior índice de feromônio.</a:t>
            </a:r>
          </a:p>
          <a:p>
            <a:pPr algn="just"/>
            <a:endParaRPr lang="pt-BR" sz="2200" u="none" dirty="0"/>
          </a:p>
          <a:p>
            <a:pPr algn="just"/>
            <a:r>
              <a:rPr lang="pt-BR" sz="2200" u="none" dirty="0"/>
              <a:t>Como o feromônio se esvai com o tempo, os caminhos menos visitados logo são esquecidos por não apresentarem mais a presença da substância</a:t>
            </a:r>
          </a:p>
        </p:txBody>
      </p:sp>
    </p:spTree>
    <p:extLst>
      <p:ext uri="{BB962C8B-B14F-4D97-AF65-F5344CB8AC3E}">
        <p14:creationId xmlns:p14="http://schemas.microsoft.com/office/powerpoint/2010/main" val="1853902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DE991-9979-47D6-A3FA-80816C76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F6D7F6-0895-4AA2-9359-D63160FEF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200" u="none" dirty="0"/>
              <a:t>A ideia da técnica não é efetivamente implementar o comportamento real das formigas, mas sim tirar proveito de algumas estratégias / comportamentos adotadas por estas. Nos métodos ACO o objetivo é construir formigas artificiais. </a:t>
            </a:r>
          </a:p>
          <a:p>
            <a:pPr algn="just"/>
            <a:endParaRPr lang="pt-BR" sz="2200" u="none" dirty="0"/>
          </a:p>
          <a:p>
            <a:pPr algn="just"/>
            <a:r>
              <a:rPr lang="pt-BR" sz="2200" u="none" dirty="0"/>
              <a:t>Diferenças: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200" u="none" dirty="0"/>
              <a:t>A formiga sintética têm uma certa memória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200" u="none" dirty="0"/>
              <a:t>As buscas realizadas não são totalmente cegas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200" u="none" dirty="0"/>
              <a:t>A representação do ambiente é dada em uma evolução temporal discretas (turnos)</a:t>
            </a:r>
          </a:p>
        </p:txBody>
      </p:sp>
      <p:pic>
        <p:nvPicPr>
          <p:cNvPr id="6" name="Imagem 5" descr="Forma&#10;&#10;Descrição gerada automaticamente">
            <a:extLst>
              <a:ext uri="{FF2B5EF4-FFF2-40B4-BE49-F238E27FC236}">
                <a16:creationId xmlns:a16="http://schemas.microsoft.com/office/drawing/2014/main" id="{065A798E-A2D0-D815-D5AA-19F95E98F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392" y="3803352"/>
            <a:ext cx="638747" cy="83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3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DE991-9979-47D6-A3FA-80816C76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600" u="none" dirty="0"/>
              <a:t>Características de Sistemas Baseados em insetos sociais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F6D7F6-0895-4AA2-9359-D63160FEF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200" b="1" u="none" dirty="0"/>
              <a:t>Estigmergia</a:t>
            </a:r>
            <a:r>
              <a:rPr lang="pt-BR" sz="2200" u="none" dirty="0"/>
              <a:t>: comunicação indireta entre os agentes que compõe um sistema auto-organizado</a:t>
            </a:r>
          </a:p>
        </p:txBody>
      </p:sp>
      <p:pic>
        <p:nvPicPr>
          <p:cNvPr id="6" name="Imagem 5" descr="Desenho de person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C80DF5C4-8CAA-4D28-8334-646A83DE0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673" y="2688360"/>
            <a:ext cx="4890654" cy="366799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A95C4F7-F3F1-4037-92F2-EE774F9D9EDB}"/>
              </a:ext>
            </a:extLst>
          </p:cNvPr>
          <p:cNvSpPr txBox="1"/>
          <p:nvPr/>
        </p:nvSpPr>
        <p:spPr>
          <a:xfrm>
            <a:off x="6555179" y="6279862"/>
            <a:ext cx="20661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00" dirty="0"/>
              <a:t>Fonte: Marsh e </a:t>
            </a:r>
            <a:r>
              <a:rPr lang="pt-BR" sz="1300" dirty="0" err="1"/>
              <a:t>Onof</a:t>
            </a:r>
            <a:r>
              <a:rPr lang="pt-BR" sz="1300" dirty="0"/>
              <a:t> (2008)</a:t>
            </a:r>
          </a:p>
        </p:txBody>
      </p:sp>
    </p:spTree>
    <p:extLst>
      <p:ext uri="{BB962C8B-B14F-4D97-AF65-F5344CB8AC3E}">
        <p14:creationId xmlns:p14="http://schemas.microsoft.com/office/powerpoint/2010/main" val="1640274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DE991-9979-47D6-A3FA-80816C76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600" u="none" dirty="0"/>
              <a:t>Características de Sistemas Baseados em insetos sociais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F6D7F6-0895-4AA2-9359-D63160FEF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200" b="1" u="none" dirty="0"/>
              <a:t>Controle descentralizado</a:t>
            </a:r>
            <a:r>
              <a:rPr lang="pt-BR" sz="2200" u="none" dirty="0"/>
              <a:t>: cada agente conhece o problema apenas localmente, não tenho conhecimento de todo o espaço de busca.</a:t>
            </a:r>
          </a:p>
          <a:p>
            <a:pPr algn="just"/>
            <a:endParaRPr lang="pt-BR" sz="2200" u="none" dirty="0"/>
          </a:p>
          <a:p>
            <a:pPr algn="just"/>
            <a:r>
              <a:rPr lang="pt-BR" sz="2200" b="1" u="none" dirty="0"/>
              <a:t>Heterarquia densa</a:t>
            </a:r>
            <a:r>
              <a:rPr lang="pt-BR" sz="2200" u="none" dirty="0"/>
              <a:t>: não há controle centralizado vertical. 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6317F46-DE43-4048-BCB2-A171B7083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208" y="3767418"/>
            <a:ext cx="2209708" cy="215078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3ADF156E-5C40-4747-A177-E988375B9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943" y="3767418"/>
            <a:ext cx="2513019" cy="215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990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6B021-6B77-41B6-9A64-568C377B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Construindo Formigas Artificiais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84E020B-EFF6-4053-9171-282EC96C7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0" y="1776412"/>
            <a:ext cx="1866900" cy="42195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D5416869-39CE-434C-A901-5574BA74B7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4300" y="1736725"/>
                <a:ext cx="5861050" cy="4351338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pt-BR" sz="2200" u="none" dirty="0"/>
                  <a:t>A formiga, ao sair de um dos pontos i, onde </a:t>
                </a:r>
                <a14:m>
                  <m:oMath xmlns:m="http://schemas.openxmlformats.org/officeDocument/2006/math">
                    <m:r>
                      <a:rPr lang="pt-BR" sz="2200" b="0" i="1" u="none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200" b="0" i="1" u="none" smtClean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pt-BR" sz="22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t-BR" sz="2200" u="none" dirty="0"/>
                  <a:t>, que representam o ninho (1) ou a comida (2) podem escolher, a partir de uma probabilidade, o caminho pelos braços mais longos ou pelos mais curtos</a:t>
                </a:r>
              </a:p>
              <a:p>
                <a:pPr algn="just"/>
                <a:endParaRPr lang="pt-BR" sz="2200" u="none" dirty="0"/>
              </a:p>
              <a:p>
                <a:pPr algn="just"/>
                <a:r>
                  <a:rPr lang="pt-BR" sz="2200" u="none" dirty="0"/>
                  <a:t>Essa probabilidades são dadas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u="none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BR" sz="2200" b="0" i="1" u="none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200" b="0" i="1" u="none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200" b="0" i="1" u="none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sz="2200" b="0" i="1" u="none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b="0" i="1" u="none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200" b="0" i="1" u="none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u="none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u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 u="none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BR" sz="2200" i="1" u="none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200" i="1" u="non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200" b="0" i="1" u="none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pt-BR" sz="2200" i="1" u="none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u="none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200" i="1" u="none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u="none" dirty="0"/>
                  <a:t> em um determinado instante t</a:t>
                </a:r>
              </a:p>
              <a:p>
                <a:pPr algn="just"/>
                <a:endParaRPr lang="pt-BR" sz="2200" u="none" dirty="0"/>
              </a:p>
              <a:p>
                <a:pPr algn="just"/>
                <a:r>
                  <a:rPr lang="pt-BR" sz="2200" u="none" dirty="0"/>
                  <a:t>Essa decisão depende da quantidade de feromônio em cada braço, denotadas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u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 u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ɸ</m:t>
                        </m:r>
                      </m:e>
                      <m:sub>
                        <m:r>
                          <a:rPr lang="pt-BR" sz="22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t-BR" sz="22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sz="22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sz="2200" b="0" i="1" u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sz="2200" b="0" i="1" u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pt-BR" sz="2200" b="0" i="1" u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u="none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u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 u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ɸ</m:t>
                        </m:r>
                      </m:e>
                      <m:sub>
                        <m:r>
                          <a:rPr lang="pt-BR" sz="2200" i="1" u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t-BR" sz="2200" i="1" u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sz="22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pt-BR" sz="2200" i="1" u="non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sz="2200" i="1" u="non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pt-BR" sz="2200" i="1" u="non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u="none" dirty="0"/>
                  <a:t> para os braços menores e maiores, respectivamente</a:t>
                </a:r>
              </a:p>
            </p:txBody>
          </p:sp>
        </mc:Choice>
        <mc:Fallback xmlns="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D5416869-39CE-434C-A901-5574BA74B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4300" y="1736725"/>
                <a:ext cx="5861050" cy="4351338"/>
              </a:xfrm>
              <a:blipFill>
                <a:blip r:embed="rId3"/>
                <a:stretch>
                  <a:fillRect l="-1351" t="-1681" r="-1247" b="-78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6982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6B021-6B77-41B6-9A64-568C377B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Construindo Formigas Artificiais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84E020B-EFF6-4053-9171-282EC96C7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0" y="1776412"/>
            <a:ext cx="1866900" cy="42195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D5416869-39CE-434C-A901-5574BA74B7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4300" y="1736725"/>
                <a:ext cx="5861050" cy="4351338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pt-BR" sz="2200" u="none" dirty="0"/>
                  <a:t>O valor de </a:t>
                </a:r>
                <a14:m>
                  <m:oMath xmlns:m="http://schemas.openxmlformats.org/officeDocument/2006/math">
                    <m:r>
                      <a:rPr lang="pt-BR" sz="2200" b="0" i="0" u="none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200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u="none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BR" sz="2200" b="0" i="1" u="none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200" b="0" i="1" u="none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200" b="0" i="1" u="none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sz="2200" b="0" i="1" u="none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b="0" i="1" u="none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200" b="0" i="1" u="none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u="none" dirty="0"/>
                  <a:t> no instante t é determinado pela equação</a:t>
                </a:r>
              </a:p>
              <a:p>
                <a:pPr algn="just"/>
                <a:endParaRPr lang="pt-BR" sz="2200" u="none" dirty="0"/>
              </a:p>
              <a:p>
                <a:pPr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200" b="0" i="1" u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u="none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pt-BR" sz="2200" b="0" i="1" u="none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200" b="0" i="1" u="none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200" b="0" i="1" u="none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pt-BR" sz="2200" b="0" i="1" u="none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0" i="1" u="none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200" b="0" i="1" u="none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b="0" i="1" u="none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200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200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200" b="0" i="1" u="none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t-BR" sz="2200" b="0" i="1" u="none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BR" sz="2200" b="0" i="1" u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200" b="0" i="1" u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ɸ</m:t>
                                      </m:r>
                                    </m:e>
                                    <m:sub>
                                      <m:r>
                                        <a:rPr lang="pt-BR" sz="2200" b="0" i="1" u="none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sz="2200" b="0" i="1" u="none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2200" b="0" i="1" u="none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pt-BR" sz="2200" b="0" i="1" u="none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200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sz="2200" b="0" i="1" u="none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2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2200" i="1" u="non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200" i="1" u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200" i="1" u="non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t-BR" sz="2200" i="1" u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BR" sz="2200" i="1" u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200" i="1" u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ɸ</m:t>
                                      </m:r>
                                    </m:e>
                                    <m:sub>
                                      <m:r>
                                        <a:rPr lang="pt-BR" sz="2200" i="1" u="none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sz="2200" i="1" u="none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2200" i="1" u="none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pt-BR" sz="2200" i="1" u="none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200" i="1" u="none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sz="2200" i="1" u="none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200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pt-BR" sz="22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200" i="1" u="non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200" i="1" u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200" i="1" u="non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t-BR" sz="2200" i="1" u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BR" sz="2200" i="1" u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200" i="1" u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ɸ</m:t>
                                      </m:r>
                                    </m:e>
                                    <m:sub>
                                      <m:r>
                                        <a:rPr lang="pt-BR" sz="2200" i="1" u="none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sz="2200" i="1" u="none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2200" b="0" i="1" u="none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  <m:r>
                                    <a:rPr lang="pt-BR" sz="2200" i="1" u="none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200" i="1" u="none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sz="2200" i="1" u="none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200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2200" u="none" dirty="0"/>
              </a:p>
              <a:p>
                <a:pPr algn="just"/>
                <a:endParaRPr lang="pt-BR" sz="2200" u="none" dirty="0"/>
              </a:p>
              <a:p>
                <a:pPr algn="just"/>
                <a:r>
                  <a:rPr lang="pt-BR" sz="2200" u="none" dirty="0"/>
                  <a:t>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u="none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200" b="0" i="1" u="none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BR" sz="2200" b="0" i="1" u="none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200" b="0" i="1" u="none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200" b="0" i="1" u="none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pt-BR" sz="2200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200" b="0" i="1" u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200" i="1" u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 u="none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BR" sz="2200" i="1" u="none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200" i="1" u="non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200" b="0" i="1" u="none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pt-BR" sz="2200" i="1" u="non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i="1" u="none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200" i="1" u="none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b="0" i="1" u="none" smtClean="0"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endParaRPr lang="pt-BR" sz="2200" u="none" dirty="0"/>
              </a:p>
              <a:p>
                <a:pPr algn="just"/>
                <a:endParaRPr lang="pt-BR" sz="2200" u="none" dirty="0"/>
              </a:p>
              <a:p>
                <a:pPr algn="just"/>
                <a:r>
                  <a:rPr lang="pt-BR" sz="2200" u="none" dirty="0"/>
                  <a:t>k é o tempo gasto para a formiga percorrer o braço mais curto da ponte</a:t>
                </a:r>
              </a:p>
            </p:txBody>
          </p:sp>
        </mc:Choice>
        <mc:Fallback xmlns="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D5416869-39CE-434C-A901-5574BA74B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4300" y="1736725"/>
                <a:ext cx="5861050" cy="4351338"/>
              </a:xfrm>
              <a:blipFill>
                <a:blip r:embed="rId3"/>
                <a:stretch>
                  <a:fillRect l="-1351" t="-1541" r="-12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929E0693-7BC3-EC2D-8202-C16F30329272}"/>
              </a:ext>
            </a:extLst>
          </p:cNvPr>
          <p:cNvSpPr txBox="1"/>
          <p:nvPr/>
        </p:nvSpPr>
        <p:spPr>
          <a:xfrm>
            <a:off x="4131945" y="5995987"/>
            <a:ext cx="290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ϕ: </a:t>
            </a:r>
            <a:r>
              <a:rPr lang="pt-BR" dirty="0" err="1"/>
              <a:t>fi</a:t>
            </a:r>
            <a:r>
              <a:rPr lang="pt-BR" dirty="0"/>
              <a:t> = letra grega </a:t>
            </a:r>
            <a:r>
              <a:rPr lang="pt-BR" i="1" dirty="0" err="1"/>
              <a:t>phi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507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DE991-9979-47D6-A3FA-80816C76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Etapas de um ACO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F6D7F6-0895-4AA2-9359-D63160FEF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400" u="none" dirty="0"/>
              <a:t>Inicialização dos Parâmetros</a:t>
            </a:r>
          </a:p>
          <a:p>
            <a:pPr algn="just"/>
            <a:r>
              <a:rPr lang="pt-BR" sz="2400" u="none" dirty="0"/>
              <a:t>Geração da Matriz de Feromônio Inicial</a:t>
            </a:r>
          </a:p>
          <a:p>
            <a:pPr algn="just"/>
            <a:r>
              <a:rPr lang="pt-BR" sz="2400" u="none" dirty="0"/>
              <a:t>Construção de uma heurística construtiva para a resolução do problema</a:t>
            </a:r>
          </a:p>
          <a:p>
            <a:pPr algn="just"/>
            <a:r>
              <a:rPr lang="pt-BR" sz="2400" u="none" dirty="0"/>
              <a:t>Geração de uma população de formigas de forma construtiva</a:t>
            </a:r>
          </a:p>
          <a:p>
            <a:pPr algn="just"/>
            <a:r>
              <a:rPr lang="pt-BR" sz="2400" u="none" dirty="0"/>
              <a:t>Atualização da Matriz de Feromônio</a:t>
            </a:r>
          </a:p>
        </p:txBody>
      </p:sp>
    </p:spTree>
    <p:extLst>
      <p:ext uri="{BB962C8B-B14F-4D97-AF65-F5344CB8AC3E}">
        <p14:creationId xmlns:p14="http://schemas.microsoft.com/office/powerpoint/2010/main" val="76543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5D238-2D10-4755-9CAC-11C621313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 do Caixeiro Viajante (TSP)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9F97F6E-47F2-4F74-A6FD-92964AF7E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978" y="1970087"/>
            <a:ext cx="5578044" cy="337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634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53D6B-65C5-473E-94B5-D31D34071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58619E3-E4C1-4911-A9D7-F89C8E9BB2DF}"/>
              </a:ext>
            </a:extLst>
          </p:cNvPr>
          <p:cNvSpPr/>
          <p:nvPr/>
        </p:nvSpPr>
        <p:spPr>
          <a:xfrm>
            <a:off x="723900" y="245110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C52AFA9-AD51-47FB-A4B1-A82D1F8FBFC7}"/>
              </a:ext>
            </a:extLst>
          </p:cNvPr>
          <p:cNvSpPr/>
          <p:nvPr/>
        </p:nvSpPr>
        <p:spPr>
          <a:xfrm>
            <a:off x="3556000" y="22272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41D0FEB-5F43-4FA5-84D6-C948C24E0AC6}"/>
              </a:ext>
            </a:extLst>
          </p:cNvPr>
          <p:cNvSpPr/>
          <p:nvPr/>
        </p:nvSpPr>
        <p:spPr>
          <a:xfrm>
            <a:off x="3806825" y="421005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6D1AB08-DC15-4192-A30C-3A8B88B65D9F}"/>
              </a:ext>
            </a:extLst>
          </p:cNvPr>
          <p:cNvSpPr/>
          <p:nvPr/>
        </p:nvSpPr>
        <p:spPr>
          <a:xfrm>
            <a:off x="1879600" y="53260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E027373-5AF8-4DC2-B284-D3B30AB7829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244600" y="2487613"/>
            <a:ext cx="2311400" cy="2238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37B02FB8-C49C-4727-B71D-EF579F1D8E45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3816350" y="2747963"/>
            <a:ext cx="250825" cy="1462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CA842E6-718C-4140-8631-5B8A2F732019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244600" y="2711450"/>
            <a:ext cx="2638480" cy="1574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D91F649-0D6D-439B-92F3-E9CB9520CB0E}"/>
              </a:ext>
            </a:extLst>
          </p:cNvPr>
          <p:cNvCxnSpPr>
            <a:cxnSpLocks/>
            <a:stCxn id="7" idx="5"/>
            <a:endCxn id="10" idx="0"/>
          </p:cNvCxnSpPr>
          <p:nvPr/>
        </p:nvCxnSpPr>
        <p:spPr>
          <a:xfrm>
            <a:off x="1168345" y="2895545"/>
            <a:ext cx="971605" cy="243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AD60B51B-0588-4173-8C5B-03E8D953FE2E}"/>
              </a:ext>
            </a:extLst>
          </p:cNvPr>
          <p:cNvCxnSpPr>
            <a:cxnSpLocks/>
            <a:stCxn id="10" idx="6"/>
            <a:endCxn id="9" idx="3"/>
          </p:cNvCxnSpPr>
          <p:nvPr/>
        </p:nvCxnSpPr>
        <p:spPr>
          <a:xfrm flipV="1">
            <a:off x="2400300" y="4654495"/>
            <a:ext cx="1482780" cy="931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11C4114A-E81F-4E98-AAE7-165CD6469C87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2324045" y="2671708"/>
            <a:ext cx="1308210" cy="27306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D799995-3C98-4DA8-9A54-AB73B9BB4685}"/>
              </a:ext>
            </a:extLst>
          </p:cNvPr>
          <p:cNvSpPr txBox="1"/>
          <p:nvPr/>
        </p:nvSpPr>
        <p:spPr>
          <a:xfrm>
            <a:off x="2129985" y="2179964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1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45C8C77-F28B-4B18-8F6D-D8A1A2509A71}"/>
              </a:ext>
            </a:extLst>
          </p:cNvPr>
          <p:cNvSpPr txBox="1"/>
          <p:nvPr/>
        </p:nvSpPr>
        <p:spPr>
          <a:xfrm>
            <a:off x="3971238" y="3190473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6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D7FC96D-11C0-4F45-B165-3A1C3E498713}"/>
              </a:ext>
            </a:extLst>
          </p:cNvPr>
          <p:cNvSpPr txBox="1"/>
          <p:nvPr/>
        </p:nvSpPr>
        <p:spPr>
          <a:xfrm>
            <a:off x="1133929" y="369292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9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09A4581-3D63-4A90-96D3-4323F6B00539}"/>
              </a:ext>
            </a:extLst>
          </p:cNvPr>
          <p:cNvSpPr txBox="1"/>
          <p:nvPr/>
        </p:nvSpPr>
        <p:spPr>
          <a:xfrm>
            <a:off x="2142837" y="332858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5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21E0696-4DB8-40CA-AB87-86062AD22111}"/>
              </a:ext>
            </a:extLst>
          </p:cNvPr>
          <p:cNvSpPr txBox="1"/>
          <p:nvPr/>
        </p:nvSpPr>
        <p:spPr>
          <a:xfrm>
            <a:off x="3013130" y="5109359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2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9FA330B-A5F2-47FB-A885-B3AC93F12D84}"/>
              </a:ext>
            </a:extLst>
          </p:cNvPr>
          <p:cNvSpPr txBox="1"/>
          <p:nvPr/>
        </p:nvSpPr>
        <p:spPr>
          <a:xfrm>
            <a:off x="2390555" y="430099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7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37F09AFD-5176-4197-9818-11751FBAAFAE}"/>
              </a:ext>
            </a:extLst>
          </p:cNvPr>
          <p:cNvSpPr txBox="1"/>
          <p:nvPr/>
        </p:nvSpPr>
        <p:spPr>
          <a:xfrm>
            <a:off x="370739" y="204525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Manaus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157A0995-1DEC-4C5A-87BF-489770400AE6}"/>
              </a:ext>
            </a:extLst>
          </p:cNvPr>
          <p:cNvSpPr txBox="1"/>
          <p:nvPr/>
        </p:nvSpPr>
        <p:spPr>
          <a:xfrm>
            <a:off x="3297233" y="1799595"/>
            <a:ext cx="103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Fortaleza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31AB0577-1BC8-43F7-B868-969EF9BB5FBF}"/>
              </a:ext>
            </a:extLst>
          </p:cNvPr>
          <p:cNvSpPr txBox="1"/>
          <p:nvPr/>
        </p:nvSpPr>
        <p:spPr>
          <a:xfrm>
            <a:off x="1637144" y="581780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Campinas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64EFB60E-3DAC-4F71-BD28-03BE72F73ED9}"/>
              </a:ext>
            </a:extLst>
          </p:cNvPr>
          <p:cNvSpPr txBox="1"/>
          <p:nvPr/>
        </p:nvSpPr>
        <p:spPr>
          <a:xfrm>
            <a:off x="3770994" y="4753454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Salvador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19ABC0D4-70D6-4228-89D2-D470CD25EC24}"/>
                  </a:ext>
                </a:extLst>
              </p:cNvPr>
              <p:cNvSpPr txBox="1"/>
              <p:nvPr/>
            </p:nvSpPr>
            <p:spPr>
              <a:xfrm>
                <a:off x="5943655" y="2720344"/>
                <a:ext cx="2015873" cy="14173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pt-BR" sz="2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5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5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5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2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500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pt-BR" sz="25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pt-BR" sz="25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pt-BR" sz="25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2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5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pt-BR" sz="25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2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pt-BR" sz="2500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pt-BR" sz="25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2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5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pt-BR" sz="25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2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25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sz="25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pt-BR" sz="2500" b="0" i="1" smtClean="0">
                                                <a:latin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25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sz="2500" b="0" i="1" smtClean="0">
                                                <a:latin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pt-BR" sz="25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500" dirty="0"/>
              </a:p>
            </p:txBody>
          </p:sp>
        </mc:Choice>
        <mc:Fallback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19ABC0D4-70D6-4228-89D2-D470CD25E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55" y="2720344"/>
                <a:ext cx="2015873" cy="14173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aixaDeTexto 45">
            <a:extLst>
              <a:ext uri="{FF2B5EF4-FFF2-40B4-BE49-F238E27FC236}">
                <a16:creationId xmlns:a16="http://schemas.microsoft.com/office/drawing/2014/main" id="{E7C11E0D-B575-4620-95A5-2D1E4D4A912A}"/>
              </a:ext>
            </a:extLst>
          </p:cNvPr>
          <p:cNvSpPr txBox="1"/>
          <p:nvPr/>
        </p:nvSpPr>
        <p:spPr>
          <a:xfrm>
            <a:off x="5901720" y="2324176"/>
            <a:ext cx="20997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200" dirty="0"/>
              <a:t>Matriz de Custos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69CACEC2-5B8D-4A6E-9A97-BA3303438E38}"/>
              </a:ext>
            </a:extLst>
          </p:cNvPr>
          <p:cNvSpPr txBox="1"/>
          <p:nvPr/>
        </p:nvSpPr>
        <p:spPr>
          <a:xfrm>
            <a:off x="5901720" y="4600617"/>
            <a:ext cx="266585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200" dirty="0"/>
              <a:t>Problema simétrico</a:t>
            </a:r>
          </a:p>
          <a:p>
            <a:endParaRPr lang="pt-BR" sz="2200" dirty="0"/>
          </a:p>
          <a:p>
            <a:r>
              <a:rPr lang="pt-BR" sz="2200" dirty="0"/>
              <a:t>Fixando Campinas = 1</a:t>
            </a:r>
          </a:p>
        </p:txBody>
      </p:sp>
    </p:spTree>
    <p:extLst>
      <p:ext uri="{BB962C8B-B14F-4D97-AF65-F5344CB8AC3E}">
        <p14:creationId xmlns:p14="http://schemas.microsoft.com/office/powerpoint/2010/main" val="101339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53D6B-65C5-473E-94B5-D31D34071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Espaço Reservado para Conteúdo 2">
                <a:extLst>
                  <a:ext uri="{FF2B5EF4-FFF2-40B4-BE49-F238E27FC236}">
                    <a16:creationId xmlns:a16="http://schemas.microsoft.com/office/drawing/2014/main" id="{19B8E388-C6E9-404B-B6AB-7658496F7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pt-BR" sz="2400" b="1" u="none" dirty="0"/>
                  <a:t>Formulação do problema:</a:t>
                </a:r>
              </a:p>
              <a:p>
                <a:pPr algn="just"/>
                <a:endParaRPr lang="pt-BR" sz="2400" u="none" dirty="0"/>
              </a:p>
              <a:p>
                <a:pPr algn="just"/>
                <a:r>
                  <a:rPr lang="pt-BR" sz="2400" u="none" dirty="0"/>
                  <a:t>Minimizar </a:t>
                </a:r>
                <a14:m>
                  <m:oMath xmlns:m="http://schemas.openxmlformats.org/officeDocument/2006/math">
                    <m:r>
                      <a:rPr lang="pt-BR" sz="2400" b="0" i="1" u="none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4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pt-BR" sz="2400" b="0" i="1" u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24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4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t-BR" sz="24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24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pt-BR" sz="24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pt-BR" sz="24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pt-BR" sz="2400" b="0" i="1" u="none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400" b="0" i="1" u="none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pt-BR" sz="24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pt-BR" sz="24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24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4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+1)</m:t>
                            </m:r>
                          </m:sub>
                        </m:sSub>
                        <m:r>
                          <a:rPr lang="pt-BR" sz="24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sz="24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pt-BR" sz="24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pt-BR" sz="2400" b="0" i="1" u="none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400" b="0" i="1" u="none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pt-BR" sz="24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pt-BR" sz="24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(1)</m:t>
                            </m:r>
                          </m:sub>
                        </m:sSub>
                      </m:e>
                    </m:nary>
                  </m:oMath>
                </a14:m>
                <a:endParaRPr lang="pt-BR" sz="2400" u="none" dirty="0"/>
              </a:p>
              <a:p>
                <a:pPr algn="just"/>
                <a:endParaRPr lang="pt-BR" sz="2400" u="none" dirty="0"/>
              </a:p>
              <a:p>
                <a:pPr algn="just"/>
                <a:r>
                  <a:rPr lang="pt-BR" sz="2400" u="none" dirty="0"/>
                  <a:t>Sujeito a </a:t>
                </a:r>
                <a14:m>
                  <m:oMath xmlns:m="http://schemas.openxmlformats.org/officeDocument/2006/math">
                    <m:r>
                      <a:rPr lang="pt-BR" sz="2400" i="1" u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pt-BR" sz="2400" b="0" i="1" u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pt-BR" sz="2400" b="0" i="1" u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pt-BR" sz="2400" b="0" i="1" u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∏"/>
                        <m:subHide m:val="on"/>
                        <m:supHide m:val="on"/>
                        <m:ctrlPr>
                          <a:rPr lang="pt-BR" sz="24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pt-BR" sz="24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{1,2,…,</m:t>
                        </m:r>
                        <m:r>
                          <a:rPr lang="pt-BR" sz="24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endParaRPr lang="pt-BR" sz="2400" u="none" dirty="0"/>
              </a:p>
            </p:txBody>
          </p:sp>
        </mc:Choice>
        <mc:Fallback xmlns="">
          <p:sp>
            <p:nvSpPr>
              <p:cNvPr id="27" name="Espaço Reservado para Conteúdo 2">
                <a:extLst>
                  <a:ext uri="{FF2B5EF4-FFF2-40B4-BE49-F238E27FC236}">
                    <a16:creationId xmlns:a16="http://schemas.microsoft.com/office/drawing/2014/main" id="{19B8E388-C6E9-404B-B6AB-7658496F7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6795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53D6B-65C5-473E-94B5-D31D34071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A6C7FAE-F727-6216-6485-6F06E08212ED}"/>
              </a:ext>
            </a:extLst>
          </p:cNvPr>
          <p:cNvGrpSpPr/>
          <p:nvPr/>
        </p:nvGrpSpPr>
        <p:grpSpPr>
          <a:xfrm>
            <a:off x="370739" y="1799595"/>
            <a:ext cx="4389437" cy="4387544"/>
            <a:chOff x="370739" y="1799595"/>
            <a:chExt cx="4389437" cy="4387544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C58619E3-E4C1-4911-A9D7-F89C8E9BB2DF}"/>
                </a:ext>
              </a:extLst>
            </p:cNvPr>
            <p:cNvSpPr/>
            <p:nvPr/>
          </p:nvSpPr>
          <p:spPr>
            <a:xfrm>
              <a:off x="723900" y="2451100"/>
              <a:ext cx="520700" cy="5207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2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9C52AFA9-AD51-47FB-A4B1-A82D1F8FBFC7}"/>
                </a:ext>
              </a:extLst>
            </p:cNvPr>
            <p:cNvSpPr/>
            <p:nvPr/>
          </p:nvSpPr>
          <p:spPr>
            <a:xfrm>
              <a:off x="3556000" y="2227263"/>
              <a:ext cx="520700" cy="5207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3</a:t>
              </a: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141D0FEB-5F43-4FA5-84D6-C948C24E0AC6}"/>
                </a:ext>
              </a:extLst>
            </p:cNvPr>
            <p:cNvSpPr/>
            <p:nvPr/>
          </p:nvSpPr>
          <p:spPr>
            <a:xfrm>
              <a:off x="3806825" y="4210050"/>
              <a:ext cx="520700" cy="5207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4</a:t>
              </a:r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26D1AB08-DC15-4192-A30C-3A8B88B65D9F}"/>
                </a:ext>
              </a:extLst>
            </p:cNvPr>
            <p:cNvSpPr/>
            <p:nvPr/>
          </p:nvSpPr>
          <p:spPr>
            <a:xfrm>
              <a:off x="1879600" y="5326063"/>
              <a:ext cx="520700" cy="5207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1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5E027373-5AF8-4DC2-B284-D3B30AB7829A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 flipV="1">
              <a:off x="1244600" y="2487613"/>
              <a:ext cx="2311400" cy="22383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37B02FB8-C49C-4727-B71D-EF579F1D8E45}"/>
                </a:ext>
              </a:extLst>
            </p:cNvPr>
            <p:cNvCxnSpPr>
              <a:cxnSpLocks/>
              <a:stCxn id="8" idx="4"/>
              <a:endCxn id="9" idx="0"/>
            </p:cNvCxnSpPr>
            <p:nvPr/>
          </p:nvCxnSpPr>
          <p:spPr>
            <a:xfrm>
              <a:off x="3816350" y="2747963"/>
              <a:ext cx="250825" cy="14620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CCA842E6-718C-4140-8631-5B8A2F732019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>
              <a:off x="1244600" y="2711450"/>
              <a:ext cx="2638480" cy="15748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6D91F649-0D6D-439B-92F3-E9CB9520CB0E}"/>
                </a:ext>
              </a:extLst>
            </p:cNvPr>
            <p:cNvCxnSpPr>
              <a:cxnSpLocks/>
              <a:stCxn id="7" idx="5"/>
              <a:endCxn id="10" idx="0"/>
            </p:cNvCxnSpPr>
            <p:nvPr/>
          </p:nvCxnSpPr>
          <p:spPr>
            <a:xfrm>
              <a:off x="1168345" y="2895545"/>
              <a:ext cx="971605" cy="24305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AD60B51B-0588-4173-8C5B-03E8D953FE2E}"/>
                </a:ext>
              </a:extLst>
            </p:cNvPr>
            <p:cNvCxnSpPr>
              <a:cxnSpLocks/>
              <a:stCxn id="10" idx="6"/>
              <a:endCxn id="9" idx="3"/>
            </p:cNvCxnSpPr>
            <p:nvPr/>
          </p:nvCxnSpPr>
          <p:spPr>
            <a:xfrm flipV="1">
              <a:off x="2400300" y="4654495"/>
              <a:ext cx="1482780" cy="9319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11C4114A-E81F-4E98-AAE7-165CD6469C87}"/>
                </a:ext>
              </a:extLst>
            </p:cNvPr>
            <p:cNvCxnSpPr>
              <a:cxnSpLocks/>
              <a:stCxn id="8" idx="3"/>
              <a:endCxn id="10" idx="7"/>
            </p:cNvCxnSpPr>
            <p:nvPr/>
          </p:nvCxnSpPr>
          <p:spPr>
            <a:xfrm flipH="1">
              <a:off x="2324045" y="2671708"/>
              <a:ext cx="1308210" cy="273061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9D799995-3C98-4DA8-9A54-AB73B9BB4685}"/>
                </a:ext>
              </a:extLst>
            </p:cNvPr>
            <p:cNvSpPr txBox="1"/>
            <p:nvPr/>
          </p:nvSpPr>
          <p:spPr>
            <a:xfrm>
              <a:off x="2129985" y="2179964"/>
              <a:ext cx="346570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500" dirty="0"/>
                <a:t>1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045C8C77-F28B-4B18-8F6D-D8A1A2509A71}"/>
                </a:ext>
              </a:extLst>
            </p:cNvPr>
            <p:cNvSpPr txBox="1"/>
            <p:nvPr/>
          </p:nvSpPr>
          <p:spPr>
            <a:xfrm>
              <a:off x="3971238" y="3190473"/>
              <a:ext cx="346570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500" dirty="0"/>
                <a:t>6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BD7FC96D-11C0-4F45-B165-3A1C3E498713}"/>
                </a:ext>
              </a:extLst>
            </p:cNvPr>
            <p:cNvSpPr txBox="1"/>
            <p:nvPr/>
          </p:nvSpPr>
          <p:spPr>
            <a:xfrm>
              <a:off x="1133929" y="3692927"/>
              <a:ext cx="346570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500" dirty="0"/>
                <a:t>9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409A4581-3D63-4A90-96D3-4323F6B00539}"/>
                </a:ext>
              </a:extLst>
            </p:cNvPr>
            <p:cNvSpPr txBox="1"/>
            <p:nvPr/>
          </p:nvSpPr>
          <p:spPr>
            <a:xfrm>
              <a:off x="2142837" y="3328586"/>
              <a:ext cx="346570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500" dirty="0"/>
                <a:t>5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821E0696-4DB8-40CA-AB87-86062AD22111}"/>
                </a:ext>
              </a:extLst>
            </p:cNvPr>
            <p:cNvSpPr txBox="1"/>
            <p:nvPr/>
          </p:nvSpPr>
          <p:spPr>
            <a:xfrm>
              <a:off x="3013130" y="5109359"/>
              <a:ext cx="346570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500" dirty="0"/>
                <a:t>2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69FA330B-A5F2-47FB-A885-B3AC93F12D84}"/>
                </a:ext>
              </a:extLst>
            </p:cNvPr>
            <p:cNvSpPr txBox="1"/>
            <p:nvPr/>
          </p:nvSpPr>
          <p:spPr>
            <a:xfrm>
              <a:off x="2390555" y="4300995"/>
              <a:ext cx="346570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500" dirty="0"/>
                <a:t>7</a:t>
              </a: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37F09AFD-5176-4197-9818-11751FBAAFAE}"/>
                </a:ext>
              </a:extLst>
            </p:cNvPr>
            <p:cNvSpPr txBox="1"/>
            <p:nvPr/>
          </p:nvSpPr>
          <p:spPr>
            <a:xfrm>
              <a:off x="370739" y="2045255"/>
              <a:ext cx="9364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Manaus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157A0995-1DEC-4C5A-87BF-489770400AE6}"/>
                </a:ext>
              </a:extLst>
            </p:cNvPr>
            <p:cNvSpPr txBox="1"/>
            <p:nvPr/>
          </p:nvSpPr>
          <p:spPr>
            <a:xfrm>
              <a:off x="3297233" y="1799595"/>
              <a:ext cx="1038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Fortaleza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31AB0577-1BC8-43F7-B868-969EF9BB5FBF}"/>
                </a:ext>
              </a:extLst>
            </p:cNvPr>
            <p:cNvSpPr txBox="1"/>
            <p:nvPr/>
          </p:nvSpPr>
          <p:spPr>
            <a:xfrm>
              <a:off x="1637144" y="5817807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Campinas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64EFB60E-3DAC-4F71-BD28-03BE72F73ED9}"/>
                </a:ext>
              </a:extLst>
            </p:cNvPr>
            <p:cNvSpPr txBox="1"/>
            <p:nvPr/>
          </p:nvSpPr>
          <p:spPr>
            <a:xfrm>
              <a:off x="3770994" y="4753454"/>
              <a:ext cx="9891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Salvador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E7C11E0D-B575-4620-95A5-2D1E4D4A912A}"/>
                  </a:ext>
                </a:extLst>
              </p:cNvPr>
              <p:cNvSpPr txBox="1"/>
              <p:nvPr/>
            </p:nvSpPr>
            <p:spPr>
              <a:xfrm>
                <a:off x="5599064" y="2011819"/>
                <a:ext cx="2922018" cy="3816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2200" dirty="0"/>
                  <a:t>Soluções possíveis</a:t>
                </a:r>
              </a:p>
              <a:p>
                <a:pPr algn="ctr"/>
                <a:r>
                  <a:rPr lang="pt-BR" sz="2200" dirty="0"/>
                  <a:t>(saindo do vértice 1)</a:t>
                </a:r>
              </a:p>
              <a:p>
                <a:endParaRPr lang="pt-BR" sz="22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1,2,3,4,1</m:t>
                          </m:r>
                        </m:e>
                      </m:d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=18</m:t>
                      </m:r>
                    </m:oMath>
                  </m:oMathPara>
                </a14:m>
                <a:endParaRPr lang="pt-BR" sz="2200" b="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1,2,4,3,1</m:t>
                          </m:r>
                        </m:e>
                      </m:d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=27</m:t>
                      </m:r>
                    </m:oMath>
                  </m:oMathPara>
                </a14:m>
                <a:endParaRPr lang="pt-BR" sz="2200" b="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1,3,2,4,1</m:t>
                          </m:r>
                        </m:e>
                      </m:d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pt-BR" sz="2200" b="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1,3,4,2,1</m:t>
                          </m:r>
                        </m:e>
                      </m:d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=27</m:t>
                      </m:r>
                    </m:oMath>
                  </m:oMathPara>
                </a14:m>
                <a:endParaRPr lang="pt-BR" sz="2200" b="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1,4,2,3,1</m:t>
                          </m:r>
                        </m:e>
                      </m:d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pt-BR" sz="2200" b="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1,4,3,2,1</m:t>
                          </m:r>
                        </m:e>
                      </m:d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=18</m:t>
                      </m:r>
                    </m:oMath>
                  </m:oMathPara>
                </a14:m>
                <a:endParaRPr lang="pt-BR" sz="2200" b="0" dirty="0"/>
              </a:p>
              <a:p>
                <a:endParaRPr lang="pt-BR" sz="2200" b="0" dirty="0"/>
              </a:p>
              <a:p>
                <a:endParaRPr lang="pt-BR" sz="2200" dirty="0"/>
              </a:p>
            </p:txBody>
          </p:sp>
        </mc:Choice>
        <mc:Fallback xmlns="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E7C11E0D-B575-4620-95A5-2D1E4D4A9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064" y="2011819"/>
                <a:ext cx="2922018" cy="3816429"/>
              </a:xfrm>
              <a:prstGeom prst="rect">
                <a:avLst/>
              </a:prstGeom>
              <a:blipFill>
                <a:blip r:embed="rId2"/>
                <a:stretch>
                  <a:fillRect t="-11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2273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53D6B-65C5-473E-94B5-D31D34071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58619E3-E4C1-4911-A9D7-F89C8E9BB2DF}"/>
              </a:ext>
            </a:extLst>
          </p:cNvPr>
          <p:cNvSpPr/>
          <p:nvPr/>
        </p:nvSpPr>
        <p:spPr>
          <a:xfrm>
            <a:off x="3087088" y="245110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C52AFA9-AD51-47FB-A4B1-A82D1F8FBFC7}"/>
              </a:ext>
            </a:extLst>
          </p:cNvPr>
          <p:cNvSpPr/>
          <p:nvPr/>
        </p:nvSpPr>
        <p:spPr>
          <a:xfrm>
            <a:off x="5919188" y="22272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41D0FEB-5F43-4FA5-84D6-C948C24E0AC6}"/>
              </a:ext>
            </a:extLst>
          </p:cNvPr>
          <p:cNvSpPr/>
          <p:nvPr/>
        </p:nvSpPr>
        <p:spPr>
          <a:xfrm>
            <a:off x="6170013" y="421005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6D1AB08-DC15-4192-A30C-3A8B88B65D9F}"/>
              </a:ext>
            </a:extLst>
          </p:cNvPr>
          <p:cNvSpPr/>
          <p:nvPr/>
        </p:nvSpPr>
        <p:spPr>
          <a:xfrm>
            <a:off x="4242788" y="53260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E027373-5AF8-4DC2-B284-D3B30AB7829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3607788" y="2487613"/>
            <a:ext cx="2311400" cy="2238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37B02FB8-C49C-4727-B71D-EF579F1D8E45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6179538" y="2747963"/>
            <a:ext cx="250825" cy="1462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CA842E6-718C-4140-8631-5B8A2F732019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3607788" y="2711450"/>
            <a:ext cx="2638480" cy="1574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D91F649-0D6D-439B-92F3-E9CB9520CB0E}"/>
              </a:ext>
            </a:extLst>
          </p:cNvPr>
          <p:cNvCxnSpPr>
            <a:cxnSpLocks/>
            <a:stCxn id="7" idx="5"/>
            <a:endCxn id="10" idx="0"/>
          </p:cNvCxnSpPr>
          <p:nvPr/>
        </p:nvCxnSpPr>
        <p:spPr>
          <a:xfrm>
            <a:off x="3531533" y="2895545"/>
            <a:ext cx="971605" cy="243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AD60B51B-0588-4173-8C5B-03E8D953FE2E}"/>
              </a:ext>
            </a:extLst>
          </p:cNvPr>
          <p:cNvCxnSpPr>
            <a:cxnSpLocks/>
            <a:stCxn id="10" idx="6"/>
            <a:endCxn id="9" idx="3"/>
          </p:cNvCxnSpPr>
          <p:nvPr/>
        </p:nvCxnSpPr>
        <p:spPr>
          <a:xfrm flipV="1">
            <a:off x="4763488" y="4654495"/>
            <a:ext cx="1482780" cy="931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11C4114A-E81F-4E98-AAE7-165CD6469C87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4687233" y="2671708"/>
            <a:ext cx="1308210" cy="27306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D799995-3C98-4DA8-9A54-AB73B9BB4685}"/>
              </a:ext>
            </a:extLst>
          </p:cNvPr>
          <p:cNvSpPr txBox="1"/>
          <p:nvPr/>
        </p:nvSpPr>
        <p:spPr>
          <a:xfrm>
            <a:off x="4493173" y="2179964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1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45C8C77-F28B-4B18-8F6D-D8A1A2509A71}"/>
              </a:ext>
            </a:extLst>
          </p:cNvPr>
          <p:cNvSpPr txBox="1"/>
          <p:nvPr/>
        </p:nvSpPr>
        <p:spPr>
          <a:xfrm>
            <a:off x="6334426" y="3190473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6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D7FC96D-11C0-4F45-B165-3A1C3E498713}"/>
              </a:ext>
            </a:extLst>
          </p:cNvPr>
          <p:cNvSpPr txBox="1"/>
          <p:nvPr/>
        </p:nvSpPr>
        <p:spPr>
          <a:xfrm>
            <a:off x="3497117" y="369292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9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09A4581-3D63-4A90-96D3-4323F6B00539}"/>
              </a:ext>
            </a:extLst>
          </p:cNvPr>
          <p:cNvSpPr txBox="1"/>
          <p:nvPr/>
        </p:nvSpPr>
        <p:spPr>
          <a:xfrm>
            <a:off x="4506025" y="332858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5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21E0696-4DB8-40CA-AB87-86062AD22111}"/>
              </a:ext>
            </a:extLst>
          </p:cNvPr>
          <p:cNvSpPr txBox="1"/>
          <p:nvPr/>
        </p:nvSpPr>
        <p:spPr>
          <a:xfrm>
            <a:off x="5376318" y="5109359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2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9FA330B-A5F2-47FB-A885-B3AC93F12D84}"/>
              </a:ext>
            </a:extLst>
          </p:cNvPr>
          <p:cNvSpPr txBox="1"/>
          <p:nvPr/>
        </p:nvSpPr>
        <p:spPr>
          <a:xfrm>
            <a:off x="4753743" y="430099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7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37F09AFD-5176-4197-9818-11751FBAAFAE}"/>
              </a:ext>
            </a:extLst>
          </p:cNvPr>
          <p:cNvSpPr txBox="1"/>
          <p:nvPr/>
        </p:nvSpPr>
        <p:spPr>
          <a:xfrm>
            <a:off x="2733927" y="204525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Manaus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157A0995-1DEC-4C5A-87BF-489770400AE6}"/>
              </a:ext>
            </a:extLst>
          </p:cNvPr>
          <p:cNvSpPr txBox="1"/>
          <p:nvPr/>
        </p:nvSpPr>
        <p:spPr>
          <a:xfrm>
            <a:off x="5660421" y="1799595"/>
            <a:ext cx="103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Fortaleza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31AB0577-1BC8-43F7-B868-969EF9BB5FBF}"/>
              </a:ext>
            </a:extLst>
          </p:cNvPr>
          <p:cNvSpPr txBox="1"/>
          <p:nvPr/>
        </p:nvSpPr>
        <p:spPr>
          <a:xfrm>
            <a:off x="4000332" y="581780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Campinas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64EFB60E-3DAC-4F71-BD28-03BE72F73ED9}"/>
              </a:ext>
            </a:extLst>
          </p:cNvPr>
          <p:cNvSpPr txBox="1"/>
          <p:nvPr/>
        </p:nvSpPr>
        <p:spPr>
          <a:xfrm>
            <a:off x="6134182" y="4753454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Salvador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3E0CF99-D10F-B5F0-3574-9BA04F518DF4}"/>
              </a:ext>
            </a:extLst>
          </p:cNvPr>
          <p:cNvSpPr/>
          <p:nvPr/>
        </p:nvSpPr>
        <p:spPr>
          <a:xfrm>
            <a:off x="5981349" y="2303518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DB37FB84-C794-C7D3-9733-6AF066E88BF8}"/>
              </a:ext>
            </a:extLst>
          </p:cNvPr>
          <p:cNvSpPr/>
          <p:nvPr/>
        </p:nvSpPr>
        <p:spPr>
          <a:xfrm>
            <a:off x="6234393" y="426970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1C64183F-B51C-438A-C25A-6344836D1FD6}"/>
              </a:ext>
            </a:extLst>
          </p:cNvPr>
          <p:cNvSpPr/>
          <p:nvPr/>
        </p:nvSpPr>
        <p:spPr>
          <a:xfrm>
            <a:off x="4306343" y="5386304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3755E02E-31C1-7CED-C669-1ECB8F312A6B}"/>
              </a:ext>
            </a:extLst>
          </p:cNvPr>
          <p:cNvSpPr/>
          <p:nvPr/>
        </p:nvSpPr>
        <p:spPr>
          <a:xfrm>
            <a:off x="3148658" y="252291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C22424A-80B8-62A3-5D2A-EB60591DAB96}"/>
              </a:ext>
            </a:extLst>
          </p:cNvPr>
          <p:cNvSpPr txBox="1"/>
          <p:nvPr/>
        </p:nvSpPr>
        <p:spPr>
          <a:xfrm>
            <a:off x="146957" y="1551214"/>
            <a:ext cx="286119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“F”</a:t>
            </a:r>
            <a:r>
              <a:rPr lang="pt-BR" dirty="0"/>
              <a:t> simboliza uma formiga que pode começar sua rota em uma das cidades.</a:t>
            </a:r>
          </a:p>
          <a:p>
            <a:r>
              <a:rPr lang="pt-BR" dirty="0"/>
              <a:t>O objetivo do TSP é encontrar a menor rota possível que passe por todas as cidades uma única vez e retorne ao ponto inicial. No contexto da Colônia de Formigas (ACO), cada formiga vai explorar caminhos, deixar feromônio nas arestas percorridas e, após várias iterações, os caminhos mais curtos tendem a se destacar porque acumulam mais feromônio.</a:t>
            </a:r>
          </a:p>
        </p:txBody>
      </p:sp>
    </p:spTree>
    <p:extLst>
      <p:ext uri="{BB962C8B-B14F-4D97-AF65-F5344CB8AC3E}">
        <p14:creationId xmlns:p14="http://schemas.microsoft.com/office/powerpoint/2010/main" val="3518891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53D6B-65C5-473E-94B5-D31D34071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58619E3-E4C1-4911-A9D7-F89C8E9BB2DF}"/>
              </a:ext>
            </a:extLst>
          </p:cNvPr>
          <p:cNvSpPr/>
          <p:nvPr/>
        </p:nvSpPr>
        <p:spPr>
          <a:xfrm>
            <a:off x="3087088" y="245110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E027373-5AF8-4DC2-B284-D3B30AB7829A}"/>
              </a:ext>
            </a:extLst>
          </p:cNvPr>
          <p:cNvCxnSpPr>
            <a:cxnSpLocks/>
            <a:stCxn id="7" idx="6"/>
          </p:cNvCxnSpPr>
          <p:nvPr/>
        </p:nvCxnSpPr>
        <p:spPr>
          <a:xfrm flipV="1">
            <a:off x="3607788" y="2487613"/>
            <a:ext cx="2311400" cy="2238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CA842E6-718C-4140-8631-5B8A2F732019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3607788" y="2711450"/>
            <a:ext cx="2638480" cy="1574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D91F649-0D6D-439B-92F3-E9CB9520CB0E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3531533" y="2895545"/>
            <a:ext cx="971605" cy="243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D799995-3C98-4DA8-9A54-AB73B9BB4685}"/>
              </a:ext>
            </a:extLst>
          </p:cNvPr>
          <p:cNvSpPr txBox="1"/>
          <p:nvPr/>
        </p:nvSpPr>
        <p:spPr>
          <a:xfrm>
            <a:off x="4493173" y="2179964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1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D7FC96D-11C0-4F45-B165-3A1C3E498713}"/>
              </a:ext>
            </a:extLst>
          </p:cNvPr>
          <p:cNvSpPr txBox="1"/>
          <p:nvPr/>
        </p:nvSpPr>
        <p:spPr>
          <a:xfrm>
            <a:off x="3497117" y="369292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9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09A4581-3D63-4A90-96D3-4323F6B00539}"/>
              </a:ext>
            </a:extLst>
          </p:cNvPr>
          <p:cNvSpPr txBox="1"/>
          <p:nvPr/>
        </p:nvSpPr>
        <p:spPr>
          <a:xfrm>
            <a:off x="4506025" y="332858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5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3755E02E-31C1-7CED-C669-1ECB8F312A6B}"/>
              </a:ext>
            </a:extLst>
          </p:cNvPr>
          <p:cNvSpPr/>
          <p:nvPr/>
        </p:nvSpPr>
        <p:spPr>
          <a:xfrm>
            <a:off x="3148658" y="252291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5F37B0B-5D64-D6EC-1B91-98DD5187C810}"/>
                  </a:ext>
                </a:extLst>
              </p:cNvPr>
              <p:cNvSpPr txBox="1"/>
              <p:nvPr/>
            </p:nvSpPr>
            <p:spPr>
              <a:xfrm>
                <a:off x="1833946" y="3336611"/>
                <a:ext cx="527901" cy="826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pt-BR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5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5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5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5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5F37B0B-5D64-D6EC-1B91-98DD5187C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946" y="3336611"/>
                <a:ext cx="527901" cy="8261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1FD118C7-EF5F-5C98-E240-7763992BBA7A}"/>
                  </a:ext>
                </a:extLst>
              </p:cNvPr>
              <p:cNvSpPr txBox="1"/>
              <p:nvPr/>
            </p:nvSpPr>
            <p:spPr>
              <a:xfrm>
                <a:off x="7310054" y="3336611"/>
                <a:ext cx="917111" cy="7227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pt-BR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pt-BR" sz="2500" b="0" i="1" smtClean="0">
                          <a:latin typeface="Cambria Math" panose="02040503050406030204" pitchFamily="18" charset="0"/>
                        </a:rPr>
                        <m:t>&gt; </m:t>
                      </m:r>
                      <m:f>
                        <m:fPr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5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5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pt-BR" sz="25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1FD118C7-EF5F-5C98-E240-7763992BB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054" y="3336611"/>
                <a:ext cx="917111" cy="7227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82D8A4F0-3270-B66D-1EE4-B5C329679653}"/>
              </a:ext>
            </a:extLst>
          </p:cNvPr>
          <p:cNvSpPr txBox="1"/>
          <p:nvPr/>
        </p:nvSpPr>
        <p:spPr>
          <a:xfrm>
            <a:off x="195943" y="4898571"/>
            <a:ext cx="80312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formiga está em uma cidade (círculo amarelo). Ela pode seguir para três destinos diferentes, com custos/distâncias 1, 5 e 9. O critério de escolha é baseado no inverso da distância: Ou seja, quanto menor a distância, maior o valor da heurística. </a:t>
            </a:r>
            <a:r>
              <a:rPr lang="pt-BR" dirty="0" err="1"/>
              <a:t>Ex</a:t>
            </a:r>
            <a:r>
              <a:rPr lang="pt-BR" dirty="0"/>
              <a:t>: Para distância 1, temos 1/1=1. Para distância 9, temos 1/9≈0,11. Logo, 1/1&gt;1/9​, indicando que a formiga tem mais chance de escolher o caminho curto.</a:t>
            </a:r>
          </a:p>
        </p:txBody>
      </p:sp>
    </p:spTree>
    <p:extLst>
      <p:ext uri="{BB962C8B-B14F-4D97-AF65-F5344CB8AC3E}">
        <p14:creationId xmlns:p14="http://schemas.microsoft.com/office/powerpoint/2010/main" val="509501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53D6B-65C5-473E-94B5-D31D34071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58619E3-E4C1-4911-A9D7-F89C8E9BB2DF}"/>
              </a:ext>
            </a:extLst>
          </p:cNvPr>
          <p:cNvSpPr/>
          <p:nvPr/>
        </p:nvSpPr>
        <p:spPr>
          <a:xfrm>
            <a:off x="3087088" y="245110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E027373-5AF8-4DC2-B284-D3B30AB7829A}"/>
              </a:ext>
            </a:extLst>
          </p:cNvPr>
          <p:cNvCxnSpPr>
            <a:cxnSpLocks/>
            <a:stCxn id="7" idx="6"/>
          </p:cNvCxnSpPr>
          <p:nvPr/>
        </p:nvCxnSpPr>
        <p:spPr>
          <a:xfrm flipV="1">
            <a:off x="3607788" y="2487613"/>
            <a:ext cx="2311400" cy="22383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CA842E6-718C-4140-8631-5B8A2F732019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3607788" y="2711450"/>
            <a:ext cx="2638480" cy="15748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D91F649-0D6D-439B-92F3-E9CB9520CB0E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3531533" y="2895545"/>
            <a:ext cx="971605" cy="243051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D799995-3C98-4DA8-9A54-AB73B9BB4685}"/>
              </a:ext>
            </a:extLst>
          </p:cNvPr>
          <p:cNvSpPr txBox="1"/>
          <p:nvPr/>
        </p:nvSpPr>
        <p:spPr>
          <a:xfrm>
            <a:off x="4493173" y="2179964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1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D7FC96D-11C0-4F45-B165-3A1C3E498713}"/>
              </a:ext>
            </a:extLst>
          </p:cNvPr>
          <p:cNvSpPr txBox="1"/>
          <p:nvPr/>
        </p:nvSpPr>
        <p:spPr>
          <a:xfrm>
            <a:off x="3497117" y="369292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9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09A4581-3D63-4A90-96D3-4323F6B00539}"/>
              </a:ext>
            </a:extLst>
          </p:cNvPr>
          <p:cNvSpPr txBox="1"/>
          <p:nvPr/>
        </p:nvSpPr>
        <p:spPr>
          <a:xfrm>
            <a:off x="4506025" y="332858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5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3755E02E-31C1-7CED-C669-1ECB8F312A6B}"/>
              </a:ext>
            </a:extLst>
          </p:cNvPr>
          <p:cNvSpPr/>
          <p:nvPr/>
        </p:nvSpPr>
        <p:spPr>
          <a:xfrm>
            <a:off x="3148658" y="252291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B166548C-8465-560E-5D04-1F7A3CCDE7AB}"/>
                  </a:ext>
                </a:extLst>
              </p:cNvPr>
              <p:cNvSpPr txBox="1"/>
              <p:nvPr/>
            </p:nvSpPr>
            <p:spPr>
              <a:xfrm>
                <a:off x="1009359" y="3578689"/>
                <a:ext cx="1731324" cy="923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sz="2500" i="1" u="none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500" i="1" u="none" dirty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pt-BR" sz="2500" b="0" i="1" u="none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500" b="0" i="1" u="none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500" b="0" i="1" u="none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2500" b="0" i="1" u="none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5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5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5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5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5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B166548C-8465-560E-5D04-1F7A3CCDE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59" y="3578689"/>
                <a:ext cx="1731324" cy="9236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FC5907CE-420F-8F57-9091-1477AAB9CF7E}"/>
              </a:ext>
            </a:extLst>
          </p:cNvPr>
          <p:cNvSpPr txBox="1"/>
          <p:nvPr/>
        </p:nvSpPr>
        <p:spPr>
          <a:xfrm>
            <a:off x="653143" y="5326063"/>
            <a:ext cx="7984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ACO é estocástico. As formigas não escolhem sempre o melhor caminho, isso permite a exploração do espaço de soluções e evita ficar preso em mínimos locais.</a:t>
            </a:r>
          </a:p>
        </p:txBody>
      </p:sp>
    </p:spTree>
    <p:extLst>
      <p:ext uri="{BB962C8B-B14F-4D97-AF65-F5344CB8AC3E}">
        <p14:creationId xmlns:p14="http://schemas.microsoft.com/office/powerpoint/2010/main" val="3798436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BD7C3-8F17-4F7F-B5D8-87E28B4F9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7F55CDF-E27C-4E94-970E-7514047138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u="none" dirty="0"/>
                  <a:t>Definição de um conjunto de cidades já visitadas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b="0" i="1" u="none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0" i="1" u="none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b="0" i="1" u="none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b="0" i="1" u="none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endParaRPr lang="pt-BR" u="none" dirty="0"/>
              </a:p>
              <a:p>
                <a:endParaRPr lang="pt-BR" u="none" dirty="0"/>
              </a:p>
              <a:p>
                <a:r>
                  <a:rPr lang="pt-BR" u="none" dirty="0"/>
                  <a:t>Definição de visibilidade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u="none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u="none" dirty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pt-BR" b="0" i="1" u="none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b="0" i="1" u="none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b="0" i="1" u="none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b="0" i="1" u="none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u="none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u="none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pt-BR" b="0" i="1" u="none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u="none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pt-BR" b="0" i="1" u="none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b="0" i="1" u="none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b="0" i="1" u="none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pt-BR" u="none" dirty="0"/>
              </a:p>
              <a:p>
                <a:endParaRPr lang="pt-BR" u="none" dirty="0"/>
              </a:p>
              <a:p>
                <a:r>
                  <a:rPr lang="pt-BR" u="none" dirty="0"/>
                  <a:t>Quantidade de feromônio depositado em cada aresta do grafo (intensidade da trilha)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7F55CDF-E27C-4E94-970E-7514047138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1541" r="-25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23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153C9-D692-48F2-8042-592DF4511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3A73F6A-6498-4349-8F35-436C20CB86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b="1" u="none" dirty="0"/>
                  <a:t>Regra do deslocamento</a:t>
                </a:r>
              </a:p>
              <a:p>
                <a:endParaRPr lang="pt-BR" u="none" dirty="0"/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pt-BR" b="0" i="1" u="none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b="0" i="1" u="none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u="none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b="0" i="1" u="none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u="none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pt-BR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))</m:t>
                                      </m:r>
                                    </m:e>
                                    <m:sup>
                                      <m:r>
                                        <a:rPr lang="pt-BR" b="0" i="1" u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sup>
                                  </m:sSup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sSup>
                                    <m:sSupPr>
                                      <m:ctrlPr>
                                        <a:rPr lang="el-GR" i="1" u="none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l-GR" i="1" u="none" dirty="0"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</a:rPr>
                                        <m:t>))</m:t>
                                      </m:r>
                                    </m:e>
                                    <m:sup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sup>
                                  </m:sSup>
                                </m:num>
                                <m:den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pt-BR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pt-BR" b="0" i="1" u="none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b="0" i="1" u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Sup>
                                        <m:sSubSupPr>
                                          <m:ctrlP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))</m:t>
                                          </m:r>
                                        </m:e>
                                        <m:sup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sup>
                                      </m:sSup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p>
                                        <m:sSupPr>
                                          <m:ctrlPr>
                                            <a:rPr lang="el-GR" i="1" u="none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l-G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𝜂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pt-BR" b="0" i="1" u="none" dirty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b="0" i="1" u="none" dirty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pt-BR" b="0" i="1" u="none" dirty="0" smtClean="0">
                                              <a:latin typeface="Cambria Math" panose="02040503050406030204" pitchFamily="18" charset="0"/>
                                            </a:rPr>
                                            <m:t>))</m:t>
                                          </m:r>
                                        </m:e>
                                        <m:sup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 </m:t>
                              </m:r>
                              <m:sSubSup>
                                <m:sSubSupPr>
                                  <m:ctrlP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0                                          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∉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pt-BR" u="none" dirty="0"/>
              </a:p>
              <a:p>
                <a:endParaRPr lang="pt-BR" u="none" dirty="0"/>
              </a:p>
              <a:p>
                <a:pPr algn="just"/>
                <a14:m>
                  <m:oMath xmlns:m="http://schemas.openxmlformats.org/officeDocument/2006/math">
                    <m:sSubSup>
                      <m:sSubSupPr>
                        <m:ctrlPr>
                          <a:rPr lang="pt-BR" b="0" i="1" u="none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0" i="1" u="none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BR" b="0" i="1" u="none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b="0" i="1" u="none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b="0" i="1" u="none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b="0" i="1" u="none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d>
                      <m:dPr>
                        <m:ctrlPr>
                          <a:rPr lang="pt-BR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pt-BR" u="none" dirty="0"/>
                  <a:t>  é a probabilidade da formiga k atravessar o arco </a:t>
                </a:r>
                <a:r>
                  <a:rPr lang="pt-BR" u="none" dirty="0" err="1"/>
                  <a:t>i,j</a:t>
                </a:r>
                <a:r>
                  <a:rPr lang="pt-BR" u="none" dirty="0"/>
                  <a:t> no instante t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3A73F6A-6498-4349-8F35-436C20CB86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241" r="-1623" b="-4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550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153C9-D692-48F2-8042-592DF4511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3A73F6A-6498-4349-8F35-436C20CB86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b="1" u="none" dirty="0"/>
                  <a:t>Regra do deslocamento</a:t>
                </a:r>
              </a:p>
              <a:p>
                <a:endParaRPr lang="pt-BR" u="none" dirty="0"/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pt-BR" b="0" i="1" u="none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b="0" i="1" u="none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u="none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b="0" i="1" u="none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u="none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pt-BR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))</m:t>
                                      </m:r>
                                    </m:e>
                                    <m:sup>
                                      <m:r>
                                        <a:rPr lang="pt-BR" b="0" i="1" u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sup>
                                  </m:sSup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sSup>
                                    <m:sSupPr>
                                      <m:ctrlPr>
                                        <a:rPr lang="el-GR" i="1" u="none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l-GR" i="1" u="none" dirty="0"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</a:rPr>
                                        <m:t>))</m:t>
                                      </m:r>
                                    </m:e>
                                    <m:sup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sup>
                                  </m:sSup>
                                </m:num>
                                <m:den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pt-BR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pt-BR" b="0" i="1" u="none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b="0" i="1" u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Sup>
                                        <m:sSubSupPr>
                                          <m:ctrlP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))</m:t>
                                          </m:r>
                                        </m:e>
                                        <m:sup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sup>
                                      </m:sSup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p>
                                        <m:sSupPr>
                                          <m:ctrlPr>
                                            <a:rPr lang="el-GR" i="1" u="none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l-G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𝜂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pt-BR" b="0" i="1" u="none" dirty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b="0" i="1" u="none" dirty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pt-BR" b="0" i="1" u="none" dirty="0" smtClean="0">
                                              <a:latin typeface="Cambria Math" panose="02040503050406030204" pitchFamily="18" charset="0"/>
                                            </a:rPr>
                                            <m:t>))</m:t>
                                          </m:r>
                                        </m:e>
                                        <m:sup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 </m:t>
                              </m:r>
                              <m:sSubSup>
                                <m:sSubSupPr>
                                  <m:ctrlP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0                                          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∉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pt-BR" u="none" dirty="0"/>
              </a:p>
              <a:p>
                <a:endParaRPr lang="pt-BR" u="none" dirty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pt-BR" i="1" u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u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pt-BR" i="1" u="none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 u="non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 u="none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i="1" u="none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u="none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 u="none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u="none" dirty="0"/>
                  <a:t>  é a quantidade de feromônio depositado na trilha </a:t>
                </a:r>
                <a:r>
                  <a:rPr lang="pt-BR" u="none" dirty="0" err="1"/>
                  <a:t>i,j</a:t>
                </a:r>
                <a:r>
                  <a:rPr lang="pt-BR" u="none" dirty="0"/>
                  <a:t> no instante t (intensidade da trilha)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3A73F6A-6498-4349-8F35-436C20CB86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241" r="-16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808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153C9-D692-48F2-8042-592DF4511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3A73F6A-6498-4349-8F35-436C20CB86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b="1" u="none" dirty="0"/>
                  <a:t>Regra do deslocamento</a:t>
                </a:r>
              </a:p>
              <a:p>
                <a:endParaRPr lang="pt-BR" u="none" dirty="0"/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pt-BR" b="0" i="1" u="none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b="0" i="1" u="none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u="none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b="0" i="1" u="none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u="none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pt-BR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))</m:t>
                                      </m:r>
                                    </m:e>
                                    <m:sup>
                                      <m:r>
                                        <a:rPr lang="pt-BR" b="0" i="1" u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sup>
                                  </m:sSup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sSup>
                                    <m:sSupPr>
                                      <m:ctrlPr>
                                        <a:rPr lang="el-GR" i="1" u="none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l-GR" i="1" u="none" dirty="0"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</a:rPr>
                                        <m:t>))</m:t>
                                      </m:r>
                                    </m:e>
                                    <m:sup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sup>
                                  </m:sSup>
                                </m:num>
                                <m:den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pt-BR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pt-BR" b="0" i="1" u="none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b="0" i="1" u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Sup>
                                        <m:sSubSupPr>
                                          <m:ctrlP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))</m:t>
                                          </m:r>
                                        </m:e>
                                        <m:sup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sup>
                                      </m:sSup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p>
                                        <m:sSupPr>
                                          <m:ctrlPr>
                                            <a:rPr lang="el-GR" i="1" u="none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l-G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𝜂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pt-BR" b="0" i="1" u="none" dirty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b="0" i="1" u="none" dirty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pt-BR" b="0" i="1" u="none" dirty="0" smtClean="0">
                                              <a:latin typeface="Cambria Math" panose="02040503050406030204" pitchFamily="18" charset="0"/>
                                            </a:rPr>
                                            <m:t>))</m:t>
                                          </m:r>
                                        </m:e>
                                        <m:sup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 </m:t>
                              </m:r>
                              <m:sSubSup>
                                <m:sSubSupPr>
                                  <m:ctrlP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0                                          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∉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pt-BR" u="none" dirty="0"/>
              </a:p>
              <a:p>
                <a:endParaRPr lang="pt-BR" u="none" dirty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l-GR" i="1" u="none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u="none" dirty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pt-BR" i="1" u="none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 u="none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 u="none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i="1" u="none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u="none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 u="none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u="none" dirty="0"/>
                  <a:t>  é o fator de visibilidade (distância) de cada trajeto que a formiga k pode selecionar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3A73F6A-6498-4349-8F35-436C20CB86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241" r="-16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445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153C9-D692-48F2-8042-592DF4511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3A73F6A-6498-4349-8F35-436C20CB86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b="1" u="none" dirty="0"/>
                  <a:t>Regra do deslocamento</a:t>
                </a:r>
              </a:p>
              <a:p>
                <a:endParaRPr lang="pt-BR" u="none" dirty="0"/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pt-BR" b="0" i="1" u="none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b="0" i="1" u="none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u="none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b="0" i="1" u="none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u="none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pt-BR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))</m:t>
                                      </m:r>
                                    </m:e>
                                    <m:sup>
                                      <m:r>
                                        <a:rPr lang="pt-BR" b="0" i="1" u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sup>
                                  </m:sSup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sSup>
                                    <m:sSupPr>
                                      <m:ctrlPr>
                                        <a:rPr lang="el-GR" i="1" u="none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l-GR" i="1" u="none" dirty="0"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</a:rPr>
                                        <m:t>))</m:t>
                                      </m:r>
                                    </m:e>
                                    <m:sup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sup>
                                  </m:sSup>
                                </m:num>
                                <m:den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pt-BR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pt-BR" b="0" i="1" u="none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b="0" i="1" u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Sup>
                                        <m:sSubSupPr>
                                          <m:ctrlP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))</m:t>
                                          </m:r>
                                        </m:e>
                                        <m:sup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sup>
                                      </m:sSup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p>
                                        <m:sSupPr>
                                          <m:ctrlPr>
                                            <a:rPr lang="el-GR" i="1" u="none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l-G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𝜂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pt-BR" b="0" i="1" u="none" dirty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b="0" i="1" u="none" dirty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pt-BR" b="0" i="1" u="none" dirty="0" smtClean="0">
                                              <a:latin typeface="Cambria Math" panose="02040503050406030204" pitchFamily="18" charset="0"/>
                                            </a:rPr>
                                            <m:t>))</m:t>
                                          </m:r>
                                        </m:e>
                                        <m:sup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 </m:t>
                              </m:r>
                              <m:sSubSup>
                                <m:sSubSupPr>
                                  <m:ctrlP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0                                          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∉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pt-BR" u="none" dirty="0"/>
              </a:p>
              <a:p>
                <a:endParaRPr lang="pt-BR" u="none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u="none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pt-BR" u="none" dirty="0"/>
                  <a:t> é o parâmetro que controla a importância da intensidade da trilha e </a:t>
                </a:r>
                <a:r>
                  <a:rPr lang="el-GR" u="none" dirty="0"/>
                  <a:t>β</a:t>
                </a:r>
                <a:r>
                  <a:rPr lang="pt-BR" u="none" dirty="0"/>
                  <a:t> controla a importância da visibilidade da trilha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3A73F6A-6498-4349-8F35-436C20CB86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3081" r="-1623" b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7481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153C9-D692-48F2-8042-592DF4511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3A73F6A-6498-4349-8F35-436C20CB86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b="1" u="none" dirty="0"/>
                  <a:t>Regra do deslocamento</a:t>
                </a:r>
              </a:p>
              <a:p>
                <a:endParaRPr lang="pt-BR" u="none" dirty="0"/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pt-BR" b="0" i="1" u="none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u="none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b="0" i="1" u="none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u="none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b="0" i="1" u="none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u="none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pt-BR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))</m:t>
                                      </m:r>
                                    </m:e>
                                    <m:sup>
                                      <m:r>
                                        <a:rPr lang="pt-BR" b="0" i="1" u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sup>
                                  </m:sSup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sSup>
                                    <m:sSupPr>
                                      <m:ctrlPr>
                                        <a:rPr lang="el-GR" i="1" u="none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l-GR" i="1" u="none" dirty="0"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</a:rPr>
                                        <m:t>))</m:t>
                                      </m:r>
                                    </m:e>
                                    <m:sup>
                                      <m:r>
                                        <a:rPr lang="pt-BR" b="0" i="1" u="none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sup>
                                  </m:sSup>
                                </m:num>
                                <m:den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pt-BR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pt-BR" b="0" i="1" u="none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b="0" i="1" u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Sup>
                                        <m:sSubSupPr>
                                          <m:ctrlP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pt-BR" b="0" i="1" u="none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pt-BR" i="1" u="none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</a:rPr>
                                            <m:t>))</m:t>
                                          </m:r>
                                        </m:e>
                                        <m:sup>
                                          <m:r>
                                            <a:rPr lang="pt-BR" i="1" u="none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sup>
                                      </m:sSup>
                                      <m:r>
                                        <a:rPr lang="pt-BR" i="1" u="none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p>
                                        <m:sSupPr>
                                          <m:ctrlPr>
                                            <a:rPr lang="el-GR" i="1" u="none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l-G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𝜂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pt-BR" i="1" u="none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pt-BR" b="0" i="1" u="none" dirty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b="0" i="1" u="none" dirty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pt-BR" b="0" i="1" u="none" dirty="0" smtClean="0">
                                              <a:latin typeface="Cambria Math" panose="02040503050406030204" pitchFamily="18" charset="0"/>
                                            </a:rPr>
                                            <m:t>))</m:t>
                                          </m:r>
                                        </m:e>
                                        <m:sup>
                                          <m:r>
                                            <a:rPr lang="pt-BR" i="1" u="none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 </m:t>
                              </m:r>
                              <m:sSubSup>
                                <m:sSubSupPr>
                                  <m:ctrlP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</a:rPr>
                                <m:t>0                                          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∉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i="1" u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pt-BR" u="none" dirty="0"/>
              </a:p>
              <a:p>
                <a:endParaRPr lang="pt-BR" u="none" dirty="0"/>
              </a:p>
              <a:p>
                <a:pPr algn="just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pt-BR" i="1" u="none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pt-BR" i="1" u="none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 u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Sup>
                          <m:sSubSupPr>
                            <m:ctrlPr>
                              <a:rPr lang="pt-BR" i="1" u="non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i="1" u="non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 u="non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pt-BR" i="1" u="non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sub>
                      <m:sup/>
                      <m:e>
                        <m:sSup>
                          <m:sSupPr>
                            <m:ctrlPr>
                              <a:rPr lang="pt-BR" i="1" u="none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pt-BR" i="1" u="none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 u="none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 u="none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pt-BR" i="1" u="none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i="1" u="non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i="1" u="none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pt-BR" i="1" u="none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 u="none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i="1" u="none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  <m:sup>
                            <m:r>
                              <a:rPr lang="pt-BR" i="1" u="non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r>
                          <a:rPr lang="pt-BR" i="1" u="none">
                            <a:latin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l-GR" i="1" u="none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pt-BR" i="1" u="none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 u="none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l-GR" i="1" u="none" dirty="0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pt-BR" i="1" u="none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i="1" u="none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i="1" u="none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pt-BR" b="0" i="1" u="none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0" i="1" u="none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u="none" dirty="0" smtClean="0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  <m:sup>
                            <m:r>
                              <a:rPr lang="pt-BR" i="1" u="none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sup>
                        </m:sSup>
                      </m:e>
                    </m:nary>
                  </m:oMath>
                </a14:m>
                <a:r>
                  <a:rPr lang="pt-BR" u="none" dirty="0"/>
                  <a:t> é o somatório do produto entre o inverso da distância e a quantidade de feromônio para cada caminho que a formiga k pode seguir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3A73F6A-6498-4349-8F35-436C20CB86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801" r="-13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2282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3476C-74BB-4178-5672-15AB358C7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4D6CD33-05A6-7383-0D1D-616AF7C8F7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b="1" u="none" dirty="0"/>
                  <a:t>Feromônio depositado em cada rota</a:t>
                </a:r>
              </a:p>
              <a:p>
                <a:endParaRPr lang="pt-BR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u="none" dirty="0"/>
              </a:p>
              <a:p>
                <a:endParaRPr lang="pt-BR" u="none" dirty="0"/>
              </a:p>
              <a:p>
                <a:pPr algn="just"/>
                <a14:m>
                  <m:oMath xmlns:m="http://schemas.openxmlformats.org/officeDocument/2006/math">
                    <m:r>
                      <a:rPr lang="pt-BR" i="1" u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pt-BR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pt-BR" u="none" dirty="0"/>
                  <a:t> representa quanto a formiga k vai deixar de feromônio no caminho </a:t>
                </a:r>
                <a:r>
                  <a:rPr lang="pt-BR" u="none" dirty="0" err="1"/>
                  <a:t>i,j</a:t>
                </a:r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4D6CD33-05A6-7383-0D1D-616AF7C8F7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241" r="-16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489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3476C-74BB-4178-5672-15AB358C7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4D6CD33-05A6-7383-0D1D-616AF7C8F7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b="1" u="none" dirty="0"/>
                  <a:t>Feromônio depositado em cada rota</a:t>
                </a:r>
              </a:p>
              <a:p>
                <a:endParaRPr lang="pt-BR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u="none" dirty="0"/>
              </a:p>
              <a:p>
                <a:endParaRPr lang="pt-BR" u="none" dirty="0"/>
              </a:p>
              <a:p>
                <a:pPr algn="just"/>
                <a14:m>
                  <m:oMath xmlns:m="http://schemas.openxmlformats.org/officeDocument/2006/math">
                    <m:r>
                      <a:rPr lang="pt-BR" b="0" i="1" u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u="none" dirty="0"/>
                  <a:t> é um parâmetro que corresponde à constante de atualização do feromônio</a:t>
                </a:r>
              </a:p>
              <a:p>
                <a:pPr algn="just"/>
                <a:endParaRPr lang="pt-BR" u="none" dirty="0"/>
              </a:p>
              <a:p>
                <a:pPr algn="just"/>
                <a:r>
                  <a:rPr lang="pt-BR" u="none" dirty="0">
                    <a:solidFill>
                      <a:srgbClr val="FF0000"/>
                    </a:solidFill>
                  </a:rPr>
                  <a:t>Quanto maior o valor de </a:t>
                </a:r>
                <a14:m>
                  <m:oMath xmlns:m="http://schemas.openxmlformats.org/officeDocument/2006/math">
                    <m:r>
                      <a:rPr lang="pt-BR" i="1" u="none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u="none" dirty="0">
                    <a:solidFill>
                      <a:srgbClr val="FF0000"/>
                    </a:solidFill>
                  </a:rPr>
                  <a:t>, mais feromônio será deixado</a:t>
                </a:r>
              </a:p>
              <a:p>
                <a:endParaRPr lang="pt-BR" u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4D6CD33-05A6-7383-0D1D-616AF7C8F7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3081" r="-1623" b="-16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807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3476C-74BB-4178-5672-15AB358C7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4D6CD33-05A6-7383-0D1D-616AF7C8F7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b="1" u="none" dirty="0"/>
                  <a:t>Feromônio depositado em cada rota</a:t>
                </a:r>
              </a:p>
              <a:p>
                <a:endParaRPr lang="pt-BR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u="none" dirty="0"/>
              </a:p>
              <a:p>
                <a:endParaRPr lang="pt-BR" u="none" dirty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u="none" dirty="0"/>
                  <a:t> é o somatório das distâncias percorridas pela formiga </a:t>
                </a:r>
                <a14:m>
                  <m:oMath xmlns:m="http://schemas.openxmlformats.org/officeDocument/2006/math">
                    <m:r>
                      <a:rPr lang="pt-BR" i="1" u="none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u="none" dirty="0"/>
                  <a:t> ao longo de sua rota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4D6CD33-05A6-7383-0D1D-616AF7C8F7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46" t="-2241" r="-16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87888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CE9D9-FA19-0C44-AC8B-931FBDF3B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13E25D1-416A-F7BE-895F-DEE921C58D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b="1" u="none" dirty="0"/>
                  <a:t>Atualização da matriz de feromônios</a:t>
                </a:r>
              </a:p>
              <a:p>
                <a:endParaRPr lang="pt-BR" u="none" dirty="0"/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pt-BR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pt-BR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pt-BR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p>
                        <m:e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d>
                            <m:dPr>
                              <m:ctrlP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pt-BR" b="0" u="none" dirty="0">
                  <a:ea typeface="Cambria Math" panose="02040503050406030204" pitchFamily="18" charset="0"/>
                </a:endParaRPr>
              </a:p>
              <a:p>
                <a:endParaRPr lang="pt-BR" u="none" dirty="0"/>
              </a:p>
              <a:p>
                <a:pPr algn="just"/>
                <a14:m>
                  <m:oMath xmlns:m="http://schemas.openxmlformats.org/officeDocument/2006/math">
                    <m:sSubSup>
                      <m:sSubSupPr>
                        <m:ctrlPr>
                          <a:rPr lang="pt-BR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d>
                      <m:dPr>
                        <m:ctrlP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pt-BR" u="none" dirty="0"/>
                  <a:t>  é o valor do feromônio presente no caminho </a:t>
                </a:r>
                <a14:m>
                  <m:oMath xmlns:m="http://schemas.openxmlformats.org/officeDocument/2006/math">
                    <m:r>
                      <a:rPr lang="pt-BR" i="1" u="none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i="1" u="none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i="1" u="none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pt-BR" u="none" dirty="0"/>
                  <a:t> após a atualização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13E25D1-416A-F7BE-895F-DEE921C58D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241" r="-16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9242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CE9D9-FA19-0C44-AC8B-931FBDF3B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13E25D1-416A-F7BE-895F-DEE921C58D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b="1" u="none" dirty="0"/>
                  <a:t>Atualização da matriz de feromônios</a:t>
                </a:r>
              </a:p>
              <a:p>
                <a:endParaRPr lang="pt-BR" u="none" dirty="0"/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pt-BR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pt-BR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pt-BR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p>
                        <m:e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d>
                            <m:dPr>
                              <m:ctrlP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pt-BR" b="0" u="none" dirty="0">
                  <a:ea typeface="Cambria Math" panose="02040503050406030204" pitchFamily="18" charset="0"/>
                </a:endParaRPr>
              </a:p>
              <a:p>
                <a:endParaRPr lang="pt-BR" u="none" dirty="0"/>
              </a:p>
              <a:p>
                <a:pPr algn="just"/>
                <a14:m>
                  <m:oMath xmlns:m="http://schemas.openxmlformats.org/officeDocument/2006/math">
                    <m:r>
                      <a:rPr lang="pt-BR" i="1" u="non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u="none" dirty="0"/>
                  <a:t> é o fator de esvaecimento do feromônio (intensidade com que ele diminui ao longo das iterações)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13E25D1-416A-F7BE-895F-DEE921C58D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241" r="-16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19211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CE9D9-FA19-0C44-AC8B-931FBDF3B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13E25D1-416A-F7BE-895F-DEE921C58D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b="1" u="none" dirty="0"/>
                  <a:t>Atualização da matriz de feromônios</a:t>
                </a:r>
              </a:p>
              <a:p>
                <a:endParaRPr lang="pt-BR" u="none" dirty="0"/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pt-BR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pt-BR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pt-BR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p>
                        <m:e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d>
                            <m:dPr>
                              <m:ctrlP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pt-BR" b="0" u="none" dirty="0">
                  <a:ea typeface="Cambria Math" panose="02040503050406030204" pitchFamily="18" charset="0"/>
                </a:endParaRPr>
              </a:p>
              <a:p>
                <a:endParaRPr lang="pt-BR" u="none" dirty="0"/>
              </a:p>
              <a:p>
                <a:pPr algn="just"/>
                <a14:m>
                  <m:oMath xmlns:m="http://schemas.openxmlformats.org/officeDocument/2006/math">
                    <m:sSubSup>
                      <m:sSubSupPr>
                        <m:ctrlPr>
                          <a:rPr lang="pt-BR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d>
                      <m:dPr>
                        <m:ctrlP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pt-BR" u="none" dirty="0"/>
                  <a:t>  é o valor do feromônio que estava presente no início da iteração atual (proveniente da iteração anterior, </a:t>
                </a:r>
                <a14:m>
                  <m:oMath xmlns:m="http://schemas.openxmlformats.org/officeDocument/2006/math">
                    <m:r>
                      <a:rPr lang="pt-BR" i="1" u="none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 u="none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u="none" dirty="0"/>
                  <a:t>)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13E25D1-416A-F7BE-895F-DEE921C58D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241" r="-16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3513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CE9D9-FA19-0C44-AC8B-931FBDF3B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13E25D1-416A-F7BE-895F-DEE921C58D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b="1" u="none" dirty="0"/>
                  <a:t>Atualização da matriz de feromônios</a:t>
                </a:r>
              </a:p>
              <a:p>
                <a:endParaRPr lang="pt-BR" u="none" dirty="0"/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pt-BR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pt-BR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pt-BR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p>
                        <m:e>
                          <m:r>
                            <a:rPr lang="pt-BR" i="1" u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 u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d>
                            <m:dPr>
                              <m:ctrlP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pt-BR" b="0" u="none" dirty="0">
                  <a:ea typeface="Cambria Math" panose="02040503050406030204" pitchFamily="18" charset="0"/>
                </a:endParaRPr>
              </a:p>
              <a:p>
                <a:endParaRPr lang="pt-BR" u="none" dirty="0"/>
              </a:p>
              <a:p>
                <a:pPr algn="just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i="1" u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i="1" u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pt-BR" i="1" u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i="1" u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p>
                      <m:e>
                        <m:r>
                          <a:rPr lang="pt-BR" i="1" u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pt-BR" i="1" u="non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i="1" u="non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pt-BR" i="1" u="non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i="1" u="non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i="1" u="non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pt-BR" i="1" u="non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d>
                          <m:dPr>
                            <m:ctrlPr>
                              <a:rPr lang="pt-BR" i="1" u="non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u="non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</m:oMath>
                </a14:m>
                <a:r>
                  <a:rPr lang="pt-BR" u="none" dirty="0"/>
                  <a:t> é o total de feromônio que todas as </a:t>
                </a:r>
                <a14:m>
                  <m:oMath xmlns:m="http://schemas.openxmlformats.org/officeDocument/2006/math">
                    <m:r>
                      <a:rPr lang="pt-BR" i="1" u="none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pt-BR" u="none" dirty="0"/>
                  <a:t> formigas deixaram no caminho </a:t>
                </a:r>
                <a14:m>
                  <m:oMath xmlns:m="http://schemas.openxmlformats.org/officeDocument/2006/math">
                    <m:r>
                      <a:rPr lang="pt-BR" i="1" u="none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i="1" u="none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i="1" u="none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pt-BR" i="1" u="none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u="none" dirty="0"/>
                  <a:t>na iteração atual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13E25D1-416A-F7BE-895F-DEE921C58D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3096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9E9C2-D4BA-4A65-A544-C6D976543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Etapas de um ACO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6ED2688-074B-49CA-B895-7A85450E42C5}"/>
              </a:ext>
            </a:extLst>
          </p:cNvPr>
          <p:cNvSpPr txBox="1"/>
          <p:nvPr/>
        </p:nvSpPr>
        <p:spPr>
          <a:xfrm>
            <a:off x="533401" y="2020838"/>
            <a:ext cx="538479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500" dirty="0"/>
              <a:t>Inicializar Parâmetros</a:t>
            </a:r>
          </a:p>
          <a:p>
            <a:r>
              <a:rPr lang="pt-BR" sz="2500" dirty="0"/>
              <a:t>Inicializar Matriz de Feromônio</a:t>
            </a:r>
          </a:p>
          <a:p>
            <a:r>
              <a:rPr lang="pt-BR" sz="2500" dirty="0"/>
              <a:t>enquanto (Iterador &lt; Nº de Iterações)</a:t>
            </a:r>
          </a:p>
          <a:p>
            <a:r>
              <a:rPr lang="pt-BR" sz="2500" dirty="0"/>
              <a:t>{</a:t>
            </a:r>
          </a:p>
          <a:p>
            <a:r>
              <a:rPr lang="pt-BR" sz="2500" dirty="0"/>
              <a:t>	Construir Soluções Possíveis</a:t>
            </a:r>
          </a:p>
          <a:p>
            <a:r>
              <a:rPr lang="pt-BR" sz="2500" dirty="0"/>
              <a:t>	Atualizar Matriz de Feromônio</a:t>
            </a:r>
          </a:p>
          <a:p>
            <a:r>
              <a:rPr lang="pt-BR" sz="2500" dirty="0"/>
              <a:t>	++Iterador</a:t>
            </a:r>
          </a:p>
          <a:p>
            <a:r>
              <a:rPr lang="pt-BR" sz="25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435198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D522A-7BBA-BC56-C36B-3D7E5EA5C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CFB6B47-74C1-A44A-B7AD-1A12C5933B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b="1" u="none" dirty="0"/>
                  <a:t>Parâmetros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7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pt-BR" sz="27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=1</m:t>
                      </m:r>
                    </m:oMath>
                  </m:oMathPara>
                </a14:m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7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pt-BR" sz="27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=1</m:t>
                      </m:r>
                    </m:oMath>
                  </m:oMathPara>
                </a14:m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7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pt-BR" sz="27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=0,01</m:t>
                      </m:r>
                    </m:oMath>
                  </m:oMathPara>
                </a14:m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7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7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7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7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7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27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</m:t>
                      </m:r>
                    </m:oMath>
                  </m:oMathPara>
                </a14:m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700" i="1" u="none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pt-BR" sz="2700" i="1" u="none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endParaRPr lang="pt-BR" b="0" u="none" dirty="0">
                  <a:ea typeface="Cambria Math" panose="02040503050406030204" pitchFamily="18" charset="0"/>
                </a:endParaRPr>
              </a:p>
              <a:p>
                <a:endParaRPr lang="pt-BR" b="0" u="none" dirty="0">
                  <a:ea typeface="Cambria Math" panose="02040503050406030204" pitchFamily="18" charset="0"/>
                </a:endParaRPr>
              </a:p>
              <a:p>
                <a:endParaRPr lang="pt-BR" u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CFB6B47-74C1-A44A-B7AD-1A12C5933B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241" b="-15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9930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53D6B-65C5-473E-94B5-D31D34071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58619E3-E4C1-4911-A9D7-F89C8E9BB2DF}"/>
              </a:ext>
            </a:extLst>
          </p:cNvPr>
          <p:cNvSpPr/>
          <p:nvPr/>
        </p:nvSpPr>
        <p:spPr>
          <a:xfrm>
            <a:off x="3087088" y="245110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C52AFA9-AD51-47FB-A4B1-A82D1F8FBFC7}"/>
              </a:ext>
            </a:extLst>
          </p:cNvPr>
          <p:cNvSpPr/>
          <p:nvPr/>
        </p:nvSpPr>
        <p:spPr>
          <a:xfrm>
            <a:off x="5919188" y="22272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41D0FEB-5F43-4FA5-84D6-C948C24E0AC6}"/>
              </a:ext>
            </a:extLst>
          </p:cNvPr>
          <p:cNvSpPr/>
          <p:nvPr/>
        </p:nvSpPr>
        <p:spPr>
          <a:xfrm>
            <a:off x="6170013" y="421005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6D1AB08-DC15-4192-A30C-3A8B88B65D9F}"/>
              </a:ext>
            </a:extLst>
          </p:cNvPr>
          <p:cNvSpPr/>
          <p:nvPr/>
        </p:nvSpPr>
        <p:spPr>
          <a:xfrm>
            <a:off x="4242788" y="53260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E027373-5AF8-4DC2-B284-D3B30AB7829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3607788" y="2487613"/>
            <a:ext cx="2311400" cy="2238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37B02FB8-C49C-4727-B71D-EF579F1D8E45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6179538" y="2747963"/>
            <a:ext cx="250825" cy="1462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CA842E6-718C-4140-8631-5B8A2F732019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3607788" y="2711450"/>
            <a:ext cx="2638480" cy="1574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D91F649-0D6D-439B-92F3-E9CB9520CB0E}"/>
              </a:ext>
            </a:extLst>
          </p:cNvPr>
          <p:cNvCxnSpPr>
            <a:cxnSpLocks/>
            <a:stCxn id="7" idx="5"/>
            <a:endCxn id="10" idx="0"/>
          </p:cNvCxnSpPr>
          <p:nvPr/>
        </p:nvCxnSpPr>
        <p:spPr>
          <a:xfrm>
            <a:off x="3531533" y="2895545"/>
            <a:ext cx="971605" cy="243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AD60B51B-0588-4173-8C5B-03E8D953FE2E}"/>
              </a:ext>
            </a:extLst>
          </p:cNvPr>
          <p:cNvCxnSpPr>
            <a:cxnSpLocks/>
            <a:stCxn id="10" idx="6"/>
            <a:endCxn id="9" idx="3"/>
          </p:cNvCxnSpPr>
          <p:nvPr/>
        </p:nvCxnSpPr>
        <p:spPr>
          <a:xfrm flipV="1">
            <a:off x="4763488" y="4654495"/>
            <a:ext cx="1482780" cy="931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11C4114A-E81F-4E98-AAE7-165CD6469C87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4687233" y="2671708"/>
            <a:ext cx="1308210" cy="27306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D799995-3C98-4DA8-9A54-AB73B9BB4685}"/>
              </a:ext>
            </a:extLst>
          </p:cNvPr>
          <p:cNvSpPr txBox="1"/>
          <p:nvPr/>
        </p:nvSpPr>
        <p:spPr>
          <a:xfrm>
            <a:off x="4493173" y="2179964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1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45C8C77-F28B-4B18-8F6D-D8A1A2509A71}"/>
              </a:ext>
            </a:extLst>
          </p:cNvPr>
          <p:cNvSpPr txBox="1"/>
          <p:nvPr/>
        </p:nvSpPr>
        <p:spPr>
          <a:xfrm>
            <a:off x="6334426" y="3190473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6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D7FC96D-11C0-4F45-B165-3A1C3E498713}"/>
              </a:ext>
            </a:extLst>
          </p:cNvPr>
          <p:cNvSpPr txBox="1"/>
          <p:nvPr/>
        </p:nvSpPr>
        <p:spPr>
          <a:xfrm>
            <a:off x="3497117" y="369292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9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09A4581-3D63-4A90-96D3-4323F6B00539}"/>
              </a:ext>
            </a:extLst>
          </p:cNvPr>
          <p:cNvSpPr txBox="1"/>
          <p:nvPr/>
        </p:nvSpPr>
        <p:spPr>
          <a:xfrm>
            <a:off x="4506025" y="332858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5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21E0696-4DB8-40CA-AB87-86062AD22111}"/>
              </a:ext>
            </a:extLst>
          </p:cNvPr>
          <p:cNvSpPr txBox="1"/>
          <p:nvPr/>
        </p:nvSpPr>
        <p:spPr>
          <a:xfrm>
            <a:off x="5376318" y="5109359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2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9FA330B-A5F2-47FB-A885-B3AC93F12D84}"/>
              </a:ext>
            </a:extLst>
          </p:cNvPr>
          <p:cNvSpPr txBox="1"/>
          <p:nvPr/>
        </p:nvSpPr>
        <p:spPr>
          <a:xfrm>
            <a:off x="4753743" y="430099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7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37F09AFD-5176-4197-9818-11751FBAAFAE}"/>
              </a:ext>
            </a:extLst>
          </p:cNvPr>
          <p:cNvSpPr txBox="1"/>
          <p:nvPr/>
        </p:nvSpPr>
        <p:spPr>
          <a:xfrm>
            <a:off x="2733927" y="204525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Manaus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157A0995-1DEC-4C5A-87BF-489770400AE6}"/>
              </a:ext>
            </a:extLst>
          </p:cNvPr>
          <p:cNvSpPr txBox="1"/>
          <p:nvPr/>
        </p:nvSpPr>
        <p:spPr>
          <a:xfrm>
            <a:off x="5660421" y="1799595"/>
            <a:ext cx="103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Fortaleza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31AB0577-1BC8-43F7-B868-969EF9BB5FBF}"/>
              </a:ext>
            </a:extLst>
          </p:cNvPr>
          <p:cNvSpPr txBox="1"/>
          <p:nvPr/>
        </p:nvSpPr>
        <p:spPr>
          <a:xfrm>
            <a:off x="4000332" y="581780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Campinas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64EFB60E-3DAC-4F71-BD28-03BE72F73ED9}"/>
              </a:ext>
            </a:extLst>
          </p:cNvPr>
          <p:cNvSpPr txBox="1"/>
          <p:nvPr/>
        </p:nvSpPr>
        <p:spPr>
          <a:xfrm>
            <a:off x="6134182" y="4753454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Salvador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3E0CF99-D10F-B5F0-3574-9BA04F518DF4}"/>
              </a:ext>
            </a:extLst>
          </p:cNvPr>
          <p:cNvSpPr/>
          <p:nvPr/>
        </p:nvSpPr>
        <p:spPr>
          <a:xfrm>
            <a:off x="5981349" y="2303518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DB37FB84-C794-C7D3-9733-6AF066E88BF8}"/>
              </a:ext>
            </a:extLst>
          </p:cNvPr>
          <p:cNvSpPr/>
          <p:nvPr/>
        </p:nvSpPr>
        <p:spPr>
          <a:xfrm>
            <a:off x="6234393" y="426970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1C64183F-B51C-438A-C25A-6344836D1FD6}"/>
              </a:ext>
            </a:extLst>
          </p:cNvPr>
          <p:cNvSpPr/>
          <p:nvPr/>
        </p:nvSpPr>
        <p:spPr>
          <a:xfrm>
            <a:off x="4306343" y="5386304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3755E02E-31C1-7CED-C669-1ECB8F312A6B}"/>
              </a:ext>
            </a:extLst>
          </p:cNvPr>
          <p:cNvSpPr/>
          <p:nvPr/>
        </p:nvSpPr>
        <p:spPr>
          <a:xfrm>
            <a:off x="3148658" y="252291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39656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D69BB-6D51-9F4A-6928-E79EC4092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370AD-406D-AA75-4DA9-97229F56B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6AD5E75-7367-6CC0-7332-088C3AEF1B70}"/>
              </a:ext>
            </a:extLst>
          </p:cNvPr>
          <p:cNvSpPr/>
          <p:nvPr/>
        </p:nvSpPr>
        <p:spPr>
          <a:xfrm>
            <a:off x="3087088" y="245110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1740FF97-0D33-281C-0604-473523F18930}"/>
              </a:ext>
            </a:extLst>
          </p:cNvPr>
          <p:cNvSpPr/>
          <p:nvPr/>
        </p:nvSpPr>
        <p:spPr>
          <a:xfrm>
            <a:off x="5919188" y="22272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CBE7331-DA7B-9A0A-C5A4-B60107313319}"/>
              </a:ext>
            </a:extLst>
          </p:cNvPr>
          <p:cNvSpPr/>
          <p:nvPr/>
        </p:nvSpPr>
        <p:spPr>
          <a:xfrm>
            <a:off x="6170013" y="421005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8319E31-94C5-81C1-E699-83043B695F50}"/>
              </a:ext>
            </a:extLst>
          </p:cNvPr>
          <p:cNvSpPr/>
          <p:nvPr/>
        </p:nvSpPr>
        <p:spPr>
          <a:xfrm>
            <a:off x="4242788" y="53260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9E56B0A8-FBAE-C785-BBA2-AFF027814714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3607788" y="2487613"/>
            <a:ext cx="2311400" cy="2238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41CDD80-589F-4B69-EE68-FE2968745EE9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6179538" y="2747963"/>
            <a:ext cx="250825" cy="1462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97D4DA2D-BE73-625F-B377-CADFB5C7255C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3607788" y="2711450"/>
            <a:ext cx="2638480" cy="1574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D646B151-96FF-F0E9-CFE3-1D6DD2877493}"/>
              </a:ext>
            </a:extLst>
          </p:cNvPr>
          <p:cNvCxnSpPr>
            <a:cxnSpLocks/>
            <a:stCxn id="7" idx="5"/>
            <a:endCxn id="10" idx="0"/>
          </p:cNvCxnSpPr>
          <p:nvPr/>
        </p:nvCxnSpPr>
        <p:spPr>
          <a:xfrm>
            <a:off x="3531533" y="2895545"/>
            <a:ext cx="971605" cy="243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3918FDBA-9C6C-C664-CF2F-8E38D8971A5F}"/>
              </a:ext>
            </a:extLst>
          </p:cNvPr>
          <p:cNvCxnSpPr>
            <a:cxnSpLocks/>
            <a:stCxn id="10" idx="6"/>
            <a:endCxn id="9" idx="3"/>
          </p:cNvCxnSpPr>
          <p:nvPr/>
        </p:nvCxnSpPr>
        <p:spPr>
          <a:xfrm flipV="1">
            <a:off x="4763488" y="4654495"/>
            <a:ext cx="1482780" cy="931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41CA33F8-94AB-E4E8-FAA5-8E867A714AE0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4687233" y="2671708"/>
            <a:ext cx="1308210" cy="27306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182107EF-691E-F945-E7AA-B71494555FF5}"/>
              </a:ext>
            </a:extLst>
          </p:cNvPr>
          <p:cNvSpPr txBox="1"/>
          <p:nvPr/>
        </p:nvSpPr>
        <p:spPr>
          <a:xfrm>
            <a:off x="4493173" y="2179964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1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23F2989-13C6-6F02-AB50-C259A8125789}"/>
              </a:ext>
            </a:extLst>
          </p:cNvPr>
          <p:cNvSpPr txBox="1"/>
          <p:nvPr/>
        </p:nvSpPr>
        <p:spPr>
          <a:xfrm>
            <a:off x="6334426" y="3190473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6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97426B7-553F-3AB3-6512-7E63437A215F}"/>
              </a:ext>
            </a:extLst>
          </p:cNvPr>
          <p:cNvSpPr txBox="1"/>
          <p:nvPr/>
        </p:nvSpPr>
        <p:spPr>
          <a:xfrm>
            <a:off x="3497117" y="369292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9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6242271-D6FA-88D9-44C1-170D97524B5B}"/>
              </a:ext>
            </a:extLst>
          </p:cNvPr>
          <p:cNvSpPr txBox="1"/>
          <p:nvPr/>
        </p:nvSpPr>
        <p:spPr>
          <a:xfrm>
            <a:off x="4506025" y="332858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5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2BFF79C-0ADB-1F4A-83B2-7ED447A13B40}"/>
              </a:ext>
            </a:extLst>
          </p:cNvPr>
          <p:cNvSpPr txBox="1"/>
          <p:nvPr/>
        </p:nvSpPr>
        <p:spPr>
          <a:xfrm>
            <a:off x="5376318" y="5109359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2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479E1682-1D23-BCF8-D32A-0F19CE4A4400}"/>
              </a:ext>
            </a:extLst>
          </p:cNvPr>
          <p:cNvSpPr txBox="1"/>
          <p:nvPr/>
        </p:nvSpPr>
        <p:spPr>
          <a:xfrm>
            <a:off x="4753743" y="430099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7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8F4CDD97-28BC-B17F-47CB-B08C63EA6CA6}"/>
              </a:ext>
            </a:extLst>
          </p:cNvPr>
          <p:cNvSpPr txBox="1"/>
          <p:nvPr/>
        </p:nvSpPr>
        <p:spPr>
          <a:xfrm>
            <a:off x="2733927" y="204525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Manaus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1508B06-6E1A-F68B-FF15-4E88DAC41096}"/>
              </a:ext>
            </a:extLst>
          </p:cNvPr>
          <p:cNvSpPr txBox="1"/>
          <p:nvPr/>
        </p:nvSpPr>
        <p:spPr>
          <a:xfrm>
            <a:off x="5660421" y="1799595"/>
            <a:ext cx="103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Fortaleza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A09F035F-A769-29A5-1E1F-DA0527FD8754}"/>
              </a:ext>
            </a:extLst>
          </p:cNvPr>
          <p:cNvSpPr txBox="1"/>
          <p:nvPr/>
        </p:nvSpPr>
        <p:spPr>
          <a:xfrm>
            <a:off x="4000332" y="581780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Campinas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5EF06715-A237-4B55-2154-96860F462662}"/>
              </a:ext>
            </a:extLst>
          </p:cNvPr>
          <p:cNvSpPr txBox="1"/>
          <p:nvPr/>
        </p:nvSpPr>
        <p:spPr>
          <a:xfrm>
            <a:off x="6134182" y="4753454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Salvador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C7E79B3-B862-222E-4306-2AFD367E55B9}"/>
              </a:ext>
            </a:extLst>
          </p:cNvPr>
          <p:cNvSpPr/>
          <p:nvPr/>
        </p:nvSpPr>
        <p:spPr>
          <a:xfrm>
            <a:off x="5981349" y="2303518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96177F1C-457D-111D-DA8D-6FDE2E39BA2E}"/>
              </a:ext>
            </a:extLst>
          </p:cNvPr>
          <p:cNvSpPr/>
          <p:nvPr/>
        </p:nvSpPr>
        <p:spPr>
          <a:xfrm>
            <a:off x="6234393" y="426970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46A2F0CE-2BC9-4032-D1CB-3A9FBE573EF0}"/>
              </a:ext>
            </a:extLst>
          </p:cNvPr>
          <p:cNvSpPr/>
          <p:nvPr/>
        </p:nvSpPr>
        <p:spPr>
          <a:xfrm>
            <a:off x="4306343" y="5386304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A6A865C8-7C78-026C-F22A-72C75DF58DBB}"/>
              </a:ext>
            </a:extLst>
          </p:cNvPr>
          <p:cNvSpPr/>
          <p:nvPr/>
        </p:nvSpPr>
        <p:spPr>
          <a:xfrm>
            <a:off x="3148658" y="252291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3B8A3A8-649E-CD3B-1CDB-DB080982A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583" y="2504208"/>
            <a:ext cx="461344" cy="26037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2C3C6B4-3896-E67C-1966-75906BA65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246" y="2284401"/>
            <a:ext cx="461344" cy="26037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16523DE-68D8-1C38-7452-8D3267CF2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904" y="5365089"/>
            <a:ext cx="461344" cy="26037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91672F-904C-EC1B-94E4-915173F30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654" y="4139430"/>
            <a:ext cx="461344" cy="260371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6BB6E-4112-C9A6-5FB5-DA1B25FFF17E}"/>
              </a:ext>
            </a:extLst>
          </p:cNvPr>
          <p:cNvSpPr txBox="1"/>
          <p:nvPr/>
        </p:nvSpPr>
        <p:spPr>
          <a:xfrm>
            <a:off x="362727" y="3753353"/>
            <a:ext cx="2950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Cada formiga tem um vértice</a:t>
            </a:r>
          </a:p>
          <a:p>
            <a:pPr algn="ctr"/>
            <a:r>
              <a:rPr lang="pt-BR" b="1" dirty="0">
                <a:solidFill>
                  <a:srgbClr val="FF0000"/>
                </a:solidFill>
              </a:rPr>
              <a:t>como ponto de partida</a:t>
            </a:r>
          </a:p>
        </p:txBody>
      </p:sp>
    </p:spTree>
    <p:extLst>
      <p:ext uri="{BB962C8B-B14F-4D97-AF65-F5344CB8AC3E}">
        <p14:creationId xmlns:p14="http://schemas.microsoft.com/office/powerpoint/2010/main" val="11351531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575F4-C197-CA4A-3FFF-5C817224F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BC1D3-FB39-BA9E-FDE5-0C6CD78EA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99614B6-0B2F-3231-A182-95F1035E5A8A}"/>
              </a:ext>
            </a:extLst>
          </p:cNvPr>
          <p:cNvSpPr/>
          <p:nvPr/>
        </p:nvSpPr>
        <p:spPr>
          <a:xfrm>
            <a:off x="3087088" y="245110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2154784-B8BE-5589-24DF-31444F72F2A2}"/>
              </a:ext>
            </a:extLst>
          </p:cNvPr>
          <p:cNvSpPr/>
          <p:nvPr/>
        </p:nvSpPr>
        <p:spPr>
          <a:xfrm>
            <a:off x="5919188" y="22272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556B960-49F9-1700-79DA-4ACF9C160401}"/>
              </a:ext>
            </a:extLst>
          </p:cNvPr>
          <p:cNvSpPr/>
          <p:nvPr/>
        </p:nvSpPr>
        <p:spPr>
          <a:xfrm>
            <a:off x="6170013" y="421005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798794F-7997-72D4-F98F-D1A40C879572}"/>
              </a:ext>
            </a:extLst>
          </p:cNvPr>
          <p:cNvSpPr/>
          <p:nvPr/>
        </p:nvSpPr>
        <p:spPr>
          <a:xfrm>
            <a:off x="4242788" y="53260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E9544E1-6DD3-5DAC-85C7-3DFF40B52DFE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3607788" y="2487613"/>
            <a:ext cx="2311400" cy="2238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EA509213-B083-95E4-A8A5-632C8891491B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6179538" y="2747963"/>
            <a:ext cx="250825" cy="1462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3D2E1A2-CED2-BF5A-812E-3529109EB94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3607788" y="2711450"/>
            <a:ext cx="2638480" cy="1574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5F0966F7-5220-150C-BF19-5FC14CA574B2}"/>
              </a:ext>
            </a:extLst>
          </p:cNvPr>
          <p:cNvCxnSpPr>
            <a:cxnSpLocks/>
            <a:stCxn id="7" idx="5"/>
            <a:endCxn id="10" idx="0"/>
          </p:cNvCxnSpPr>
          <p:nvPr/>
        </p:nvCxnSpPr>
        <p:spPr>
          <a:xfrm>
            <a:off x="3531533" y="2895545"/>
            <a:ext cx="971605" cy="243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AF496B7D-7F5D-8613-CE8E-E803133C47AC}"/>
              </a:ext>
            </a:extLst>
          </p:cNvPr>
          <p:cNvCxnSpPr>
            <a:cxnSpLocks/>
            <a:stCxn id="10" idx="6"/>
            <a:endCxn id="9" idx="3"/>
          </p:cNvCxnSpPr>
          <p:nvPr/>
        </p:nvCxnSpPr>
        <p:spPr>
          <a:xfrm flipV="1">
            <a:off x="4763488" y="4654495"/>
            <a:ext cx="1482780" cy="931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8B40BDB8-94AA-6606-F95E-BF2EA974ABAC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4687233" y="2671708"/>
            <a:ext cx="1308210" cy="27306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B38240F-E598-0810-29FE-242E4F4D991F}"/>
              </a:ext>
            </a:extLst>
          </p:cNvPr>
          <p:cNvSpPr txBox="1"/>
          <p:nvPr/>
        </p:nvSpPr>
        <p:spPr>
          <a:xfrm>
            <a:off x="4493173" y="2179964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1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C303992-09B6-BBF9-76A4-F3C682094B6D}"/>
              </a:ext>
            </a:extLst>
          </p:cNvPr>
          <p:cNvSpPr txBox="1"/>
          <p:nvPr/>
        </p:nvSpPr>
        <p:spPr>
          <a:xfrm>
            <a:off x="6334426" y="3190473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6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BD6096C-8C74-7018-778D-9E3326BF5EF5}"/>
              </a:ext>
            </a:extLst>
          </p:cNvPr>
          <p:cNvSpPr txBox="1"/>
          <p:nvPr/>
        </p:nvSpPr>
        <p:spPr>
          <a:xfrm>
            <a:off x="3497117" y="369292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9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2763BD21-7EF1-1006-3284-AD7D7ED50679}"/>
              </a:ext>
            </a:extLst>
          </p:cNvPr>
          <p:cNvSpPr txBox="1"/>
          <p:nvPr/>
        </p:nvSpPr>
        <p:spPr>
          <a:xfrm>
            <a:off x="4506025" y="332858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5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9E761F1-2B93-0516-568E-EFE7EF7667CA}"/>
              </a:ext>
            </a:extLst>
          </p:cNvPr>
          <p:cNvSpPr txBox="1"/>
          <p:nvPr/>
        </p:nvSpPr>
        <p:spPr>
          <a:xfrm>
            <a:off x="5376318" y="5109359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2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04D3E93-CB25-E62E-7EBE-6B982366CEE3}"/>
              </a:ext>
            </a:extLst>
          </p:cNvPr>
          <p:cNvSpPr txBox="1"/>
          <p:nvPr/>
        </p:nvSpPr>
        <p:spPr>
          <a:xfrm>
            <a:off x="4753743" y="430099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7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48CA913-DB5C-3EC1-AE23-D5BB1A7665B4}"/>
              </a:ext>
            </a:extLst>
          </p:cNvPr>
          <p:cNvSpPr txBox="1"/>
          <p:nvPr/>
        </p:nvSpPr>
        <p:spPr>
          <a:xfrm>
            <a:off x="2733927" y="204525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Manaus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CD1E9893-1483-0731-3726-599CB734656D}"/>
              </a:ext>
            </a:extLst>
          </p:cNvPr>
          <p:cNvSpPr txBox="1"/>
          <p:nvPr/>
        </p:nvSpPr>
        <p:spPr>
          <a:xfrm>
            <a:off x="5660421" y="1799595"/>
            <a:ext cx="103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Fortaleza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ABD52487-2D7C-C829-292A-0760D9BFC048}"/>
              </a:ext>
            </a:extLst>
          </p:cNvPr>
          <p:cNvSpPr txBox="1"/>
          <p:nvPr/>
        </p:nvSpPr>
        <p:spPr>
          <a:xfrm>
            <a:off x="4000332" y="581780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Campinas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7B68B320-D339-0AD2-881D-26096BAEC4AA}"/>
              </a:ext>
            </a:extLst>
          </p:cNvPr>
          <p:cNvSpPr txBox="1"/>
          <p:nvPr/>
        </p:nvSpPr>
        <p:spPr>
          <a:xfrm>
            <a:off x="6134182" y="4753454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Salvador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6144A3C-67A5-6CF0-C93B-78CFD92812D0}"/>
              </a:ext>
            </a:extLst>
          </p:cNvPr>
          <p:cNvSpPr/>
          <p:nvPr/>
        </p:nvSpPr>
        <p:spPr>
          <a:xfrm>
            <a:off x="5981349" y="2303518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CF68126-8DAD-BACD-88FC-8E54406EE842}"/>
              </a:ext>
            </a:extLst>
          </p:cNvPr>
          <p:cNvSpPr/>
          <p:nvPr/>
        </p:nvSpPr>
        <p:spPr>
          <a:xfrm>
            <a:off x="6234393" y="426970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CAA31AC-F2FF-12FE-DCC1-EA3FBD36321D}"/>
              </a:ext>
            </a:extLst>
          </p:cNvPr>
          <p:cNvSpPr/>
          <p:nvPr/>
        </p:nvSpPr>
        <p:spPr>
          <a:xfrm>
            <a:off x="4306343" y="5386304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6B4D3E87-34CC-CFB6-3C5A-E1E175782C4A}"/>
              </a:ext>
            </a:extLst>
          </p:cNvPr>
          <p:cNvSpPr/>
          <p:nvPr/>
        </p:nvSpPr>
        <p:spPr>
          <a:xfrm>
            <a:off x="3148658" y="252291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647C84E-6A4D-88CD-F0C0-4791C206E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583" y="2504208"/>
            <a:ext cx="461344" cy="26037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CF45130-81F4-7D18-3C7B-6CF3A0C22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246" y="2284401"/>
            <a:ext cx="461344" cy="26037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7A3745F-BDF6-FDC0-2543-179A0EF44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904" y="5365089"/>
            <a:ext cx="461344" cy="26037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4FB4677-40BA-0C15-6B0B-AE1FE7471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654" y="4139430"/>
            <a:ext cx="461344" cy="260371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6C8372E1-458F-5237-04ED-56FE58C4BE07}"/>
              </a:ext>
            </a:extLst>
          </p:cNvPr>
          <p:cNvSpPr txBox="1"/>
          <p:nvPr/>
        </p:nvSpPr>
        <p:spPr>
          <a:xfrm>
            <a:off x="5028466" y="223674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3ED78DE-2EA8-FA9F-5301-68439B7D5AD4}"/>
              </a:ext>
            </a:extLst>
          </p:cNvPr>
          <p:cNvSpPr txBox="1"/>
          <p:nvPr/>
        </p:nvSpPr>
        <p:spPr>
          <a:xfrm>
            <a:off x="5096413" y="430674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977AA77-A364-ED5F-1F69-36F4A769EAEB}"/>
              </a:ext>
            </a:extLst>
          </p:cNvPr>
          <p:cNvSpPr txBox="1"/>
          <p:nvPr/>
        </p:nvSpPr>
        <p:spPr>
          <a:xfrm>
            <a:off x="6207130" y="288246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1AC4A81-7328-C001-3CAD-211C3AA001EE}"/>
              </a:ext>
            </a:extLst>
          </p:cNvPr>
          <p:cNvSpPr txBox="1"/>
          <p:nvPr/>
        </p:nvSpPr>
        <p:spPr>
          <a:xfrm>
            <a:off x="5618376" y="489501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95D458F-004E-3479-FD2D-1EA055062A35}"/>
              </a:ext>
            </a:extLst>
          </p:cNvPr>
          <p:cNvSpPr txBox="1"/>
          <p:nvPr/>
        </p:nvSpPr>
        <p:spPr>
          <a:xfrm>
            <a:off x="3605375" y="412207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F9B800E-C956-B3E0-B757-F0E30E7C8F56}"/>
              </a:ext>
            </a:extLst>
          </p:cNvPr>
          <p:cNvSpPr txBox="1"/>
          <p:nvPr/>
        </p:nvSpPr>
        <p:spPr>
          <a:xfrm>
            <a:off x="4225154" y="279453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51194FFF-1F39-6B28-FE5C-A86B5888F2BA}"/>
                  </a:ext>
                </a:extLst>
              </p:cNvPr>
              <p:cNvSpPr txBox="1"/>
              <p:nvPr/>
            </p:nvSpPr>
            <p:spPr>
              <a:xfrm>
                <a:off x="501713" y="3753353"/>
                <a:ext cx="2672335" cy="668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b="1" dirty="0">
                    <a:solidFill>
                      <a:srgbClr val="FF0000"/>
                    </a:solidFill>
                  </a:rPr>
                  <a:t>Inicializando-se a matriz</a:t>
                </a:r>
              </a:p>
              <a:p>
                <a:pPr algn="ctr"/>
                <a:r>
                  <a:rPr lang="pt-BR" b="1" dirty="0">
                    <a:solidFill>
                      <a:srgbClr val="FF0000"/>
                    </a:solidFill>
                  </a:rPr>
                  <a:t>de feromônios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pt-BR" sz="1800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t-BR" sz="1800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sz="1800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1800" b="0" i="1" u="non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pt-BR" b="1" dirty="0">
                    <a:solidFill>
                      <a:srgbClr val="FF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51194FFF-1F39-6B28-FE5C-A86B5888F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13" y="3753353"/>
                <a:ext cx="2672335" cy="668645"/>
              </a:xfrm>
              <a:prstGeom prst="rect">
                <a:avLst/>
              </a:prstGeom>
              <a:blipFill>
                <a:blip r:embed="rId3"/>
                <a:stretch>
                  <a:fillRect l="-1595" t="-5505" r="-1367" b="-119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7470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1ED10C-AB7F-1C5E-522C-57C8CFCEF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88261C1-AF32-3053-3A5B-8AF823120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2152650"/>
            <a:ext cx="7435397" cy="25812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6A9DD19-0327-B069-3034-C05EFBD5D8FA}"/>
              </a:ext>
            </a:extLst>
          </p:cNvPr>
          <p:cNvSpPr txBox="1"/>
          <p:nvPr/>
        </p:nvSpPr>
        <p:spPr>
          <a:xfrm>
            <a:off x="859725" y="5061857"/>
            <a:ext cx="7655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Caminho → Representa o arco entre duas cidades (ex.: 1-2, 1-3, etc.).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2774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B71D1-477C-7716-8F85-C2101A1B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92D026A-FC42-3B3A-5B41-78F46660E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2152650"/>
            <a:ext cx="7435397" cy="25812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789985C-5817-7B05-7FA5-B64C0CFB9E57}"/>
              </a:ext>
            </a:extLst>
          </p:cNvPr>
          <p:cNvSpPr txBox="1"/>
          <p:nvPr/>
        </p:nvSpPr>
        <p:spPr>
          <a:xfrm>
            <a:off x="408214" y="5127171"/>
            <a:ext cx="8107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Distância → O custo de viajar entre essas duas cidades.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67219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040643-A034-DA6D-A858-F70E84283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BB68919-8160-5C4B-F122-48380FCDF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2152650"/>
            <a:ext cx="7435397" cy="25812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9851E8A-B2CC-6A4C-6542-56C4DFF11915}"/>
              </a:ext>
            </a:extLst>
          </p:cNvPr>
          <p:cNvSpPr txBox="1"/>
          <p:nvPr/>
        </p:nvSpPr>
        <p:spPr>
          <a:xfrm>
            <a:off x="359229" y="4980214"/>
            <a:ext cx="8156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ηᵢⱼ = 1/dᵢⱼ → A heurística de visibilidade (quanto menor a distância, maior o valor).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0303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FF10EB-6631-C8CB-E7F7-F915BC3C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5DD4DB9-7814-120F-EDC3-224588D10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2152650"/>
            <a:ext cx="7435397" cy="25812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AF59591-A553-906C-3107-E5E4A1388738}"/>
              </a:ext>
            </a:extLst>
          </p:cNvPr>
          <p:cNvSpPr txBox="1"/>
          <p:nvPr/>
        </p:nvSpPr>
        <p:spPr>
          <a:xfrm>
            <a:off x="342900" y="4996543"/>
            <a:ext cx="8172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τᵢⱼ → A quantidade de feromônio no arco (inicialmente é um valor pequeno e igual para todos, aqui 0,1).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62391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EFD7F-CB1C-A34E-7277-8FD11E41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3DD3D73-6037-98BC-F59D-36194AE7B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2152650"/>
            <a:ext cx="7435397" cy="25812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7C911D9-FE19-A570-B4E1-DC6AE7802C0F}"/>
              </a:ext>
            </a:extLst>
          </p:cNvPr>
          <p:cNvSpPr txBox="1"/>
          <p:nvPr/>
        </p:nvSpPr>
        <p:spPr>
          <a:xfrm>
            <a:off x="859725" y="5323114"/>
            <a:ext cx="74353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τᵢⱼ * ηᵢⱼ → Combinação de feromônio e heurística (define a atratividade do caminho).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96312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B9CF6-6E32-FF0C-118B-1C10D44B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6976281-9045-8447-561A-3003A8250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25" y="2152650"/>
            <a:ext cx="7435397" cy="25812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FDF2F57-EBAA-455E-2AD5-EBCC8808971E}"/>
              </a:ext>
            </a:extLst>
          </p:cNvPr>
          <p:cNvSpPr txBox="1"/>
          <p:nvPr/>
        </p:nvSpPr>
        <p:spPr>
          <a:xfrm>
            <a:off x="391886" y="4882243"/>
            <a:ext cx="8343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p(</a:t>
            </a:r>
            <a:r>
              <a:rPr lang="pt-BR" dirty="0" err="1"/>
              <a:t>i,j</a:t>
            </a:r>
            <a:r>
              <a:rPr lang="pt-BR" dirty="0"/>
              <a:t>) → A probabilidade final da formiga escolher aquele caminho, obtida dividindo pela soma de todos os valores possíveis a partir daquele nó.</a:t>
            </a:r>
          </a:p>
          <a:p>
            <a:endParaRPr lang="pt-BR" dirty="0"/>
          </a:p>
          <a:p>
            <a:r>
              <a:rPr lang="pt-BR" dirty="0"/>
              <a:t>Somatório → Representa a soma de atratividades possíveis no ponto de partida (usada como normalização para calcular as probabilidades). </a:t>
            </a:r>
          </a:p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5F665E60-C8F5-209A-E5D8-A5F5354A6D94}"/>
                  </a:ext>
                </a:extLst>
              </p:cNvPr>
              <p:cNvSpPr txBox="1"/>
              <p:nvPr/>
            </p:nvSpPr>
            <p:spPr>
              <a:xfrm>
                <a:off x="5706318" y="6114201"/>
                <a:ext cx="995272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lang="pt-BR" i="0" dirty="0"/>
                            <m:t>τᵢⱼ ∗ ηᵢⱼ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5F665E60-C8F5-209A-E5D8-A5F5354A6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318" y="6114201"/>
                <a:ext cx="995272" cy="6707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32632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12423-DE19-38D2-1138-0C7C7F29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91CCD4F-6B0E-64F7-2DCA-F862CFB1E362}"/>
              </a:ext>
            </a:extLst>
          </p:cNvPr>
          <p:cNvSpPr txBox="1"/>
          <p:nvPr/>
        </p:nvSpPr>
        <p:spPr>
          <a:xfrm>
            <a:off x="195943" y="1502229"/>
            <a:ext cx="85888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Por exemplo:</a:t>
            </a:r>
          </a:p>
          <a:p>
            <a:r>
              <a:rPr lang="pt-BR" dirty="0"/>
              <a:t>no caminho 1-4 (distância 2):</a:t>
            </a:r>
          </a:p>
          <a:p>
            <a:r>
              <a:rPr lang="pt-BR" dirty="0"/>
              <a:t>ηᵢⱼ = 0,5 (alta atratividade porque a distância é curta).</a:t>
            </a:r>
          </a:p>
          <a:p>
            <a:r>
              <a:rPr lang="pt-BR" dirty="0"/>
              <a:t>τᵢⱼ * ηᵢⱼ = 0,05.</a:t>
            </a:r>
          </a:p>
          <a:p>
            <a:r>
              <a:rPr lang="pt-BR" dirty="0"/>
              <a:t>A probabilidade p(1,4) = 0,6632, ou seja, 66,32% de chance da formiga sair de 1 e ir para 4.</a:t>
            </a:r>
          </a:p>
          <a:p>
            <a:r>
              <a:rPr lang="pt-BR" dirty="0"/>
              <a:t>Já no caminho 1-2 (distância 9):</a:t>
            </a:r>
          </a:p>
          <a:p>
            <a:r>
              <a:rPr lang="pt-BR" dirty="0"/>
              <a:t>ηᵢⱼ = 0,1111 (bem baixo, porque a distância é grande).</a:t>
            </a:r>
          </a:p>
          <a:p>
            <a:r>
              <a:rPr lang="pt-BR" dirty="0"/>
              <a:t>p(1,2) = 0,1474, ou seja, apenas 14,74% de chance.</a:t>
            </a:r>
          </a:p>
        </p:txBody>
      </p:sp>
    </p:spTree>
    <p:extLst>
      <p:ext uri="{BB962C8B-B14F-4D97-AF65-F5344CB8AC3E}">
        <p14:creationId xmlns:p14="http://schemas.microsoft.com/office/powerpoint/2010/main" val="3388467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773B1-ED8F-3BA5-82A4-95E51FAB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34A3A3-F808-C4FF-5059-D524A5A7F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9057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EC39E-57DF-CB67-28F3-659EE2C9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565ACC-D9E2-3D33-0F70-6700E47BC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37500"/>
            <a:ext cx="7886700" cy="4351338"/>
          </a:xfrm>
        </p:spPr>
        <p:txBody>
          <a:bodyPr/>
          <a:lstStyle/>
          <a:p>
            <a:r>
              <a:rPr lang="pt-BR" b="1" u="none" dirty="0"/>
              <a:t>Definição da Rotas</a:t>
            </a:r>
          </a:p>
          <a:p>
            <a:endParaRPr lang="pt-BR" u="none" dirty="0"/>
          </a:p>
          <a:p>
            <a:pPr algn="just"/>
            <a:r>
              <a:rPr lang="pt-BR" u="none" dirty="0"/>
              <a:t>Processo aleatório/estocástico: método da roleta</a:t>
            </a:r>
          </a:p>
          <a:p>
            <a:pPr algn="just"/>
            <a:endParaRPr lang="pt-BR" u="none" dirty="0"/>
          </a:p>
          <a:p>
            <a:pPr algn="just"/>
            <a:r>
              <a:rPr lang="pt-BR" u="none" dirty="0"/>
              <a:t>A formiga pode seguir qualquer rota, mas vai priorizar aquela de maior probabilidade</a:t>
            </a:r>
          </a:p>
          <a:p>
            <a:pPr algn="just"/>
            <a:endParaRPr lang="pt-BR" u="none" dirty="0"/>
          </a:p>
          <a:p>
            <a:pPr algn="just"/>
            <a:r>
              <a:rPr lang="pt-BR" u="none" dirty="0"/>
              <a:t>Esse processo é feito para cada ponto de partida i pertencente ao grafo</a:t>
            </a:r>
          </a:p>
        </p:txBody>
      </p:sp>
    </p:spTree>
    <p:extLst>
      <p:ext uri="{BB962C8B-B14F-4D97-AF65-F5344CB8AC3E}">
        <p14:creationId xmlns:p14="http://schemas.microsoft.com/office/powerpoint/2010/main" val="19421240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EC39E-57DF-CB67-28F3-659EE2C9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565ACC-D9E2-3D33-0F70-6700E47BC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37500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pt-BR" u="none" dirty="0"/>
              <a:t>Vamos tomar como exemplo a Formiga 1. Ela vai sair do ponto 1 em direção a alguma das opções 2, 3 ou 4</a:t>
            </a:r>
          </a:p>
          <a:p>
            <a:pPr algn="just"/>
            <a:endParaRPr lang="pt-BR" u="none" dirty="0"/>
          </a:p>
          <a:p>
            <a:pPr algn="just"/>
            <a:r>
              <a:rPr lang="pt-BR" u="none" dirty="0"/>
              <a:t>Vamos considerar que no sorteio escolheu o caminho 4 (66,32% de chance)</a:t>
            </a:r>
          </a:p>
          <a:p>
            <a:pPr algn="just"/>
            <a:endParaRPr lang="pt-BR" u="none" dirty="0"/>
          </a:p>
          <a:p>
            <a:pPr algn="just"/>
            <a:r>
              <a:rPr lang="pt-BR" u="none" dirty="0"/>
              <a:t>No próximo passo, F1 está no ponto 4 e agora restam apenas as opções 2 e 3 (não pode repetir cidades)</a:t>
            </a:r>
          </a:p>
        </p:txBody>
      </p:sp>
    </p:spTree>
    <p:extLst>
      <p:ext uri="{BB962C8B-B14F-4D97-AF65-F5344CB8AC3E}">
        <p14:creationId xmlns:p14="http://schemas.microsoft.com/office/powerpoint/2010/main" val="36783903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F615C-B865-4BCD-F10F-DF23CB78F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02CCB-9E8A-D8D2-B6A2-9244F3B88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183CF95-65CB-B7F6-B69E-49852A417252}"/>
              </a:ext>
            </a:extLst>
          </p:cNvPr>
          <p:cNvSpPr/>
          <p:nvPr/>
        </p:nvSpPr>
        <p:spPr>
          <a:xfrm>
            <a:off x="796376" y="245110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1FE5E97C-8777-7049-8785-B87B4BDCABD7}"/>
              </a:ext>
            </a:extLst>
          </p:cNvPr>
          <p:cNvSpPr/>
          <p:nvPr/>
        </p:nvSpPr>
        <p:spPr>
          <a:xfrm>
            <a:off x="3628476" y="22272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69FE6CD-8037-1DD5-569C-00C62F469152}"/>
              </a:ext>
            </a:extLst>
          </p:cNvPr>
          <p:cNvSpPr/>
          <p:nvPr/>
        </p:nvSpPr>
        <p:spPr>
          <a:xfrm>
            <a:off x="3879301" y="421005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9C547D6-90BB-8810-8862-0833C3407679}"/>
              </a:ext>
            </a:extLst>
          </p:cNvPr>
          <p:cNvSpPr/>
          <p:nvPr/>
        </p:nvSpPr>
        <p:spPr>
          <a:xfrm>
            <a:off x="1952076" y="53260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7C3D244-7740-6CE7-BBD3-2906BD8B126E}"/>
              </a:ext>
            </a:extLst>
          </p:cNvPr>
          <p:cNvCxnSpPr>
            <a:cxnSpLocks/>
            <a:stCxn id="7" idx="5"/>
            <a:endCxn id="10" idx="0"/>
          </p:cNvCxnSpPr>
          <p:nvPr/>
        </p:nvCxnSpPr>
        <p:spPr>
          <a:xfrm>
            <a:off x="1240821" y="2895545"/>
            <a:ext cx="971605" cy="243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92C80D6C-AC56-6055-A7E9-79BB5E4BCCA2}"/>
              </a:ext>
            </a:extLst>
          </p:cNvPr>
          <p:cNvCxnSpPr>
            <a:cxnSpLocks/>
            <a:stCxn id="10" idx="6"/>
            <a:endCxn id="9" idx="3"/>
          </p:cNvCxnSpPr>
          <p:nvPr/>
        </p:nvCxnSpPr>
        <p:spPr>
          <a:xfrm flipV="1">
            <a:off x="2472776" y="4654495"/>
            <a:ext cx="1482780" cy="931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233D249-BA9B-3F4D-EEDF-ADAE65F9CB34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2396521" y="2671708"/>
            <a:ext cx="1308210" cy="27306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FEE065C-700C-29C1-EDEE-15E40B4FC163}"/>
              </a:ext>
            </a:extLst>
          </p:cNvPr>
          <p:cNvSpPr txBox="1"/>
          <p:nvPr/>
        </p:nvSpPr>
        <p:spPr>
          <a:xfrm>
            <a:off x="1206405" y="369292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9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67BD8A42-D257-0F82-0DE9-6AC7062404C8}"/>
              </a:ext>
            </a:extLst>
          </p:cNvPr>
          <p:cNvSpPr txBox="1"/>
          <p:nvPr/>
        </p:nvSpPr>
        <p:spPr>
          <a:xfrm>
            <a:off x="3085606" y="5109359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2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FB22B667-5515-84F9-4729-2CDF9C51A5A2}"/>
              </a:ext>
            </a:extLst>
          </p:cNvPr>
          <p:cNvSpPr txBox="1"/>
          <p:nvPr/>
        </p:nvSpPr>
        <p:spPr>
          <a:xfrm>
            <a:off x="2463031" y="430099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7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235F041-9434-952E-F3EA-D01577A88632}"/>
              </a:ext>
            </a:extLst>
          </p:cNvPr>
          <p:cNvSpPr txBox="1"/>
          <p:nvPr/>
        </p:nvSpPr>
        <p:spPr>
          <a:xfrm>
            <a:off x="443215" y="204525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Manaus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5C561230-5E6F-9A25-806E-7F469A0F2E20}"/>
              </a:ext>
            </a:extLst>
          </p:cNvPr>
          <p:cNvSpPr txBox="1"/>
          <p:nvPr/>
        </p:nvSpPr>
        <p:spPr>
          <a:xfrm>
            <a:off x="3369709" y="1799595"/>
            <a:ext cx="103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Fortaleza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55A91142-49D2-1DE1-2F1D-6BFB55D0E6C1}"/>
              </a:ext>
            </a:extLst>
          </p:cNvPr>
          <p:cNvSpPr txBox="1"/>
          <p:nvPr/>
        </p:nvSpPr>
        <p:spPr>
          <a:xfrm>
            <a:off x="1709620" y="581780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Campinas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90C8F806-FC7E-51FE-D2C4-9F0D40B63708}"/>
              </a:ext>
            </a:extLst>
          </p:cNvPr>
          <p:cNvSpPr txBox="1"/>
          <p:nvPr/>
        </p:nvSpPr>
        <p:spPr>
          <a:xfrm>
            <a:off x="3843470" y="4753454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Salvador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F5B9B71-37E7-6F95-F8A3-CEA8C5E85489}"/>
              </a:ext>
            </a:extLst>
          </p:cNvPr>
          <p:cNvSpPr/>
          <p:nvPr/>
        </p:nvSpPr>
        <p:spPr>
          <a:xfrm>
            <a:off x="3690637" y="2303518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360D6E8B-7BB0-6DE6-9A6B-09E8D9261946}"/>
              </a:ext>
            </a:extLst>
          </p:cNvPr>
          <p:cNvSpPr/>
          <p:nvPr/>
        </p:nvSpPr>
        <p:spPr>
          <a:xfrm>
            <a:off x="3943681" y="426970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F382DBC-0AFA-4974-83EC-C7C997E70E07}"/>
              </a:ext>
            </a:extLst>
          </p:cNvPr>
          <p:cNvSpPr/>
          <p:nvPr/>
        </p:nvSpPr>
        <p:spPr>
          <a:xfrm>
            <a:off x="2015631" y="5386304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43001AF5-6B02-4F66-C389-0D3F9BC56CF4}"/>
              </a:ext>
            </a:extLst>
          </p:cNvPr>
          <p:cNvSpPr/>
          <p:nvPr/>
        </p:nvSpPr>
        <p:spPr>
          <a:xfrm>
            <a:off x="857946" y="252291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A638573-E863-0988-F3F6-239D7DC71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684" y="5365089"/>
            <a:ext cx="718350" cy="405419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CA5A5D44-EAA4-819E-C663-AF1D636CBD4A}"/>
              </a:ext>
            </a:extLst>
          </p:cNvPr>
          <p:cNvSpPr txBox="1"/>
          <p:nvPr/>
        </p:nvSpPr>
        <p:spPr>
          <a:xfrm>
            <a:off x="2805701" y="430674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795CDBB-573A-774D-47D9-91B2671EE408}"/>
              </a:ext>
            </a:extLst>
          </p:cNvPr>
          <p:cNvSpPr txBox="1"/>
          <p:nvPr/>
        </p:nvSpPr>
        <p:spPr>
          <a:xfrm>
            <a:off x="3327664" y="489501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BE508AE-A9A2-B373-1C63-5DB9C77E53EF}"/>
              </a:ext>
            </a:extLst>
          </p:cNvPr>
          <p:cNvSpPr txBox="1"/>
          <p:nvPr/>
        </p:nvSpPr>
        <p:spPr>
          <a:xfrm>
            <a:off x="1314663" y="412207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26" name="Balão de Pensamento: Nuvem 25">
            <a:extLst>
              <a:ext uri="{FF2B5EF4-FFF2-40B4-BE49-F238E27FC236}">
                <a16:creationId xmlns:a16="http://schemas.microsoft.com/office/drawing/2014/main" id="{28CDA857-D6B5-AF0E-7B5E-CBCAAA006CA4}"/>
              </a:ext>
            </a:extLst>
          </p:cNvPr>
          <p:cNvSpPr/>
          <p:nvPr/>
        </p:nvSpPr>
        <p:spPr>
          <a:xfrm>
            <a:off x="766659" y="4675503"/>
            <a:ext cx="706267" cy="520700"/>
          </a:xfrm>
          <a:prstGeom prst="cloudCallout">
            <a:avLst>
              <a:gd name="adj1" fmla="val 25883"/>
              <a:gd name="adj2" fmla="val 8241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??</a:t>
            </a:r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Espaço Reservado para Conteúdo 2">
                <a:extLst>
                  <a:ext uri="{FF2B5EF4-FFF2-40B4-BE49-F238E27FC236}">
                    <a16:creationId xmlns:a16="http://schemas.microsoft.com/office/drawing/2014/main" id="{ECB7837C-065D-8491-689F-6587DCB975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83521" y="1835801"/>
                <a:ext cx="4062516" cy="4351338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200" i="1" u="none" dirty="0" smtClean="0">
                          <a:latin typeface="Cambria Math" panose="02040503050406030204" pitchFamily="18" charset="0"/>
                        </a:rPr>
                        <m:t>𝑀𝑎𝑛𝑎𝑢𝑠</m:t>
                      </m:r>
                      <m:r>
                        <a:rPr lang="pt-BR" sz="2200" b="0" i="1" u="none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b="0" i="1" u="none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b="0" i="1" u="none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200" b="0" i="1" u="none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pt-BR" sz="2200" b="0" i="1" u="none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pt-BR" sz="2200" b="0" i="1" u="non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0,1</m:t>
                      </m:r>
                      <m:r>
                        <a:rPr lang="pt-BR" sz="2200" b="0" i="1" u="none" dirty="0" smtClean="0">
                          <a:latin typeface="Cambria Math" panose="02040503050406030204" pitchFamily="18" charset="0"/>
                        </a:rPr>
                        <m:t>=0,01111</m:t>
                      </m:r>
                    </m:oMath>
                  </m:oMathPara>
                </a14:m>
                <a:endParaRPr lang="pt-BR" sz="2200" u="none" dirty="0"/>
              </a:p>
              <a:p>
                <a:endParaRPr lang="pt-BR" sz="2200" u="none" dirty="0"/>
              </a:p>
              <a:p>
                <a:endParaRPr lang="pt-BR" sz="2200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200" i="1" u="none" dirty="0" smtClean="0">
                          <a:latin typeface="Cambria Math" panose="02040503050406030204" pitchFamily="18" charset="0"/>
                        </a:rPr>
                        <m:t>𝐹𝑜𝑟𝑡𝑎𝑙𝑒𝑧𝑎</m:t>
                      </m:r>
                      <m:r>
                        <a:rPr lang="pt-BR" sz="2200" i="1" u="none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b="0" i="1" u="none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b="0" i="1" u="none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200" b="0" i="1" u="none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pt-BR" sz="2200" i="1" u="none" dirty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pt-BR" sz="2200" i="1" u="non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0,1</m:t>
                      </m:r>
                      <m:r>
                        <a:rPr lang="pt-BR" sz="2200" i="1" u="none" dirty="0">
                          <a:latin typeface="Cambria Math" panose="02040503050406030204" pitchFamily="18" charset="0"/>
                        </a:rPr>
                        <m:t>=0,</m:t>
                      </m:r>
                      <m:r>
                        <a:rPr lang="pt-BR" sz="2200" b="0" i="1" u="none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200" i="1" u="none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200" b="0" i="1" u="none" dirty="0" smtClean="0">
                          <a:latin typeface="Cambria Math" panose="02040503050406030204" pitchFamily="18" charset="0"/>
                        </a:rPr>
                        <m:t>429</m:t>
                      </m:r>
                    </m:oMath>
                  </m:oMathPara>
                </a14:m>
                <a:endParaRPr lang="pt-BR" sz="2200" u="none" dirty="0"/>
              </a:p>
              <a:p>
                <a:endParaRPr lang="pt-BR" sz="2200" u="none" dirty="0"/>
              </a:p>
              <a:p>
                <a:endParaRPr lang="pt-BR" sz="2200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200" i="1" u="none" dirty="0" smtClean="0">
                          <a:latin typeface="Cambria Math" panose="02040503050406030204" pitchFamily="18" charset="0"/>
                        </a:rPr>
                        <m:t>𝑆𝑎𝑙𝑣𝑎𝑑𝑜𝑟</m:t>
                      </m:r>
                      <m:r>
                        <a:rPr lang="pt-BR" sz="2200" i="1" u="none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i="1" u="none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u="none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200" b="0" i="1" u="none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200" i="1" u="none" dirty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pt-BR" sz="2200" i="1" u="non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0,1</m:t>
                      </m:r>
                      <m:r>
                        <a:rPr lang="pt-BR" sz="2200" i="1" u="none" dirty="0">
                          <a:latin typeface="Cambria Math" panose="02040503050406030204" pitchFamily="18" charset="0"/>
                        </a:rPr>
                        <m:t>=0,05000</m:t>
                      </m:r>
                    </m:oMath>
                  </m:oMathPara>
                </a14:m>
                <a:endParaRPr lang="pt-BR" sz="2200" u="none" dirty="0"/>
              </a:p>
            </p:txBody>
          </p:sp>
        </mc:Choice>
        <mc:Fallback xmlns="">
          <p:sp>
            <p:nvSpPr>
              <p:cNvPr id="30" name="Espaço Reservado para Conteúdo 2">
                <a:extLst>
                  <a:ext uri="{FF2B5EF4-FFF2-40B4-BE49-F238E27FC236}">
                    <a16:creationId xmlns:a16="http://schemas.microsoft.com/office/drawing/2014/main" id="{ECB7837C-065D-8491-689F-6587DCB975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83521" y="1835801"/>
                <a:ext cx="4062516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78142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73A6B-F7D6-AA16-10D8-01525A3BE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C831E5-B379-58FD-92B8-E32527209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2052CA8-E47A-C8A8-FD31-EFC26E659A65}"/>
              </a:ext>
            </a:extLst>
          </p:cNvPr>
          <p:cNvSpPr/>
          <p:nvPr/>
        </p:nvSpPr>
        <p:spPr>
          <a:xfrm>
            <a:off x="796376" y="245110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29FD125-2958-05FA-C7EC-D4EE6FC59A8E}"/>
              </a:ext>
            </a:extLst>
          </p:cNvPr>
          <p:cNvSpPr/>
          <p:nvPr/>
        </p:nvSpPr>
        <p:spPr>
          <a:xfrm>
            <a:off x="3628476" y="22272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E03C088-2E4A-6CE4-E287-8842E87D412B}"/>
              </a:ext>
            </a:extLst>
          </p:cNvPr>
          <p:cNvSpPr/>
          <p:nvPr/>
        </p:nvSpPr>
        <p:spPr>
          <a:xfrm>
            <a:off x="3879301" y="421005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926F630-8B82-CB1E-7BE5-480FD8F65DF0}"/>
              </a:ext>
            </a:extLst>
          </p:cNvPr>
          <p:cNvSpPr/>
          <p:nvPr/>
        </p:nvSpPr>
        <p:spPr>
          <a:xfrm>
            <a:off x="1952076" y="53260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62C5BBE-7802-64D0-9543-C69F046715D4}"/>
              </a:ext>
            </a:extLst>
          </p:cNvPr>
          <p:cNvCxnSpPr>
            <a:cxnSpLocks/>
            <a:stCxn id="7" idx="5"/>
            <a:endCxn id="10" idx="0"/>
          </p:cNvCxnSpPr>
          <p:nvPr/>
        </p:nvCxnSpPr>
        <p:spPr>
          <a:xfrm>
            <a:off x="1240821" y="2895545"/>
            <a:ext cx="971605" cy="243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D725C672-BA74-D3B2-1ACA-DA374CDB41DC}"/>
              </a:ext>
            </a:extLst>
          </p:cNvPr>
          <p:cNvCxnSpPr>
            <a:cxnSpLocks/>
            <a:stCxn id="10" idx="6"/>
            <a:endCxn id="9" idx="3"/>
          </p:cNvCxnSpPr>
          <p:nvPr/>
        </p:nvCxnSpPr>
        <p:spPr>
          <a:xfrm flipV="1">
            <a:off x="2472776" y="4654495"/>
            <a:ext cx="1482780" cy="931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46F10A30-6080-D8BD-64B2-EC856BFDD9E0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2396521" y="2671708"/>
            <a:ext cx="1308210" cy="27306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C2D9299-4FDF-6C36-7E1B-68A911A15FA6}"/>
              </a:ext>
            </a:extLst>
          </p:cNvPr>
          <p:cNvSpPr txBox="1"/>
          <p:nvPr/>
        </p:nvSpPr>
        <p:spPr>
          <a:xfrm>
            <a:off x="1206405" y="369292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9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EE2DD13-F7D6-9C2F-8A60-50C8088CD0BA}"/>
              </a:ext>
            </a:extLst>
          </p:cNvPr>
          <p:cNvSpPr txBox="1"/>
          <p:nvPr/>
        </p:nvSpPr>
        <p:spPr>
          <a:xfrm>
            <a:off x="3085606" y="5109359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2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8CC634B8-F83C-F397-5ED3-EB8DE36B082A}"/>
              </a:ext>
            </a:extLst>
          </p:cNvPr>
          <p:cNvSpPr txBox="1"/>
          <p:nvPr/>
        </p:nvSpPr>
        <p:spPr>
          <a:xfrm>
            <a:off x="2463031" y="430099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7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03FFE5E0-70FA-D6DD-DF82-191803255B50}"/>
              </a:ext>
            </a:extLst>
          </p:cNvPr>
          <p:cNvSpPr txBox="1"/>
          <p:nvPr/>
        </p:nvSpPr>
        <p:spPr>
          <a:xfrm>
            <a:off x="443215" y="204525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Manaus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658A839-E429-6399-E020-23FB91650E79}"/>
              </a:ext>
            </a:extLst>
          </p:cNvPr>
          <p:cNvSpPr txBox="1"/>
          <p:nvPr/>
        </p:nvSpPr>
        <p:spPr>
          <a:xfrm>
            <a:off x="3369709" y="1799595"/>
            <a:ext cx="103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Fortaleza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6958E62-5867-A844-5C69-4F3D7D2B094F}"/>
              </a:ext>
            </a:extLst>
          </p:cNvPr>
          <p:cNvSpPr txBox="1"/>
          <p:nvPr/>
        </p:nvSpPr>
        <p:spPr>
          <a:xfrm>
            <a:off x="1709620" y="581780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Campinas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D67775B4-BF66-A377-F1A1-DA19DE4F77C3}"/>
              </a:ext>
            </a:extLst>
          </p:cNvPr>
          <p:cNvSpPr txBox="1"/>
          <p:nvPr/>
        </p:nvSpPr>
        <p:spPr>
          <a:xfrm>
            <a:off x="3843470" y="4753454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Salvador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A65AD87-7CCA-C574-CD77-3540A2F54D7A}"/>
              </a:ext>
            </a:extLst>
          </p:cNvPr>
          <p:cNvSpPr/>
          <p:nvPr/>
        </p:nvSpPr>
        <p:spPr>
          <a:xfrm>
            <a:off x="3690637" y="2303518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689F987-06CA-463E-38AF-FE40D362B76A}"/>
              </a:ext>
            </a:extLst>
          </p:cNvPr>
          <p:cNvSpPr/>
          <p:nvPr/>
        </p:nvSpPr>
        <p:spPr>
          <a:xfrm>
            <a:off x="3943681" y="426970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DFAAA864-6445-1A0F-8046-F376ED4E0752}"/>
              </a:ext>
            </a:extLst>
          </p:cNvPr>
          <p:cNvSpPr/>
          <p:nvPr/>
        </p:nvSpPr>
        <p:spPr>
          <a:xfrm>
            <a:off x="2015631" y="5386304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EC143658-EAEA-4EEF-07AF-A1B476D1DE76}"/>
              </a:ext>
            </a:extLst>
          </p:cNvPr>
          <p:cNvSpPr/>
          <p:nvPr/>
        </p:nvSpPr>
        <p:spPr>
          <a:xfrm>
            <a:off x="857946" y="252291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89135E8-A5FC-7CF6-7DD1-3443FB08A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684" y="5365089"/>
            <a:ext cx="718350" cy="405419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7754CB11-E0B9-67F5-2320-A942EBB4583F}"/>
              </a:ext>
            </a:extLst>
          </p:cNvPr>
          <p:cNvSpPr txBox="1"/>
          <p:nvPr/>
        </p:nvSpPr>
        <p:spPr>
          <a:xfrm>
            <a:off x="2805701" y="430674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6463B26-2608-C41D-BF94-51F0A0808FF6}"/>
              </a:ext>
            </a:extLst>
          </p:cNvPr>
          <p:cNvSpPr txBox="1"/>
          <p:nvPr/>
        </p:nvSpPr>
        <p:spPr>
          <a:xfrm>
            <a:off x="3327664" y="489501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C28AF74-E914-7EB5-5F82-64E51F5641F0}"/>
              </a:ext>
            </a:extLst>
          </p:cNvPr>
          <p:cNvSpPr txBox="1"/>
          <p:nvPr/>
        </p:nvSpPr>
        <p:spPr>
          <a:xfrm>
            <a:off x="1314663" y="412207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26" name="Balão de Pensamento: Nuvem 25">
            <a:extLst>
              <a:ext uri="{FF2B5EF4-FFF2-40B4-BE49-F238E27FC236}">
                <a16:creationId xmlns:a16="http://schemas.microsoft.com/office/drawing/2014/main" id="{8C9C59CF-377E-BD1E-B52D-A305CD7F7DDB}"/>
              </a:ext>
            </a:extLst>
          </p:cNvPr>
          <p:cNvSpPr/>
          <p:nvPr/>
        </p:nvSpPr>
        <p:spPr>
          <a:xfrm>
            <a:off x="766659" y="4675503"/>
            <a:ext cx="706267" cy="520700"/>
          </a:xfrm>
          <a:prstGeom prst="cloudCallout">
            <a:avLst>
              <a:gd name="adj1" fmla="val 25883"/>
              <a:gd name="adj2" fmla="val 8241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??</a:t>
            </a:r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Espaço Reservado para Conteúdo 2">
                <a:extLst>
                  <a:ext uri="{FF2B5EF4-FFF2-40B4-BE49-F238E27FC236}">
                    <a16:creationId xmlns:a16="http://schemas.microsoft.com/office/drawing/2014/main" id="{2ECBEEBE-2AEF-F73C-54C6-DF34021094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97031" y="1835801"/>
                <a:ext cx="4049005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𝑀𝑎𝑛𝑎𝑢𝑠</m:t>
                      </m:r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𝐹𝑜𝑟𝑡𝑎𝑙𝑒𝑧𝑎</m:t>
                      </m:r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𝑆𝑎𝑙𝑣𝑎𝑑𝑜𝑟</m:t>
                      </m:r>
                    </m:oMath>
                  </m:oMathPara>
                </a14:m>
                <a:endParaRPr lang="pt-BR" sz="2000" b="0" u="none" dirty="0"/>
              </a:p>
              <a:p>
                <a:pPr algn="ctr"/>
                <a:endParaRPr lang="pt-BR" sz="2000" u="none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0,01111+</m:t>
                      </m:r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000" i="1" u="none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429+0,05000</m:t>
                      </m:r>
                    </m:oMath>
                  </m:oMathPara>
                </a14:m>
                <a:endParaRPr lang="pt-BR" sz="2000" b="0" u="none" dirty="0"/>
              </a:p>
              <a:p>
                <a:pPr algn="ctr"/>
                <a:endParaRPr lang="pt-BR" sz="2000" u="none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pt-BR" sz="2000" i="1" u="none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i="1" u="none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0,0754</m:t>
                      </m:r>
                    </m:oMath>
                  </m:oMathPara>
                </a14:m>
                <a:endParaRPr lang="pt-BR" sz="2000" u="none" dirty="0"/>
              </a:p>
              <a:p>
                <a:endParaRPr lang="pt-BR" sz="2000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000" i="1" u="none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 u="none" dirty="0" smtClean="0">
                              <a:latin typeface="Cambria Math" panose="02040503050406030204" pitchFamily="18" charset="0"/>
                            </a:rPr>
                            <m:t>𝑀𝑎𝑛𝑎𝑢𝑠</m:t>
                          </m:r>
                        </m:e>
                      </m:d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  <m:t>0,01111</m:t>
                          </m:r>
                        </m:num>
                        <m:den>
                          <m: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  <m:t>0,0754</m:t>
                          </m:r>
                        </m:den>
                      </m:f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=0,1474</m:t>
                      </m:r>
                    </m:oMath>
                  </m:oMathPara>
                </a14:m>
                <a:endParaRPr lang="pt-BR" sz="2000" u="none" dirty="0"/>
              </a:p>
              <a:p>
                <a:endParaRPr lang="pt-BR" sz="2000" i="1" u="none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  <m:t>𝐹𝑜𝑟𝑡𝑎𝑙𝑒𝑧𝑎</m:t>
                          </m:r>
                        </m:e>
                      </m:d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  <m:t>0,01429</m:t>
                          </m:r>
                        </m:num>
                        <m:den>
                          <m: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  <m:t>0,0754</m:t>
                          </m:r>
                        </m:den>
                      </m:f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=0,1895</m:t>
                      </m:r>
                    </m:oMath>
                  </m:oMathPara>
                </a14:m>
                <a:endParaRPr lang="pt-BR" sz="2000" u="none" dirty="0"/>
              </a:p>
              <a:p>
                <a:endParaRPr lang="pt-BR" sz="2000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  <m:t>𝑆𝑎𝑙𝑣𝑎𝑑𝑜𝑟</m:t>
                          </m:r>
                        </m:e>
                      </m:d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  <m:t>0,05000</m:t>
                          </m:r>
                        </m:num>
                        <m:den>
                          <m: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  <m:t>0,0754</m:t>
                          </m:r>
                        </m:den>
                      </m:f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=0,6631</m:t>
                      </m:r>
                    </m:oMath>
                  </m:oMathPara>
                </a14:m>
                <a:endParaRPr lang="pt-BR" sz="2000" u="none" dirty="0"/>
              </a:p>
              <a:p>
                <a:endParaRPr lang="pt-BR" sz="2000" u="none" dirty="0"/>
              </a:p>
            </p:txBody>
          </p:sp>
        </mc:Choice>
        <mc:Fallback xmlns="">
          <p:sp>
            <p:nvSpPr>
              <p:cNvPr id="30" name="Espaço Reservado para Conteúdo 2">
                <a:extLst>
                  <a:ext uri="{FF2B5EF4-FFF2-40B4-BE49-F238E27FC236}">
                    <a16:creationId xmlns:a16="http://schemas.microsoft.com/office/drawing/2014/main" id="{2ECBEEBE-2AEF-F73C-54C6-DF34021094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97031" y="1835801"/>
                <a:ext cx="4049005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18547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B9CF6-6E32-FF0C-118B-1C10D44B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8FB6E16-648A-4E79-9B06-A65657AC9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670" y="4462237"/>
            <a:ext cx="1854660" cy="188223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B87355B-16D7-F594-D995-816B5CAFF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25" y="1737018"/>
            <a:ext cx="7435397" cy="25812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5D366B5-4709-F573-2570-BE4832AB97EA}"/>
              </a:ext>
            </a:extLst>
          </p:cNvPr>
          <p:cNvSpPr txBox="1"/>
          <p:nvPr/>
        </p:nvSpPr>
        <p:spPr>
          <a:xfrm>
            <a:off x="583671" y="4978912"/>
            <a:ext cx="29325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solidFill>
                  <a:srgbClr val="FF0000"/>
                </a:solidFill>
              </a:rPr>
              <a:t>Probabilidades de escolha da formiga F1 posicionada no vértice 1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01B444F-B0D1-3335-D238-865D8B33C91E}"/>
              </a:ext>
            </a:extLst>
          </p:cNvPr>
          <p:cNvSpPr/>
          <p:nvPr/>
        </p:nvSpPr>
        <p:spPr>
          <a:xfrm>
            <a:off x="858305" y="1998483"/>
            <a:ext cx="7435397" cy="56560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6EE7DB7C-0631-DC18-DD64-9BDF1324AEB8}"/>
              </a:ext>
            </a:extLst>
          </p:cNvPr>
          <p:cNvCxnSpPr>
            <a:stCxn id="3" idx="2"/>
            <a:endCxn id="5" idx="0"/>
          </p:cNvCxnSpPr>
          <p:nvPr/>
        </p:nvCxnSpPr>
        <p:spPr>
          <a:xfrm flipH="1">
            <a:off x="4572000" y="2564091"/>
            <a:ext cx="4004" cy="18981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4983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7A122-DB0C-A7B4-84B7-97F179503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D49EF-D2AF-166D-2B90-253AD3B59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35AEEE4-5CB4-5D69-DACC-43395931ABDD}"/>
              </a:ext>
            </a:extLst>
          </p:cNvPr>
          <p:cNvSpPr/>
          <p:nvPr/>
        </p:nvSpPr>
        <p:spPr>
          <a:xfrm>
            <a:off x="796376" y="245110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63917F50-777B-5FBD-BA4C-0A863E47E8FE}"/>
              </a:ext>
            </a:extLst>
          </p:cNvPr>
          <p:cNvSpPr/>
          <p:nvPr/>
        </p:nvSpPr>
        <p:spPr>
          <a:xfrm>
            <a:off x="3628476" y="22272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D2CF7AE-2E73-05D7-B789-4255D9CD421F}"/>
              </a:ext>
            </a:extLst>
          </p:cNvPr>
          <p:cNvSpPr/>
          <p:nvPr/>
        </p:nvSpPr>
        <p:spPr>
          <a:xfrm>
            <a:off x="3879301" y="421005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6B7D8D0-3F8B-3A7D-E45D-F9DC072495CC}"/>
              </a:ext>
            </a:extLst>
          </p:cNvPr>
          <p:cNvSpPr/>
          <p:nvPr/>
        </p:nvSpPr>
        <p:spPr>
          <a:xfrm>
            <a:off x="1952076" y="53260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879E67F-5099-92FA-4885-E84FB02E3699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3888826" y="2747963"/>
            <a:ext cx="250825" cy="1462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7FAECC18-5926-21AC-DF89-21BBB675158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317076" y="2711450"/>
            <a:ext cx="2638480" cy="1574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09EF14D-325C-6034-5616-D9AE5FF765F4}"/>
              </a:ext>
            </a:extLst>
          </p:cNvPr>
          <p:cNvSpPr txBox="1"/>
          <p:nvPr/>
        </p:nvSpPr>
        <p:spPr>
          <a:xfrm>
            <a:off x="4043714" y="3190473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6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931C84B-298D-77DE-CC59-A28B4B830B3D}"/>
              </a:ext>
            </a:extLst>
          </p:cNvPr>
          <p:cNvSpPr txBox="1"/>
          <p:nvPr/>
        </p:nvSpPr>
        <p:spPr>
          <a:xfrm>
            <a:off x="2215313" y="332858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5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79CE44C6-DC06-816B-3E4B-B1D604A66CBA}"/>
              </a:ext>
            </a:extLst>
          </p:cNvPr>
          <p:cNvSpPr txBox="1"/>
          <p:nvPr/>
        </p:nvSpPr>
        <p:spPr>
          <a:xfrm>
            <a:off x="443215" y="204525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Manaus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1B7FF86B-CD09-1CD2-4FB4-3C1F6B86BB2A}"/>
              </a:ext>
            </a:extLst>
          </p:cNvPr>
          <p:cNvSpPr txBox="1"/>
          <p:nvPr/>
        </p:nvSpPr>
        <p:spPr>
          <a:xfrm>
            <a:off x="3369709" y="1799595"/>
            <a:ext cx="103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Fortaleza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273CBF04-681B-0817-C48E-0E661C7595DA}"/>
              </a:ext>
            </a:extLst>
          </p:cNvPr>
          <p:cNvSpPr txBox="1"/>
          <p:nvPr/>
        </p:nvSpPr>
        <p:spPr>
          <a:xfrm>
            <a:off x="1709620" y="581780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Campinas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CFD726AD-5428-6404-D8FB-800B9CF06618}"/>
              </a:ext>
            </a:extLst>
          </p:cNvPr>
          <p:cNvSpPr txBox="1"/>
          <p:nvPr/>
        </p:nvSpPr>
        <p:spPr>
          <a:xfrm>
            <a:off x="3843470" y="4753454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Salvador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A012D9E3-763D-2987-BF23-2EB0D623ACDC}"/>
              </a:ext>
            </a:extLst>
          </p:cNvPr>
          <p:cNvSpPr/>
          <p:nvPr/>
        </p:nvSpPr>
        <p:spPr>
          <a:xfrm>
            <a:off x="3690637" y="2303518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FB3535DC-C4E0-B016-B943-D486050ECDE4}"/>
              </a:ext>
            </a:extLst>
          </p:cNvPr>
          <p:cNvSpPr/>
          <p:nvPr/>
        </p:nvSpPr>
        <p:spPr>
          <a:xfrm>
            <a:off x="3943681" y="426970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63739A55-BC05-AC93-81CC-5102C8413D72}"/>
              </a:ext>
            </a:extLst>
          </p:cNvPr>
          <p:cNvSpPr/>
          <p:nvPr/>
        </p:nvSpPr>
        <p:spPr>
          <a:xfrm>
            <a:off x="2015631" y="5386304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614459D8-BEC5-1178-9345-317ACBD77D5A}"/>
              </a:ext>
            </a:extLst>
          </p:cNvPr>
          <p:cNvSpPr/>
          <p:nvPr/>
        </p:nvSpPr>
        <p:spPr>
          <a:xfrm>
            <a:off x="857946" y="252291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2586BB5-ACDF-93AD-98F4-A8F082566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582" y="5139316"/>
            <a:ext cx="718350" cy="405419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2E81CDBB-0614-31D5-5E64-44C4E0F7D275}"/>
              </a:ext>
            </a:extLst>
          </p:cNvPr>
          <p:cNvSpPr txBox="1"/>
          <p:nvPr/>
        </p:nvSpPr>
        <p:spPr>
          <a:xfrm>
            <a:off x="3916418" y="288246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FCD1D45-052B-FD9C-D422-4D242DAD626B}"/>
              </a:ext>
            </a:extLst>
          </p:cNvPr>
          <p:cNvSpPr txBox="1"/>
          <p:nvPr/>
        </p:nvSpPr>
        <p:spPr>
          <a:xfrm>
            <a:off x="1934442" y="279453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26" name="Balão de Pensamento: Nuvem 25">
            <a:extLst>
              <a:ext uri="{FF2B5EF4-FFF2-40B4-BE49-F238E27FC236}">
                <a16:creationId xmlns:a16="http://schemas.microsoft.com/office/drawing/2014/main" id="{8670A755-8752-375C-1B40-81A6B987FF6B}"/>
              </a:ext>
            </a:extLst>
          </p:cNvPr>
          <p:cNvSpPr/>
          <p:nvPr/>
        </p:nvSpPr>
        <p:spPr>
          <a:xfrm>
            <a:off x="3028950" y="5755625"/>
            <a:ext cx="706267" cy="520699"/>
          </a:xfrm>
          <a:prstGeom prst="cloudCallout">
            <a:avLst>
              <a:gd name="adj1" fmla="val 59251"/>
              <a:gd name="adj2" fmla="val -10948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??</a:t>
            </a:r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Espaço Reservado para Conteúdo 2">
                <a:extLst>
                  <a:ext uri="{FF2B5EF4-FFF2-40B4-BE49-F238E27FC236}">
                    <a16:creationId xmlns:a16="http://schemas.microsoft.com/office/drawing/2014/main" id="{72BE1410-F5A4-23F7-A217-56C6C43BC0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83521" y="1835801"/>
                <a:ext cx="4062516" cy="4351338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200" i="1" u="none" dirty="0" smtClean="0">
                          <a:latin typeface="Cambria Math" panose="02040503050406030204" pitchFamily="18" charset="0"/>
                        </a:rPr>
                        <m:t>𝑀𝑎𝑛𝑎𝑢𝑠</m:t>
                      </m:r>
                      <m:r>
                        <a:rPr lang="pt-BR" sz="2200" b="0" i="1" u="none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b="0" i="1" u="none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b="0" i="1" u="none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200" b="0" i="1" u="none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pt-BR" sz="2200" b="0" i="1" u="none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pt-BR" sz="2200" b="0" i="1" u="non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0,1</m:t>
                      </m:r>
                      <m:r>
                        <a:rPr lang="pt-BR" sz="2200" b="0" i="1" u="none" dirty="0" smtClean="0">
                          <a:latin typeface="Cambria Math" panose="02040503050406030204" pitchFamily="18" charset="0"/>
                        </a:rPr>
                        <m:t>=0,02000</m:t>
                      </m:r>
                    </m:oMath>
                  </m:oMathPara>
                </a14:m>
                <a:endParaRPr lang="pt-BR" sz="2200" u="none" dirty="0"/>
              </a:p>
              <a:p>
                <a:endParaRPr lang="pt-BR" sz="2200" u="none" dirty="0"/>
              </a:p>
              <a:p>
                <a:endParaRPr lang="pt-BR" sz="2200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200" i="1" u="none" dirty="0" smtClean="0">
                          <a:latin typeface="Cambria Math" panose="02040503050406030204" pitchFamily="18" charset="0"/>
                        </a:rPr>
                        <m:t>𝐹𝑜𝑟𝑡𝑎𝑙𝑒𝑧𝑎</m:t>
                      </m:r>
                      <m:r>
                        <a:rPr lang="pt-BR" sz="2200" i="1" u="none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b="0" i="1" u="none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b="0" i="1" u="none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200" b="0" i="1" u="none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pt-BR" sz="2200" i="1" u="none" dirty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pt-BR" sz="2200" i="1" u="non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0,1</m:t>
                      </m:r>
                      <m:r>
                        <a:rPr lang="pt-BR" sz="2200" i="1" u="none" dirty="0">
                          <a:latin typeface="Cambria Math" panose="02040503050406030204" pitchFamily="18" charset="0"/>
                        </a:rPr>
                        <m:t>=0,</m:t>
                      </m:r>
                      <m:r>
                        <a:rPr lang="pt-BR" sz="2200" b="0" i="1" u="none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200" i="1" u="none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200" b="0" i="1" u="none" dirty="0" smtClean="0">
                          <a:latin typeface="Cambria Math" panose="02040503050406030204" pitchFamily="18" charset="0"/>
                        </a:rPr>
                        <m:t>667</m:t>
                      </m:r>
                    </m:oMath>
                  </m:oMathPara>
                </a14:m>
                <a:endParaRPr lang="pt-BR" sz="2200" u="none" dirty="0"/>
              </a:p>
              <a:p>
                <a:endParaRPr lang="pt-BR" sz="2200" u="none" dirty="0"/>
              </a:p>
              <a:p>
                <a:endParaRPr lang="pt-BR" sz="2200" u="none" dirty="0"/>
              </a:p>
            </p:txBody>
          </p:sp>
        </mc:Choice>
        <mc:Fallback xmlns="">
          <p:sp>
            <p:nvSpPr>
              <p:cNvPr id="30" name="Espaço Reservado para Conteúdo 2">
                <a:extLst>
                  <a:ext uri="{FF2B5EF4-FFF2-40B4-BE49-F238E27FC236}">
                    <a16:creationId xmlns:a16="http://schemas.microsoft.com/office/drawing/2014/main" id="{72BE1410-F5A4-23F7-A217-56C6C43BC0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83521" y="1835801"/>
                <a:ext cx="4062516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11FAF309-206B-20FF-2374-9A5FF76B6635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2472776" y="4654495"/>
            <a:ext cx="1482780" cy="9319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0263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65AD7-E519-E4FB-24CE-C6AC460F2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DB490-38C8-E997-CE79-FA215D681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B1041C7-1F33-99DD-7B91-0A082D5E6FCC}"/>
              </a:ext>
            </a:extLst>
          </p:cNvPr>
          <p:cNvSpPr/>
          <p:nvPr/>
        </p:nvSpPr>
        <p:spPr>
          <a:xfrm>
            <a:off x="796376" y="245110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26123A4-20BB-8A3A-3859-5A99DD51452F}"/>
              </a:ext>
            </a:extLst>
          </p:cNvPr>
          <p:cNvSpPr/>
          <p:nvPr/>
        </p:nvSpPr>
        <p:spPr>
          <a:xfrm>
            <a:off x="3628476" y="22272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8723D98-3EF7-8272-FEEA-28EBA474CB25}"/>
              </a:ext>
            </a:extLst>
          </p:cNvPr>
          <p:cNvSpPr/>
          <p:nvPr/>
        </p:nvSpPr>
        <p:spPr>
          <a:xfrm>
            <a:off x="3879301" y="421005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1DF83DB-E343-4A94-F5FA-99FF0BD2F2D4}"/>
              </a:ext>
            </a:extLst>
          </p:cNvPr>
          <p:cNvSpPr/>
          <p:nvPr/>
        </p:nvSpPr>
        <p:spPr>
          <a:xfrm>
            <a:off x="1952076" y="53260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ABB66122-9615-2F24-E644-2EF962BE6F89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3888826" y="2747963"/>
            <a:ext cx="250825" cy="1462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7C03E008-6D84-7E41-32E8-121663029E55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1317076" y="2711450"/>
            <a:ext cx="2638480" cy="1574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5A7E994-668C-0E0F-0A20-4BE954557A84}"/>
              </a:ext>
            </a:extLst>
          </p:cNvPr>
          <p:cNvSpPr txBox="1"/>
          <p:nvPr/>
        </p:nvSpPr>
        <p:spPr>
          <a:xfrm>
            <a:off x="4043714" y="3190473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6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9A0963A-0398-5C2D-F8EB-FBEE56D63CE8}"/>
              </a:ext>
            </a:extLst>
          </p:cNvPr>
          <p:cNvSpPr txBox="1"/>
          <p:nvPr/>
        </p:nvSpPr>
        <p:spPr>
          <a:xfrm>
            <a:off x="2215313" y="332858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5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212C28B-ADFB-8571-D4F2-CA6D54E6DCF6}"/>
              </a:ext>
            </a:extLst>
          </p:cNvPr>
          <p:cNvSpPr txBox="1"/>
          <p:nvPr/>
        </p:nvSpPr>
        <p:spPr>
          <a:xfrm>
            <a:off x="443215" y="204525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Manaus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8EE2DB0-AC17-61DA-2A54-CA3C7853DA3F}"/>
              </a:ext>
            </a:extLst>
          </p:cNvPr>
          <p:cNvSpPr txBox="1"/>
          <p:nvPr/>
        </p:nvSpPr>
        <p:spPr>
          <a:xfrm>
            <a:off x="3369709" y="1799595"/>
            <a:ext cx="103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Fortaleza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7B8778E-C9FF-14E9-47E7-27D6DFB4CBDE}"/>
              </a:ext>
            </a:extLst>
          </p:cNvPr>
          <p:cNvSpPr txBox="1"/>
          <p:nvPr/>
        </p:nvSpPr>
        <p:spPr>
          <a:xfrm>
            <a:off x="1709620" y="581780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Campinas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BBBA6713-5EF9-A8B1-32BB-DBB086895C79}"/>
              </a:ext>
            </a:extLst>
          </p:cNvPr>
          <p:cNvSpPr txBox="1"/>
          <p:nvPr/>
        </p:nvSpPr>
        <p:spPr>
          <a:xfrm>
            <a:off x="3843470" y="4753454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Salvador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E9E119E-48D7-1DB4-C8BC-506459FF53EA}"/>
              </a:ext>
            </a:extLst>
          </p:cNvPr>
          <p:cNvSpPr/>
          <p:nvPr/>
        </p:nvSpPr>
        <p:spPr>
          <a:xfrm>
            <a:off x="3690637" y="2303518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CAB57FE5-9755-E0F6-8AF8-D2458CEB3460}"/>
              </a:ext>
            </a:extLst>
          </p:cNvPr>
          <p:cNvSpPr/>
          <p:nvPr/>
        </p:nvSpPr>
        <p:spPr>
          <a:xfrm>
            <a:off x="3943681" y="426970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DC487354-CC8F-6A37-9BC4-DABE5A0554E8}"/>
              </a:ext>
            </a:extLst>
          </p:cNvPr>
          <p:cNvSpPr/>
          <p:nvPr/>
        </p:nvSpPr>
        <p:spPr>
          <a:xfrm>
            <a:off x="2015631" y="5386304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794CD367-934F-1C32-3655-D73A5D4D5B1E}"/>
              </a:ext>
            </a:extLst>
          </p:cNvPr>
          <p:cNvSpPr/>
          <p:nvPr/>
        </p:nvSpPr>
        <p:spPr>
          <a:xfrm>
            <a:off x="857946" y="252291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8130ACA-3A62-3BC9-56D6-2E0971CCC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582" y="5139316"/>
            <a:ext cx="718350" cy="405419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66323C34-5103-8C43-85C6-034B5E0A406D}"/>
              </a:ext>
            </a:extLst>
          </p:cNvPr>
          <p:cNvSpPr txBox="1"/>
          <p:nvPr/>
        </p:nvSpPr>
        <p:spPr>
          <a:xfrm>
            <a:off x="3916418" y="288246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0660945-DE2A-DEE2-CB82-D15DA6BF1FEB}"/>
              </a:ext>
            </a:extLst>
          </p:cNvPr>
          <p:cNvSpPr txBox="1"/>
          <p:nvPr/>
        </p:nvSpPr>
        <p:spPr>
          <a:xfrm>
            <a:off x="1934442" y="279453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26" name="Balão de Pensamento: Nuvem 25">
            <a:extLst>
              <a:ext uri="{FF2B5EF4-FFF2-40B4-BE49-F238E27FC236}">
                <a16:creationId xmlns:a16="http://schemas.microsoft.com/office/drawing/2014/main" id="{DAF32A20-D75C-6A8F-0836-D3A15BF4AF0A}"/>
              </a:ext>
            </a:extLst>
          </p:cNvPr>
          <p:cNvSpPr/>
          <p:nvPr/>
        </p:nvSpPr>
        <p:spPr>
          <a:xfrm>
            <a:off x="3028950" y="5755625"/>
            <a:ext cx="706267" cy="520699"/>
          </a:xfrm>
          <a:prstGeom prst="cloudCallout">
            <a:avLst>
              <a:gd name="adj1" fmla="val 59251"/>
              <a:gd name="adj2" fmla="val -10948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??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4038059E-A0B1-D612-57FF-AB5F1745649C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2472776" y="4654495"/>
            <a:ext cx="1482780" cy="9319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spaço Reservado para Conteúdo 2">
                <a:extLst>
                  <a:ext uri="{FF2B5EF4-FFF2-40B4-BE49-F238E27FC236}">
                    <a16:creationId xmlns:a16="http://schemas.microsoft.com/office/drawing/2014/main" id="{D4F5DE9C-9FA0-A378-ECEC-DF6AEE2DDF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97031" y="1835801"/>
                <a:ext cx="4049005" cy="4351338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𝑀𝑎𝑛𝑎𝑢𝑠</m:t>
                      </m:r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𝐹𝑜𝑟𝑡𝑎𝑙𝑒𝑧𝑎</m:t>
                      </m:r>
                    </m:oMath>
                  </m:oMathPara>
                </a14:m>
                <a:endParaRPr lang="pt-BR" sz="2000" b="0" u="none" dirty="0"/>
              </a:p>
              <a:p>
                <a:pPr algn="ctr"/>
                <a:endParaRPr lang="pt-BR" sz="2000" u="none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0,02000+</m:t>
                      </m:r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000" i="1" u="none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667</m:t>
                      </m:r>
                    </m:oMath>
                  </m:oMathPara>
                </a14:m>
                <a:endParaRPr lang="pt-BR" sz="2000" b="0" u="none" dirty="0"/>
              </a:p>
              <a:p>
                <a:pPr algn="ctr"/>
                <a:endParaRPr lang="pt-BR" sz="2000" u="none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pt-BR" sz="2000" i="1" u="none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i="1" u="none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0,03667</m:t>
                      </m:r>
                    </m:oMath>
                  </m:oMathPara>
                </a14:m>
                <a:endParaRPr lang="pt-BR" sz="2000" u="none" dirty="0"/>
              </a:p>
              <a:p>
                <a:endParaRPr lang="pt-BR" sz="2000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000" i="1" u="none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 u="none" dirty="0" smtClean="0">
                              <a:latin typeface="Cambria Math" panose="02040503050406030204" pitchFamily="18" charset="0"/>
                            </a:rPr>
                            <m:t>𝑀𝑎𝑛𝑎𝑢𝑠</m:t>
                          </m:r>
                        </m:e>
                      </m:d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  <m:t>0,02000</m:t>
                          </m:r>
                        </m:num>
                        <m:den>
                          <m: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  <m:t>0,03667</m:t>
                          </m:r>
                        </m:den>
                      </m:f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=0,5455</m:t>
                      </m:r>
                    </m:oMath>
                  </m:oMathPara>
                </a14:m>
                <a:endParaRPr lang="pt-BR" sz="2000" u="none" dirty="0"/>
              </a:p>
              <a:p>
                <a:endParaRPr lang="pt-BR" sz="2000" i="1" u="none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  <m:t>𝐹𝑜𝑟𝑡𝑎𝑙𝑒𝑧𝑎</m:t>
                          </m:r>
                        </m:e>
                      </m:d>
                      <m:r>
                        <a:rPr lang="pt-BR" sz="2000" i="1" u="none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  <m:t>0,01667</m:t>
                          </m:r>
                        </m:num>
                        <m:den>
                          <m:r>
                            <a:rPr lang="pt-BR" sz="2000" b="0" i="1" u="none" dirty="0" smtClean="0">
                              <a:latin typeface="Cambria Math" panose="02040503050406030204" pitchFamily="18" charset="0"/>
                            </a:rPr>
                            <m:t>0,03667</m:t>
                          </m:r>
                        </m:den>
                      </m:f>
                      <m:r>
                        <a:rPr lang="pt-BR" sz="2000" b="0" i="1" u="none" dirty="0" smtClean="0">
                          <a:latin typeface="Cambria Math" panose="02040503050406030204" pitchFamily="18" charset="0"/>
                        </a:rPr>
                        <m:t>=0,4546</m:t>
                      </m:r>
                    </m:oMath>
                  </m:oMathPara>
                </a14:m>
                <a:endParaRPr lang="pt-BR" sz="2000" u="none" dirty="0"/>
              </a:p>
              <a:p>
                <a:endParaRPr lang="pt-BR" sz="2000" u="none" dirty="0"/>
              </a:p>
              <a:p>
                <a:endParaRPr lang="pt-BR" sz="2000" u="none" dirty="0"/>
              </a:p>
            </p:txBody>
          </p:sp>
        </mc:Choice>
        <mc:Fallback xmlns="">
          <p:sp>
            <p:nvSpPr>
              <p:cNvPr id="15" name="Espaço Reservado para Conteúdo 2">
                <a:extLst>
                  <a:ext uri="{FF2B5EF4-FFF2-40B4-BE49-F238E27FC236}">
                    <a16:creationId xmlns:a16="http://schemas.microsoft.com/office/drawing/2014/main" id="{D4F5DE9C-9FA0-A378-ECEC-DF6AEE2DDF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97031" y="1835801"/>
                <a:ext cx="4049005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95231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AAE83-AF64-6041-9DD0-0CCEB4CD8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7FBA05-6BF5-0A96-7B8A-0D7A0DF41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2172EEF-0296-7A74-549B-1CD0B8CE68D6}"/>
              </a:ext>
            </a:extLst>
          </p:cNvPr>
          <p:cNvSpPr/>
          <p:nvPr/>
        </p:nvSpPr>
        <p:spPr>
          <a:xfrm>
            <a:off x="796376" y="245110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9CD0E5C-8712-3571-6B8D-131BDC7AFC26}"/>
              </a:ext>
            </a:extLst>
          </p:cNvPr>
          <p:cNvSpPr/>
          <p:nvPr/>
        </p:nvSpPr>
        <p:spPr>
          <a:xfrm>
            <a:off x="3628476" y="22272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B8B6954-9D48-D7AA-AF41-DC067A74EE8D}"/>
              </a:ext>
            </a:extLst>
          </p:cNvPr>
          <p:cNvSpPr/>
          <p:nvPr/>
        </p:nvSpPr>
        <p:spPr>
          <a:xfrm>
            <a:off x="3879301" y="421005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6E5F028-F471-D5D0-6DC0-D402B418B7EA}"/>
              </a:ext>
            </a:extLst>
          </p:cNvPr>
          <p:cNvSpPr/>
          <p:nvPr/>
        </p:nvSpPr>
        <p:spPr>
          <a:xfrm>
            <a:off x="1952076" y="53260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E0EE9B8C-BFCD-5DE1-D262-E4731714F9D7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317076" y="2487613"/>
            <a:ext cx="2311400" cy="2238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576624D7-DEB6-F2C7-05EA-2318D7E8C64D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3888826" y="2747963"/>
            <a:ext cx="250825" cy="14620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121D34A-1575-5207-A9DB-B9FAAFF657AF}"/>
              </a:ext>
            </a:extLst>
          </p:cNvPr>
          <p:cNvSpPr txBox="1"/>
          <p:nvPr/>
        </p:nvSpPr>
        <p:spPr>
          <a:xfrm>
            <a:off x="2202461" y="2179964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1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06DCBFE8-0C4D-790A-0130-B5C00D54A087}"/>
              </a:ext>
            </a:extLst>
          </p:cNvPr>
          <p:cNvSpPr txBox="1"/>
          <p:nvPr/>
        </p:nvSpPr>
        <p:spPr>
          <a:xfrm>
            <a:off x="443215" y="204525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Manaus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23C061E-DA05-6A5C-2B61-ED9D27BD770A}"/>
              </a:ext>
            </a:extLst>
          </p:cNvPr>
          <p:cNvSpPr txBox="1"/>
          <p:nvPr/>
        </p:nvSpPr>
        <p:spPr>
          <a:xfrm>
            <a:off x="3369709" y="1799595"/>
            <a:ext cx="103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Fortaleza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5FEFDE2A-C2A6-65E2-6A37-B7F7F6DE1BBB}"/>
              </a:ext>
            </a:extLst>
          </p:cNvPr>
          <p:cNvSpPr txBox="1"/>
          <p:nvPr/>
        </p:nvSpPr>
        <p:spPr>
          <a:xfrm>
            <a:off x="1709620" y="581780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Campinas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6EF288E6-B13C-6694-4905-9614318547C3}"/>
              </a:ext>
            </a:extLst>
          </p:cNvPr>
          <p:cNvSpPr txBox="1"/>
          <p:nvPr/>
        </p:nvSpPr>
        <p:spPr>
          <a:xfrm>
            <a:off x="3843470" y="4753454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Salvador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ADBBB70-7B7C-EE13-B682-FC8045C1427D}"/>
              </a:ext>
            </a:extLst>
          </p:cNvPr>
          <p:cNvSpPr/>
          <p:nvPr/>
        </p:nvSpPr>
        <p:spPr>
          <a:xfrm>
            <a:off x="3690637" y="2303518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243C96A9-58F0-8C8F-5E3A-648BC6A8451F}"/>
              </a:ext>
            </a:extLst>
          </p:cNvPr>
          <p:cNvSpPr/>
          <p:nvPr/>
        </p:nvSpPr>
        <p:spPr>
          <a:xfrm>
            <a:off x="3943681" y="426970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3FDEEE1A-2705-95D2-D767-5D1B250E5791}"/>
              </a:ext>
            </a:extLst>
          </p:cNvPr>
          <p:cNvSpPr/>
          <p:nvPr/>
        </p:nvSpPr>
        <p:spPr>
          <a:xfrm>
            <a:off x="2015631" y="5386304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DD613963-6F32-CA88-F3E7-383295A2C017}"/>
              </a:ext>
            </a:extLst>
          </p:cNvPr>
          <p:cNvSpPr/>
          <p:nvPr/>
        </p:nvSpPr>
        <p:spPr>
          <a:xfrm>
            <a:off x="857946" y="252291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37678E1-A154-C934-0D5D-9AEADB54B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825" y="2464126"/>
            <a:ext cx="718350" cy="405419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9AADFCAE-114A-26D1-D2CF-FB7A9F96237A}"/>
              </a:ext>
            </a:extLst>
          </p:cNvPr>
          <p:cNvSpPr txBox="1"/>
          <p:nvPr/>
        </p:nvSpPr>
        <p:spPr>
          <a:xfrm>
            <a:off x="2737754" y="223674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Espaço Reservado para Conteúdo 2">
                <a:extLst>
                  <a:ext uri="{FF2B5EF4-FFF2-40B4-BE49-F238E27FC236}">
                    <a16:creationId xmlns:a16="http://schemas.microsoft.com/office/drawing/2014/main" id="{4AB33E6B-8A3F-E1F6-5A45-188E3B645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83521" y="1835801"/>
                <a:ext cx="4062516" cy="4351338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i="1" u="none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u="none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u="none" dirty="0">
                              <a:latin typeface="Cambria Math" panose="02040503050406030204" pitchFamily="18" charset="0"/>
                            </a:rPr>
                            <m:t>𝑀𝑎𝑛𝑎𝑢𝑠</m:t>
                          </m:r>
                        </m:e>
                      </m:d>
                      <m:r>
                        <a:rPr lang="pt-BR" sz="2400" i="1" u="none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u="none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sz="2200" u="none" dirty="0"/>
              </a:p>
              <a:p>
                <a:endParaRPr lang="pt-BR" sz="2200" u="none" dirty="0"/>
              </a:p>
            </p:txBody>
          </p:sp>
        </mc:Choice>
        <mc:Fallback xmlns="">
          <p:sp>
            <p:nvSpPr>
              <p:cNvPr id="30" name="Espaço Reservado para Conteúdo 2">
                <a:extLst>
                  <a:ext uri="{FF2B5EF4-FFF2-40B4-BE49-F238E27FC236}">
                    <a16:creationId xmlns:a16="http://schemas.microsoft.com/office/drawing/2014/main" id="{4AB33E6B-8A3F-E1F6-5A45-188E3B645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83521" y="1835801"/>
                <a:ext cx="4062516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83E936CB-1C52-6519-9E57-CC2B9E27573C}"/>
              </a:ext>
            </a:extLst>
          </p:cNvPr>
          <p:cNvCxnSpPr>
            <a:cxnSpLocks/>
          </p:cNvCxnSpPr>
          <p:nvPr/>
        </p:nvCxnSpPr>
        <p:spPr>
          <a:xfrm flipV="1">
            <a:off x="2472776" y="4654495"/>
            <a:ext cx="1482780" cy="9319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9228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4CC3E-6C86-B139-AF6F-DBC6FBD66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91AB6-3186-CD5E-9989-E6E3E02A4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07F4464-D83F-7E31-634C-ACDB3498D72C}"/>
              </a:ext>
            </a:extLst>
          </p:cNvPr>
          <p:cNvSpPr/>
          <p:nvPr/>
        </p:nvSpPr>
        <p:spPr>
          <a:xfrm>
            <a:off x="796376" y="245110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B9E6AFE-4264-B9B0-A355-58109E6BC9AA}"/>
              </a:ext>
            </a:extLst>
          </p:cNvPr>
          <p:cNvSpPr/>
          <p:nvPr/>
        </p:nvSpPr>
        <p:spPr>
          <a:xfrm>
            <a:off x="3628476" y="22272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7BD4BC0-35C6-8D3B-77CA-B3B13BA3FEA6}"/>
              </a:ext>
            </a:extLst>
          </p:cNvPr>
          <p:cNvSpPr/>
          <p:nvPr/>
        </p:nvSpPr>
        <p:spPr>
          <a:xfrm>
            <a:off x="3879301" y="421005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7FB3DA2-1F02-3BC9-0155-AE9C5A07DF52}"/>
              </a:ext>
            </a:extLst>
          </p:cNvPr>
          <p:cNvSpPr/>
          <p:nvPr/>
        </p:nvSpPr>
        <p:spPr>
          <a:xfrm>
            <a:off x="1952076" y="53260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2EF11E78-DE51-FFBD-66FD-F4D4D11481B4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317076" y="2487613"/>
            <a:ext cx="2311400" cy="22383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26B89FEF-FB44-AD11-FCE1-6519BEE5C767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3888826" y="2747963"/>
            <a:ext cx="250825" cy="14620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FA64B552-DD65-18E6-BCA5-5F9E2A8B3EBB}"/>
              </a:ext>
            </a:extLst>
          </p:cNvPr>
          <p:cNvSpPr txBox="1"/>
          <p:nvPr/>
        </p:nvSpPr>
        <p:spPr>
          <a:xfrm>
            <a:off x="443215" y="204525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Manaus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66589E6-69D5-3580-B4B1-CBA2A2B142B2}"/>
              </a:ext>
            </a:extLst>
          </p:cNvPr>
          <p:cNvSpPr txBox="1"/>
          <p:nvPr/>
        </p:nvSpPr>
        <p:spPr>
          <a:xfrm>
            <a:off x="3369709" y="1799595"/>
            <a:ext cx="103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Fortaleza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3FAFB926-8F6C-DD4A-0C61-A65F4978D4C3}"/>
              </a:ext>
            </a:extLst>
          </p:cNvPr>
          <p:cNvSpPr txBox="1"/>
          <p:nvPr/>
        </p:nvSpPr>
        <p:spPr>
          <a:xfrm>
            <a:off x="1709620" y="581780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Campinas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AE883A91-796C-C1B2-0EE4-87B670C0026F}"/>
              </a:ext>
            </a:extLst>
          </p:cNvPr>
          <p:cNvSpPr txBox="1"/>
          <p:nvPr/>
        </p:nvSpPr>
        <p:spPr>
          <a:xfrm>
            <a:off x="3843470" y="4753454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Salvador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4A3AFA1-95EA-88F1-9189-F5C8DD25F8CB}"/>
              </a:ext>
            </a:extLst>
          </p:cNvPr>
          <p:cNvSpPr/>
          <p:nvPr/>
        </p:nvSpPr>
        <p:spPr>
          <a:xfrm>
            <a:off x="3690637" y="2303518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E128DCC2-B133-9FD8-FB58-04E4DA354833}"/>
              </a:ext>
            </a:extLst>
          </p:cNvPr>
          <p:cNvSpPr/>
          <p:nvPr/>
        </p:nvSpPr>
        <p:spPr>
          <a:xfrm>
            <a:off x="3943681" y="426970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3F916FDF-6B39-7B19-9358-E8FFA8F26DF5}"/>
              </a:ext>
            </a:extLst>
          </p:cNvPr>
          <p:cNvSpPr/>
          <p:nvPr/>
        </p:nvSpPr>
        <p:spPr>
          <a:xfrm>
            <a:off x="2015631" y="5386304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B17EC80F-89C5-14B0-518C-2E5584FB09D3}"/>
              </a:ext>
            </a:extLst>
          </p:cNvPr>
          <p:cNvSpPr/>
          <p:nvPr/>
        </p:nvSpPr>
        <p:spPr>
          <a:xfrm>
            <a:off x="857946" y="252291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0421AFA-ED1B-BDCD-D03B-E28E44907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11" y="2996119"/>
            <a:ext cx="718350" cy="4054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Espaço Reservado para Conteúdo 2">
                <a:extLst>
                  <a:ext uri="{FF2B5EF4-FFF2-40B4-BE49-F238E27FC236}">
                    <a16:creationId xmlns:a16="http://schemas.microsoft.com/office/drawing/2014/main" id="{A68A928B-DD8B-F78B-06A0-1D671AB368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83521" y="1835801"/>
                <a:ext cx="4062516" cy="4351338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i="1" u="none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u="none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u="none" dirty="0" smtClean="0">
                              <a:latin typeface="Cambria Math" panose="02040503050406030204" pitchFamily="18" charset="0"/>
                            </a:rPr>
                            <m:t>𝐶𝑎𝑚𝑝𝑖𝑛𝑎𝑠</m:t>
                          </m:r>
                        </m:e>
                      </m:d>
                      <m:r>
                        <a:rPr lang="pt-BR" sz="2400" i="1" u="none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u="none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sz="2200" u="none" dirty="0"/>
              </a:p>
              <a:p>
                <a:endParaRPr lang="pt-BR" sz="2200" u="none" dirty="0"/>
              </a:p>
            </p:txBody>
          </p:sp>
        </mc:Choice>
        <mc:Fallback xmlns="">
          <p:sp>
            <p:nvSpPr>
              <p:cNvPr id="30" name="Espaço Reservado para Conteúdo 2">
                <a:extLst>
                  <a:ext uri="{FF2B5EF4-FFF2-40B4-BE49-F238E27FC236}">
                    <a16:creationId xmlns:a16="http://schemas.microsoft.com/office/drawing/2014/main" id="{A68A928B-DD8B-F78B-06A0-1D671AB368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83521" y="1835801"/>
                <a:ext cx="4062516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A2778DEE-FCD1-EAA3-ADB5-A68651E9DFC5}"/>
              </a:ext>
            </a:extLst>
          </p:cNvPr>
          <p:cNvCxnSpPr>
            <a:cxnSpLocks/>
          </p:cNvCxnSpPr>
          <p:nvPr/>
        </p:nvCxnSpPr>
        <p:spPr>
          <a:xfrm flipV="1">
            <a:off x="2472776" y="4654495"/>
            <a:ext cx="1482780" cy="9319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2F980E4-512C-D1EE-6C5B-F43A1169E4FD}"/>
              </a:ext>
            </a:extLst>
          </p:cNvPr>
          <p:cNvCxnSpPr>
            <a:cxnSpLocks/>
          </p:cNvCxnSpPr>
          <p:nvPr/>
        </p:nvCxnSpPr>
        <p:spPr>
          <a:xfrm>
            <a:off x="1240821" y="2895545"/>
            <a:ext cx="971605" cy="243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A5AA5B6-DA2F-D961-FDE4-451271AD8BC8}"/>
              </a:ext>
            </a:extLst>
          </p:cNvPr>
          <p:cNvSpPr txBox="1"/>
          <p:nvPr/>
        </p:nvSpPr>
        <p:spPr>
          <a:xfrm>
            <a:off x="1206405" y="369292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9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B7D5DB8-923C-39C1-CCE5-1C8967CBEB77}"/>
              </a:ext>
            </a:extLst>
          </p:cNvPr>
          <p:cNvSpPr txBox="1"/>
          <p:nvPr/>
        </p:nvSpPr>
        <p:spPr>
          <a:xfrm>
            <a:off x="1314663" y="412207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</p:spTree>
    <p:extLst>
      <p:ext uri="{BB962C8B-B14F-4D97-AF65-F5344CB8AC3E}">
        <p14:creationId xmlns:p14="http://schemas.microsoft.com/office/powerpoint/2010/main" val="42018151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CBC85-6CD8-D781-FB5F-2D067DC2E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71CF1-2806-C2A4-2F74-F15813076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CF060F7-1B5F-67E4-0FB7-5CD02E1FE4A8}"/>
              </a:ext>
            </a:extLst>
          </p:cNvPr>
          <p:cNvSpPr/>
          <p:nvPr/>
        </p:nvSpPr>
        <p:spPr>
          <a:xfrm>
            <a:off x="796376" y="245110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B51E3BD-80FE-26BB-51E8-BD861336C819}"/>
              </a:ext>
            </a:extLst>
          </p:cNvPr>
          <p:cNvSpPr/>
          <p:nvPr/>
        </p:nvSpPr>
        <p:spPr>
          <a:xfrm>
            <a:off x="3628476" y="22272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00CD146-236C-7C03-4CD4-1C4DCA3A4D72}"/>
              </a:ext>
            </a:extLst>
          </p:cNvPr>
          <p:cNvSpPr/>
          <p:nvPr/>
        </p:nvSpPr>
        <p:spPr>
          <a:xfrm>
            <a:off x="3879301" y="421005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1166491-3302-4A33-67A1-FED80BE12D3B}"/>
              </a:ext>
            </a:extLst>
          </p:cNvPr>
          <p:cNvSpPr/>
          <p:nvPr/>
        </p:nvSpPr>
        <p:spPr>
          <a:xfrm>
            <a:off x="1952076" y="53260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E27A91A-041D-FE37-20A0-11C90E43AD6B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317076" y="2487613"/>
            <a:ext cx="2311400" cy="22383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210D32B-6581-CD7D-EE4E-083D6CC41BF7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3888826" y="2747963"/>
            <a:ext cx="250825" cy="14620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9A12DDD-8577-C540-F226-75C2253128CC}"/>
              </a:ext>
            </a:extLst>
          </p:cNvPr>
          <p:cNvSpPr txBox="1"/>
          <p:nvPr/>
        </p:nvSpPr>
        <p:spPr>
          <a:xfrm>
            <a:off x="443215" y="204525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Manaus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974A1CA0-F7F9-3F8D-B8C9-8C5643C21954}"/>
              </a:ext>
            </a:extLst>
          </p:cNvPr>
          <p:cNvSpPr txBox="1"/>
          <p:nvPr/>
        </p:nvSpPr>
        <p:spPr>
          <a:xfrm>
            <a:off x="3369709" y="1799595"/>
            <a:ext cx="103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Fortaleza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C214B0F-CF2B-5AFB-2DC5-0B3A512C571A}"/>
              </a:ext>
            </a:extLst>
          </p:cNvPr>
          <p:cNvSpPr txBox="1"/>
          <p:nvPr/>
        </p:nvSpPr>
        <p:spPr>
          <a:xfrm>
            <a:off x="1709620" y="581780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Campinas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42040BAB-CCAD-A63B-42C0-572B89A03CAB}"/>
              </a:ext>
            </a:extLst>
          </p:cNvPr>
          <p:cNvSpPr txBox="1"/>
          <p:nvPr/>
        </p:nvSpPr>
        <p:spPr>
          <a:xfrm>
            <a:off x="3843470" y="4753454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Salvador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6568A20-8226-DC65-C8B0-7D172E005461}"/>
              </a:ext>
            </a:extLst>
          </p:cNvPr>
          <p:cNvSpPr/>
          <p:nvPr/>
        </p:nvSpPr>
        <p:spPr>
          <a:xfrm>
            <a:off x="3690637" y="2303518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ACC4BD1-6644-E881-D050-1A9CAC00F4C5}"/>
              </a:ext>
            </a:extLst>
          </p:cNvPr>
          <p:cNvSpPr/>
          <p:nvPr/>
        </p:nvSpPr>
        <p:spPr>
          <a:xfrm>
            <a:off x="3943681" y="426970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76B0E67C-9335-4671-D74C-E74F0F6DCDB0}"/>
              </a:ext>
            </a:extLst>
          </p:cNvPr>
          <p:cNvSpPr/>
          <p:nvPr/>
        </p:nvSpPr>
        <p:spPr>
          <a:xfrm>
            <a:off x="2015631" y="5386304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5CC4E454-20FF-47B0-E19B-126E90C98008}"/>
              </a:ext>
            </a:extLst>
          </p:cNvPr>
          <p:cNvSpPr/>
          <p:nvPr/>
        </p:nvSpPr>
        <p:spPr>
          <a:xfrm>
            <a:off x="857946" y="252291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93C0075-9328-5139-F34A-B0DA45507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666" y="5093982"/>
            <a:ext cx="718350" cy="405419"/>
          </a:xfrm>
          <a:prstGeom prst="rect">
            <a:avLst/>
          </a:prstGeom>
        </p:spPr>
      </p:pic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A15B17B6-D031-68A0-D809-94934BD5D5E5}"/>
              </a:ext>
            </a:extLst>
          </p:cNvPr>
          <p:cNvCxnSpPr>
            <a:cxnSpLocks/>
          </p:cNvCxnSpPr>
          <p:nvPr/>
        </p:nvCxnSpPr>
        <p:spPr>
          <a:xfrm flipV="1">
            <a:off x="2472776" y="4654495"/>
            <a:ext cx="1482780" cy="9319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778CB86-CB8B-6E15-DAF3-1F00B9A64345}"/>
              </a:ext>
            </a:extLst>
          </p:cNvPr>
          <p:cNvCxnSpPr>
            <a:cxnSpLocks/>
          </p:cNvCxnSpPr>
          <p:nvPr/>
        </p:nvCxnSpPr>
        <p:spPr>
          <a:xfrm>
            <a:off x="1240821" y="2895545"/>
            <a:ext cx="971605" cy="24305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842CFB8E-3FCA-E0AD-8A56-8A3BE9A98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31" y="4567160"/>
            <a:ext cx="525031" cy="47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6934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407FD-8D2B-60E9-35C0-B69D50846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14FA7-0F2C-5DB1-7CAC-6BF8DEB0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25E7071-9EDE-2E27-E52D-70856C8986A5}"/>
              </a:ext>
            </a:extLst>
          </p:cNvPr>
          <p:cNvSpPr/>
          <p:nvPr/>
        </p:nvSpPr>
        <p:spPr>
          <a:xfrm>
            <a:off x="796376" y="245110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71CBC6B-4AE1-EE59-B2CE-2BC95B37BBB6}"/>
              </a:ext>
            </a:extLst>
          </p:cNvPr>
          <p:cNvSpPr/>
          <p:nvPr/>
        </p:nvSpPr>
        <p:spPr>
          <a:xfrm>
            <a:off x="3628476" y="22272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E921718-80B9-22CD-3CAF-00463EF23259}"/>
              </a:ext>
            </a:extLst>
          </p:cNvPr>
          <p:cNvSpPr/>
          <p:nvPr/>
        </p:nvSpPr>
        <p:spPr>
          <a:xfrm>
            <a:off x="3879301" y="4210050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D3E1887-05A4-C569-E764-F3F5B583BCA7}"/>
              </a:ext>
            </a:extLst>
          </p:cNvPr>
          <p:cNvSpPr/>
          <p:nvPr/>
        </p:nvSpPr>
        <p:spPr>
          <a:xfrm>
            <a:off x="1952076" y="532606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499E2CC-080C-3980-9603-4544823BDAAF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317076" y="2487613"/>
            <a:ext cx="2311400" cy="22383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8245DF04-D63B-71C4-7F74-FE5F25DEAC7C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3888826" y="2747963"/>
            <a:ext cx="250825" cy="14620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90D90735-2D64-764C-C004-E6B16E181104}"/>
              </a:ext>
            </a:extLst>
          </p:cNvPr>
          <p:cNvSpPr txBox="1"/>
          <p:nvPr/>
        </p:nvSpPr>
        <p:spPr>
          <a:xfrm>
            <a:off x="443215" y="204525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Manaus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D3D2776-C8E9-915F-28F2-9F1C27A5864B}"/>
              </a:ext>
            </a:extLst>
          </p:cNvPr>
          <p:cNvSpPr txBox="1"/>
          <p:nvPr/>
        </p:nvSpPr>
        <p:spPr>
          <a:xfrm>
            <a:off x="3369709" y="1799595"/>
            <a:ext cx="103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Fortaleza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FA10C21-EE04-55A0-6EE2-AFF41058D175}"/>
              </a:ext>
            </a:extLst>
          </p:cNvPr>
          <p:cNvSpPr txBox="1"/>
          <p:nvPr/>
        </p:nvSpPr>
        <p:spPr>
          <a:xfrm>
            <a:off x="1709620" y="581780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Campinas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F967EC40-172A-AF4A-CD3C-55D884FDD3B3}"/>
              </a:ext>
            </a:extLst>
          </p:cNvPr>
          <p:cNvSpPr txBox="1"/>
          <p:nvPr/>
        </p:nvSpPr>
        <p:spPr>
          <a:xfrm>
            <a:off x="3843470" y="4753454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Salvador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50D917D-E732-718C-36B8-20E3CE73BFE7}"/>
              </a:ext>
            </a:extLst>
          </p:cNvPr>
          <p:cNvSpPr/>
          <p:nvPr/>
        </p:nvSpPr>
        <p:spPr>
          <a:xfrm>
            <a:off x="3690637" y="2303518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76934154-24B7-360B-0AB7-607EEAAAB9A1}"/>
              </a:ext>
            </a:extLst>
          </p:cNvPr>
          <p:cNvSpPr/>
          <p:nvPr/>
        </p:nvSpPr>
        <p:spPr>
          <a:xfrm>
            <a:off x="3943681" y="426970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D9C6C3FE-655B-E444-A580-FE97297C3E22}"/>
              </a:ext>
            </a:extLst>
          </p:cNvPr>
          <p:cNvSpPr/>
          <p:nvPr/>
        </p:nvSpPr>
        <p:spPr>
          <a:xfrm>
            <a:off x="2015631" y="5386304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59E6727E-077F-AA44-0794-36DEEC876751}"/>
              </a:ext>
            </a:extLst>
          </p:cNvPr>
          <p:cNvSpPr/>
          <p:nvPr/>
        </p:nvSpPr>
        <p:spPr>
          <a:xfrm>
            <a:off x="857946" y="2522919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8BE7349-6507-EBE5-0B4A-17863991F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666" y="5093982"/>
            <a:ext cx="718350" cy="405419"/>
          </a:xfrm>
          <a:prstGeom prst="rect">
            <a:avLst/>
          </a:prstGeom>
        </p:spPr>
      </p:pic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1ADEB3DE-67B7-22C5-FDA8-4EE8CC06C491}"/>
              </a:ext>
            </a:extLst>
          </p:cNvPr>
          <p:cNvCxnSpPr>
            <a:cxnSpLocks/>
          </p:cNvCxnSpPr>
          <p:nvPr/>
        </p:nvCxnSpPr>
        <p:spPr>
          <a:xfrm flipV="1">
            <a:off x="2472776" y="4654495"/>
            <a:ext cx="1482780" cy="9319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529138A1-7541-C036-64F7-8164E24A5250}"/>
              </a:ext>
            </a:extLst>
          </p:cNvPr>
          <p:cNvCxnSpPr>
            <a:cxnSpLocks/>
          </p:cNvCxnSpPr>
          <p:nvPr/>
        </p:nvCxnSpPr>
        <p:spPr>
          <a:xfrm>
            <a:off x="1240821" y="2895545"/>
            <a:ext cx="971605" cy="24305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AED85EC8-43DA-7783-6454-53C60505B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31" y="4567160"/>
            <a:ext cx="525031" cy="479322"/>
          </a:xfrm>
          <a:prstGeom prst="rect">
            <a:avLst/>
          </a:prstGeom>
        </p:spPr>
      </p:pic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CF0E284D-E6E7-75A5-4C2C-DC240B3A3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7031" y="1835801"/>
            <a:ext cx="4049005" cy="4351338"/>
          </a:xfrm>
        </p:spPr>
        <p:txBody>
          <a:bodyPr>
            <a:normAutofit/>
          </a:bodyPr>
          <a:lstStyle/>
          <a:p>
            <a:pPr algn="just"/>
            <a:r>
              <a:rPr lang="pt-BR" sz="2000" u="none" dirty="0"/>
              <a:t>No cenário ilustrado uma formiga saiu de Campinas em direção à cidade de Salvador, para então se dirigir a Fortaleza, Manaus e retornar à origem (Campinas).</a:t>
            </a:r>
          </a:p>
          <a:p>
            <a:pPr algn="just"/>
            <a:endParaRPr lang="pt-BR" sz="2000" u="none" dirty="0"/>
          </a:p>
          <a:p>
            <a:pPr algn="just"/>
            <a:r>
              <a:rPr lang="pt-BR" sz="2000" u="none" dirty="0"/>
              <a:t>Em seguida serão simuladas 4 formigas F1, F2, F3 e F4, cada um com seu trajeto específico.</a:t>
            </a:r>
          </a:p>
          <a:p>
            <a:pPr algn="just"/>
            <a:endParaRPr lang="pt-BR" sz="2000" u="none" dirty="0"/>
          </a:p>
          <a:p>
            <a:pPr algn="just"/>
            <a:r>
              <a:rPr lang="pt-BR" sz="2000" u="none" dirty="0"/>
              <a:t>Serão então definidos os impactos provenientes da adoção destes trajetos (mudança de feromônios)</a:t>
            </a:r>
          </a:p>
          <a:p>
            <a:pPr algn="just"/>
            <a:endParaRPr lang="pt-BR" sz="2000" u="none" dirty="0"/>
          </a:p>
          <a:p>
            <a:pPr algn="just"/>
            <a:endParaRPr lang="pt-BR" sz="2000" u="none" dirty="0"/>
          </a:p>
        </p:txBody>
      </p:sp>
    </p:spTree>
    <p:extLst>
      <p:ext uri="{BB962C8B-B14F-4D97-AF65-F5344CB8AC3E}">
        <p14:creationId xmlns:p14="http://schemas.microsoft.com/office/powerpoint/2010/main" val="24940748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F71F3A21-EE84-49A1-C695-7683B22A4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1737018"/>
            <a:ext cx="7435397" cy="25812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7EB9CF6-6E32-FF0C-118B-1C10D44B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67FB717-8163-472F-83C1-C34C6BA3856E}"/>
              </a:ext>
            </a:extLst>
          </p:cNvPr>
          <p:cNvSpPr/>
          <p:nvPr/>
        </p:nvSpPr>
        <p:spPr>
          <a:xfrm>
            <a:off x="862012" y="2386939"/>
            <a:ext cx="7379464" cy="1900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B57B903-5BCD-4354-8CB8-7A3C9D039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27165"/>
            <a:ext cx="2627447" cy="243083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8E807FA-3BC3-2BA6-C36F-83244CD789A1}"/>
              </a:ext>
            </a:extLst>
          </p:cNvPr>
          <p:cNvSpPr txBox="1"/>
          <p:nvPr/>
        </p:nvSpPr>
        <p:spPr>
          <a:xfrm>
            <a:off x="3690257" y="4637314"/>
            <a:ext cx="4082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gráfico mostra o resultado das probabilidades na próxima etapa, onde a formiga já está no ponto 4, podendo seguir para 2 ou 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2E9EBB-6830-646E-594E-C7BF27B080D0}"/>
              </a:ext>
            </a:extLst>
          </p:cNvPr>
          <p:cNvSpPr txBox="1"/>
          <p:nvPr/>
        </p:nvSpPr>
        <p:spPr>
          <a:xfrm>
            <a:off x="239094" y="2297275"/>
            <a:ext cx="35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781181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EC39E-57DF-CB67-28F3-659EE2C9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565ACC-D9E2-3D33-0F70-6700E47BC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37500"/>
            <a:ext cx="7886700" cy="4351338"/>
          </a:xfrm>
        </p:spPr>
        <p:txBody>
          <a:bodyPr>
            <a:normAutofit/>
          </a:bodyPr>
          <a:lstStyle/>
          <a:p>
            <a:r>
              <a:rPr lang="pt-BR" b="1" u="none" dirty="0"/>
              <a:t>Definição da Rotas</a:t>
            </a:r>
          </a:p>
          <a:p>
            <a:endParaRPr lang="pt-BR" u="none" dirty="0"/>
          </a:p>
          <a:p>
            <a:pPr algn="just"/>
            <a:r>
              <a:rPr lang="pt-BR" u="none" dirty="0"/>
              <a:t>Digamos que no sorteio a formiga F1 escolheu o caminho 2 (54,55% de chance)</a:t>
            </a:r>
          </a:p>
          <a:p>
            <a:pPr algn="just"/>
            <a:endParaRPr lang="pt-BR" u="none" dirty="0"/>
          </a:p>
          <a:p>
            <a:pPr algn="just"/>
            <a:r>
              <a:rPr lang="pt-BR" u="none" dirty="0"/>
              <a:t>*Nesse ponto, é importante destacar que as probabilidades são ajustadas, já que não pode voltar para a cidade 1 (ela é descontada do somatório)</a:t>
            </a:r>
          </a:p>
        </p:txBody>
      </p:sp>
    </p:spTree>
    <p:extLst>
      <p:ext uri="{BB962C8B-B14F-4D97-AF65-F5344CB8AC3E}">
        <p14:creationId xmlns:p14="http://schemas.microsoft.com/office/powerpoint/2010/main" val="16124032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6D8326E-E3D1-DF21-E2C9-0B34C61B0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1737018"/>
            <a:ext cx="7435397" cy="25812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7EB9CF6-6E32-FF0C-118B-1C10D44B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67FB717-8163-472F-83C1-C34C6BA3856E}"/>
              </a:ext>
            </a:extLst>
          </p:cNvPr>
          <p:cNvSpPr/>
          <p:nvPr/>
        </p:nvSpPr>
        <p:spPr>
          <a:xfrm>
            <a:off x="862012" y="2386939"/>
            <a:ext cx="7379464" cy="1900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B57B903-5BCD-4354-8CB8-7A3C9D039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081" y="4485808"/>
            <a:ext cx="2021837" cy="187054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0DF8CD40-B04D-42D8-BC99-ED0246FF2079}"/>
              </a:ext>
            </a:extLst>
          </p:cNvPr>
          <p:cNvSpPr/>
          <p:nvPr/>
        </p:nvSpPr>
        <p:spPr>
          <a:xfrm>
            <a:off x="862012" y="3906928"/>
            <a:ext cx="7379464" cy="1900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B2B6DC-1615-40C7-A49F-480B01B4FE31}"/>
              </a:ext>
            </a:extLst>
          </p:cNvPr>
          <p:cNvSpPr txBox="1"/>
          <p:nvPr/>
        </p:nvSpPr>
        <p:spPr>
          <a:xfrm>
            <a:off x="239094" y="2297275"/>
            <a:ext cx="35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7809E81-3992-056D-6B49-81641BFD5167}"/>
              </a:ext>
            </a:extLst>
          </p:cNvPr>
          <p:cNvSpPr txBox="1"/>
          <p:nvPr/>
        </p:nvSpPr>
        <p:spPr>
          <a:xfrm>
            <a:off x="233333" y="3822062"/>
            <a:ext cx="35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328900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01F86276-7246-3D70-9DD2-D9547C2DA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1737018"/>
            <a:ext cx="7435397" cy="25812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7EB9CF6-6E32-FF0C-118B-1C10D44B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67FB717-8163-472F-83C1-C34C6BA3856E}"/>
              </a:ext>
            </a:extLst>
          </p:cNvPr>
          <p:cNvSpPr/>
          <p:nvPr/>
        </p:nvSpPr>
        <p:spPr>
          <a:xfrm>
            <a:off x="862012" y="2386939"/>
            <a:ext cx="7379464" cy="1900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DF8CD40-B04D-42D8-BC99-ED0246FF2079}"/>
              </a:ext>
            </a:extLst>
          </p:cNvPr>
          <p:cNvSpPr/>
          <p:nvPr/>
        </p:nvSpPr>
        <p:spPr>
          <a:xfrm>
            <a:off x="862012" y="3906928"/>
            <a:ext cx="7379464" cy="1900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264C261-474B-4F16-970A-6823CB42098A}"/>
              </a:ext>
            </a:extLst>
          </p:cNvPr>
          <p:cNvSpPr/>
          <p:nvPr/>
        </p:nvSpPr>
        <p:spPr>
          <a:xfrm>
            <a:off x="862012" y="2781651"/>
            <a:ext cx="7379464" cy="1900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F9AACA6-DC69-BA23-9728-CD13A3FCFDED}"/>
              </a:ext>
            </a:extLst>
          </p:cNvPr>
          <p:cNvSpPr txBox="1"/>
          <p:nvPr/>
        </p:nvSpPr>
        <p:spPr>
          <a:xfrm>
            <a:off x="239094" y="2297275"/>
            <a:ext cx="35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3A85943-8C16-0AE5-AE86-8B60D3E98273}"/>
              </a:ext>
            </a:extLst>
          </p:cNvPr>
          <p:cNvSpPr txBox="1"/>
          <p:nvPr/>
        </p:nvSpPr>
        <p:spPr>
          <a:xfrm>
            <a:off x="233333" y="3822062"/>
            <a:ext cx="35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B381540-36C4-0E86-28F0-84642BC3FC8F}"/>
              </a:ext>
            </a:extLst>
          </p:cNvPr>
          <p:cNvSpPr txBox="1"/>
          <p:nvPr/>
        </p:nvSpPr>
        <p:spPr>
          <a:xfrm>
            <a:off x="241381" y="2666607"/>
            <a:ext cx="35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927152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EC39E-57DF-CB67-28F3-659EE2C9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565ACC-D9E2-3D33-0F70-6700E47BC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37500"/>
            <a:ext cx="7886700" cy="4351338"/>
          </a:xfrm>
        </p:spPr>
        <p:txBody>
          <a:bodyPr>
            <a:normAutofit/>
          </a:bodyPr>
          <a:lstStyle/>
          <a:p>
            <a:r>
              <a:rPr lang="pt-BR" b="1" u="none" dirty="0"/>
              <a:t>Definição da Rotas</a:t>
            </a:r>
          </a:p>
          <a:p>
            <a:endParaRPr lang="pt-BR" u="none" dirty="0"/>
          </a:p>
          <a:p>
            <a:pPr algn="just"/>
            <a:r>
              <a:rPr lang="pt-BR" u="none" dirty="0"/>
              <a:t>No próximo passo, F1 está no ponto 2 (saiu de 1 até 4 e do ponto 4 até 2)</a:t>
            </a:r>
          </a:p>
          <a:p>
            <a:pPr algn="just"/>
            <a:endParaRPr lang="pt-BR" u="none" dirty="0"/>
          </a:p>
          <a:p>
            <a:pPr algn="just"/>
            <a:r>
              <a:rPr lang="pt-BR" u="none" dirty="0"/>
              <a:t>Agora resta apenas o trajeto de 2 até 3...</a:t>
            </a:r>
          </a:p>
          <a:p>
            <a:pPr algn="just"/>
            <a:endParaRPr lang="pt-BR" u="none" dirty="0"/>
          </a:p>
          <a:p>
            <a:pPr algn="just"/>
            <a:r>
              <a:rPr lang="pt-BR" u="none" dirty="0"/>
              <a:t>F1: 1</a:t>
            </a:r>
            <a:r>
              <a:rPr lang="pt-BR" u="none" dirty="0">
                <a:sym typeface="Wingdings" panose="05000000000000000000" pitchFamily="2" charset="2"/>
              </a:rPr>
              <a:t> 4  2  3  1</a:t>
            </a:r>
            <a:endParaRPr lang="pt-BR" u="none" dirty="0"/>
          </a:p>
        </p:txBody>
      </p:sp>
    </p:spTree>
    <p:extLst>
      <p:ext uri="{BB962C8B-B14F-4D97-AF65-F5344CB8AC3E}">
        <p14:creationId xmlns:p14="http://schemas.microsoft.com/office/powerpoint/2010/main" val="39091205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C2C8F1-E36F-F973-783A-C7B7E435A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D1ECDC2-393D-E6EF-FA16-2601147A5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2152650"/>
            <a:ext cx="7435397" cy="2581200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8663F797-1558-25A3-58D2-34386A423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37500"/>
            <a:ext cx="7886700" cy="4351338"/>
          </a:xfrm>
        </p:spPr>
        <p:txBody>
          <a:bodyPr>
            <a:normAutofit/>
          </a:bodyPr>
          <a:lstStyle/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sz="2400" u="none" dirty="0"/>
          </a:p>
          <a:p>
            <a:pPr algn="just"/>
            <a:r>
              <a:rPr lang="pt-BR" sz="2400" u="none" dirty="0"/>
              <a:t>F1: 1</a:t>
            </a:r>
            <a:r>
              <a:rPr lang="pt-BR" sz="2400" u="none" dirty="0">
                <a:sym typeface="Wingdings" panose="05000000000000000000" pitchFamily="2" charset="2"/>
              </a:rPr>
              <a:t> 4  2  3  1</a:t>
            </a:r>
          </a:p>
        </p:txBody>
      </p:sp>
    </p:spTree>
    <p:extLst>
      <p:ext uri="{BB962C8B-B14F-4D97-AF65-F5344CB8AC3E}">
        <p14:creationId xmlns:p14="http://schemas.microsoft.com/office/powerpoint/2010/main" val="42632304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C2C8F1-E36F-F973-783A-C7B7E435A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CAEFDFBD-1A42-32F4-9FDD-D06A4055EA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7500"/>
                <a:ext cx="7886700" cy="4351338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sz="2400" u="none" dirty="0"/>
              </a:p>
              <a:p>
                <a:pPr algn="just"/>
                <a:r>
                  <a:rPr lang="pt-BR" sz="2400" u="none" dirty="0"/>
                  <a:t>F1: 1</a:t>
                </a:r>
                <a:r>
                  <a:rPr lang="pt-BR" sz="2400" u="none" dirty="0">
                    <a:sym typeface="Wingdings" panose="05000000000000000000" pitchFamily="2" charset="2"/>
                  </a:rPr>
                  <a:t> 4  2  3  1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u="none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pt-BR" sz="2400" b="0" i="1" u="none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e>
                      <m:sub>
                        <m:r>
                          <a:rPr lang="pt-BR" sz="2400" b="0" i="1" u="none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pt-BR" sz="2400" b="0" i="1" u="none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=2+5+1+7=</m:t>
                    </m:r>
                  </m:oMath>
                </a14:m>
                <a:r>
                  <a:rPr lang="pt-BR" sz="2400" u="none" dirty="0">
                    <a:sym typeface="Wingdings" panose="05000000000000000000" pitchFamily="2" charset="2"/>
                  </a:rPr>
                  <a:t>15 </a:t>
                </a:r>
                <a:endParaRPr lang="pt-BR" sz="2400" u="none" dirty="0"/>
              </a:p>
            </p:txBody>
          </p:sp>
        </mc:Choice>
        <mc:Fallback xmlns="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CAEFDFBD-1A42-32F4-9FDD-D06A4055EA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7500"/>
                <a:ext cx="7886700" cy="4351338"/>
              </a:xfrm>
              <a:blipFill>
                <a:blip r:embed="rId2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m 7">
            <a:extLst>
              <a:ext uri="{FF2B5EF4-FFF2-40B4-BE49-F238E27FC236}">
                <a16:creationId xmlns:a16="http://schemas.microsoft.com/office/drawing/2014/main" id="{CC1920DE-F4FF-6830-66A5-F1F9D94AB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25" y="2152650"/>
            <a:ext cx="7435397" cy="25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98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B283D-DC6D-35EC-6D90-8BE85DE7C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3C44D1D-F735-0A99-1846-BF74F709B3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pt-BR" u="none" dirty="0"/>
                  <a:t>Contribuição F1</a:t>
                </a:r>
                <a:endParaRPr lang="pt-BR" sz="2100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1,4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=0,6667</m:t>
                      </m:r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4,2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=0,6667</m:t>
                      </m:r>
                    </m:oMath>
                  </m:oMathPara>
                </a14:m>
                <a:endParaRPr lang="pt-BR" sz="2100" b="0" u="none" dirty="0">
                  <a:ea typeface="Cambria Math" panose="02040503050406030204" pitchFamily="18" charset="0"/>
                </a:endParaRPr>
              </a:p>
              <a:p>
                <a:endParaRPr lang="pt-BR" sz="2100" b="0" u="none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2,3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=0,6667</m:t>
                      </m:r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3,1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=0,6667</m:t>
                      </m:r>
                    </m:oMath>
                  </m:oMathPara>
                </a14:m>
                <a:endParaRPr lang="pt-BR" sz="2100" dirty="0"/>
              </a:p>
              <a:p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3C44D1D-F735-0A99-1846-BF74F709B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35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63FBC93D-68AB-EA1B-B37A-1F96F1445220}"/>
              </a:ext>
            </a:extLst>
          </p:cNvPr>
          <p:cNvSpPr txBox="1"/>
          <p:nvPr/>
        </p:nvSpPr>
        <p:spPr>
          <a:xfrm>
            <a:off x="435788" y="3687439"/>
            <a:ext cx="2231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solidFill>
                  <a:srgbClr val="FF0000"/>
                </a:solidFill>
              </a:rPr>
              <a:t>Calculando quanto a formiga F1 vai deixar de feromônio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BA57D4-0E1B-45C1-CBE9-AB7BF0E8AF5A}"/>
              </a:ext>
            </a:extLst>
          </p:cNvPr>
          <p:cNvSpPr txBox="1"/>
          <p:nvPr/>
        </p:nvSpPr>
        <p:spPr>
          <a:xfrm>
            <a:off x="6476217" y="3539629"/>
            <a:ext cx="2319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solidFill>
                  <a:srgbClr val="FF0000"/>
                </a:solidFill>
              </a:rPr>
              <a:t>A formiga deposita feromônio apenas nas arestas que percorrer!</a:t>
            </a:r>
          </a:p>
        </p:txBody>
      </p:sp>
      <p:pic>
        <p:nvPicPr>
          <p:cNvPr id="11" name="Imagem 10" descr="Ícone&#10;&#10;Descrição gerada automaticamente">
            <a:extLst>
              <a:ext uri="{FF2B5EF4-FFF2-40B4-BE49-F238E27FC236}">
                <a16:creationId xmlns:a16="http://schemas.microsoft.com/office/drawing/2014/main" id="{93E06724-BE2F-D8A4-EB79-132BCD0428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740" y="2442077"/>
            <a:ext cx="975031" cy="876294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CCD49D1-E06F-9378-7364-BD73B30F166A}"/>
              </a:ext>
            </a:extLst>
          </p:cNvPr>
          <p:cNvSpPr txBox="1"/>
          <p:nvPr/>
        </p:nvSpPr>
        <p:spPr>
          <a:xfrm>
            <a:off x="4572000" y="1421095"/>
            <a:ext cx="871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Q → define a intensidade base de feromônio.</a:t>
            </a:r>
          </a:p>
          <a:p>
            <a:r>
              <a:rPr lang="pt-BR" dirty="0"/>
              <a:t>dₖ → é o custo total da rota da formiga.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E2020B4-53AC-10A8-6DE4-DB887DFDD35F}"/>
              </a:ext>
            </a:extLst>
          </p:cNvPr>
          <p:cNvSpPr txBox="1"/>
          <p:nvPr/>
        </p:nvSpPr>
        <p:spPr>
          <a:xfrm>
            <a:off x="6228" y="4651736"/>
            <a:ext cx="32330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 o caminho for curto (dₖ pequeno), o resultado (</a:t>
            </a:r>
            <a:r>
              <a:rPr lang="pt-BR" dirty="0" err="1"/>
              <a:t>Δτ</a:t>
            </a:r>
            <a:r>
              <a:rPr lang="pt-BR" dirty="0"/>
              <a:t>) é maior → a formiga “recompensa” um bom caminho.</a:t>
            </a:r>
          </a:p>
          <a:p>
            <a:r>
              <a:rPr lang="pt-BR" dirty="0"/>
              <a:t>Se o caminho for longo, o resultado é menor → pouco feromônio, rota menos atrativa.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9F6409C-C6CE-2FDC-70CE-777A272FB3DF}"/>
              </a:ext>
            </a:extLst>
          </p:cNvPr>
          <p:cNvSpPr txBox="1"/>
          <p:nvPr/>
        </p:nvSpPr>
        <p:spPr>
          <a:xfrm>
            <a:off x="6340583" y="5094922"/>
            <a:ext cx="25911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Q = 10 é puramente um exemplo didático para simplificar os cálculos e manter os números legíveis.</a:t>
            </a:r>
          </a:p>
        </p:txBody>
      </p:sp>
    </p:spTree>
    <p:extLst>
      <p:ext uri="{BB962C8B-B14F-4D97-AF65-F5344CB8AC3E}">
        <p14:creationId xmlns:p14="http://schemas.microsoft.com/office/powerpoint/2010/main" val="41390904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63BC96AC-5955-3CF1-240B-E711AA203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1737018"/>
            <a:ext cx="7435397" cy="2581200"/>
          </a:xfrm>
          <a:prstGeom prst="rect">
            <a:avLst/>
          </a:prstGeom>
        </p:spPr>
      </p:pic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A9471362-D45F-6F55-2589-78221F079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37500"/>
            <a:ext cx="7886700" cy="4351338"/>
          </a:xfrm>
        </p:spPr>
        <p:txBody>
          <a:bodyPr>
            <a:normAutofit/>
          </a:bodyPr>
          <a:lstStyle/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sz="24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BC587F-8C08-5A3C-D37F-B8507965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00E47D6-0BCE-4370-A3A2-E97416BBA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098" y="4736834"/>
            <a:ext cx="1665804" cy="1628510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14B2F38C-6260-1248-CAA9-136D51F3A707}"/>
              </a:ext>
            </a:extLst>
          </p:cNvPr>
          <p:cNvSpPr/>
          <p:nvPr/>
        </p:nvSpPr>
        <p:spPr>
          <a:xfrm>
            <a:off x="862011" y="2762601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A5FE065-9B8E-10E1-9DA0-D443C794036B}"/>
              </a:ext>
            </a:extLst>
          </p:cNvPr>
          <p:cNvSpPr txBox="1"/>
          <p:nvPr/>
        </p:nvSpPr>
        <p:spPr>
          <a:xfrm>
            <a:off x="628650" y="5078186"/>
            <a:ext cx="1665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Formiga 2</a:t>
            </a:r>
          </a:p>
        </p:txBody>
      </p:sp>
    </p:spTree>
    <p:extLst>
      <p:ext uri="{BB962C8B-B14F-4D97-AF65-F5344CB8AC3E}">
        <p14:creationId xmlns:p14="http://schemas.microsoft.com/office/powerpoint/2010/main" val="22370941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D39AC6B-5F5A-B220-246C-811D74855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1737018"/>
            <a:ext cx="7435397" cy="2581200"/>
          </a:xfrm>
          <a:prstGeom prst="rect">
            <a:avLst/>
          </a:prstGeom>
        </p:spPr>
      </p:pic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A9471362-D45F-6F55-2589-78221F079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37500"/>
            <a:ext cx="7886700" cy="4351338"/>
          </a:xfrm>
        </p:spPr>
        <p:txBody>
          <a:bodyPr>
            <a:normAutofit/>
          </a:bodyPr>
          <a:lstStyle/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sz="24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BC587F-8C08-5A3C-D37F-B8507965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BEC3CCF-3A5C-C495-0CAD-732C330065B2}"/>
              </a:ext>
            </a:extLst>
          </p:cNvPr>
          <p:cNvSpPr/>
          <p:nvPr/>
        </p:nvSpPr>
        <p:spPr>
          <a:xfrm>
            <a:off x="862011" y="2762601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8B26F79-F9A4-8548-7526-9828F3C9D818}"/>
              </a:ext>
            </a:extLst>
          </p:cNvPr>
          <p:cNvSpPr/>
          <p:nvPr/>
        </p:nvSpPr>
        <p:spPr>
          <a:xfrm>
            <a:off x="862011" y="3140271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141077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7BA69151-18C7-F86B-92D5-B0E421CB3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1737018"/>
            <a:ext cx="7435397" cy="2581200"/>
          </a:xfrm>
          <a:prstGeom prst="rect">
            <a:avLst/>
          </a:prstGeom>
        </p:spPr>
      </p:pic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A9471362-D45F-6F55-2589-78221F079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37500"/>
            <a:ext cx="7886700" cy="4351338"/>
          </a:xfrm>
        </p:spPr>
        <p:txBody>
          <a:bodyPr>
            <a:normAutofit/>
          </a:bodyPr>
          <a:lstStyle/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u="none" dirty="0"/>
          </a:p>
          <a:p>
            <a:pPr algn="just"/>
            <a:endParaRPr lang="pt-BR" sz="24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BC587F-8C08-5A3C-D37F-B8507965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DE1E161-4793-A86E-A77C-1EF8E48A0B8E}"/>
              </a:ext>
            </a:extLst>
          </p:cNvPr>
          <p:cNvSpPr/>
          <p:nvPr/>
        </p:nvSpPr>
        <p:spPr>
          <a:xfrm>
            <a:off x="862011" y="2762601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157024E-B8D7-DF6B-1727-FA3A2F1DF601}"/>
              </a:ext>
            </a:extLst>
          </p:cNvPr>
          <p:cNvSpPr/>
          <p:nvPr/>
        </p:nvSpPr>
        <p:spPr>
          <a:xfrm>
            <a:off x="862011" y="3140271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55ED7E5-9ACE-6F2B-4205-FADF0DDF89FB}"/>
              </a:ext>
            </a:extLst>
          </p:cNvPr>
          <p:cNvSpPr/>
          <p:nvPr/>
        </p:nvSpPr>
        <p:spPr>
          <a:xfrm>
            <a:off x="863164" y="2382659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1276987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Espaço Reservado para Conteúdo 2">
                <a:extLst>
                  <a:ext uri="{FF2B5EF4-FFF2-40B4-BE49-F238E27FC236}">
                    <a16:creationId xmlns:a16="http://schemas.microsoft.com/office/drawing/2014/main" id="{A9471362-D45F-6F55-2589-78221F079D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7500"/>
                <a:ext cx="7886700" cy="4351338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sz="2400" u="none" dirty="0"/>
              </a:p>
              <a:p>
                <a:pPr algn="just"/>
                <a:r>
                  <a:rPr lang="pt-BR" sz="2400" u="none" dirty="0"/>
                  <a:t>F2: 2</a:t>
                </a:r>
                <a:r>
                  <a:rPr lang="pt-BR" sz="2400" u="none" dirty="0">
                    <a:sym typeface="Wingdings" panose="05000000000000000000" pitchFamily="2" charset="2"/>
                  </a:rPr>
                  <a:t> 3  1  4  2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u="none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pt-BR" sz="2400" b="0" i="1" u="none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e>
                      <m:sub>
                        <m:r>
                          <a:rPr lang="pt-BR" sz="2400" b="0" i="1" u="none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pt-BR" sz="2400" b="0" i="1" u="none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=1+7+2+5=</m:t>
                    </m:r>
                  </m:oMath>
                </a14:m>
                <a:r>
                  <a:rPr lang="pt-BR" sz="2400" u="none" dirty="0">
                    <a:sym typeface="Wingdings" panose="05000000000000000000" pitchFamily="2" charset="2"/>
                  </a:rPr>
                  <a:t>15 </a:t>
                </a:r>
                <a:endParaRPr lang="pt-BR" sz="2400" u="none" dirty="0"/>
              </a:p>
            </p:txBody>
          </p:sp>
        </mc:Choice>
        <mc:Fallback xmlns="">
          <p:sp>
            <p:nvSpPr>
              <p:cNvPr id="9" name="Espaço Reservado para Conteúdo 2">
                <a:extLst>
                  <a:ext uri="{FF2B5EF4-FFF2-40B4-BE49-F238E27FC236}">
                    <a16:creationId xmlns:a16="http://schemas.microsoft.com/office/drawing/2014/main" id="{A9471362-D45F-6F55-2589-78221F079D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7500"/>
                <a:ext cx="7886700" cy="4351338"/>
              </a:xfrm>
              <a:blipFill>
                <a:blip r:embed="rId2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>
            <a:extLst>
              <a:ext uri="{FF2B5EF4-FFF2-40B4-BE49-F238E27FC236}">
                <a16:creationId xmlns:a16="http://schemas.microsoft.com/office/drawing/2014/main" id="{24BC587F-8C08-5A3C-D37F-B8507965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13F14B7-9F83-6439-92E5-53CB75894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25" y="2152650"/>
            <a:ext cx="7435397" cy="2581200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B8A472E2-5E82-8BF1-FB11-F48EF883C749}"/>
              </a:ext>
            </a:extLst>
          </p:cNvPr>
          <p:cNvCxnSpPr/>
          <p:nvPr/>
        </p:nvCxnSpPr>
        <p:spPr>
          <a:xfrm>
            <a:off x="314960" y="4450080"/>
            <a:ext cx="88392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DB04DB-BC71-82A5-CF00-E544806ACD18}"/>
              </a:ext>
            </a:extLst>
          </p:cNvPr>
          <p:cNvSpPr txBox="1"/>
          <p:nvPr/>
        </p:nvSpPr>
        <p:spPr>
          <a:xfrm>
            <a:off x="28735" y="4080748"/>
            <a:ext cx="886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Correta</a:t>
            </a:r>
          </a:p>
        </p:txBody>
      </p:sp>
    </p:spTree>
    <p:extLst>
      <p:ext uri="{BB962C8B-B14F-4D97-AF65-F5344CB8AC3E}">
        <p14:creationId xmlns:p14="http://schemas.microsoft.com/office/powerpoint/2010/main" val="27114085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B283D-DC6D-35EC-6D90-8BE85DE7C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3C44D1D-F735-0A99-1846-BF74F709B3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pt-BR" sz="3400" u="none" dirty="0"/>
                  <a:t>Contribuição F2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2,3</m:t>
                          </m:r>
                        </m:sub>
                        <m:sup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=0,6667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3,1</m:t>
                          </m:r>
                        </m:sub>
                        <m:sup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pt-BR" sz="2400" i="1" u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</m:t>
                      </m:r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6667</m:t>
                      </m:r>
                    </m:oMath>
                  </m:oMathPara>
                </a14:m>
                <a:endParaRPr lang="pt-BR" sz="2400" b="0" u="none" dirty="0">
                  <a:ea typeface="Cambria Math" panose="02040503050406030204" pitchFamily="18" charset="0"/>
                </a:endParaRPr>
              </a:p>
              <a:p>
                <a:endParaRPr lang="pt-BR" sz="2400" b="0" u="none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1,4</m:t>
                          </m:r>
                        </m:sub>
                        <m:sup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pt-BR" sz="2400" i="1" u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</m:t>
                      </m:r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6667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4,2</m:t>
                          </m:r>
                        </m:sub>
                        <m:sup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pt-BR" sz="2400" i="1" u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</m:t>
                      </m:r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6667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3C44D1D-F735-0A99-1846-BF74F709B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5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73D19EB2-8693-E23C-BDC0-6D4D2E6F863A}"/>
              </a:ext>
            </a:extLst>
          </p:cNvPr>
          <p:cNvSpPr txBox="1"/>
          <p:nvPr/>
        </p:nvSpPr>
        <p:spPr>
          <a:xfrm>
            <a:off x="435788" y="3687439"/>
            <a:ext cx="2231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solidFill>
                  <a:srgbClr val="FF0000"/>
                </a:solidFill>
              </a:rPr>
              <a:t>Calculando quanto a formiga F2 vai deixar de feromônio</a:t>
            </a:r>
          </a:p>
        </p:txBody>
      </p:sp>
    </p:spTree>
    <p:extLst>
      <p:ext uri="{BB962C8B-B14F-4D97-AF65-F5344CB8AC3E}">
        <p14:creationId xmlns:p14="http://schemas.microsoft.com/office/powerpoint/2010/main" val="10395383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B9CF6-6E32-FF0C-118B-1C10D44B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1E8C98-4D45-4BE4-BA7E-283A6A148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311" y="4832206"/>
            <a:ext cx="1825027" cy="178462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B977EBA-9972-9396-A946-0243A14BE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25" y="1737018"/>
            <a:ext cx="7435397" cy="258120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C761BA68-9535-DB73-D2B4-8F5E35EC05CC}"/>
              </a:ext>
            </a:extLst>
          </p:cNvPr>
          <p:cNvSpPr/>
          <p:nvPr/>
        </p:nvSpPr>
        <p:spPr>
          <a:xfrm>
            <a:off x="862011" y="3546374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7C5C0D6-B9DF-1935-C7D0-49F79F8376B8}"/>
              </a:ext>
            </a:extLst>
          </p:cNvPr>
          <p:cNvSpPr txBox="1"/>
          <p:nvPr/>
        </p:nvSpPr>
        <p:spPr>
          <a:xfrm>
            <a:off x="1755321" y="553104"/>
            <a:ext cx="1665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Formiga 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0BCDA60-FCA4-9AF2-F68A-2A1B3CCB62CB}"/>
              </a:ext>
            </a:extLst>
          </p:cNvPr>
          <p:cNvSpPr txBox="1"/>
          <p:nvPr/>
        </p:nvSpPr>
        <p:spPr>
          <a:xfrm>
            <a:off x="6498771" y="4900506"/>
            <a:ext cx="2792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Escolha estocástica (aleatória)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B99E0C-4870-AB2D-3FAD-D89D9F270426}"/>
              </a:ext>
            </a:extLst>
          </p:cNvPr>
          <p:cNvSpPr txBox="1"/>
          <p:nvPr/>
        </p:nvSpPr>
        <p:spPr>
          <a:xfrm>
            <a:off x="0" y="4318218"/>
            <a:ext cx="41311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Esse comportamento é intencional, o algoritmo mistura exploração e exploração:</a:t>
            </a:r>
          </a:p>
          <a:p>
            <a:r>
              <a:rPr lang="pt-BR" dirty="0"/>
              <a:t>Exploração: tenta novos caminhos, mesmo que pareçam piores, para evitar ficar preso em soluções locais.</a:t>
            </a:r>
          </a:p>
          <a:p>
            <a:r>
              <a:rPr lang="pt-BR" dirty="0"/>
              <a:t>Explotação: segue os melhores caminhos (com mais feromônio e menor distância).</a:t>
            </a:r>
          </a:p>
        </p:txBody>
      </p:sp>
    </p:spTree>
    <p:extLst>
      <p:ext uri="{BB962C8B-B14F-4D97-AF65-F5344CB8AC3E}">
        <p14:creationId xmlns:p14="http://schemas.microsoft.com/office/powerpoint/2010/main" val="20170117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B9CF6-6E32-FF0C-118B-1C10D44B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EA50FD6-7A1F-1C0C-C824-4A80BF111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1737018"/>
            <a:ext cx="7435397" cy="2581200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710B9614-2C56-2A5F-4283-3D96AE5C2065}"/>
              </a:ext>
            </a:extLst>
          </p:cNvPr>
          <p:cNvSpPr/>
          <p:nvPr/>
        </p:nvSpPr>
        <p:spPr>
          <a:xfrm>
            <a:off x="862011" y="3546374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A67D67C-D303-8AE7-BB98-664C726A3FB0}"/>
              </a:ext>
            </a:extLst>
          </p:cNvPr>
          <p:cNvSpPr/>
          <p:nvPr/>
        </p:nvSpPr>
        <p:spPr>
          <a:xfrm>
            <a:off x="860984" y="3741189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7472792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B9CF6-6E32-FF0C-118B-1C10D44B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E8B84FC7-E924-2664-D6F4-37B422FDB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1737018"/>
            <a:ext cx="7435397" cy="2581200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6A89E78D-C810-68EF-C291-D1A24CB8341A}"/>
              </a:ext>
            </a:extLst>
          </p:cNvPr>
          <p:cNvSpPr/>
          <p:nvPr/>
        </p:nvSpPr>
        <p:spPr>
          <a:xfrm>
            <a:off x="862011" y="3546374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873EC75-EB29-0046-A245-28F8120A6077}"/>
              </a:ext>
            </a:extLst>
          </p:cNvPr>
          <p:cNvSpPr/>
          <p:nvPr/>
        </p:nvSpPr>
        <p:spPr>
          <a:xfrm>
            <a:off x="860984" y="3741189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3AC47E2-7AA7-CF3B-BBFD-51264C49F5B3}"/>
              </a:ext>
            </a:extLst>
          </p:cNvPr>
          <p:cNvSpPr/>
          <p:nvPr/>
        </p:nvSpPr>
        <p:spPr>
          <a:xfrm>
            <a:off x="860984" y="1980787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00633702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F54A2-9661-450B-BE9C-4B9664FF7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CD86E609-C09C-4A1F-AB02-482525D928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7500"/>
                <a:ext cx="78867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sz="2400" u="none" dirty="0"/>
              </a:p>
              <a:p>
                <a:pPr algn="just"/>
                <a:endParaRPr lang="pt-BR" sz="2400" u="none" dirty="0"/>
              </a:p>
              <a:p>
                <a:pPr algn="just"/>
                <a:r>
                  <a:rPr lang="pt-BR" sz="2400" u="none" dirty="0"/>
                  <a:t>F3: 3</a:t>
                </a:r>
                <a:r>
                  <a:rPr lang="pt-BR" sz="2400" u="none" dirty="0">
                    <a:sym typeface="Wingdings" panose="05000000000000000000" pitchFamily="2" charset="2"/>
                  </a:rPr>
                  <a:t> 4  1  2  3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u="none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pt-BR" sz="2400" b="0" i="1" u="none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e>
                      <m:sub>
                        <m:r>
                          <a:rPr lang="pt-BR" sz="2400" b="0" i="1" u="none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  <m:r>
                      <a:rPr lang="pt-BR" sz="2400" b="0" i="1" u="none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=6+2+9+1=18</m:t>
                    </m:r>
                  </m:oMath>
                </a14:m>
                <a:r>
                  <a:rPr lang="pt-BR" sz="2400" u="none" dirty="0">
                    <a:sym typeface="Wingdings" panose="05000000000000000000" pitchFamily="2" charset="2"/>
                  </a:rPr>
                  <a:t> </a:t>
                </a:r>
                <a:endParaRPr lang="pt-BR" sz="2400" u="none" dirty="0"/>
              </a:p>
            </p:txBody>
          </p:sp>
        </mc:Choice>
        <mc:Fallback xmlns="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CD86E609-C09C-4A1F-AB02-482525D92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7500"/>
                <a:ext cx="7886700" cy="4351338"/>
              </a:xfrm>
              <a:blipFill>
                <a:blip r:embed="rId2"/>
                <a:stretch>
                  <a:fillRect l="-100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m 8">
            <a:extLst>
              <a:ext uri="{FF2B5EF4-FFF2-40B4-BE49-F238E27FC236}">
                <a16:creationId xmlns:a16="http://schemas.microsoft.com/office/drawing/2014/main" id="{A0E40A5D-BF57-A865-1B64-75AA9D50A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25" y="2152650"/>
            <a:ext cx="7435397" cy="25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2820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B283D-DC6D-35EC-6D90-8BE85DE7C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3C44D1D-F735-0A99-1846-BF74F709B3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pt-BR" sz="3400" u="none" dirty="0"/>
                  <a:t>Contribuição F3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3,4</m:t>
                          </m:r>
                        </m:sub>
                        <m:sup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=0,5556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4,1</m:t>
                          </m:r>
                        </m:sub>
                        <m:sup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pt-BR" sz="2400" i="1" u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</m:t>
                      </m:r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555</m:t>
                      </m:r>
                      <m:r>
                        <a:rPr lang="pt-BR" sz="2400" i="1" u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pt-BR" sz="2400" b="0" u="none" dirty="0">
                  <a:ea typeface="Cambria Math" panose="02040503050406030204" pitchFamily="18" charset="0"/>
                </a:endParaRPr>
              </a:p>
              <a:p>
                <a:endParaRPr lang="pt-BR" sz="2400" b="0" u="none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1,2</m:t>
                          </m:r>
                        </m:sub>
                        <m:sup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pt-BR" sz="2400" i="1" u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</m:t>
                      </m:r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555</m:t>
                      </m:r>
                      <m:r>
                        <a:rPr lang="pt-BR" sz="2400" i="1" u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2,3</m:t>
                          </m:r>
                        </m:sub>
                        <m:sup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pt-BR" sz="2400" i="1" u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</m:t>
                      </m:r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555</m:t>
                      </m:r>
                      <m:r>
                        <a:rPr lang="pt-BR" sz="2400" i="1" u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3C44D1D-F735-0A99-1846-BF74F709B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5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034017FD-8E78-7128-2A72-59F27CD5607A}"/>
              </a:ext>
            </a:extLst>
          </p:cNvPr>
          <p:cNvSpPr txBox="1"/>
          <p:nvPr/>
        </p:nvSpPr>
        <p:spPr>
          <a:xfrm>
            <a:off x="435788" y="3687439"/>
            <a:ext cx="2231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solidFill>
                  <a:srgbClr val="FF0000"/>
                </a:solidFill>
              </a:rPr>
              <a:t>Calculando quanto a formiga F3 vai deixar de feromônio</a:t>
            </a:r>
          </a:p>
        </p:txBody>
      </p:sp>
    </p:spTree>
    <p:extLst>
      <p:ext uri="{BB962C8B-B14F-4D97-AF65-F5344CB8AC3E}">
        <p14:creationId xmlns:p14="http://schemas.microsoft.com/office/powerpoint/2010/main" val="20865169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37D7A-267F-42AD-B6DE-83324C15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839AACD-B275-4740-BEEC-01DE07C82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778" y="4590203"/>
            <a:ext cx="1922442" cy="18803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3829C72-FE39-532B-F4B3-4DA6541EE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25" y="1737018"/>
            <a:ext cx="7435397" cy="25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540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37D7A-267F-42AD-B6DE-83324C15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270F740-A13E-8875-33A5-E9AA7D996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1737018"/>
            <a:ext cx="7435397" cy="25812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3836895D-795E-C74C-9F8E-6B4353543C7C}"/>
              </a:ext>
            </a:extLst>
          </p:cNvPr>
          <p:cNvSpPr/>
          <p:nvPr/>
        </p:nvSpPr>
        <p:spPr>
          <a:xfrm>
            <a:off x="860984" y="4130216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3179871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37D7A-267F-42AD-B6DE-83324C15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2FD598F-02D9-8850-6998-506558F8E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1737018"/>
            <a:ext cx="7435397" cy="258120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19F0B9E3-8EED-422A-EC6A-141CC6EB14EB}"/>
              </a:ext>
            </a:extLst>
          </p:cNvPr>
          <p:cNvSpPr/>
          <p:nvPr/>
        </p:nvSpPr>
        <p:spPr>
          <a:xfrm>
            <a:off x="860984" y="4130216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8297C00-68DF-BD70-C045-D32218B58CD4}"/>
              </a:ext>
            </a:extLst>
          </p:cNvPr>
          <p:cNvSpPr/>
          <p:nvPr/>
        </p:nvSpPr>
        <p:spPr>
          <a:xfrm>
            <a:off x="859725" y="3158852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6910830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37D7A-267F-42AD-B6DE-83324C15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D6FE9438-F52D-4709-D85B-CC0EAF145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5" y="1737018"/>
            <a:ext cx="7435397" cy="2581200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D709450C-7E47-413D-8890-B4F1DBCDD31D}"/>
              </a:ext>
            </a:extLst>
          </p:cNvPr>
          <p:cNvSpPr/>
          <p:nvPr/>
        </p:nvSpPr>
        <p:spPr>
          <a:xfrm>
            <a:off x="860984" y="4130216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7A0E71B-7B4A-E3C0-6B16-8ACF2083BDE5}"/>
              </a:ext>
            </a:extLst>
          </p:cNvPr>
          <p:cNvSpPr/>
          <p:nvPr/>
        </p:nvSpPr>
        <p:spPr>
          <a:xfrm>
            <a:off x="859725" y="3158852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2253EE3-CE30-5A42-0ABC-155447E8E62C}"/>
              </a:ext>
            </a:extLst>
          </p:cNvPr>
          <p:cNvSpPr/>
          <p:nvPr/>
        </p:nvSpPr>
        <p:spPr>
          <a:xfrm>
            <a:off x="859724" y="1998285"/>
            <a:ext cx="7422263" cy="191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7274267-B5EC-2E1D-63AA-EF62E7DF56F0}"/>
              </a:ext>
            </a:extLst>
          </p:cNvPr>
          <p:cNvSpPr txBox="1"/>
          <p:nvPr/>
        </p:nvSpPr>
        <p:spPr>
          <a:xfrm>
            <a:off x="604157" y="4735286"/>
            <a:ext cx="82785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Mesmo que alguns caminhos tenham probabilidade menor, eles ainda podem ser escolhidos, e isso é (poder ser) proposital.</a:t>
            </a:r>
          </a:p>
          <a:p>
            <a:r>
              <a:rPr lang="pt-BR" dirty="0"/>
              <a:t>Esse mecanismo:</a:t>
            </a:r>
          </a:p>
          <a:p>
            <a:r>
              <a:rPr lang="pt-BR" dirty="0"/>
              <a:t>Evita que todas as formigas façam sempre o mesmo trajeto (exploração);</a:t>
            </a:r>
          </a:p>
          <a:p>
            <a:r>
              <a:rPr lang="pt-BR" dirty="0"/>
              <a:t>Permite que o algoritmo descubra novos caminhos curtos com o passar das iterações;</a:t>
            </a:r>
          </a:p>
          <a:p>
            <a:r>
              <a:rPr lang="pt-BR" dirty="0"/>
              <a:t>Aumenta a diversidade de soluções nas primeiras rodadas.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741493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57DE5-6706-4DB2-8377-110D3C2D4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8B57F284-A65A-4F7D-A620-96CCBCD80E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7500"/>
                <a:ext cx="7886700" cy="4351338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u="none" dirty="0"/>
              </a:p>
              <a:p>
                <a:pPr algn="just"/>
                <a:endParaRPr lang="pt-BR" sz="2400" u="none" dirty="0"/>
              </a:p>
              <a:p>
                <a:pPr algn="just"/>
                <a:r>
                  <a:rPr lang="pt-BR" sz="2400" u="none" dirty="0"/>
                  <a:t>F4: 4</a:t>
                </a:r>
                <a:r>
                  <a:rPr lang="pt-BR" sz="2400" u="none" dirty="0">
                    <a:sym typeface="Wingdings" panose="05000000000000000000" pitchFamily="2" charset="2"/>
                  </a:rPr>
                  <a:t> 3  1  2  4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u="none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pt-BR" sz="2400" b="0" i="1" u="none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e>
                      <m:sub>
                        <m:r>
                          <a:rPr lang="pt-BR" sz="2400" b="0" i="1" u="none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sub>
                    </m:sSub>
                    <m:r>
                      <a:rPr lang="pt-BR" sz="2400" b="0" i="1" u="none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=6+7+9+5=27</m:t>
                    </m:r>
                  </m:oMath>
                </a14:m>
                <a:r>
                  <a:rPr lang="pt-BR" sz="2400" u="none" dirty="0">
                    <a:sym typeface="Wingdings" panose="05000000000000000000" pitchFamily="2" charset="2"/>
                  </a:rPr>
                  <a:t>  </a:t>
                </a:r>
                <a:endParaRPr lang="pt-BR" sz="2400" u="none" dirty="0"/>
              </a:p>
            </p:txBody>
          </p:sp>
        </mc:Choice>
        <mc:Fallback xmlns="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8B57F284-A65A-4F7D-A620-96CCBCD80E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7500"/>
                <a:ext cx="7886700" cy="4351338"/>
              </a:xfrm>
              <a:blipFill>
                <a:blip r:embed="rId2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5CAC94DC-BA8B-4281-BA88-9B840DF82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25" y="2152650"/>
            <a:ext cx="7435397" cy="25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266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B283D-DC6D-35EC-6D90-8BE85DE7C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3C44D1D-F735-0A99-1846-BF74F709B3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pt-BR" u="none" dirty="0"/>
                  <a:t>Contribuição F4</a:t>
                </a:r>
                <a:endParaRPr lang="pt-BR" sz="2100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4,3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=0,3703</m:t>
                      </m:r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3,1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=0,3703</m:t>
                      </m:r>
                    </m:oMath>
                  </m:oMathPara>
                </a14:m>
                <a:endParaRPr lang="pt-BR" sz="2100" b="0" u="none" dirty="0">
                  <a:ea typeface="Cambria Math" panose="02040503050406030204" pitchFamily="18" charset="0"/>
                </a:endParaRPr>
              </a:p>
              <a:p>
                <a:endParaRPr lang="pt-BR" sz="2100" b="0" u="none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1,2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=0,3703</m:t>
                      </m:r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2,4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=0,3703</m:t>
                      </m:r>
                    </m:oMath>
                  </m:oMathPara>
                </a14:m>
                <a:endParaRPr lang="pt-BR" sz="2100" dirty="0"/>
              </a:p>
              <a:p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3C44D1D-F735-0A99-1846-BF74F709B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5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2740836B-BB16-7180-3E2C-4CE3D02A243C}"/>
              </a:ext>
            </a:extLst>
          </p:cNvPr>
          <p:cNvSpPr txBox="1"/>
          <p:nvPr/>
        </p:nvSpPr>
        <p:spPr>
          <a:xfrm>
            <a:off x="435788" y="3687439"/>
            <a:ext cx="2231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solidFill>
                  <a:srgbClr val="FF0000"/>
                </a:solidFill>
              </a:rPr>
              <a:t>Calculando quanto a formiga F4 vai deixar de feromônio</a:t>
            </a:r>
          </a:p>
        </p:txBody>
      </p:sp>
    </p:spTree>
    <p:extLst>
      <p:ext uri="{BB962C8B-B14F-4D97-AF65-F5344CB8AC3E}">
        <p14:creationId xmlns:p14="http://schemas.microsoft.com/office/powerpoint/2010/main" val="4423706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45130-2B21-4B17-A397-F2507A569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7BF71A-E3F5-4D6D-BAD0-A1DC40B0D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u="none" dirty="0"/>
              <a:t>Atualizando a matriz de feromônios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3FDE78-6343-48D5-D49A-CDBD938F7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904" y="2638425"/>
            <a:ext cx="6657853" cy="18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0621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45130-2B21-4B17-A397-F2507A569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7BF71A-E3F5-4D6D-BAD0-A1DC40B0D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u="none" dirty="0"/>
              <a:t>Atualizando a matriz de feromônios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4A62807-3914-D632-04C9-1F3E9A18B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902" y="2638425"/>
            <a:ext cx="6657853" cy="18828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6193A5B-C7C3-7BF7-D19D-CD6EF59ED9E8}"/>
              </a:ext>
            </a:extLst>
          </p:cNvPr>
          <p:cNvSpPr txBox="1"/>
          <p:nvPr/>
        </p:nvSpPr>
        <p:spPr>
          <a:xfrm>
            <a:off x="2269671" y="2237014"/>
            <a:ext cx="1453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Evaporação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EFEC255-3900-6ADB-0FDF-CF7958646D8B}"/>
                  </a:ext>
                </a:extLst>
              </p:cNvPr>
              <p:cNvSpPr txBox="1"/>
              <p:nvPr/>
            </p:nvSpPr>
            <p:spPr>
              <a:xfrm>
                <a:off x="1077685" y="4865914"/>
                <a:ext cx="78867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Evaporação</a:t>
                </a:r>
              </a:p>
              <a:p>
                <a:r>
                  <a:rPr lang="pt-BR" dirty="0"/>
                  <a:t>Como o valor inicial do feromônio era 0,1 e a taxa de evaporação é </a:t>
                </a:r>
                <a:r>
                  <a:rPr lang="el-GR" dirty="0"/>
                  <a:t>ρ = 0,01</a:t>
                </a:r>
                <a:r>
                  <a:rPr lang="pt-BR" dirty="0"/>
                  <a:t> (valor clássico)</a:t>
                </a:r>
                <a:r>
                  <a:rPr lang="el-GR" dirty="0"/>
                  <a:t>:</a:t>
                </a:r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ar-AE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ar-AE" b="0" smtClean="0">
                          <a:latin typeface="Cambria Math" panose="02040503050406030204" pitchFamily="18" charset="0"/>
                        </a:rPr>
                        <m:t>×0,1=0,099</m:t>
                      </m:r>
                    </m:oMath>
                  </m:oMathPara>
                </a14:m>
                <a:endParaRPr lang="pt-BR" dirty="0"/>
              </a:p>
              <a:p>
                <a:r>
                  <a:rPr lang="ar-AE" dirty="0"/>
                  <a:t> </a:t>
                </a:r>
                <a:r>
                  <a:rPr lang="pt-BR" dirty="0"/>
                  <a:t>É o valor mostrado na coluna Esvaecimento (0,0990).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EFEC255-3900-6ADB-0FDF-CF7958646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685" y="4865914"/>
                <a:ext cx="7886700" cy="1754326"/>
              </a:xfrm>
              <a:prstGeom prst="rect">
                <a:avLst/>
              </a:prstGeom>
              <a:blipFill>
                <a:blip r:embed="rId3"/>
                <a:stretch>
                  <a:fillRect l="-773" t="-17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009087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45130-2B21-4B17-A397-F2507A569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7BF71A-E3F5-4D6D-BAD0-A1DC40B0D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u="none" dirty="0"/>
              <a:t>Atualizando a matriz de feromônios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7033C95-FDD1-43B4-9014-94A4C98C23E7}"/>
                  </a:ext>
                </a:extLst>
              </p:cNvPr>
              <p:cNvSpPr txBox="1"/>
              <p:nvPr/>
            </p:nvSpPr>
            <p:spPr>
              <a:xfrm>
                <a:off x="386597" y="4948188"/>
                <a:ext cx="8370805" cy="4170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sz="18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18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8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pt-BR" sz="18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 6667,    ∆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0,6667,  ∆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0,5556,  ∆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0,3703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7033C95-FDD1-43B4-9014-94A4C98C2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97" y="4948188"/>
                <a:ext cx="8370805" cy="417037"/>
              </a:xfrm>
              <a:prstGeom prst="rect">
                <a:avLst/>
              </a:prstGeom>
              <a:blipFill>
                <a:blip r:embed="rId2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m 8">
            <a:extLst>
              <a:ext uri="{FF2B5EF4-FFF2-40B4-BE49-F238E27FC236}">
                <a16:creationId xmlns:a16="http://schemas.microsoft.com/office/drawing/2014/main" id="{31C292A5-B1F0-6180-6B41-7EA11B801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902" y="2638425"/>
            <a:ext cx="6657853" cy="18828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C051688-C9CB-B9E8-C8E5-15C4FE9838D7}"/>
              </a:ext>
            </a:extLst>
          </p:cNvPr>
          <p:cNvSpPr txBox="1"/>
          <p:nvPr/>
        </p:nvSpPr>
        <p:spPr>
          <a:xfrm>
            <a:off x="1597676" y="5735626"/>
            <a:ext cx="5929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Quantidade de feromônio deixada por cada formiga</a:t>
            </a:r>
          </a:p>
        </p:txBody>
      </p:sp>
    </p:spTree>
    <p:extLst>
      <p:ext uri="{BB962C8B-B14F-4D97-AF65-F5344CB8AC3E}">
        <p14:creationId xmlns:p14="http://schemas.microsoft.com/office/powerpoint/2010/main" val="188974203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47AD6-89AB-4AA6-BD5F-E73BB5589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57E977-01B8-4FDB-ACA6-6BAB6E859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u="none" dirty="0"/>
              <a:t>Rotas Obtidas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8BF5CD5-A76A-A861-1E0B-A322A3A51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06" y="2855334"/>
            <a:ext cx="6986588" cy="141936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20AE8D5-962A-E248-7E1D-B8E2EC21A7BB}"/>
              </a:ext>
            </a:extLst>
          </p:cNvPr>
          <p:cNvSpPr txBox="1"/>
          <p:nvPr/>
        </p:nvSpPr>
        <p:spPr>
          <a:xfrm>
            <a:off x="1607104" y="4839582"/>
            <a:ext cx="5929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solidFill>
                  <a:srgbClr val="FF0000"/>
                </a:solidFill>
              </a:rPr>
              <a:t>Ao depositar o feromônio não importa se a formiga percorreu a aresta no sentido 1 </a:t>
            </a:r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 2 ou 2  1. Como o custo da aresta é simétrico, a quantidade de feromônio não varia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34052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52B1C-9B0E-4706-B83F-4F81CB4B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90392-C021-4F1D-8404-E915FA79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600" b="1" u="none" dirty="0"/>
              <a:t>Aresta 1-2 (ou 2-1)</a:t>
            </a:r>
          </a:p>
          <a:p>
            <a:pPr algn="just"/>
            <a:endParaRPr lang="pt-BR" sz="2600" u="none" dirty="0"/>
          </a:p>
          <a:p>
            <a:pPr algn="just"/>
            <a:r>
              <a:rPr lang="pt-BR" sz="2600" u="none" dirty="0"/>
              <a:t>As formigas 3 e 4 passaram pela aresta, logo, elas deixarão feromônio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A9439A-F4B6-294A-0464-FB678FABF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83" y="4150932"/>
            <a:ext cx="6981833" cy="141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620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52B1C-9B0E-4706-B83F-4F81CB4B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90392-C021-4F1D-8404-E915FA79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600" b="1" u="none" dirty="0"/>
              <a:t>Aresta 1-2 (ou 2-1)</a:t>
            </a:r>
          </a:p>
          <a:p>
            <a:pPr algn="just"/>
            <a:endParaRPr lang="pt-BR" sz="2600" u="none" dirty="0"/>
          </a:p>
          <a:p>
            <a:pPr algn="just"/>
            <a:r>
              <a:rPr lang="pt-BR" sz="2600" u="none" dirty="0"/>
              <a:t>As formigas 3 e 4 passaram pela aresta, logo, elas deixarão feromônio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798890-9A6A-5735-13F8-E3DF35089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898" y="4158467"/>
            <a:ext cx="6657853" cy="18828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C0D542B-464B-79DA-ABEF-3AB33F4186FF}"/>
              </a:ext>
            </a:extLst>
          </p:cNvPr>
          <p:cNvSpPr txBox="1"/>
          <p:nvPr/>
        </p:nvSpPr>
        <p:spPr>
          <a:xfrm>
            <a:off x="6344208" y="6041267"/>
            <a:ext cx="3135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Soma final = (feromônio restante + feromônio novo).</a:t>
            </a:r>
          </a:p>
        </p:txBody>
      </p:sp>
    </p:spTree>
    <p:extLst>
      <p:ext uri="{BB962C8B-B14F-4D97-AF65-F5344CB8AC3E}">
        <p14:creationId xmlns:p14="http://schemas.microsoft.com/office/powerpoint/2010/main" val="268837793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52B1C-9B0E-4706-B83F-4F81CB4B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90392-C021-4F1D-8404-E915FA79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600" b="1" u="none" dirty="0"/>
              <a:t>Aresta 1-3 (ou 3-1)</a:t>
            </a:r>
          </a:p>
          <a:p>
            <a:pPr algn="just"/>
            <a:endParaRPr lang="pt-BR" sz="2600" u="none" dirty="0"/>
          </a:p>
          <a:p>
            <a:pPr algn="just"/>
            <a:r>
              <a:rPr lang="pt-BR" sz="2600" u="none" dirty="0"/>
              <a:t>As formigas 1, 2 e 4 passaram pela aresta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B03273B-0C10-F899-6ADB-2A3A119B4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36" y="4150932"/>
            <a:ext cx="6981833" cy="141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606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52B1C-9B0E-4706-B83F-4F81CB4B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90392-C021-4F1D-8404-E915FA79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600" b="1" u="none" dirty="0"/>
              <a:t>Aresta 1-3 (ou 3-1)</a:t>
            </a:r>
          </a:p>
          <a:p>
            <a:pPr algn="just"/>
            <a:endParaRPr lang="pt-BR" sz="2600" u="none" dirty="0"/>
          </a:p>
          <a:p>
            <a:pPr algn="just"/>
            <a:r>
              <a:rPr lang="pt-BR" sz="2600" u="none" dirty="0"/>
              <a:t>As formigas 1, 2 e 4 passaram pela aresta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2DB194F-9FCC-1A35-516E-972D5CBF6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73" y="4167549"/>
            <a:ext cx="6657853" cy="18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7681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52B1C-9B0E-4706-B83F-4F81CB4B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90392-C021-4F1D-8404-E915FA79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600" b="1" u="none" dirty="0"/>
              <a:t>Aresta 1-4 (ou 4-1)</a:t>
            </a:r>
          </a:p>
          <a:p>
            <a:pPr algn="just"/>
            <a:endParaRPr lang="pt-BR" sz="2600" u="none" dirty="0"/>
          </a:p>
          <a:p>
            <a:pPr algn="just"/>
            <a:r>
              <a:rPr lang="pt-BR" sz="2600" u="none" dirty="0"/>
              <a:t>As formigas 1, 2 e 3 passaram pela aresta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380CFDC-DF37-137B-6D2B-54EC3AECD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36" y="4150932"/>
            <a:ext cx="6981833" cy="141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7629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52B1C-9B0E-4706-B83F-4F81CB4B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90392-C021-4F1D-8404-E915FA79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600" b="1" u="none" dirty="0"/>
              <a:t>Aresta 1-4 (ou 4-1)</a:t>
            </a:r>
          </a:p>
          <a:p>
            <a:pPr algn="just"/>
            <a:endParaRPr lang="pt-BR" sz="2600" u="none" dirty="0"/>
          </a:p>
          <a:p>
            <a:pPr algn="just"/>
            <a:r>
              <a:rPr lang="pt-BR" sz="2600" u="none" dirty="0"/>
              <a:t>As formigas 1, 2 e 3 passaram pela aresta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CA6D8F-FFE2-39D5-4840-708704123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896" y="4155669"/>
            <a:ext cx="6657853" cy="18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01617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52B1C-9B0E-4706-B83F-4F81CB4B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90392-C021-4F1D-8404-E915FA79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600" b="1" u="none" dirty="0"/>
              <a:t>Aresta 2-3 (ou 3-2)</a:t>
            </a:r>
          </a:p>
          <a:p>
            <a:pPr algn="just"/>
            <a:endParaRPr lang="pt-BR" sz="2600" u="none" dirty="0"/>
          </a:p>
          <a:p>
            <a:pPr algn="just"/>
            <a:r>
              <a:rPr lang="pt-BR" sz="2600" u="none" dirty="0"/>
              <a:t>As formigas 1, 2 e 3 passaram pela aresta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8210E92-1143-BBCB-C5CC-4F25004EA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58" y="4161624"/>
            <a:ext cx="6981833" cy="141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30310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52B1C-9B0E-4706-B83F-4F81CB4B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90392-C021-4F1D-8404-E915FA79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600" b="1" u="none" dirty="0"/>
              <a:t>Aresta 2-3 (ou 3-2)</a:t>
            </a:r>
          </a:p>
          <a:p>
            <a:pPr algn="just"/>
            <a:endParaRPr lang="pt-BR" sz="2600" u="none" dirty="0"/>
          </a:p>
          <a:p>
            <a:pPr algn="just"/>
            <a:r>
              <a:rPr lang="pt-BR" sz="2600" u="none" dirty="0"/>
              <a:t>As formigas 1, 2 e 3 passaram pela aresta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9DD9BD-60A1-6603-B235-B9CF48003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948" y="4158466"/>
            <a:ext cx="6657853" cy="18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26193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52B1C-9B0E-4706-B83F-4F81CB4B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90392-C021-4F1D-8404-E915FA79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600" b="1" u="none" dirty="0"/>
              <a:t>Aresta 2-4 (ou 4-2)</a:t>
            </a:r>
          </a:p>
          <a:p>
            <a:pPr algn="just"/>
            <a:endParaRPr lang="pt-BR" sz="2600" u="none" dirty="0"/>
          </a:p>
          <a:p>
            <a:pPr algn="just"/>
            <a:r>
              <a:rPr lang="pt-BR" sz="2600" u="none" dirty="0"/>
              <a:t>As formigas 1, 2 e 4 passaram por essa aresta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6BC00B5-6331-8F48-7007-252533C87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36" y="4150932"/>
            <a:ext cx="6981833" cy="141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22208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52B1C-9B0E-4706-B83F-4F81CB4B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90392-C021-4F1D-8404-E915FA79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600" b="1" u="none" dirty="0"/>
              <a:t>Aresta 2-4 (ou 4-2)</a:t>
            </a:r>
          </a:p>
          <a:p>
            <a:pPr algn="just"/>
            <a:endParaRPr lang="pt-BR" sz="2600" u="none" dirty="0"/>
          </a:p>
          <a:p>
            <a:pPr algn="just"/>
            <a:r>
              <a:rPr lang="pt-BR" sz="2600" u="none" dirty="0"/>
              <a:t>As formigas 1, 2 e 4 passaram por essa aresta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5394876-3095-6481-F711-48EA503CE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948" y="4158465"/>
            <a:ext cx="6657853" cy="18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12307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52B1C-9B0E-4706-B83F-4F81CB4B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90392-C021-4F1D-8404-E915FA79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600" b="1" u="none" dirty="0"/>
              <a:t>Aresta 3-4 (ou 4-3)</a:t>
            </a:r>
          </a:p>
          <a:p>
            <a:pPr algn="just"/>
            <a:endParaRPr lang="pt-BR" sz="2600" u="none" dirty="0"/>
          </a:p>
          <a:p>
            <a:pPr algn="just"/>
            <a:r>
              <a:rPr lang="pt-BR" sz="2600" u="none" dirty="0"/>
              <a:t>As formigas 3 e 4 passaram pela aresta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319058F-F48E-B508-9B37-2128A48F4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58" y="4150932"/>
            <a:ext cx="6981833" cy="141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61916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52B1C-9B0E-4706-B83F-4F81CB4B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90392-C021-4F1D-8404-E915FA79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600" b="1" u="none" dirty="0"/>
              <a:t>Aresta 3-4 (ou 4-3)</a:t>
            </a:r>
          </a:p>
          <a:p>
            <a:pPr algn="just"/>
            <a:r>
              <a:rPr lang="pt-BR" sz="2600" u="none" dirty="0"/>
              <a:t> </a:t>
            </a:r>
          </a:p>
          <a:p>
            <a:pPr algn="just"/>
            <a:r>
              <a:rPr lang="pt-BR" sz="2600" u="none" dirty="0"/>
              <a:t>As formigas 3 e 4 passaram pela aresta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00C557-62C7-6B9B-7085-A7731713F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948" y="4155669"/>
            <a:ext cx="6657853" cy="18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626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35FB7-1F58-4B29-BA04-7D1C496DE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E92631D-8595-41A6-B0EF-E67D1C8EC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pt-BR" sz="2600" u="none" dirty="0"/>
              <a:t>2ª Iteração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C8D9E36-0B7B-8F35-53A6-B368685F9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501795"/>
            <a:ext cx="7353300" cy="254317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9CD0BFF-C498-B9A6-CE97-DD41D6385D96}"/>
              </a:ext>
            </a:extLst>
          </p:cNvPr>
          <p:cNvSpPr txBox="1"/>
          <p:nvPr/>
        </p:nvSpPr>
        <p:spPr>
          <a:xfrm>
            <a:off x="895350" y="5274129"/>
            <a:ext cx="71872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 primeira iteração, todas as arestas tinham o mesmo feromônio inicial (τᵢⱼ = 0,1).</a:t>
            </a:r>
            <a:br>
              <a:rPr lang="pt-BR" dirty="0"/>
            </a:br>
            <a:r>
              <a:rPr lang="pt-BR" dirty="0"/>
              <a:t>Agora, após o reforço das formigas, cada caminho tem uma quantidade diferente de feromônio, de acordo com quantas formigas o percorreram e com a qualidade das rotas.</a:t>
            </a:r>
          </a:p>
        </p:txBody>
      </p:sp>
    </p:spTree>
    <p:extLst>
      <p:ext uri="{BB962C8B-B14F-4D97-AF65-F5344CB8AC3E}">
        <p14:creationId xmlns:p14="http://schemas.microsoft.com/office/powerpoint/2010/main" val="170389851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35FB7-1F58-4B29-BA04-7D1C496DE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E92631D-8595-41A6-B0EF-E67D1C8EC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pt-BR" sz="2600" u="none" dirty="0"/>
              <a:t>2ª Iteração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7A865D9-1D52-49DD-8334-16EC2C2FF1B8}"/>
              </a:ext>
            </a:extLst>
          </p:cNvPr>
          <p:cNvSpPr txBox="1"/>
          <p:nvPr/>
        </p:nvSpPr>
        <p:spPr>
          <a:xfrm>
            <a:off x="6332375" y="2068985"/>
            <a:ext cx="674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Atual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1595957-799B-4D65-BFA5-57F6FA59BC33}"/>
              </a:ext>
            </a:extLst>
          </p:cNvPr>
          <p:cNvSpPr txBox="1"/>
          <p:nvPr/>
        </p:nvSpPr>
        <p:spPr>
          <a:xfrm>
            <a:off x="7464544" y="2068985"/>
            <a:ext cx="79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Antigo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A9EBF33-A3E4-5B5C-65A2-FACA9341C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501795"/>
            <a:ext cx="7353300" cy="254317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7C87956-485E-F39B-C3D4-8F135974D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14" y="2503370"/>
            <a:ext cx="1062161" cy="25416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D7F153C-E0D6-3A46-8CBD-40DBB504361C}"/>
              </a:ext>
            </a:extLst>
          </p:cNvPr>
          <p:cNvSpPr txBox="1"/>
          <p:nvPr/>
        </p:nvSpPr>
        <p:spPr>
          <a:xfrm>
            <a:off x="506186" y="5208814"/>
            <a:ext cx="8294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comparação entre “Atual” e “Antigo” mostra o aprendizado progressivo do ACO.</a:t>
            </a:r>
          </a:p>
          <a:p>
            <a:r>
              <a:rPr lang="pt-BR" dirty="0"/>
              <a:t>Caminhos bons (curtos, eficientes) ficam mais prováveis, enquanto ruins evaporam.</a:t>
            </a:r>
          </a:p>
          <a:p>
            <a:r>
              <a:rPr lang="pt-BR" dirty="0"/>
              <a:t>A colônia coopera indiretamente via feromônio, refinando a solução a cada iteração.</a:t>
            </a:r>
          </a:p>
        </p:txBody>
      </p:sp>
    </p:spTree>
    <p:extLst>
      <p:ext uri="{BB962C8B-B14F-4D97-AF65-F5344CB8AC3E}">
        <p14:creationId xmlns:p14="http://schemas.microsoft.com/office/powerpoint/2010/main" val="255975478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EB2AB-E290-445B-B3F6-A017E4DA8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6BDCF93-FE3B-4D00-B3E3-748D066A9A3A}"/>
              </a:ext>
            </a:extLst>
          </p:cNvPr>
          <p:cNvSpPr/>
          <p:nvPr/>
        </p:nvSpPr>
        <p:spPr>
          <a:xfrm>
            <a:off x="450766" y="266485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9E88D76-D505-470F-88B6-F5AC6BBCA654}"/>
              </a:ext>
            </a:extLst>
          </p:cNvPr>
          <p:cNvSpPr/>
          <p:nvPr/>
        </p:nvSpPr>
        <p:spPr>
          <a:xfrm>
            <a:off x="3282866" y="2441016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CA47944-F4DB-41F5-A025-D118129C81BD}"/>
              </a:ext>
            </a:extLst>
          </p:cNvPr>
          <p:cNvSpPr/>
          <p:nvPr/>
        </p:nvSpPr>
        <p:spPr>
          <a:xfrm>
            <a:off x="3533691" y="442380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CE064E8-7BBD-4C50-BE91-F3AB0D32BC86}"/>
              </a:ext>
            </a:extLst>
          </p:cNvPr>
          <p:cNvSpPr/>
          <p:nvPr/>
        </p:nvSpPr>
        <p:spPr>
          <a:xfrm>
            <a:off x="1606466" y="5539816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1AD1E53-4A32-4E18-B744-2EDF4D1B3DFB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971466" y="2701366"/>
            <a:ext cx="2311400" cy="2238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B16DCF8-68B6-46FD-905A-64FCD8E22926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3543216" y="2961716"/>
            <a:ext cx="250825" cy="1462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61D731F7-66E2-4C08-9B71-EA58B3CDF947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>
            <a:off x="971466" y="2925203"/>
            <a:ext cx="2638480" cy="1574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B82D62D9-F635-4653-AB86-466D21D07BC7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895211" y="3109298"/>
            <a:ext cx="971605" cy="243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0C756280-4C82-45F6-9AE7-AF0BC812965A}"/>
              </a:ext>
            </a:extLst>
          </p:cNvPr>
          <p:cNvCxnSpPr>
            <a:cxnSpLocks/>
            <a:stCxn id="8" idx="6"/>
            <a:endCxn id="7" idx="3"/>
          </p:cNvCxnSpPr>
          <p:nvPr/>
        </p:nvCxnSpPr>
        <p:spPr>
          <a:xfrm flipV="1">
            <a:off x="2127166" y="4868248"/>
            <a:ext cx="1482780" cy="931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A3DB0AAA-D068-4360-8DB6-269F42D2CC83}"/>
              </a:ext>
            </a:extLst>
          </p:cNvPr>
          <p:cNvCxnSpPr>
            <a:cxnSpLocks/>
            <a:stCxn id="6" idx="3"/>
            <a:endCxn id="8" idx="7"/>
          </p:cNvCxnSpPr>
          <p:nvPr/>
        </p:nvCxnSpPr>
        <p:spPr>
          <a:xfrm flipH="1">
            <a:off x="2050911" y="2885461"/>
            <a:ext cx="1308210" cy="27306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5EBC2A0-C5E7-4E07-8190-925B787B0756}"/>
              </a:ext>
            </a:extLst>
          </p:cNvPr>
          <p:cNvSpPr txBox="1"/>
          <p:nvPr/>
        </p:nvSpPr>
        <p:spPr>
          <a:xfrm>
            <a:off x="1856851" y="239371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4E753F6-7120-4B33-9F77-95A965CDE05D}"/>
              </a:ext>
            </a:extLst>
          </p:cNvPr>
          <p:cNvSpPr txBox="1"/>
          <p:nvPr/>
        </p:nvSpPr>
        <p:spPr>
          <a:xfrm>
            <a:off x="3698104" y="340422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6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4CA2CD8-FE1A-4E25-B837-88254EA79B7A}"/>
              </a:ext>
            </a:extLst>
          </p:cNvPr>
          <p:cNvSpPr txBox="1"/>
          <p:nvPr/>
        </p:nvSpPr>
        <p:spPr>
          <a:xfrm>
            <a:off x="860795" y="390668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9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7EEDE04-4469-4223-8293-07787C2526D0}"/>
              </a:ext>
            </a:extLst>
          </p:cNvPr>
          <p:cNvSpPr txBox="1"/>
          <p:nvPr/>
        </p:nvSpPr>
        <p:spPr>
          <a:xfrm>
            <a:off x="1869703" y="3542339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5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A4713AD-B801-444F-A30B-0AB8B631F826}"/>
              </a:ext>
            </a:extLst>
          </p:cNvPr>
          <p:cNvSpPr txBox="1"/>
          <p:nvPr/>
        </p:nvSpPr>
        <p:spPr>
          <a:xfrm>
            <a:off x="2739996" y="5323112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2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310A286-CDD7-474D-BED6-4D07425872E0}"/>
              </a:ext>
            </a:extLst>
          </p:cNvPr>
          <p:cNvSpPr txBox="1"/>
          <p:nvPr/>
        </p:nvSpPr>
        <p:spPr>
          <a:xfrm>
            <a:off x="2117421" y="4514748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7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96AA198-E6EC-49C6-8B73-102DE221A3F4}"/>
              </a:ext>
            </a:extLst>
          </p:cNvPr>
          <p:cNvSpPr txBox="1"/>
          <p:nvPr/>
        </p:nvSpPr>
        <p:spPr>
          <a:xfrm>
            <a:off x="97605" y="2259008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Manaus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CD4BBBE-4D14-42CD-AEE2-DCD7FCE30DE9}"/>
              </a:ext>
            </a:extLst>
          </p:cNvPr>
          <p:cNvSpPr txBox="1"/>
          <p:nvPr/>
        </p:nvSpPr>
        <p:spPr>
          <a:xfrm>
            <a:off x="3024099" y="2013348"/>
            <a:ext cx="103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Fortaleza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43BC991-2054-4471-8610-2AD24AD41346}"/>
              </a:ext>
            </a:extLst>
          </p:cNvPr>
          <p:cNvSpPr txBox="1"/>
          <p:nvPr/>
        </p:nvSpPr>
        <p:spPr>
          <a:xfrm>
            <a:off x="1364010" y="603156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Campinas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DB2AD25-C1B9-40EE-BF78-165675EB94E8}"/>
              </a:ext>
            </a:extLst>
          </p:cNvPr>
          <p:cNvSpPr txBox="1"/>
          <p:nvPr/>
        </p:nvSpPr>
        <p:spPr>
          <a:xfrm>
            <a:off x="3497860" y="4967207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Salvador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CD3DB38-114C-49BE-87DF-D10156F89575}"/>
              </a:ext>
            </a:extLst>
          </p:cNvPr>
          <p:cNvSpPr/>
          <p:nvPr/>
        </p:nvSpPr>
        <p:spPr>
          <a:xfrm>
            <a:off x="3345027" y="2517271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4A27687B-1463-49FC-8B80-7CE7F4D51E80}"/>
              </a:ext>
            </a:extLst>
          </p:cNvPr>
          <p:cNvSpPr/>
          <p:nvPr/>
        </p:nvSpPr>
        <p:spPr>
          <a:xfrm>
            <a:off x="3598071" y="4483462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7E05DE2F-AAAA-41C4-8C2C-F7ECD643DF3A}"/>
              </a:ext>
            </a:extLst>
          </p:cNvPr>
          <p:cNvSpPr/>
          <p:nvPr/>
        </p:nvSpPr>
        <p:spPr>
          <a:xfrm>
            <a:off x="1670021" y="5600057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F7410D90-3605-45B1-A319-15E036FEB171}"/>
              </a:ext>
            </a:extLst>
          </p:cNvPr>
          <p:cNvSpPr/>
          <p:nvPr/>
        </p:nvSpPr>
        <p:spPr>
          <a:xfrm>
            <a:off x="512336" y="2736672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6656C856-ECF8-4133-8DDF-2FB0EED26B7B}"/>
              </a:ext>
            </a:extLst>
          </p:cNvPr>
          <p:cNvSpPr/>
          <p:nvPr/>
        </p:nvSpPr>
        <p:spPr>
          <a:xfrm>
            <a:off x="5050359" y="266485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FFEEBEFC-1671-4A25-A00F-D468F8DFA287}"/>
              </a:ext>
            </a:extLst>
          </p:cNvPr>
          <p:cNvSpPr/>
          <p:nvPr/>
        </p:nvSpPr>
        <p:spPr>
          <a:xfrm>
            <a:off x="7882459" y="2441016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75D5EA04-C427-462B-9F3A-21EFC641820C}"/>
              </a:ext>
            </a:extLst>
          </p:cNvPr>
          <p:cNvSpPr/>
          <p:nvPr/>
        </p:nvSpPr>
        <p:spPr>
          <a:xfrm>
            <a:off x="8133284" y="4423803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7017C70D-9704-4BC3-8E84-6D85CF41E82F}"/>
              </a:ext>
            </a:extLst>
          </p:cNvPr>
          <p:cNvSpPr/>
          <p:nvPr/>
        </p:nvSpPr>
        <p:spPr>
          <a:xfrm>
            <a:off x="6206059" y="5539816"/>
            <a:ext cx="520700" cy="5207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05AA7F1D-D911-43D7-B6D4-AC0A09063B68}"/>
              </a:ext>
            </a:extLst>
          </p:cNvPr>
          <p:cNvCxnSpPr>
            <a:cxnSpLocks/>
            <a:stCxn id="29" idx="6"/>
            <a:endCxn id="30" idx="2"/>
          </p:cNvCxnSpPr>
          <p:nvPr/>
        </p:nvCxnSpPr>
        <p:spPr>
          <a:xfrm flipV="1">
            <a:off x="5571059" y="2701366"/>
            <a:ext cx="2311400" cy="2238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4D332A20-B89F-4102-A19F-D4A37C50A796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8142809" y="2961716"/>
            <a:ext cx="250825" cy="1462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0964F87C-C90B-4896-9F94-DED9137D29B1}"/>
              </a:ext>
            </a:extLst>
          </p:cNvPr>
          <p:cNvCxnSpPr>
            <a:cxnSpLocks/>
            <a:stCxn id="29" idx="6"/>
            <a:endCxn id="31" idx="1"/>
          </p:cNvCxnSpPr>
          <p:nvPr/>
        </p:nvCxnSpPr>
        <p:spPr>
          <a:xfrm>
            <a:off x="5571059" y="2925203"/>
            <a:ext cx="2638480" cy="1574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16E227C1-CE3E-4220-A69E-BE68353FD110}"/>
              </a:ext>
            </a:extLst>
          </p:cNvPr>
          <p:cNvCxnSpPr>
            <a:cxnSpLocks/>
            <a:stCxn id="29" idx="5"/>
            <a:endCxn id="32" idx="0"/>
          </p:cNvCxnSpPr>
          <p:nvPr/>
        </p:nvCxnSpPr>
        <p:spPr>
          <a:xfrm>
            <a:off x="5494804" y="3109298"/>
            <a:ext cx="971605" cy="243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EF7A4D9B-7900-4DBD-B1A6-9C44DD2EB189}"/>
              </a:ext>
            </a:extLst>
          </p:cNvPr>
          <p:cNvCxnSpPr>
            <a:cxnSpLocks/>
            <a:stCxn id="32" idx="6"/>
            <a:endCxn id="31" idx="3"/>
          </p:cNvCxnSpPr>
          <p:nvPr/>
        </p:nvCxnSpPr>
        <p:spPr>
          <a:xfrm flipV="1">
            <a:off x="6726759" y="4868248"/>
            <a:ext cx="1482780" cy="931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12580801-730E-431A-8892-645B313D9547}"/>
              </a:ext>
            </a:extLst>
          </p:cNvPr>
          <p:cNvCxnSpPr>
            <a:cxnSpLocks/>
            <a:stCxn id="30" idx="3"/>
            <a:endCxn id="32" idx="7"/>
          </p:cNvCxnSpPr>
          <p:nvPr/>
        </p:nvCxnSpPr>
        <p:spPr>
          <a:xfrm flipH="1">
            <a:off x="6650504" y="2885461"/>
            <a:ext cx="1308210" cy="27306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B314278-ED19-4D72-96B1-B56C2170F9A7}"/>
              </a:ext>
            </a:extLst>
          </p:cNvPr>
          <p:cNvSpPr txBox="1"/>
          <p:nvPr/>
        </p:nvSpPr>
        <p:spPr>
          <a:xfrm>
            <a:off x="6456444" y="239371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1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3D2C9B7-1A44-40D0-9628-FD043D2B025F}"/>
              </a:ext>
            </a:extLst>
          </p:cNvPr>
          <p:cNvSpPr txBox="1"/>
          <p:nvPr/>
        </p:nvSpPr>
        <p:spPr>
          <a:xfrm>
            <a:off x="8297697" y="340422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6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B437C405-927F-4DB8-A79E-DFFE62787C3C}"/>
              </a:ext>
            </a:extLst>
          </p:cNvPr>
          <p:cNvSpPr txBox="1"/>
          <p:nvPr/>
        </p:nvSpPr>
        <p:spPr>
          <a:xfrm>
            <a:off x="5460388" y="390668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9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2E5EB69D-D312-4B7E-8898-63D80355E9CF}"/>
              </a:ext>
            </a:extLst>
          </p:cNvPr>
          <p:cNvSpPr txBox="1"/>
          <p:nvPr/>
        </p:nvSpPr>
        <p:spPr>
          <a:xfrm>
            <a:off x="6469296" y="3542339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5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A083DCC-4C4B-4448-BED2-8F88AA6BC437}"/>
              </a:ext>
            </a:extLst>
          </p:cNvPr>
          <p:cNvSpPr txBox="1"/>
          <p:nvPr/>
        </p:nvSpPr>
        <p:spPr>
          <a:xfrm>
            <a:off x="7339589" y="5323112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2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FDB0DAB3-AF6C-4C4A-8164-0AE54495CB6F}"/>
              </a:ext>
            </a:extLst>
          </p:cNvPr>
          <p:cNvSpPr txBox="1"/>
          <p:nvPr/>
        </p:nvSpPr>
        <p:spPr>
          <a:xfrm>
            <a:off x="6717014" y="4514748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7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A62C840-18E6-49A7-9958-BDF2ED63A095}"/>
              </a:ext>
            </a:extLst>
          </p:cNvPr>
          <p:cNvSpPr txBox="1"/>
          <p:nvPr/>
        </p:nvSpPr>
        <p:spPr>
          <a:xfrm>
            <a:off x="4697198" y="2259008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Manaus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302C4A08-48A9-481A-8DFB-EC01F3097566}"/>
              </a:ext>
            </a:extLst>
          </p:cNvPr>
          <p:cNvSpPr txBox="1"/>
          <p:nvPr/>
        </p:nvSpPr>
        <p:spPr>
          <a:xfrm>
            <a:off x="7623692" y="2013348"/>
            <a:ext cx="103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Fortaleza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7CD7130D-2990-4216-96E1-317D8107F527}"/>
              </a:ext>
            </a:extLst>
          </p:cNvPr>
          <p:cNvSpPr txBox="1"/>
          <p:nvPr/>
        </p:nvSpPr>
        <p:spPr>
          <a:xfrm>
            <a:off x="5963603" y="603156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Campinas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0B3BD515-A472-43BD-88D7-407154341248}"/>
              </a:ext>
            </a:extLst>
          </p:cNvPr>
          <p:cNvSpPr txBox="1"/>
          <p:nvPr/>
        </p:nvSpPr>
        <p:spPr>
          <a:xfrm>
            <a:off x="8097453" y="4967207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Salvador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022C7EF7-1FA5-43E5-AD6C-E3A61BCF3D0A}"/>
              </a:ext>
            </a:extLst>
          </p:cNvPr>
          <p:cNvSpPr/>
          <p:nvPr/>
        </p:nvSpPr>
        <p:spPr>
          <a:xfrm>
            <a:off x="7944620" y="2517271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F4254698-2C10-4E3A-8FC6-C1BBDEBF93C4}"/>
              </a:ext>
            </a:extLst>
          </p:cNvPr>
          <p:cNvSpPr/>
          <p:nvPr/>
        </p:nvSpPr>
        <p:spPr>
          <a:xfrm>
            <a:off x="8197664" y="4483462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6BD754A3-6B12-4030-B7AC-D7D555D718B6}"/>
              </a:ext>
            </a:extLst>
          </p:cNvPr>
          <p:cNvSpPr/>
          <p:nvPr/>
        </p:nvSpPr>
        <p:spPr>
          <a:xfrm>
            <a:off x="6269614" y="5600057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D4919DE5-FCDF-45BA-8769-90AE4A175C3F}"/>
              </a:ext>
            </a:extLst>
          </p:cNvPr>
          <p:cNvSpPr/>
          <p:nvPr/>
        </p:nvSpPr>
        <p:spPr>
          <a:xfrm>
            <a:off x="5111929" y="2736672"/>
            <a:ext cx="401381" cy="401381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7BF7051C-E3EC-4A02-9D66-D473A9F4318E}"/>
              </a:ext>
            </a:extLst>
          </p:cNvPr>
          <p:cNvSpPr txBox="1"/>
          <p:nvPr/>
        </p:nvSpPr>
        <p:spPr>
          <a:xfrm>
            <a:off x="2363762" y="242408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FB58BF06-BE17-47A2-BDBE-6788AFEF01C7}"/>
              </a:ext>
            </a:extLst>
          </p:cNvPr>
          <p:cNvSpPr txBox="1"/>
          <p:nvPr/>
        </p:nvSpPr>
        <p:spPr>
          <a:xfrm>
            <a:off x="2456905" y="456126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3BDDA0C8-530C-4C5F-9DD4-A408E1F0D4D9}"/>
              </a:ext>
            </a:extLst>
          </p:cNvPr>
          <p:cNvSpPr txBox="1"/>
          <p:nvPr/>
        </p:nvSpPr>
        <p:spPr>
          <a:xfrm>
            <a:off x="3643120" y="319505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B9C10FF4-BBC0-4F63-9908-079E0B7563A7}"/>
              </a:ext>
            </a:extLst>
          </p:cNvPr>
          <p:cNvSpPr txBox="1"/>
          <p:nvPr/>
        </p:nvSpPr>
        <p:spPr>
          <a:xfrm>
            <a:off x="3016576" y="514954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4167244-970F-4665-A90A-A915D03BC36D}"/>
              </a:ext>
            </a:extLst>
          </p:cNvPr>
          <p:cNvSpPr txBox="1"/>
          <p:nvPr/>
        </p:nvSpPr>
        <p:spPr>
          <a:xfrm>
            <a:off x="1003575" y="437659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166A6850-E28F-4ED3-B409-23D38CED58CB}"/>
              </a:ext>
            </a:extLst>
          </p:cNvPr>
          <p:cNvSpPr txBox="1"/>
          <p:nvPr/>
        </p:nvSpPr>
        <p:spPr>
          <a:xfrm>
            <a:off x="1623354" y="304905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0,1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E75C9A19-92CD-4DBB-8358-55387D62EFD3}"/>
              </a:ext>
            </a:extLst>
          </p:cNvPr>
          <p:cNvSpPr txBox="1"/>
          <p:nvPr/>
        </p:nvSpPr>
        <p:spPr>
          <a:xfrm>
            <a:off x="6936612" y="2409400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1,9880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0521F4F1-2C6C-42E4-BE20-80D95AA2F639}"/>
              </a:ext>
            </a:extLst>
          </p:cNvPr>
          <p:cNvSpPr txBox="1"/>
          <p:nvPr/>
        </p:nvSpPr>
        <p:spPr>
          <a:xfrm>
            <a:off x="7029755" y="4582207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1,8027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59C56E90-470A-421D-BDA7-6847CF8D63C9}"/>
              </a:ext>
            </a:extLst>
          </p:cNvPr>
          <p:cNvSpPr txBox="1"/>
          <p:nvPr/>
        </p:nvSpPr>
        <p:spPr>
          <a:xfrm>
            <a:off x="8215970" y="3216002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1,0249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29784FBC-35BB-4F9D-9232-C49C4D94D33A}"/>
              </a:ext>
            </a:extLst>
          </p:cNvPr>
          <p:cNvSpPr txBox="1"/>
          <p:nvPr/>
        </p:nvSpPr>
        <p:spPr>
          <a:xfrm>
            <a:off x="7589426" y="5170484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1,9880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8BFA8AD4-1A97-44A0-99F4-085A5B7BCE06}"/>
              </a:ext>
            </a:extLst>
          </p:cNvPr>
          <p:cNvSpPr txBox="1"/>
          <p:nvPr/>
        </p:nvSpPr>
        <p:spPr>
          <a:xfrm>
            <a:off x="5352100" y="4504253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1,0249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DFB3198E-DD9E-4887-A528-EA140708CADA}"/>
              </a:ext>
            </a:extLst>
          </p:cNvPr>
          <p:cNvSpPr txBox="1"/>
          <p:nvPr/>
        </p:nvSpPr>
        <p:spPr>
          <a:xfrm>
            <a:off x="6196204" y="3070000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1,8027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28ECD117-C044-4D47-9111-AE8CF06FC113}"/>
              </a:ext>
            </a:extLst>
          </p:cNvPr>
          <p:cNvSpPr txBox="1"/>
          <p:nvPr/>
        </p:nvSpPr>
        <p:spPr>
          <a:xfrm>
            <a:off x="1966377" y="1400560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 Extra Bold" panose="02060903040505020403" pitchFamily="18" charset="0"/>
              </a:rPr>
              <a:t>ANTES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22DA39F0-F154-48B5-BDF7-859868960876}"/>
              </a:ext>
            </a:extLst>
          </p:cNvPr>
          <p:cNvSpPr txBox="1"/>
          <p:nvPr/>
        </p:nvSpPr>
        <p:spPr>
          <a:xfrm>
            <a:off x="6304066" y="1410050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 Extra Bold" panose="02060903040505020403" pitchFamily="18" charset="0"/>
              </a:rPr>
              <a:t>DEPOIS</a:t>
            </a:r>
          </a:p>
        </p:txBody>
      </p:sp>
    </p:spTree>
    <p:extLst>
      <p:ext uri="{BB962C8B-B14F-4D97-AF65-F5344CB8AC3E}">
        <p14:creationId xmlns:p14="http://schemas.microsoft.com/office/powerpoint/2010/main" val="419108135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3B6A3-3943-45F8-A94C-58D282AF5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193ABF-1EF8-481F-A1CC-ED176574F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u="none" dirty="0"/>
              <a:t>Vamos considerar que as rotas seguidas na segunda iteração foram as seguintes:</a:t>
            </a:r>
          </a:p>
          <a:p>
            <a:endParaRPr lang="pt-BR" sz="2600" u="none" dirty="0"/>
          </a:p>
          <a:p>
            <a:pPr algn="ctr"/>
            <a:r>
              <a:rPr lang="pt-BR" sz="2600" u="none" dirty="0"/>
              <a:t>1 </a:t>
            </a:r>
            <a:r>
              <a:rPr lang="pt-BR" sz="2600" u="none" dirty="0">
                <a:sym typeface="Wingdings" panose="05000000000000000000" pitchFamily="2" charset="2"/>
              </a:rPr>
              <a:t> 4  2  3  1 de custo 15</a:t>
            </a:r>
          </a:p>
          <a:p>
            <a:pPr algn="ctr"/>
            <a:r>
              <a:rPr lang="pt-BR" sz="2600" u="none" dirty="0"/>
              <a:t>2 </a:t>
            </a:r>
            <a:r>
              <a:rPr lang="pt-BR" sz="2600" u="none" dirty="0">
                <a:sym typeface="Wingdings" panose="05000000000000000000" pitchFamily="2" charset="2"/>
              </a:rPr>
              <a:t> 3  1  4  2 de custo 15</a:t>
            </a:r>
          </a:p>
          <a:p>
            <a:pPr algn="ctr"/>
            <a:r>
              <a:rPr lang="pt-BR" sz="2600" u="none" dirty="0">
                <a:sym typeface="Wingdings" panose="05000000000000000000" pitchFamily="2" charset="2"/>
              </a:rPr>
              <a:t>3  2  4  1  3 de custo 15</a:t>
            </a:r>
          </a:p>
          <a:p>
            <a:pPr algn="ctr"/>
            <a:r>
              <a:rPr lang="pt-BR" sz="2600" u="none" dirty="0">
                <a:sym typeface="Wingdings" panose="05000000000000000000" pitchFamily="2" charset="2"/>
              </a:rPr>
              <a:t>4  1  3  2  4 de custo 15</a:t>
            </a:r>
          </a:p>
          <a:p>
            <a:endParaRPr lang="pt-BR" sz="2600" u="none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894895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3B6A3-3943-45F8-A94C-58D282AF5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3193ABF-1EF8-481F-A1CC-ED176574F9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u="none" dirty="0"/>
                  <a:t>Vamos considerar que as rotas seguidas na segunda iteração foram as seguintes:</a:t>
                </a:r>
              </a:p>
              <a:p>
                <a:endParaRPr lang="pt-BR" sz="2600" u="none" dirty="0"/>
              </a:p>
              <a:p>
                <a:pPr algn="ctr"/>
                <a:r>
                  <a:rPr lang="pt-BR" sz="2600" u="none" dirty="0"/>
                  <a:t>1 </a:t>
                </a:r>
                <a:r>
                  <a:rPr lang="pt-BR" sz="2600" u="none" dirty="0">
                    <a:sym typeface="Wingdings" panose="05000000000000000000" pitchFamily="2" charset="2"/>
                  </a:rPr>
                  <a:t> 4  2  3  1 de custo 15</a:t>
                </a:r>
              </a:p>
              <a:p>
                <a:pPr algn="ctr"/>
                <a:r>
                  <a:rPr lang="pt-BR" sz="2600" u="none" dirty="0"/>
                  <a:t>2 </a:t>
                </a:r>
                <a:r>
                  <a:rPr lang="pt-BR" sz="2600" u="none" dirty="0">
                    <a:sym typeface="Wingdings" panose="05000000000000000000" pitchFamily="2" charset="2"/>
                  </a:rPr>
                  <a:t> 3  1  4  2 de custo 15</a:t>
                </a:r>
              </a:p>
              <a:p>
                <a:pPr algn="ctr"/>
                <a:r>
                  <a:rPr lang="pt-BR" sz="2600" u="none" dirty="0">
                    <a:sym typeface="Wingdings" panose="05000000000000000000" pitchFamily="2" charset="2"/>
                  </a:rPr>
                  <a:t>3  2  4  1  3 de custo 15</a:t>
                </a:r>
              </a:p>
              <a:p>
                <a:pPr algn="ctr"/>
                <a:r>
                  <a:rPr lang="pt-BR" sz="2600" u="none" dirty="0">
                    <a:sym typeface="Wingdings" panose="05000000000000000000" pitchFamily="2" charset="2"/>
                  </a:rPr>
                  <a:t>4  1  3  2  4 de custo 15</a:t>
                </a:r>
              </a:p>
              <a:p>
                <a:pPr algn="ctr"/>
                <a:endParaRPr lang="pt-BR" sz="2600" u="none" dirty="0">
                  <a:sym typeface="Wingdings" panose="05000000000000000000" pitchFamily="2" charset="2"/>
                </a:endParaRPr>
              </a:p>
              <a:p>
                <a:pPr algn="ctr"/>
                <a:r>
                  <a:rPr lang="pt-BR" sz="2600" u="none" dirty="0">
                    <a:sym typeface="Wingdings" panose="05000000000000000000" pitchFamily="2" charset="2"/>
                  </a:rPr>
                  <a:t>Todas as contribuições serão de valor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600" b="0" i="1" u="none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pt-BR" sz="2600" b="0" i="1" u="none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</m:t>
                        </m:r>
                      </m:num>
                      <m:den>
                        <m:r>
                          <a:rPr lang="pt-BR" sz="2600" b="0" i="1" u="none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15</m:t>
                        </m:r>
                      </m:den>
                    </m:f>
                    <m:r>
                      <a:rPr lang="pt-BR" sz="2600" i="1" u="none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pt-BR" sz="2600" b="0" i="1" u="none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0,6667</m:t>
                    </m:r>
                  </m:oMath>
                </a14:m>
                <a:endParaRPr lang="pt-BR" sz="2600" u="none" dirty="0">
                  <a:sym typeface="Wingdings" panose="05000000000000000000" pitchFamily="2" charset="2"/>
                </a:endParaRPr>
              </a:p>
              <a:p>
                <a:endParaRPr lang="pt-BR" sz="2600" u="none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3193ABF-1EF8-481F-A1CC-ED176574F9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30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61184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3B6A3-3943-45F8-A94C-58D282AF5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193ABF-1EF8-481F-A1CC-ED176574F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600" u="none" dirty="0"/>
              <a:t>As seguintes arestas foram percorridas por todas as formigas:</a:t>
            </a:r>
          </a:p>
          <a:p>
            <a:endParaRPr lang="pt-BR" sz="2600" u="none" dirty="0"/>
          </a:p>
          <a:p>
            <a:pPr algn="ctr"/>
            <a:r>
              <a:rPr lang="pt-BR" sz="2600" u="none" dirty="0"/>
              <a:t>1-4, 1-4, 4-1, 4-1</a:t>
            </a:r>
          </a:p>
          <a:p>
            <a:pPr algn="ctr"/>
            <a:r>
              <a:rPr lang="pt-BR" sz="2600" u="none" dirty="0"/>
              <a:t>3-1, 3-1, 1-3, 1-3</a:t>
            </a:r>
          </a:p>
          <a:p>
            <a:pPr algn="ctr"/>
            <a:r>
              <a:rPr lang="pt-BR" sz="2600" u="none" dirty="0"/>
              <a:t>2-3, 2-3, 3-2, 3-2</a:t>
            </a:r>
          </a:p>
          <a:p>
            <a:pPr algn="ctr"/>
            <a:r>
              <a:rPr lang="pt-BR" sz="2600" u="none" dirty="0"/>
              <a:t>4-2, 4-2, 2-4, 2-4</a:t>
            </a:r>
          </a:p>
          <a:p>
            <a:endParaRPr lang="pt-BR" sz="2600" u="none" dirty="0"/>
          </a:p>
          <a:p>
            <a:endParaRPr lang="pt-BR" sz="2600" u="none" dirty="0"/>
          </a:p>
          <a:p>
            <a:endParaRPr lang="pt-BR" sz="2600" u="none" dirty="0"/>
          </a:p>
          <a:p>
            <a:endParaRPr lang="pt-BR" sz="2600" u="none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306845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45130-2B21-4B17-A397-F2507A569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7BF71A-E3F5-4D6D-BAD0-A1DC40B0D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u="none" dirty="0"/>
              <a:t>Atualizando a matriz de feromônios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7033C95-FDD1-43B4-9014-94A4C98C23E7}"/>
                  </a:ext>
                </a:extLst>
              </p:cNvPr>
              <p:cNvSpPr txBox="1"/>
              <p:nvPr/>
            </p:nvSpPr>
            <p:spPr>
              <a:xfrm>
                <a:off x="386597" y="4948188"/>
                <a:ext cx="8370805" cy="4170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sz="18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18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8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pt-BR" sz="18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 6667,    ∆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0,6667,  ∆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0,6667,  ∆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0,6667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7033C95-FDD1-43B4-9014-94A4C98C2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97" y="4948188"/>
                <a:ext cx="8370805" cy="417037"/>
              </a:xfrm>
              <a:prstGeom prst="rect">
                <a:avLst/>
              </a:prstGeom>
              <a:blipFill>
                <a:blip r:embed="rId2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ED95B45A-FFA1-3C28-4058-EE3E629D3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47" y="2714488"/>
            <a:ext cx="6657853" cy="18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8820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45130-2B21-4B17-A397-F2507A569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7BF71A-E3F5-4D6D-BAD0-A1DC40B0D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u="none" dirty="0"/>
              <a:t>Atualizando a matriz de feromônios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7033C95-FDD1-43B4-9014-94A4C98C23E7}"/>
                  </a:ext>
                </a:extLst>
              </p:cNvPr>
              <p:cNvSpPr txBox="1"/>
              <p:nvPr/>
            </p:nvSpPr>
            <p:spPr>
              <a:xfrm>
                <a:off x="386597" y="4948188"/>
                <a:ext cx="8370805" cy="4170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sz="18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18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8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pt-BR" sz="18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 6667,    ∆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0,6667,  ∆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0,6667,  ∆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0,6667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7033C95-FDD1-43B4-9014-94A4C98C2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97" y="4948188"/>
                <a:ext cx="8370805" cy="417037"/>
              </a:xfrm>
              <a:prstGeom prst="rect">
                <a:avLst/>
              </a:prstGeom>
              <a:blipFill>
                <a:blip r:embed="rId2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FD72B072-3FE7-E235-F753-D3B36E2AD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901" y="2721550"/>
            <a:ext cx="6657853" cy="18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07462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298499A-F737-37BB-19B9-CC684374E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513670"/>
            <a:ext cx="7353300" cy="25431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CB35FB7-1F58-4B29-BA04-7D1C496DE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E92631D-8595-41A6-B0EF-E67D1C8EC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pt-BR" sz="2600" u="none" dirty="0"/>
              <a:t>3ª Iteração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7A865D9-1D52-49DD-8334-16EC2C2FF1B8}"/>
              </a:ext>
            </a:extLst>
          </p:cNvPr>
          <p:cNvSpPr txBox="1"/>
          <p:nvPr/>
        </p:nvSpPr>
        <p:spPr>
          <a:xfrm>
            <a:off x="6332375" y="2068985"/>
            <a:ext cx="674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Atual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1595957-799B-4D65-BFA5-57F6FA59BC33}"/>
              </a:ext>
            </a:extLst>
          </p:cNvPr>
          <p:cNvSpPr txBox="1"/>
          <p:nvPr/>
        </p:nvSpPr>
        <p:spPr>
          <a:xfrm>
            <a:off x="7464544" y="2068985"/>
            <a:ext cx="79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Antigo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7C87956-485E-F39B-C3D4-8F135974D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14" y="2512800"/>
            <a:ext cx="1062161" cy="25416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451126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3B6A3-3943-45F8-A94C-58D282AF5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193ABF-1EF8-481F-A1CC-ED176574F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u="none" dirty="0"/>
              <a:t>É possível perceber que a rota mais curta começou a se destacar frente aos caminhos mais longos. Vamos considerar então que o processo se repete novamente...</a:t>
            </a:r>
          </a:p>
          <a:p>
            <a:endParaRPr lang="pt-BR" sz="2600" u="none" dirty="0"/>
          </a:p>
          <a:p>
            <a:pPr algn="ctr"/>
            <a:r>
              <a:rPr lang="pt-BR" sz="2600" u="none" dirty="0"/>
              <a:t>1 </a:t>
            </a:r>
            <a:r>
              <a:rPr lang="pt-BR" sz="2600" u="none" dirty="0">
                <a:sym typeface="Wingdings" panose="05000000000000000000" pitchFamily="2" charset="2"/>
              </a:rPr>
              <a:t> 4  2  3  1 de custo 15</a:t>
            </a:r>
          </a:p>
          <a:p>
            <a:pPr algn="ctr"/>
            <a:r>
              <a:rPr lang="pt-BR" sz="2600" u="none" dirty="0"/>
              <a:t>2 </a:t>
            </a:r>
            <a:r>
              <a:rPr lang="pt-BR" sz="2600" u="none" dirty="0">
                <a:sym typeface="Wingdings" panose="05000000000000000000" pitchFamily="2" charset="2"/>
              </a:rPr>
              <a:t> 3  1  4  2 de custo 15</a:t>
            </a:r>
          </a:p>
          <a:p>
            <a:pPr algn="ctr"/>
            <a:r>
              <a:rPr lang="pt-BR" sz="2600" u="none" dirty="0">
                <a:sym typeface="Wingdings" panose="05000000000000000000" pitchFamily="2" charset="2"/>
              </a:rPr>
              <a:t>3  2  4  1  3 de custo 15</a:t>
            </a:r>
          </a:p>
          <a:p>
            <a:pPr algn="ctr"/>
            <a:r>
              <a:rPr lang="pt-BR" sz="2600" u="none" dirty="0">
                <a:sym typeface="Wingdings" panose="05000000000000000000" pitchFamily="2" charset="2"/>
              </a:rPr>
              <a:t>4  1  3  2  4 de custo 15</a:t>
            </a:r>
          </a:p>
          <a:p>
            <a:endParaRPr lang="pt-BR" sz="2600" u="none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485136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45130-2B21-4B17-A397-F2507A569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7BF71A-E3F5-4D6D-BAD0-A1DC40B0D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u="none" dirty="0"/>
              <a:t>Atualizando a matriz de feromônios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7033C95-FDD1-43B4-9014-94A4C98C23E7}"/>
                  </a:ext>
                </a:extLst>
              </p:cNvPr>
              <p:cNvSpPr txBox="1"/>
              <p:nvPr/>
            </p:nvSpPr>
            <p:spPr>
              <a:xfrm>
                <a:off x="386597" y="4948188"/>
                <a:ext cx="8370805" cy="4170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sz="18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18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8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pt-BR" sz="18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 6667,    ∆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0,6667,  ∆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0,6667,  ∆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0,6667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7033C95-FDD1-43B4-9014-94A4C98C2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97" y="4948188"/>
                <a:ext cx="8370805" cy="417037"/>
              </a:xfrm>
              <a:prstGeom prst="rect">
                <a:avLst/>
              </a:prstGeom>
              <a:blipFill>
                <a:blip r:embed="rId2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2B69C53B-30FD-BAA8-C180-6F40FE8CB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72" y="2713844"/>
            <a:ext cx="6657853" cy="18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0240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45130-2B21-4B17-A397-F2507A569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7BF71A-E3F5-4D6D-BAD0-A1DC40B0D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u="none" dirty="0"/>
              <a:t>Atualizando a matriz de feromônios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7033C95-FDD1-43B4-9014-94A4C98C23E7}"/>
                  </a:ext>
                </a:extLst>
              </p:cNvPr>
              <p:cNvSpPr txBox="1"/>
              <p:nvPr/>
            </p:nvSpPr>
            <p:spPr>
              <a:xfrm>
                <a:off x="386597" y="4948188"/>
                <a:ext cx="8370805" cy="4170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sz="18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18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8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18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pt-BR" sz="18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 6667,    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0,6667,  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0,6667,  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0,6667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7033C95-FDD1-43B4-9014-94A4C98C2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97" y="4948188"/>
                <a:ext cx="8370805" cy="417037"/>
              </a:xfrm>
              <a:prstGeom prst="rect">
                <a:avLst/>
              </a:prstGeom>
              <a:blipFill>
                <a:blip r:embed="rId2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03770FB2-FFDD-357C-AC49-90F1A101E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897" y="2721550"/>
            <a:ext cx="6657853" cy="18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7059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40C78CD-37FA-813F-1746-12B2FB56E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512800"/>
            <a:ext cx="7353300" cy="25431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CB35FB7-1F58-4B29-BA04-7D1C496DE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E92631D-8595-41A6-B0EF-E67D1C8EC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pt-BR" sz="2600" u="none" dirty="0"/>
              <a:t>4ª Iteração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7A865D9-1D52-49DD-8334-16EC2C2FF1B8}"/>
              </a:ext>
            </a:extLst>
          </p:cNvPr>
          <p:cNvSpPr txBox="1"/>
          <p:nvPr/>
        </p:nvSpPr>
        <p:spPr>
          <a:xfrm>
            <a:off x="6332375" y="2068985"/>
            <a:ext cx="674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Atual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1595957-799B-4D65-BFA5-57F6FA59BC33}"/>
              </a:ext>
            </a:extLst>
          </p:cNvPr>
          <p:cNvSpPr txBox="1"/>
          <p:nvPr/>
        </p:nvSpPr>
        <p:spPr>
          <a:xfrm>
            <a:off x="7464544" y="2068985"/>
            <a:ext cx="79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Antigo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7C87956-485E-F39B-C3D4-8F135974D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14" y="2512800"/>
            <a:ext cx="1062161" cy="25416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558729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40C78CD-37FA-813F-1746-12B2FB56E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512800"/>
            <a:ext cx="7353300" cy="25431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CB35FB7-1F58-4B29-BA04-7D1C496DE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E92631D-8595-41A6-B0EF-E67D1C8EC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pt-BR" sz="2600" u="none" dirty="0"/>
              <a:t>4ª Iteração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7A865D9-1D52-49DD-8334-16EC2C2FF1B8}"/>
              </a:ext>
            </a:extLst>
          </p:cNvPr>
          <p:cNvSpPr txBox="1"/>
          <p:nvPr/>
        </p:nvSpPr>
        <p:spPr>
          <a:xfrm>
            <a:off x="6332375" y="2068985"/>
            <a:ext cx="674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Atual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1595957-799B-4D65-BFA5-57F6FA59BC33}"/>
              </a:ext>
            </a:extLst>
          </p:cNvPr>
          <p:cNvSpPr txBox="1"/>
          <p:nvPr/>
        </p:nvSpPr>
        <p:spPr>
          <a:xfrm>
            <a:off x="7464544" y="2068985"/>
            <a:ext cx="79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Antigo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7C87956-485E-F39B-C3D4-8F135974D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14" y="2512800"/>
            <a:ext cx="1062161" cy="25416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F0B40C5-68CB-4D33-8137-FD8FB0DC3CA3}"/>
              </a:ext>
            </a:extLst>
          </p:cNvPr>
          <p:cNvSpPr txBox="1"/>
          <p:nvPr/>
        </p:nvSpPr>
        <p:spPr>
          <a:xfrm>
            <a:off x="641258" y="5418409"/>
            <a:ext cx="7862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dirty="0"/>
              <a:t>Pode-se perceber que as chances de escolher as menores arestas vai aumentando</a:t>
            </a:r>
          </a:p>
          <a:p>
            <a:pPr algn="just"/>
            <a:r>
              <a:rPr lang="pt-BR" dirty="0"/>
              <a:t>enquanto a probabilidade de escolher as arestas 1-2 e 3-4 vai diminuindo...</a:t>
            </a:r>
          </a:p>
        </p:txBody>
      </p:sp>
    </p:spTree>
    <p:extLst>
      <p:ext uri="{BB962C8B-B14F-4D97-AF65-F5344CB8AC3E}">
        <p14:creationId xmlns:p14="http://schemas.microsoft.com/office/powerpoint/2010/main" val="422404465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3B6A3-3943-45F8-A94C-58D282AF5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193ABF-1EF8-481F-A1CC-ED176574F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u="none" dirty="0"/>
              <a:t>Critérios de Parada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u="none" dirty="0"/>
              <a:t>Atingir número de iterações proposto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u="none" dirty="0"/>
              <a:t>Estagnação do método (não muda as rotas)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u="none" dirty="0"/>
              <a:t>Estagnação do método (não melhora os resultados)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u="none" dirty="0"/>
              <a:t>Já ter atingido o melhor resultado (caso conhecido)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690804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86188-05EC-56A6-BE1D-91247CDC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E4A175-72D3-49F6-626A-257D805F7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023603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4D336-7C92-46D3-81D7-05C82FF2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BF3BCB2-7D30-BD61-B048-3044D7583F67}"/>
              </a:ext>
            </a:extLst>
          </p:cNvPr>
          <p:cNvSpPr/>
          <p:nvPr/>
        </p:nvSpPr>
        <p:spPr>
          <a:xfrm>
            <a:off x="2109133" y="3280095"/>
            <a:ext cx="380010" cy="38001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95934A8-21B2-5223-1299-005177E907F4}"/>
              </a:ext>
            </a:extLst>
          </p:cNvPr>
          <p:cNvSpPr/>
          <p:nvPr/>
        </p:nvSpPr>
        <p:spPr>
          <a:xfrm>
            <a:off x="3378602" y="232470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9C4D884-AE29-2506-0ECD-5CCADAEE833E}"/>
              </a:ext>
            </a:extLst>
          </p:cNvPr>
          <p:cNvSpPr/>
          <p:nvPr/>
        </p:nvSpPr>
        <p:spPr>
          <a:xfrm>
            <a:off x="3378602" y="4389927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4A64D13-DE3B-A5BD-7986-0325AD4D1862}"/>
              </a:ext>
            </a:extLst>
          </p:cNvPr>
          <p:cNvSpPr/>
          <p:nvPr/>
        </p:nvSpPr>
        <p:spPr>
          <a:xfrm>
            <a:off x="4457159" y="3378517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D8F29811-7E34-66A8-F9E0-883DAD31E536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2961" y="2649068"/>
            <a:ext cx="809849" cy="7851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584B2CA9-2415-6249-464C-5A706FFD975F}"/>
              </a:ext>
            </a:extLst>
          </p:cNvPr>
          <p:cNvSpPr/>
          <p:nvPr/>
        </p:nvSpPr>
        <p:spPr>
          <a:xfrm>
            <a:off x="5322938" y="2339257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01A9E1F4-D858-0307-847C-28B56C32E382}"/>
              </a:ext>
            </a:extLst>
          </p:cNvPr>
          <p:cNvCxnSpPr>
            <a:cxnSpLocks/>
            <a:stCxn id="26" idx="2"/>
            <a:endCxn id="9" idx="6"/>
          </p:cNvCxnSpPr>
          <p:nvPr/>
        </p:nvCxnSpPr>
        <p:spPr>
          <a:xfrm flipH="1" flipV="1">
            <a:off x="4837169" y="3568522"/>
            <a:ext cx="1638491" cy="227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DB9391C4-83CF-FE7E-6FE3-45EE9549D7A6}"/>
              </a:ext>
            </a:extLst>
          </p:cNvPr>
          <p:cNvCxnSpPr>
            <a:cxnSpLocks/>
            <a:stCxn id="6" idx="6"/>
            <a:endCxn id="8" idx="1"/>
          </p:cNvCxnSpPr>
          <p:nvPr/>
        </p:nvCxnSpPr>
        <p:spPr>
          <a:xfrm>
            <a:off x="2489143" y="3470100"/>
            <a:ext cx="945110" cy="97547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52D0E078-6200-9AA2-9318-B53DAD664FFF}"/>
              </a:ext>
            </a:extLst>
          </p:cNvPr>
          <p:cNvCxnSpPr>
            <a:cxnSpLocks/>
            <a:stCxn id="7" idx="3"/>
            <a:endCxn id="6" idx="6"/>
          </p:cNvCxnSpPr>
          <p:nvPr/>
        </p:nvCxnSpPr>
        <p:spPr>
          <a:xfrm flipH="1">
            <a:off x="2489143" y="2649068"/>
            <a:ext cx="945110" cy="821032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85B93F70-D49E-CFD0-2BD0-719BACEE1814}"/>
              </a:ext>
            </a:extLst>
          </p:cNvPr>
          <p:cNvCxnSpPr>
            <a:cxnSpLocks/>
            <a:stCxn id="17" idx="5"/>
            <a:endCxn id="26" idx="1"/>
          </p:cNvCxnSpPr>
          <p:nvPr/>
        </p:nvCxnSpPr>
        <p:spPr>
          <a:xfrm>
            <a:off x="5647297" y="2663616"/>
            <a:ext cx="884014" cy="772831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86317441-8770-940D-288B-A34375E67FF7}"/>
              </a:ext>
            </a:extLst>
          </p:cNvPr>
          <p:cNvCxnSpPr>
            <a:cxnSpLocks/>
            <a:stCxn id="9" idx="3"/>
            <a:endCxn id="8" idx="7"/>
          </p:cNvCxnSpPr>
          <p:nvPr/>
        </p:nvCxnSpPr>
        <p:spPr>
          <a:xfrm flipH="1">
            <a:off x="3702961" y="3702876"/>
            <a:ext cx="809849" cy="742702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6F334719-183F-DE76-1443-FF15328A8005}"/>
              </a:ext>
            </a:extLst>
          </p:cNvPr>
          <p:cNvCxnSpPr>
            <a:cxnSpLocks/>
            <a:stCxn id="8" idx="6"/>
            <a:endCxn id="34" idx="2"/>
          </p:cNvCxnSpPr>
          <p:nvPr/>
        </p:nvCxnSpPr>
        <p:spPr>
          <a:xfrm>
            <a:off x="3758612" y="4579932"/>
            <a:ext cx="1615818" cy="1884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6F4A4E40-EE9D-3AC1-A39C-AE36839CD37A}"/>
              </a:ext>
            </a:extLst>
          </p:cNvPr>
          <p:cNvSpPr/>
          <p:nvPr/>
        </p:nvSpPr>
        <p:spPr>
          <a:xfrm>
            <a:off x="6475660" y="3380796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105FA112-AAA7-66CC-1A84-2E672684E62C}"/>
              </a:ext>
            </a:extLst>
          </p:cNvPr>
          <p:cNvCxnSpPr>
            <a:cxnSpLocks/>
            <a:stCxn id="17" idx="2"/>
            <a:endCxn id="7" idx="6"/>
          </p:cNvCxnSpPr>
          <p:nvPr/>
        </p:nvCxnSpPr>
        <p:spPr>
          <a:xfrm flipH="1" flipV="1">
            <a:off x="3758612" y="2514714"/>
            <a:ext cx="1564326" cy="145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F0F3C4C1-85B1-5114-9D8B-10970FB93725}"/>
              </a:ext>
            </a:extLst>
          </p:cNvPr>
          <p:cNvCxnSpPr>
            <a:cxnSpLocks/>
            <a:stCxn id="26" idx="3"/>
            <a:endCxn id="34" idx="7"/>
          </p:cNvCxnSpPr>
          <p:nvPr/>
        </p:nvCxnSpPr>
        <p:spPr>
          <a:xfrm flipH="1">
            <a:off x="5698789" y="3705155"/>
            <a:ext cx="832522" cy="759272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>
            <a:extLst>
              <a:ext uri="{FF2B5EF4-FFF2-40B4-BE49-F238E27FC236}">
                <a16:creationId xmlns:a16="http://schemas.microsoft.com/office/drawing/2014/main" id="{FCFA9F2D-ECD6-4401-5427-DAB5182F4395}"/>
              </a:ext>
            </a:extLst>
          </p:cNvPr>
          <p:cNvSpPr/>
          <p:nvPr/>
        </p:nvSpPr>
        <p:spPr>
          <a:xfrm>
            <a:off x="5374430" y="4408776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FA12396B-B534-5F4A-9326-9EDD85E1BE0A}"/>
              </a:ext>
            </a:extLst>
          </p:cNvPr>
          <p:cNvSpPr txBox="1"/>
          <p:nvPr/>
        </p:nvSpPr>
        <p:spPr>
          <a:xfrm>
            <a:off x="2769955" y="26722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E0E3E619-8ECF-113E-1E3B-EF791DE7DBF1}"/>
              </a:ext>
            </a:extLst>
          </p:cNvPr>
          <p:cNvSpPr txBox="1"/>
          <p:nvPr/>
        </p:nvSpPr>
        <p:spPr>
          <a:xfrm>
            <a:off x="4457159" y="21863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120C1015-16F6-4708-E3A0-2A224AD4A9B5}"/>
              </a:ext>
            </a:extLst>
          </p:cNvPr>
          <p:cNvSpPr txBox="1"/>
          <p:nvPr/>
        </p:nvSpPr>
        <p:spPr>
          <a:xfrm>
            <a:off x="6133066" y="27745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36A88245-9769-8EFF-3E05-8A2B285375C7}"/>
              </a:ext>
            </a:extLst>
          </p:cNvPr>
          <p:cNvSpPr txBox="1"/>
          <p:nvPr/>
        </p:nvSpPr>
        <p:spPr>
          <a:xfrm>
            <a:off x="2657443" y="39282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EB7F28D8-1929-7CDE-3BE8-57FD158C66FF}"/>
              </a:ext>
            </a:extLst>
          </p:cNvPr>
          <p:cNvSpPr txBox="1"/>
          <p:nvPr/>
        </p:nvSpPr>
        <p:spPr>
          <a:xfrm>
            <a:off x="3820749" y="37731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B5045EC0-33F1-64D0-E4F1-9350F6ABA950}"/>
              </a:ext>
            </a:extLst>
          </p:cNvPr>
          <p:cNvSpPr txBox="1"/>
          <p:nvPr/>
        </p:nvSpPr>
        <p:spPr>
          <a:xfrm>
            <a:off x="4055285" y="27745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32BE2FD3-A310-E4CA-1878-418F0EAC82DC}"/>
              </a:ext>
            </a:extLst>
          </p:cNvPr>
          <p:cNvSpPr txBox="1"/>
          <p:nvPr/>
        </p:nvSpPr>
        <p:spPr>
          <a:xfrm>
            <a:off x="5473815" y="32356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7F85814A-1AAF-9E2D-9FE0-1A3F587B9969}"/>
              </a:ext>
            </a:extLst>
          </p:cNvPr>
          <p:cNvSpPr txBox="1"/>
          <p:nvPr/>
        </p:nvSpPr>
        <p:spPr>
          <a:xfrm>
            <a:off x="4511930" y="42464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8D138127-B55C-1C99-2F93-81D630146D36}"/>
              </a:ext>
            </a:extLst>
          </p:cNvPr>
          <p:cNvSpPr txBox="1"/>
          <p:nvPr/>
        </p:nvSpPr>
        <p:spPr>
          <a:xfrm>
            <a:off x="6106338" y="40062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B4554BB-EC23-03EE-A85F-6BA53F18A2C2}"/>
              </a:ext>
            </a:extLst>
          </p:cNvPr>
          <p:cNvSpPr txBox="1"/>
          <p:nvPr/>
        </p:nvSpPr>
        <p:spPr>
          <a:xfrm>
            <a:off x="821803" y="3436447"/>
            <a:ext cx="876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Origem</a:t>
            </a:r>
          </a:p>
        </p:txBody>
      </p:sp>
    </p:spTree>
    <p:extLst>
      <p:ext uri="{BB962C8B-B14F-4D97-AF65-F5344CB8AC3E}">
        <p14:creationId xmlns:p14="http://schemas.microsoft.com/office/powerpoint/2010/main" val="207373853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4D336-7C92-46D3-81D7-05C82FF2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8F531EE-BC08-B75D-9B20-5A9673F9B3CD}"/>
              </a:ext>
            </a:extLst>
          </p:cNvPr>
          <p:cNvSpPr/>
          <p:nvPr/>
        </p:nvSpPr>
        <p:spPr>
          <a:xfrm>
            <a:off x="4381995" y="1582286"/>
            <a:ext cx="380010" cy="38001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2CE143E-6E0C-DB21-7B8A-2F72F9411D31}"/>
              </a:ext>
            </a:extLst>
          </p:cNvPr>
          <p:cNvSpPr/>
          <p:nvPr/>
        </p:nvSpPr>
        <p:spPr>
          <a:xfrm>
            <a:off x="2031011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6EB7C5E-3A61-6576-ECA8-DDB7674B1285}"/>
              </a:ext>
            </a:extLst>
          </p:cNvPr>
          <p:cNvSpPr/>
          <p:nvPr/>
        </p:nvSpPr>
        <p:spPr>
          <a:xfrm>
            <a:off x="7161495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1B5E01D-7A22-C201-2282-27985A6509DC}"/>
              </a:ext>
            </a:extLst>
          </p:cNvPr>
          <p:cNvSpPr/>
          <p:nvPr/>
        </p:nvSpPr>
        <p:spPr>
          <a:xfrm>
            <a:off x="1178975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1F30D8D-A623-B5B4-E676-C61D06D021B4}"/>
              </a:ext>
            </a:extLst>
          </p:cNvPr>
          <p:cNvSpPr/>
          <p:nvPr/>
        </p:nvSpPr>
        <p:spPr>
          <a:xfrm>
            <a:off x="276951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74164C1-26A6-9A77-E239-4B4062390427}"/>
              </a:ext>
            </a:extLst>
          </p:cNvPr>
          <p:cNvSpPr/>
          <p:nvPr/>
        </p:nvSpPr>
        <p:spPr>
          <a:xfrm>
            <a:off x="805710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E906D63-29CD-2DC1-DA7B-1E8EDB06EF76}"/>
              </a:ext>
            </a:extLst>
          </p:cNvPr>
          <p:cNvSpPr/>
          <p:nvPr/>
        </p:nvSpPr>
        <p:spPr>
          <a:xfrm>
            <a:off x="448923" y="4078311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4F22813D-2BD5-5396-1949-030D7C5F5270}"/>
              </a:ext>
            </a:extLst>
          </p:cNvPr>
          <p:cNvCxnSpPr>
            <a:cxnSpLocks/>
            <a:stCxn id="3" idx="3"/>
            <a:endCxn id="7" idx="7"/>
          </p:cNvCxnSpPr>
          <p:nvPr/>
        </p:nvCxnSpPr>
        <p:spPr>
          <a:xfrm flipH="1">
            <a:off x="2355370" y="1906645"/>
            <a:ext cx="2082276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448799B2-9C98-5852-AE81-53D6B38A099E}"/>
              </a:ext>
            </a:extLst>
          </p:cNvPr>
          <p:cNvCxnSpPr>
            <a:cxnSpLocks/>
            <a:stCxn id="3" idx="5"/>
            <a:endCxn id="8" idx="1"/>
          </p:cNvCxnSpPr>
          <p:nvPr/>
        </p:nvCxnSpPr>
        <p:spPr>
          <a:xfrm>
            <a:off x="4706354" y="1906645"/>
            <a:ext cx="2510792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020DC8C-E3B1-7F14-9A65-1688BD43E140}"/>
              </a:ext>
            </a:extLst>
          </p:cNvPr>
          <p:cNvCxnSpPr>
            <a:cxnSpLocks/>
            <a:stCxn id="7" idx="5"/>
            <a:endCxn id="10" idx="1"/>
          </p:cNvCxnSpPr>
          <p:nvPr/>
        </p:nvCxnSpPr>
        <p:spPr>
          <a:xfrm>
            <a:off x="2355370" y="2584501"/>
            <a:ext cx="469791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28E6102A-08D1-9830-BFCC-9FC3D85499C5}"/>
              </a:ext>
            </a:extLst>
          </p:cNvPr>
          <p:cNvCxnSpPr>
            <a:cxnSpLocks/>
            <a:stCxn id="9" idx="3"/>
            <a:endCxn id="13" idx="7"/>
          </p:cNvCxnSpPr>
          <p:nvPr/>
        </p:nvCxnSpPr>
        <p:spPr>
          <a:xfrm flipH="1">
            <a:off x="773282" y="3432818"/>
            <a:ext cx="461344" cy="70114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790F476E-F819-60D6-93FF-6B9D665C6D42}"/>
              </a:ext>
            </a:extLst>
          </p:cNvPr>
          <p:cNvCxnSpPr>
            <a:cxnSpLocks/>
            <a:stCxn id="9" idx="7"/>
            <a:endCxn id="7" idx="3"/>
          </p:cNvCxnSpPr>
          <p:nvPr/>
        </p:nvCxnSpPr>
        <p:spPr>
          <a:xfrm flipV="1">
            <a:off x="1503334" y="2584501"/>
            <a:ext cx="583328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79420353-7055-2546-FF0D-E65F1234955D}"/>
              </a:ext>
            </a:extLst>
          </p:cNvPr>
          <p:cNvCxnSpPr>
            <a:cxnSpLocks/>
            <a:stCxn id="8" idx="5"/>
            <a:endCxn id="12" idx="1"/>
          </p:cNvCxnSpPr>
          <p:nvPr/>
        </p:nvCxnSpPr>
        <p:spPr>
          <a:xfrm>
            <a:off x="7485854" y="2584501"/>
            <a:ext cx="626897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BE306C76-70AF-46CA-94DD-2FAD80EA8459}"/>
              </a:ext>
            </a:extLst>
          </p:cNvPr>
          <p:cNvCxnSpPr>
            <a:cxnSpLocks/>
            <a:stCxn id="10" idx="4"/>
            <a:endCxn id="96" idx="0"/>
          </p:cNvCxnSpPr>
          <p:nvPr/>
        </p:nvCxnSpPr>
        <p:spPr>
          <a:xfrm flipH="1">
            <a:off x="2953589" y="3488469"/>
            <a:ext cx="5926" cy="589842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F361D897-B4B0-F09E-FFFE-51EC60D44E6D}"/>
              </a:ext>
            </a:extLst>
          </p:cNvPr>
          <p:cNvSpPr/>
          <p:nvPr/>
        </p:nvSpPr>
        <p:spPr>
          <a:xfrm>
            <a:off x="450055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AB764677-3E27-1B0F-1873-38ABFEB7DFF5}"/>
              </a:ext>
            </a:extLst>
          </p:cNvPr>
          <p:cNvCxnSpPr>
            <a:cxnSpLocks/>
            <a:stCxn id="9" idx="5"/>
            <a:endCxn id="173" idx="1"/>
          </p:cNvCxnSpPr>
          <p:nvPr/>
        </p:nvCxnSpPr>
        <p:spPr>
          <a:xfrm>
            <a:off x="1503334" y="3432818"/>
            <a:ext cx="410236" cy="70887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3827C75E-4552-DCA4-A3B9-4E4F7C1D63F6}"/>
              </a:ext>
            </a:extLst>
          </p:cNvPr>
          <p:cNvCxnSpPr>
            <a:cxnSpLocks/>
            <a:stCxn id="62" idx="4"/>
            <a:endCxn id="66" idx="0"/>
          </p:cNvCxnSpPr>
          <p:nvPr/>
        </p:nvCxnSpPr>
        <p:spPr>
          <a:xfrm flipH="1">
            <a:off x="638928" y="5414662"/>
            <a:ext cx="11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>
            <a:extLst>
              <a:ext uri="{FF2B5EF4-FFF2-40B4-BE49-F238E27FC236}">
                <a16:creationId xmlns:a16="http://schemas.microsoft.com/office/drawing/2014/main" id="{0A75B533-A025-2EFD-8F4B-3F1DBAFAC1B4}"/>
              </a:ext>
            </a:extLst>
          </p:cNvPr>
          <p:cNvSpPr/>
          <p:nvPr/>
        </p:nvSpPr>
        <p:spPr>
          <a:xfrm>
            <a:off x="448923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F14DD0C1-C5D5-91FB-D102-8D1F66293C7E}"/>
              </a:ext>
            </a:extLst>
          </p:cNvPr>
          <p:cNvSpPr/>
          <p:nvPr/>
        </p:nvSpPr>
        <p:spPr>
          <a:xfrm>
            <a:off x="2763584" y="4078311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7779D72D-65C8-D757-751C-97652E3ACF74}"/>
              </a:ext>
            </a:extLst>
          </p:cNvPr>
          <p:cNvCxnSpPr>
            <a:cxnSpLocks/>
            <a:stCxn id="12" idx="4"/>
            <a:endCxn id="186" idx="0"/>
          </p:cNvCxnSpPr>
          <p:nvPr/>
        </p:nvCxnSpPr>
        <p:spPr>
          <a:xfrm flipH="1">
            <a:off x="8244532" y="3488469"/>
            <a:ext cx="2573" cy="59757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lipse 115">
            <a:extLst>
              <a:ext uri="{FF2B5EF4-FFF2-40B4-BE49-F238E27FC236}">
                <a16:creationId xmlns:a16="http://schemas.microsoft.com/office/drawing/2014/main" id="{32E4E34B-5965-AEEF-E793-B4B95EBA5F97}"/>
              </a:ext>
            </a:extLst>
          </p:cNvPr>
          <p:cNvSpPr/>
          <p:nvPr/>
        </p:nvSpPr>
        <p:spPr>
          <a:xfrm>
            <a:off x="5771745" y="3096416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8CEC41BD-1233-9D72-6852-F14D63585A16}"/>
              </a:ext>
            </a:extLst>
          </p:cNvPr>
          <p:cNvCxnSpPr>
            <a:cxnSpLocks/>
            <a:stCxn id="116" idx="7"/>
            <a:endCxn id="8" idx="3"/>
          </p:cNvCxnSpPr>
          <p:nvPr/>
        </p:nvCxnSpPr>
        <p:spPr>
          <a:xfrm flipV="1">
            <a:off x="6096104" y="2584501"/>
            <a:ext cx="1121042" cy="56756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E5342D0F-FC1A-BED9-A33D-50EC4FFC03B1}"/>
              </a:ext>
            </a:extLst>
          </p:cNvPr>
          <p:cNvCxnSpPr>
            <a:cxnSpLocks/>
            <a:stCxn id="116" idx="3"/>
            <a:endCxn id="180" idx="7"/>
          </p:cNvCxnSpPr>
          <p:nvPr/>
        </p:nvCxnSpPr>
        <p:spPr>
          <a:xfrm flipH="1">
            <a:off x="5150200" y="3420775"/>
            <a:ext cx="677196" cy="71787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EBDEDEF3-0F0A-86F8-D922-99E30F34D31A}"/>
              </a:ext>
            </a:extLst>
          </p:cNvPr>
          <p:cNvCxnSpPr>
            <a:cxnSpLocks/>
            <a:stCxn id="116" idx="5"/>
            <a:endCxn id="188" idx="1"/>
          </p:cNvCxnSpPr>
          <p:nvPr/>
        </p:nvCxnSpPr>
        <p:spPr>
          <a:xfrm>
            <a:off x="6096104" y="3420775"/>
            <a:ext cx="538741" cy="72626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to 153">
            <a:extLst>
              <a:ext uri="{FF2B5EF4-FFF2-40B4-BE49-F238E27FC236}">
                <a16:creationId xmlns:a16="http://schemas.microsoft.com/office/drawing/2014/main" id="{9716CA67-FC3E-32C9-AB9D-4FA021D2895B}"/>
              </a:ext>
            </a:extLst>
          </p:cNvPr>
          <p:cNvCxnSpPr>
            <a:cxnSpLocks/>
            <a:stCxn id="13" idx="4"/>
            <a:endCxn id="62" idx="0"/>
          </p:cNvCxnSpPr>
          <p:nvPr/>
        </p:nvCxnSpPr>
        <p:spPr>
          <a:xfrm>
            <a:off x="638928" y="4458321"/>
            <a:ext cx="1132" cy="576331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Elipse 172">
            <a:extLst>
              <a:ext uri="{FF2B5EF4-FFF2-40B4-BE49-F238E27FC236}">
                <a16:creationId xmlns:a16="http://schemas.microsoft.com/office/drawing/2014/main" id="{7DE274DA-1EB0-868A-D273-3EBADEDBD4AD}"/>
              </a:ext>
            </a:extLst>
          </p:cNvPr>
          <p:cNvSpPr/>
          <p:nvPr/>
        </p:nvSpPr>
        <p:spPr>
          <a:xfrm>
            <a:off x="1857919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0" name="Elipse 179">
            <a:extLst>
              <a:ext uri="{FF2B5EF4-FFF2-40B4-BE49-F238E27FC236}">
                <a16:creationId xmlns:a16="http://schemas.microsoft.com/office/drawing/2014/main" id="{51DD4EBC-F05F-64E7-3EF8-20C2734BA7BF}"/>
              </a:ext>
            </a:extLst>
          </p:cNvPr>
          <p:cNvSpPr/>
          <p:nvPr/>
        </p:nvSpPr>
        <p:spPr>
          <a:xfrm>
            <a:off x="4825841" y="4082999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6" name="Elipse 185">
            <a:extLst>
              <a:ext uri="{FF2B5EF4-FFF2-40B4-BE49-F238E27FC236}">
                <a16:creationId xmlns:a16="http://schemas.microsoft.com/office/drawing/2014/main" id="{7A5FB5D1-1FA2-5006-7255-B98647C657D0}"/>
              </a:ext>
            </a:extLst>
          </p:cNvPr>
          <p:cNvSpPr/>
          <p:nvPr/>
        </p:nvSpPr>
        <p:spPr>
          <a:xfrm>
            <a:off x="8054527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4DB6EDF0-28F3-E8CF-893A-E885D0522A25}"/>
              </a:ext>
            </a:extLst>
          </p:cNvPr>
          <p:cNvSpPr/>
          <p:nvPr/>
        </p:nvSpPr>
        <p:spPr>
          <a:xfrm>
            <a:off x="6579194" y="4091384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189" name="Elipse 188">
            <a:extLst>
              <a:ext uri="{FF2B5EF4-FFF2-40B4-BE49-F238E27FC236}">
                <a16:creationId xmlns:a16="http://schemas.microsoft.com/office/drawing/2014/main" id="{50E43A23-22FF-B9A2-0FC0-D30DD2B14972}"/>
              </a:ext>
            </a:extLst>
          </p:cNvPr>
          <p:cNvSpPr/>
          <p:nvPr/>
        </p:nvSpPr>
        <p:spPr>
          <a:xfrm>
            <a:off x="6579194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190" name="Conector reto 189">
            <a:extLst>
              <a:ext uri="{FF2B5EF4-FFF2-40B4-BE49-F238E27FC236}">
                <a16:creationId xmlns:a16="http://schemas.microsoft.com/office/drawing/2014/main" id="{2CF60B21-7684-0798-BAE4-3D69CF5B60B9}"/>
              </a:ext>
            </a:extLst>
          </p:cNvPr>
          <p:cNvCxnSpPr>
            <a:cxnSpLocks/>
            <a:stCxn id="188" idx="4"/>
            <a:endCxn id="189" idx="0"/>
          </p:cNvCxnSpPr>
          <p:nvPr/>
        </p:nvCxnSpPr>
        <p:spPr>
          <a:xfrm>
            <a:off x="6769199" y="4471394"/>
            <a:ext cx="0" cy="56325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ctor reto 190">
            <a:extLst>
              <a:ext uri="{FF2B5EF4-FFF2-40B4-BE49-F238E27FC236}">
                <a16:creationId xmlns:a16="http://schemas.microsoft.com/office/drawing/2014/main" id="{71D34D0E-415B-218D-806E-F696A0129BD4}"/>
              </a:ext>
            </a:extLst>
          </p:cNvPr>
          <p:cNvCxnSpPr>
            <a:cxnSpLocks/>
            <a:stCxn id="189" idx="4"/>
            <a:endCxn id="192" idx="0"/>
          </p:cNvCxnSpPr>
          <p:nvPr/>
        </p:nvCxnSpPr>
        <p:spPr>
          <a:xfrm flipH="1">
            <a:off x="6763767" y="5414662"/>
            <a:ext cx="54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Elipse 191">
            <a:extLst>
              <a:ext uri="{FF2B5EF4-FFF2-40B4-BE49-F238E27FC236}">
                <a16:creationId xmlns:a16="http://schemas.microsoft.com/office/drawing/2014/main" id="{B6EDFA02-163B-5BB7-E8A6-13480F0FB61B}"/>
              </a:ext>
            </a:extLst>
          </p:cNvPr>
          <p:cNvSpPr/>
          <p:nvPr/>
        </p:nvSpPr>
        <p:spPr>
          <a:xfrm>
            <a:off x="6573762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265" name="CaixaDeTexto 264">
            <a:extLst>
              <a:ext uri="{FF2B5EF4-FFF2-40B4-BE49-F238E27FC236}">
                <a16:creationId xmlns:a16="http://schemas.microsoft.com/office/drawing/2014/main" id="{A8B7AD3F-0103-BD87-9C2F-93D620A2A451}"/>
              </a:ext>
            </a:extLst>
          </p:cNvPr>
          <p:cNvSpPr txBox="1"/>
          <p:nvPr/>
        </p:nvSpPr>
        <p:spPr>
          <a:xfrm>
            <a:off x="3143594" y="17418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8" name="CaixaDeTexto 267">
            <a:extLst>
              <a:ext uri="{FF2B5EF4-FFF2-40B4-BE49-F238E27FC236}">
                <a16:creationId xmlns:a16="http://schemas.microsoft.com/office/drawing/2014/main" id="{4E8E6834-42A9-345A-1CD8-2A7DA8BE7563}"/>
              </a:ext>
            </a:extLst>
          </p:cNvPr>
          <p:cNvSpPr txBox="1"/>
          <p:nvPr/>
        </p:nvSpPr>
        <p:spPr>
          <a:xfrm>
            <a:off x="2992751" y="36025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9" name="CaixaDeTexto 268">
            <a:extLst>
              <a:ext uri="{FF2B5EF4-FFF2-40B4-BE49-F238E27FC236}">
                <a16:creationId xmlns:a16="http://schemas.microsoft.com/office/drawing/2014/main" id="{E8E3E186-3519-586B-6700-55AF2C52B659}"/>
              </a:ext>
            </a:extLst>
          </p:cNvPr>
          <p:cNvSpPr txBox="1"/>
          <p:nvPr/>
        </p:nvSpPr>
        <p:spPr>
          <a:xfrm>
            <a:off x="6846630" y="55740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70" name="CaixaDeTexto 269">
            <a:extLst>
              <a:ext uri="{FF2B5EF4-FFF2-40B4-BE49-F238E27FC236}">
                <a16:creationId xmlns:a16="http://schemas.microsoft.com/office/drawing/2014/main" id="{98C832BB-DBD1-DA10-0925-2D3DC0B29736}"/>
              </a:ext>
            </a:extLst>
          </p:cNvPr>
          <p:cNvSpPr txBox="1"/>
          <p:nvPr/>
        </p:nvSpPr>
        <p:spPr>
          <a:xfrm>
            <a:off x="5867373" y="17722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1" name="CaixaDeTexto 270">
            <a:extLst>
              <a:ext uri="{FF2B5EF4-FFF2-40B4-BE49-F238E27FC236}">
                <a16:creationId xmlns:a16="http://schemas.microsoft.com/office/drawing/2014/main" id="{9902A51A-F827-7C29-C956-A4342C0B6E99}"/>
              </a:ext>
            </a:extLst>
          </p:cNvPr>
          <p:cNvSpPr txBox="1"/>
          <p:nvPr/>
        </p:nvSpPr>
        <p:spPr>
          <a:xfrm>
            <a:off x="746052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2" name="CaixaDeTexto 271">
            <a:extLst>
              <a:ext uri="{FF2B5EF4-FFF2-40B4-BE49-F238E27FC236}">
                <a16:creationId xmlns:a16="http://schemas.microsoft.com/office/drawing/2014/main" id="{F0C82196-870B-7B50-8AB5-DF0806D51ED0}"/>
              </a:ext>
            </a:extLst>
          </p:cNvPr>
          <p:cNvSpPr txBox="1"/>
          <p:nvPr/>
        </p:nvSpPr>
        <p:spPr>
          <a:xfrm>
            <a:off x="7756627" y="25866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6C03B99E-601E-8093-B332-3FD69A158819}"/>
              </a:ext>
            </a:extLst>
          </p:cNvPr>
          <p:cNvSpPr txBox="1"/>
          <p:nvPr/>
        </p:nvSpPr>
        <p:spPr>
          <a:xfrm>
            <a:off x="674884" y="45525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4" name="CaixaDeTexto 273">
            <a:extLst>
              <a:ext uri="{FF2B5EF4-FFF2-40B4-BE49-F238E27FC236}">
                <a16:creationId xmlns:a16="http://schemas.microsoft.com/office/drawing/2014/main" id="{3D46D4A9-2409-5555-9037-1E6B09BB03B1}"/>
              </a:ext>
            </a:extLst>
          </p:cNvPr>
          <p:cNvSpPr txBox="1"/>
          <p:nvPr/>
        </p:nvSpPr>
        <p:spPr>
          <a:xfrm>
            <a:off x="6387285" y="25807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5" name="CaixaDeTexto 274">
            <a:extLst>
              <a:ext uri="{FF2B5EF4-FFF2-40B4-BE49-F238E27FC236}">
                <a16:creationId xmlns:a16="http://schemas.microsoft.com/office/drawing/2014/main" id="{8002B172-73CF-7067-A3E3-9344D5D8B625}"/>
              </a:ext>
            </a:extLst>
          </p:cNvPr>
          <p:cNvSpPr txBox="1"/>
          <p:nvPr/>
        </p:nvSpPr>
        <p:spPr>
          <a:xfrm>
            <a:off x="2550694" y="2621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6" name="CaixaDeTexto 275">
            <a:extLst>
              <a:ext uri="{FF2B5EF4-FFF2-40B4-BE49-F238E27FC236}">
                <a16:creationId xmlns:a16="http://schemas.microsoft.com/office/drawing/2014/main" id="{785FC724-3BB4-C62F-DDFF-B8A4C727506B}"/>
              </a:ext>
            </a:extLst>
          </p:cNvPr>
          <p:cNvSpPr txBox="1"/>
          <p:nvPr/>
        </p:nvSpPr>
        <p:spPr>
          <a:xfrm>
            <a:off x="6776804" y="45472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7" name="CaixaDeTexto 276">
            <a:extLst>
              <a:ext uri="{FF2B5EF4-FFF2-40B4-BE49-F238E27FC236}">
                <a16:creationId xmlns:a16="http://schemas.microsoft.com/office/drawing/2014/main" id="{00977164-7E5B-93DB-83D4-908E54785C63}"/>
              </a:ext>
            </a:extLst>
          </p:cNvPr>
          <p:cNvSpPr txBox="1"/>
          <p:nvPr/>
        </p:nvSpPr>
        <p:spPr>
          <a:xfrm>
            <a:off x="638928" y="56274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78" name="CaixaDeTexto 277">
            <a:extLst>
              <a:ext uri="{FF2B5EF4-FFF2-40B4-BE49-F238E27FC236}">
                <a16:creationId xmlns:a16="http://schemas.microsoft.com/office/drawing/2014/main" id="{1B1E75B9-C67B-35B8-A723-3FA8539B798F}"/>
              </a:ext>
            </a:extLst>
          </p:cNvPr>
          <p:cNvSpPr txBox="1"/>
          <p:nvPr/>
        </p:nvSpPr>
        <p:spPr>
          <a:xfrm>
            <a:off x="5172636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79" name="CaixaDeTexto 278">
            <a:extLst>
              <a:ext uri="{FF2B5EF4-FFF2-40B4-BE49-F238E27FC236}">
                <a16:creationId xmlns:a16="http://schemas.microsoft.com/office/drawing/2014/main" id="{53389DE9-ABD7-96DA-D904-71A6D49C4246}"/>
              </a:ext>
            </a:extLst>
          </p:cNvPr>
          <p:cNvSpPr txBox="1"/>
          <p:nvPr/>
        </p:nvSpPr>
        <p:spPr>
          <a:xfrm>
            <a:off x="1703924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0" name="CaixaDeTexto 279">
            <a:extLst>
              <a:ext uri="{FF2B5EF4-FFF2-40B4-BE49-F238E27FC236}">
                <a16:creationId xmlns:a16="http://schemas.microsoft.com/office/drawing/2014/main" id="{E367E6C1-C5F0-458F-B095-3BC569E7C781}"/>
              </a:ext>
            </a:extLst>
          </p:cNvPr>
          <p:cNvSpPr txBox="1"/>
          <p:nvPr/>
        </p:nvSpPr>
        <p:spPr>
          <a:xfrm>
            <a:off x="6288932" y="34444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81" name="CaixaDeTexto 280">
            <a:extLst>
              <a:ext uri="{FF2B5EF4-FFF2-40B4-BE49-F238E27FC236}">
                <a16:creationId xmlns:a16="http://schemas.microsoft.com/office/drawing/2014/main" id="{A69E1362-09FD-AA15-DEB9-334268180782}"/>
              </a:ext>
            </a:extLst>
          </p:cNvPr>
          <p:cNvSpPr txBox="1"/>
          <p:nvPr/>
        </p:nvSpPr>
        <p:spPr>
          <a:xfrm>
            <a:off x="1567146" y="26025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98" name="CaixaDeTexto 297">
            <a:extLst>
              <a:ext uri="{FF2B5EF4-FFF2-40B4-BE49-F238E27FC236}">
                <a16:creationId xmlns:a16="http://schemas.microsoft.com/office/drawing/2014/main" id="{7A03544F-5F8E-B56B-E661-457FB9D5D6A9}"/>
              </a:ext>
            </a:extLst>
          </p:cNvPr>
          <p:cNvSpPr txBox="1"/>
          <p:nvPr/>
        </p:nvSpPr>
        <p:spPr>
          <a:xfrm>
            <a:off x="8283694" y="36443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0747102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4D336-7C92-46D3-81D7-05C82FF2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8F531EE-BC08-B75D-9B20-5A9673F9B3CD}"/>
              </a:ext>
            </a:extLst>
          </p:cNvPr>
          <p:cNvSpPr/>
          <p:nvPr/>
        </p:nvSpPr>
        <p:spPr>
          <a:xfrm>
            <a:off x="4381995" y="1582286"/>
            <a:ext cx="380010" cy="38001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2CE143E-6E0C-DB21-7B8A-2F72F9411D31}"/>
              </a:ext>
            </a:extLst>
          </p:cNvPr>
          <p:cNvSpPr/>
          <p:nvPr/>
        </p:nvSpPr>
        <p:spPr>
          <a:xfrm>
            <a:off x="2031011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6EB7C5E-3A61-6576-ECA8-DDB7674B1285}"/>
              </a:ext>
            </a:extLst>
          </p:cNvPr>
          <p:cNvSpPr/>
          <p:nvPr/>
        </p:nvSpPr>
        <p:spPr>
          <a:xfrm>
            <a:off x="7161495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1B5E01D-7A22-C201-2282-27985A6509DC}"/>
              </a:ext>
            </a:extLst>
          </p:cNvPr>
          <p:cNvSpPr/>
          <p:nvPr/>
        </p:nvSpPr>
        <p:spPr>
          <a:xfrm>
            <a:off x="1178975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1F30D8D-A623-B5B4-E676-C61D06D021B4}"/>
              </a:ext>
            </a:extLst>
          </p:cNvPr>
          <p:cNvSpPr/>
          <p:nvPr/>
        </p:nvSpPr>
        <p:spPr>
          <a:xfrm>
            <a:off x="276951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74164C1-26A6-9A77-E239-4B4062390427}"/>
              </a:ext>
            </a:extLst>
          </p:cNvPr>
          <p:cNvSpPr/>
          <p:nvPr/>
        </p:nvSpPr>
        <p:spPr>
          <a:xfrm>
            <a:off x="805710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E906D63-29CD-2DC1-DA7B-1E8EDB06EF76}"/>
              </a:ext>
            </a:extLst>
          </p:cNvPr>
          <p:cNvSpPr/>
          <p:nvPr/>
        </p:nvSpPr>
        <p:spPr>
          <a:xfrm>
            <a:off x="448923" y="4078311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4F22813D-2BD5-5396-1949-030D7C5F5270}"/>
              </a:ext>
            </a:extLst>
          </p:cNvPr>
          <p:cNvCxnSpPr>
            <a:cxnSpLocks/>
            <a:stCxn id="3" idx="3"/>
            <a:endCxn id="7" idx="7"/>
          </p:cNvCxnSpPr>
          <p:nvPr/>
        </p:nvCxnSpPr>
        <p:spPr>
          <a:xfrm flipH="1">
            <a:off x="2355370" y="1906645"/>
            <a:ext cx="2082276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448799B2-9C98-5852-AE81-53D6B38A099E}"/>
              </a:ext>
            </a:extLst>
          </p:cNvPr>
          <p:cNvCxnSpPr>
            <a:cxnSpLocks/>
            <a:stCxn id="3" idx="5"/>
            <a:endCxn id="8" idx="1"/>
          </p:cNvCxnSpPr>
          <p:nvPr/>
        </p:nvCxnSpPr>
        <p:spPr>
          <a:xfrm>
            <a:off x="4706354" y="1906645"/>
            <a:ext cx="2510792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020DC8C-E3B1-7F14-9A65-1688BD43E140}"/>
              </a:ext>
            </a:extLst>
          </p:cNvPr>
          <p:cNvCxnSpPr>
            <a:cxnSpLocks/>
            <a:stCxn id="7" idx="5"/>
            <a:endCxn id="10" idx="1"/>
          </p:cNvCxnSpPr>
          <p:nvPr/>
        </p:nvCxnSpPr>
        <p:spPr>
          <a:xfrm>
            <a:off x="2355370" y="2584501"/>
            <a:ext cx="469791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28E6102A-08D1-9830-BFCC-9FC3D85499C5}"/>
              </a:ext>
            </a:extLst>
          </p:cNvPr>
          <p:cNvCxnSpPr>
            <a:cxnSpLocks/>
            <a:stCxn id="9" idx="3"/>
            <a:endCxn id="13" idx="7"/>
          </p:cNvCxnSpPr>
          <p:nvPr/>
        </p:nvCxnSpPr>
        <p:spPr>
          <a:xfrm flipH="1">
            <a:off x="773282" y="3432818"/>
            <a:ext cx="461344" cy="70114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790F476E-F819-60D6-93FF-6B9D665C6D42}"/>
              </a:ext>
            </a:extLst>
          </p:cNvPr>
          <p:cNvCxnSpPr>
            <a:cxnSpLocks/>
            <a:stCxn id="9" idx="7"/>
            <a:endCxn id="7" idx="3"/>
          </p:cNvCxnSpPr>
          <p:nvPr/>
        </p:nvCxnSpPr>
        <p:spPr>
          <a:xfrm flipV="1">
            <a:off x="1503334" y="2584501"/>
            <a:ext cx="583328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79420353-7055-2546-FF0D-E65F1234955D}"/>
              </a:ext>
            </a:extLst>
          </p:cNvPr>
          <p:cNvCxnSpPr>
            <a:cxnSpLocks/>
            <a:stCxn id="8" idx="5"/>
            <a:endCxn id="12" idx="1"/>
          </p:cNvCxnSpPr>
          <p:nvPr/>
        </p:nvCxnSpPr>
        <p:spPr>
          <a:xfrm>
            <a:off x="7485854" y="2584501"/>
            <a:ext cx="626897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BE306C76-70AF-46CA-94DD-2FAD80EA8459}"/>
              </a:ext>
            </a:extLst>
          </p:cNvPr>
          <p:cNvCxnSpPr>
            <a:cxnSpLocks/>
            <a:stCxn id="10" idx="4"/>
            <a:endCxn id="96" idx="0"/>
          </p:cNvCxnSpPr>
          <p:nvPr/>
        </p:nvCxnSpPr>
        <p:spPr>
          <a:xfrm flipH="1">
            <a:off x="2953589" y="3488469"/>
            <a:ext cx="5926" cy="589842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F361D897-B4B0-F09E-FFFE-51EC60D44E6D}"/>
              </a:ext>
            </a:extLst>
          </p:cNvPr>
          <p:cNvSpPr/>
          <p:nvPr/>
        </p:nvSpPr>
        <p:spPr>
          <a:xfrm>
            <a:off x="450055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AB764677-3E27-1B0F-1873-38ABFEB7DFF5}"/>
              </a:ext>
            </a:extLst>
          </p:cNvPr>
          <p:cNvCxnSpPr>
            <a:cxnSpLocks/>
            <a:stCxn id="9" idx="5"/>
            <a:endCxn id="173" idx="1"/>
          </p:cNvCxnSpPr>
          <p:nvPr/>
        </p:nvCxnSpPr>
        <p:spPr>
          <a:xfrm>
            <a:off x="1503334" y="3432818"/>
            <a:ext cx="410236" cy="70887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3827C75E-4552-DCA4-A3B9-4E4F7C1D63F6}"/>
              </a:ext>
            </a:extLst>
          </p:cNvPr>
          <p:cNvCxnSpPr>
            <a:cxnSpLocks/>
            <a:stCxn id="62" idx="4"/>
            <a:endCxn id="66" idx="0"/>
          </p:cNvCxnSpPr>
          <p:nvPr/>
        </p:nvCxnSpPr>
        <p:spPr>
          <a:xfrm flipH="1">
            <a:off x="638928" y="5414662"/>
            <a:ext cx="11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>
            <a:extLst>
              <a:ext uri="{FF2B5EF4-FFF2-40B4-BE49-F238E27FC236}">
                <a16:creationId xmlns:a16="http://schemas.microsoft.com/office/drawing/2014/main" id="{0A75B533-A025-2EFD-8F4B-3F1DBAFAC1B4}"/>
              </a:ext>
            </a:extLst>
          </p:cNvPr>
          <p:cNvSpPr/>
          <p:nvPr/>
        </p:nvSpPr>
        <p:spPr>
          <a:xfrm>
            <a:off x="448923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F14DD0C1-C5D5-91FB-D102-8D1F66293C7E}"/>
              </a:ext>
            </a:extLst>
          </p:cNvPr>
          <p:cNvSpPr/>
          <p:nvPr/>
        </p:nvSpPr>
        <p:spPr>
          <a:xfrm>
            <a:off x="2763584" y="4078311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7779D72D-65C8-D757-751C-97652E3ACF74}"/>
              </a:ext>
            </a:extLst>
          </p:cNvPr>
          <p:cNvCxnSpPr>
            <a:cxnSpLocks/>
            <a:stCxn id="12" idx="4"/>
            <a:endCxn id="186" idx="0"/>
          </p:cNvCxnSpPr>
          <p:nvPr/>
        </p:nvCxnSpPr>
        <p:spPr>
          <a:xfrm flipH="1">
            <a:off x="8244532" y="3488469"/>
            <a:ext cx="2573" cy="59757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lipse 115">
            <a:extLst>
              <a:ext uri="{FF2B5EF4-FFF2-40B4-BE49-F238E27FC236}">
                <a16:creationId xmlns:a16="http://schemas.microsoft.com/office/drawing/2014/main" id="{32E4E34B-5965-AEEF-E793-B4B95EBA5F97}"/>
              </a:ext>
            </a:extLst>
          </p:cNvPr>
          <p:cNvSpPr/>
          <p:nvPr/>
        </p:nvSpPr>
        <p:spPr>
          <a:xfrm>
            <a:off x="5771745" y="3096416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8CEC41BD-1233-9D72-6852-F14D63585A16}"/>
              </a:ext>
            </a:extLst>
          </p:cNvPr>
          <p:cNvCxnSpPr>
            <a:cxnSpLocks/>
            <a:stCxn id="116" idx="7"/>
            <a:endCxn id="8" idx="3"/>
          </p:cNvCxnSpPr>
          <p:nvPr/>
        </p:nvCxnSpPr>
        <p:spPr>
          <a:xfrm flipV="1">
            <a:off x="6096104" y="2584501"/>
            <a:ext cx="1121042" cy="56756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E5342D0F-FC1A-BED9-A33D-50EC4FFC03B1}"/>
              </a:ext>
            </a:extLst>
          </p:cNvPr>
          <p:cNvCxnSpPr>
            <a:cxnSpLocks/>
            <a:stCxn id="116" idx="3"/>
            <a:endCxn id="180" idx="7"/>
          </p:cNvCxnSpPr>
          <p:nvPr/>
        </p:nvCxnSpPr>
        <p:spPr>
          <a:xfrm flipH="1">
            <a:off x="5150200" y="3420775"/>
            <a:ext cx="677196" cy="71787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EBDEDEF3-0F0A-86F8-D922-99E30F34D31A}"/>
              </a:ext>
            </a:extLst>
          </p:cNvPr>
          <p:cNvCxnSpPr>
            <a:cxnSpLocks/>
            <a:stCxn id="116" idx="5"/>
            <a:endCxn id="188" idx="1"/>
          </p:cNvCxnSpPr>
          <p:nvPr/>
        </p:nvCxnSpPr>
        <p:spPr>
          <a:xfrm>
            <a:off x="6096104" y="3420775"/>
            <a:ext cx="538741" cy="72626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to 153">
            <a:extLst>
              <a:ext uri="{FF2B5EF4-FFF2-40B4-BE49-F238E27FC236}">
                <a16:creationId xmlns:a16="http://schemas.microsoft.com/office/drawing/2014/main" id="{9716CA67-FC3E-32C9-AB9D-4FA021D2895B}"/>
              </a:ext>
            </a:extLst>
          </p:cNvPr>
          <p:cNvCxnSpPr>
            <a:cxnSpLocks/>
            <a:stCxn id="13" idx="4"/>
            <a:endCxn id="62" idx="0"/>
          </p:cNvCxnSpPr>
          <p:nvPr/>
        </p:nvCxnSpPr>
        <p:spPr>
          <a:xfrm>
            <a:off x="638928" y="4458321"/>
            <a:ext cx="1132" cy="576331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Elipse 172">
            <a:extLst>
              <a:ext uri="{FF2B5EF4-FFF2-40B4-BE49-F238E27FC236}">
                <a16:creationId xmlns:a16="http://schemas.microsoft.com/office/drawing/2014/main" id="{7DE274DA-1EB0-868A-D273-3EBADEDBD4AD}"/>
              </a:ext>
            </a:extLst>
          </p:cNvPr>
          <p:cNvSpPr/>
          <p:nvPr/>
        </p:nvSpPr>
        <p:spPr>
          <a:xfrm>
            <a:off x="1857919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0" name="Elipse 179">
            <a:extLst>
              <a:ext uri="{FF2B5EF4-FFF2-40B4-BE49-F238E27FC236}">
                <a16:creationId xmlns:a16="http://schemas.microsoft.com/office/drawing/2014/main" id="{51DD4EBC-F05F-64E7-3EF8-20C2734BA7BF}"/>
              </a:ext>
            </a:extLst>
          </p:cNvPr>
          <p:cNvSpPr/>
          <p:nvPr/>
        </p:nvSpPr>
        <p:spPr>
          <a:xfrm>
            <a:off x="4825841" y="4082999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6" name="Elipse 185">
            <a:extLst>
              <a:ext uri="{FF2B5EF4-FFF2-40B4-BE49-F238E27FC236}">
                <a16:creationId xmlns:a16="http://schemas.microsoft.com/office/drawing/2014/main" id="{7A5FB5D1-1FA2-5006-7255-B98647C657D0}"/>
              </a:ext>
            </a:extLst>
          </p:cNvPr>
          <p:cNvSpPr/>
          <p:nvPr/>
        </p:nvSpPr>
        <p:spPr>
          <a:xfrm>
            <a:off x="8054527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4DB6EDF0-28F3-E8CF-893A-E885D0522A25}"/>
              </a:ext>
            </a:extLst>
          </p:cNvPr>
          <p:cNvSpPr/>
          <p:nvPr/>
        </p:nvSpPr>
        <p:spPr>
          <a:xfrm>
            <a:off x="6579194" y="4091384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189" name="Elipse 188">
            <a:extLst>
              <a:ext uri="{FF2B5EF4-FFF2-40B4-BE49-F238E27FC236}">
                <a16:creationId xmlns:a16="http://schemas.microsoft.com/office/drawing/2014/main" id="{50E43A23-22FF-B9A2-0FC0-D30DD2B14972}"/>
              </a:ext>
            </a:extLst>
          </p:cNvPr>
          <p:cNvSpPr/>
          <p:nvPr/>
        </p:nvSpPr>
        <p:spPr>
          <a:xfrm>
            <a:off x="6579194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190" name="Conector reto 189">
            <a:extLst>
              <a:ext uri="{FF2B5EF4-FFF2-40B4-BE49-F238E27FC236}">
                <a16:creationId xmlns:a16="http://schemas.microsoft.com/office/drawing/2014/main" id="{2CF60B21-7684-0798-BAE4-3D69CF5B60B9}"/>
              </a:ext>
            </a:extLst>
          </p:cNvPr>
          <p:cNvCxnSpPr>
            <a:cxnSpLocks/>
            <a:stCxn id="188" idx="4"/>
            <a:endCxn id="189" idx="0"/>
          </p:cNvCxnSpPr>
          <p:nvPr/>
        </p:nvCxnSpPr>
        <p:spPr>
          <a:xfrm>
            <a:off x="6769199" y="4471394"/>
            <a:ext cx="0" cy="56325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ctor reto 190">
            <a:extLst>
              <a:ext uri="{FF2B5EF4-FFF2-40B4-BE49-F238E27FC236}">
                <a16:creationId xmlns:a16="http://schemas.microsoft.com/office/drawing/2014/main" id="{71D34D0E-415B-218D-806E-F696A0129BD4}"/>
              </a:ext>
            </a:extLst>
          </p:cNvPr>
          <p:cNvCxnSpPr>
            <a:cxnSpLocks/>
            <a:stCxn id="189" idx="4"/>
            <a:endCxn id="192" idx="0"/>
          </p:cNvCxnSpPr>
          <p:nvPr/>
        </p:nvCxnSpPr>
        <p:spPr>
          <a:xfrm flipH="1">
            <a:off x="6763767" y="5414662"/>
            <a:ext cx="54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Elipse 191">
            <a:extLst>
              <a:ext uri="{FF2B5EF4-FFF2-40B4-BE49-F238E27FC236}">
                <a16:creationId xmlns:a16="http://schemas.microsoft.com/office/drawing/2014/main" id="{B6EDFA02-163B-5BB7-E8A6-13480F0FB61B}"/>
              </a:ext>
            </a:extLst>
          </p:cNvPr>
          <p:cNvSpPr/>
          <p:nvPr/>
        </p:nvSpPr>
        <p:spPr>
          <a:xfrm>
            <a:off x="6573762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265" name="CaixaDeTexto 264">
            <a:extLst>
              <a:ext uri="{FF2B5EF4-FFF2-40B4-BE49-F238E27FC236}">
                <a16:creationId xmlns:a16="http://schemas.microsoft.com/office/drawing/2014/main" id="{A8B7AD3F-0103-BD87-9C2F-93D620A2A451}"/>
              </a:ext>
            </a:extLst>
          </p:cNvPr>
          <p:cNvSpPr txBox="1"/>
          <p:nvPr/>
        </p:nvSpPr>
        <p:spPr>
          <a:xfrm>
            <a:off x="3143594" y="17418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8" name="CaixaDeTexto 267">
            <a:extLst>
              <a:ext uri="{FF2B5EF4-FFF2-40B4-BE49-F238E27FC236}">
                <a16:creationId xmlns:a16="http://schemas.microsoft.com/office/drawing/2014/main" id="{4E8E6834-42A9-345A-1CD8-2A7DA8BE7563}"/>
              </a:ext>
            </a:extLst>
          </p:cNvPr>
          <p:cNvSpPr txBox="1"/>
          <p:nvPr/>
        </p:nvSpPr>
        <p:spPr>
          <a:xfrm>
            <a:off x="2992751" y="36025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9" name="CaixaDeTexto 268">
            <a:extLst>
              <a:ext uri="{FF2B5EF4-FFF2-40B4-BE49-F238E27FC236}">
                <a16:creationId xmlns:a16="http://schemas.microsoft.com/office/drawing/2014/main" id="{E8E3E186-3519-586B-6700-55AF2C52B659}"/>
              </a:ext>
            </a:extLst>
          </p:cNvPr>
          <p:cNvSpPr txBox="1"/>
          <p:nvPr/>
        </p:nvSpPr>
        <p:spPr>
          <a:xfrm>
            <a:off x="6846630" y="55740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70" name="CaixaDeTexto 269">
            <a:extLst>
              <a:ext uri="{FF2B5EF4-FFF2-40B4-BE49-F238E27FC236}">
                <a16:creationId xmlns:a16="http://schemas.microsoft.com/office/drawing/2014/main" id="{98C832BB-DBD1-DA10-0925-2D3DC0B29736}"/>
              </a:ext>
            </a:extLst>
          </p:cNvPr>
          <p:cNvSpPr txBox="1"/>
          <p:nvPr/>
        </p:nvSpPr>
        <p:spPr>
          <a:xfrm>
            <a:off x="5867373" y="17722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1" name="CaixaDeTexto 270">
            <a:extLst>
              <a:ext uri="{FF2B5EF4-FFF2-40B4-BE49-F238E27FC236}">
                <a16:creationId xmlns:a16="http://schemas.microsoft.com/office/drawing/2014/main" id="{9902A51A-F827-7C29-C956-A4342C0B6E99}"/>
              </a:ext>
            </a:extLst>
          </p:cNvPr>
          <p:cNvSpPr txBox="1"/>
          <p:nvPr/>
        </p:nvSpPr>
        <p:spPr>
          <a:xfrm>
            <a:off x="746052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2" name="CaixaDeTexto 271">
            <a:extLst>
              <a:ext uri="{FF2B5EF4-FFF2-40B4-BE49-F238E27FC236}">
                <a16:creationId xmlns:a16="http://schemas.microsoft.com/office/drawing/2014/main" id="{F0C82196-870B-7B50-8AB5-DF0806D51ED0}"/>
              </a:ext>
            </a:extLst>
          </p:cNvPr>
          <p:cNvSpPr txBox="1"/>
          <p:nvPr/>
        </p:nvSpPr>
        <p:spPr>
          <a:xfrm>
            <a:off x="7756627" y="25866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6C03B99E-601E-8093-B332-3FD69A158819}"/>
              </a:ext>
            </a:extLst>
          </p:cNvPr>
          <p:cNvSpPr txBox="1"/>
          <p:nvPr/>
        </p:nvSpPr>
        <p:spPr>
          <a:xfrm>
            <a:off x="674884" y="45525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4" name="CaixaDeTexto 273">
            <a:extLst>
              <a:ext uri="{FF2B5EF4-FFF2-40B4-BE49-F238E27FC236}">
                <a16:creationId xmlns:a16="http://schemas.microsoft.com/office/drawing/2014/main" id="{3D46D4A9-2409-5555-9037-1E6B09BB03B1}"/>
              </a:ext>
            </a:extLst>
          </p:cNvPr>
          <p:cNvSpPr txBox="1"/>
          <p:nvPr/>
        </p:nvSpPr>
        <p:spPr>
          <a:xfrm>
            <a:off x="6387285" y="25807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5" name="CaixaDeTexto 274">
            <a:extLst>
              <a:ext uri="{FF2B5EF4-FFF2-40B4-BE49-F238E27FC236}">
                <a16:creationId xmlns:a16="http://schemas.microsoft.com/office/drawing/2014/main" id="{8002B172-73CF-7067-A3E3-9344D5D8B625}"/>
              </a:ext>
            </a:extLst>
          </p:cNvPr>
          <p:cNvSpPr txBox="1"/>
          <p:nvPr/>
        </p:nvSpPr>
        <p:spPr>
          <a:xfrm>
            <a:off x="2550694" y="2621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6" name="CaixaDeTexto 275">
            <a:extLst>
              <a:ext uri="{FF2B5EF4-FFF2-40B4-BE49-F238E27FC236}">
                <a16:creationId xmlns:a16="http://schemas.microsoft.com/office/drawing/2014/main" id="{785FC724-3BB4-C62F-DDFF-B8A4C727506B}"/>
              </a:ext>
            </a:extLst>
          </p:cNvPr>
          <p:cNvSpPr txBox="1"/>
          <p:nvPr/>
        </p:nvSpPr>
        <p:spPr>
          <a:xfrm>
            <a:off x="6776804" y="45472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7" name="CaixaDeTexto 276">
            <a:extLst>
              <a:ext uri="{FF2B5EF4-FFF2-40B4-BE49-F238E27FC236}">
                <a16:creationId xmlns:a16="http://schemas.microsoft.com/office/drawing/2014/main" id="{00977164-7E5B-93DB-83D4-908E54785C63}"/>
              </a:ext>
            </a:extLst>
          </p:cNvPr>
          <p:cNvSpPr txBox="1"/>
          <p:nvPr/>
        </p:nvSpPr>
        <p:spPr>
          <a:xfrm>
            <a:off x="638928" y="56274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78" name="CaixaDeTexto 277">
            <a:extLst>
              <a:ext uri="{FF2B5EF4-FFF2-40B4-BE49-F238E27FC236}">
                <a16:creationId xmlns:a16="http://schemas.microsoft.com/office/drawing/2014/main" id="{1B1E75B9-C67B-35B8-A723-3FA8539B798F}"/>
              </a:ext>
            </a:extLst>
          </p:cNvPr>
          <p:cNvSpPr txBox="1"/>
          <p:nvPr/>
        </p:nvSpPr>
        <p:spPr>
          <a:xfrm>
            <a:off x="5172636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79" name="CaixaDeTexto 278">
            <a:extLst>
              <a:ext uri="{FF2B5EF4-FFF2-40B4-BE49-F238E27FC236}">
                <a16:creationId xmlns:a16="http://schemas.microsoft.com/office/drawing/2014/main" id="{53389DE9-ABD7-96DA-D904-71A6D49C4246}"/>
              </a:ext>
            </a:extLst>
          </p:cNvPr>
          <p:cNvSpPr txBox="1"/>
          <p:nvPr/>
        </p:nvSpPr>
        <p:spPr>
          <a:xfrm>
            <a:off x="1703924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0" name="CaixaDeTexto 279">
            <a:extLst>
              <a:ext uri="{FF2B5EF4-FFF2-40B4-BE49-F238E27FC236}">
                <a16:creationId xmlns:a16="http://schemas.microsoft.com/office/drawing/2014/main" id="{E367E6C1-C5F0-458F-B095-3BC569E7C781}"/>
              </a:ext>
            </a:extLst>
          </p:cNvPr>
          <p:cNvSpPr txBox="1"/>
          <p:nvPr/>
        </p:nvSpPr>
        <p:spPr>
          <a:xfrm>
            <a:off x="6288932" y="34444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81" name="CaixaDeTexto 280">
            <a:extLst>
              <a:ext uri="{FF2B5EF4-FFF2-40B4-BE49-F238E27FC236}">
                <a16:creationId xmlns:a16="http://schemas.microsoft.com/office/drawing/2014/main" id="{A69E1362-09FD-AA15-DEB9-334268180782}"/>
              </a:ext>
            </a:extLst>
          </p:cNvPr>
          <p:cNvSpPr txBox="1"/>
          <p:nvPr/>
        </p:nvSpPr>
        <p:spPr>
          <a:xfrm>
            <a:off x="1567146" y="26025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98" name="CaixaDeTexto 297">
            <a:extLst>
              <a:ext uri="{FF2B5EF4-FFF2-40B4-BE49-F238E27FC236}">
                <a16:creationId xmlns:a16="http://schemas.microsoft.com/office/drawing/2014/main" id="{7A03544F-5F8E-B56B-E661-457FB9D5D6A9}"/>
              </a:ext>
            </a:extLst>
          </p:cNvPr>
          <p:cNvSpPr txBox="1"/>
          <p:nvPr/>
        </p:nvSpPr>
        <p:spPr>
          <a:xfrm>
            <a:off x="8283694" y="36443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2934D5-EDEF-121F-338B-B244DB6F18A0}"/>
              </a:ext>
            </a:extLst>
          </p:cNvPr>
          <p:cNvSpPr txBox="1"/>
          <p:nvPr/>
        </p:nvSpPr>
        <p:spPr>
          <a:xfrm>
            <a:off x="836856" y="6108184"/>
            <a:ext cx="795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1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3F2FD027-4C1D-B887-6E18-175D62B75BD2}"/>
              </a:ext>
            </a:extLst>
          </p:cNvPr>
          <p:cNvSpPr txBox="1"/>
          <p:nvPr/>
        </p:nvSpPr>
        <p:spPr>
          <a:xfrm>
            <a:off x="1650154" y="4499798"/>
            <a:ext cx="795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2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48BB7269-1929-CF6F-127A-3F70CBC96149}"/>
              </a:ext>
            </a:extLst>
          </p:cNvPr>
          <p:cNvSpPr txBox="1"/>
          <p:nvPr/>
        </p:nvSpPr>
        <p:spPr>
          <a:xfrm>
            <a:off x="2602492" y="4499798"/>
            <a:ext cx="795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3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9678084-96A7-14DF-EAFC-0B0F3F5F24C8}"/>
              </a:ext>
            </a:extLst>
          </p:cNvPr>
          <p:cNvSpPr txBox="1"/>
          <p:nvPr/>
        </p:nvSpPr>
        <p:spPr>
          <a:xfrm>
            <a:off x="4618076" y="4500605"/>
            <a:ext cx="795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4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E7225267-F1FE-77DE-7520-5FCB83CE5E5F}"/>
              </a:ext>
            </a:extLst>
          </p:cNvPr>
          <p:cNvSpPr txBox="1"/>
          <p:nvPr/>
        </p:nvSpPr>
        <p:spPr>
          <a:xfrm>
            <a:off x="6997473" y="6102844"/>
            <a:ext cx="795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5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F628254-C7AF-5C7D-2C7A-93FB6501D061}"/>
              </a:ext>
            </a:extLst>
          </p:cNvPr>
          <p:cNvSpPr txBox="1"/>
          <p:nvPr/>
        </p:nvSpPr>
        <p:spPr>
          <a:xfrm>
            <a:off x="7840552" y="4547220"/>
            <a:ext cx="795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6</a:t>
            </a:r>
          </a:p>
        </p:txBody>
      </p:sp>
    </p:spTree>
    <p:extLst>
      <p:ext uri="{BB962C8B-B14F-4D97-AF65-F5344CB8AC3E}">
        <p14:creationId xmlns:p14="http://schemas.microsoft.com/office/powerpoint/2010/main" val="46880543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97584-E5F9-5429-B3B6-1F7C31716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37EFC62-DC68-2B06-3D1E-E7F9707C6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123" y="2674234"/>
            <a:ext cx="6053753" cy="2004642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7FF91152-9305-47A0-56D0-613093AD1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pt-BR" b="1" u="none" dirty="0"/>
              <a:t>Rotas possíveis</a:t>
            </a:r>
          </a:p>
        </p:txBody>
      </p:sp>
    </p:spTree>
    <p:extLst>
      <p:ext uri="{BB962C8B-B14F-4D97-AF65-F5344CB8AC3E}">
        <p14:creationId xmlns:p14="http://schemas.microsoft.com/office/powerpoint/2010/main" val="45895105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97584-E5F9-5429-B3B6-1F7C31716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8C6927-6AFA-19DA-F716-D13F5916A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893" y="2533835"/>
            <a:ext cx="3366213" cy="2133168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65FE26E-CB36-D96B-E2A0-400F9171A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pt-BR" b="1" u="none" dirty="0"/>
              <a:t>Matriz de adjacência</a:t>
            </a:r>
            <a:endParaRPr lang="pt-BR" sz="2600" u="none" dirty="0"/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1C8D7F7-29A3-149D-3062-0C8926E9DCDE}"/>
              </a:ext>
            </a:extLst>
          </p:cNvPr>
          <p:cNvSpPr txBox="1"/>
          <p:nvPr/>
        </p:nvSpPr>
        <p:spPr>
          <a:xfrm>
            <a:off x="821803" y="4838218"/>
            <a:ext cx="7118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Cada célula da matriz indica a distância (ou custo) entre dois nós da rede.</a:t>
            </a:r>
          </a:p>
        </p:txBody>
      </p:sp>
    </p:spTree>
    <p:extLst>
      <p:ext uri="{BB962C8B-B14F-4D97-AF65-F5344CB8AC3E}">
        <p14:creationId xmlns:p14="http://schemas.microsoft.com/office/powerpoint/2010/main" val="286830920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4D336-7C92-46D3-81D7-05C82FF2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8F531EE-BC08-B75D-9B20-5A9673F9B3CD}"/>
              </a:ext>
            </a:extLst>
          </p:cNvPr>
          <p:cNvSpPr/>
          <p:nvPr/>
        </p:nvSpPr>
        <p:spPr>
          <a:xfrm>
            <a:off x="4381995" y="1582286"/>
            <a:ext cx="380010" cy="38001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2CE143E-6E0C-DB21-7B8A-2F72F9411D31}"/>
              </a:ext>
            </a:extLst>
          </p:cNvPr>
          <p:cNvSpPr/>
          <p:nvPr/>
        </p:nvSpPr>
        <p:spPr>
          <a:xfrm>
            <a:off x="2031011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6EB7C5E-3A61-6576-ECA8-DDB7674B1285}"/>
              </a:ext>
            </a:extLst>
          </p:cNvPr>
          <p:cNvSpPr/>
          <p:nvPr/>
        </p:nvSpPr>
        <p:spPr>
          <a:xfrm>
            <a:off x="7161495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1B5E01D-7A22-C201-2282-27985A6509DC}"/>
              </a:ext>
            </a:extLst>
          </p:cNvPr>
          <p:cNvSpPr/>
          <p:nvPr/>
        </p:nvSpPr>
        <p:spPr>
          <a:xfrm>
            <a:off x="1178975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1F30D8D-A623-B5B4-E676-C61D06D021B4}"/>
              </a:ext>
            </a:extLst>
          </p:cNvPr>
          <p:cNvSpPr/>
          <p:nvPr/>
        </p:nvSpPr>
        <p:spPr>
          <a:xfrm>
            <a:off x="276951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74164C1-26A6-9A77-E239-4B4062390427}"/>
              </a:ext>
            </a:extLst>
          </p:cNvPr>
          <p:cNvSpPr/>
          <p:nvPr/>
        </p:nvSpPr>
        <p:spPr>
          <a:xfrm>
            <a:off x="805710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E906D63-29CD-2DC1-DA7B-1E8EDB06EF76}"/>
              </a:ext>
            </a:extLst>
          </p:cNvPr>
          <p:cNvSpPr/>
          <p:nvPr/>
        </p:nvSpPr>
        <p:spPr>
          <a:xfrm>
            <a:off x="448923" y="4078311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4F22813D-2BD5-5396-1949-030D7C5F5270}"/>
              </a:ext>
            </a:extLst>
          </p:cNvPr>
          <p:cNvCxnSpPr>
            <a:cxnSpLocks/>
            <a:stCxn id="3" idx="3"/>
            <a:endCxn id="7" idx="7"/>
          </p:cNvCxnSpPr>
          <p:nvPr/>
        </p:nvCxnSpPr>
        <p:spPr>
          <a:xfrm flipH="1">
            <a:off x="2355370" y="1906645"/>
            <a:ext cx="2082276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448799B2-9C98-5852-AE81-53D6B38A099E}"/>
              </a:ext>
            </a:extLst>
          </p:cNvPr>
          <p:cNvCxnSpPr>
            <a:cxnSpLocks/>
            <a:stCxn id="3" idx="5"/>
            <a:endCxn id="8" idx="1"/>
          </p:cNvCxnSpPr>
          <p:nvPr/>
        </p:nvCxnSpPr>
        <p:spPr>
          <a:xfrm>
            <a:off x="4706354" y="1906645"/>
            <a:ext cx="2510792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020DC8C-E3B1-7F14-9A65-1688BD43E140}"/>
              </a:ext>
            </a:extLst>
          </p:cNvPr>
          <p:cNvCxnSpPr>
            <a:cxnSpLocks/>
            <a:stCxn id="7" idx="5"/>
            <a:endCxn id="10" idx="1"/>
          </p:cNvCxnSpPr>
          <p:nvPr/>
        </p:nvCxnSpPr>
        <p:spPr>
          <a:xfrm>
            <a:off x="2355370" y="2584501"/>
            <a:ext cx="469791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28E6102A-08D1-9830-BFCC-9FC3D85499C5}"/>
              </a:ext>
            </a:extLst>
          </p:cNvPr>
          <p:cNvCxnSpPr>
            <a:cxnSpLocks/>
            <a:stCxn id="9" idx="3"/>
            <a:endCxn id="13" idx="7"/>
          </p:cNvCxnSpPr>
          <p:nvPr/>
        </p:nvCxnSpPr>
        <p:spPr>
          <a:xfrm flipH="1">
            <a:off x="773282" y="3432818"/>
            <a:ext cx="461344" cy="70114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790F476E-F819-60D6-93FF-6B9D665C6D42}"/>
              </a:ext>
            </a:extLst>
          </p:cNvPr>
          <p:cNvCxnSpPr>
            <a:cxnSpLocks/>
            <a:stCxn id="9" idx="7"/>
            <a:endCxn id="7" idx="3"/>
          </p:cNvCxnSpPr>
          <p:nvPr/>
        </p:nvCxnSpPr>
        <p:spPr>
          <a:xfrm flipV="1">
            <a:off x="1503334" y="2584501"/>
            <a:ext cx="583328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79420353-7055-2546-FF0D-E65F1234955D}"/>
              </a:ext>
            </a:extLst>
          </p:cNvPr>
          <p:cNvCxnSpPr>
            <a:cxnSpLocks/>
            <a:stCxn id="8" idx="5"/>
            <a:endCxn id="12" idx="1"/>
          </p:cNvCxnSpPr>
          <p:nvPr/>
        </p:nvCxnSpPr>
        <p:spPr>
          <a:xfrm>
            <a:off x="7485854" y="2584501"/>
            <a:ext cx="626897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BE306C76-70AF-46CA-94DD-2FAD80EA8459}"/>
              </a:ext>
            </a:extLst>
          </p:cNvPr>
          <p:cNvCxnSpPr>
            <a:cxnSpLocks/>
            <a:stCxn id="10" idx="4"/>
            <a:endCxn id="96" idx="0"/>
          </p:cNvCxnSpPr>
          <p:nvPr/>
        </p:nvCxnSpPr>
        <p:spPr>
          <a:xfrm flipH="1">
            <a:off x="2953589" y="3488469"/>
            <a:ext cx="5926" cy="589842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F361D897-B4B0-F09E-FFFE-51EC60D44E6D}"/>
              </a:ext>
            </a:extLst>
          </p:cNvPr>
          <p:cNvSpPr/>
          <p:nvPr/>
        </p:nvSpPr>
        <p:spPr>
          <a:xfrm>
            <a:off x="450055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AB764677-3E27-1B0F-1873-38ABFEB7DFF5}"/>
              </a:ext>
            </a:extLst>
          </p:cNvPr>
          <p:cNvCxnSpPr>
            <a:cxnSpLocks/>
            <a:stCxn id="9" idx="5"/>
            <a:endCxn id="173" idx="1"/>
          </p:cNvCxnSpPr>
          <p:nvPr/>
        </p:nvCxnSpPr>
        <p:spPr>
          <a:xfrm>
            <a:off x="1503334" y="3432818"/>
            <a:ext cx="410236" cy="70887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3827C75E-4552-DCA4-A3B9-4E4F7C1D63F6}"/>
              </a:ext>
            </a:extLst>
          </p:cNvPr>
          <p:cNvCxnSpPr>
            <a:cxnSpLocks/>
            <a:stCxn id="62" idx="4"/>
            <a:endCxn id="66" idx="0"/>
          </p:cNvCxnSpPr>
          <p:nvPr/>
        </p:nvCxnSpPr>
        <p:spPr>
          <a:xfrm flipH="1">
            <a:off x="638928" y="5414662"/>
            <a:ext cx="11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>
            <a:extLst>
              <a:ext uri="{FF2B5EF4-FFF2-40B4-BE49-F238E27FC236}">
                <a16:creationId xmlns:a16="http://schemas.microsoft.com/office/drawing/2014/main" id="{0A75B533-A025-2EFD-8F4B-3F1DBAFAC1B4}"/>
              </a:ext>
            </a:extLst>
          </p:cNvPr>
          <p:cNvSpPr/>
          <p:nvPr/>
        </p:nvSpPr>
        <p:spPr>
          <a:xfrm>
            <a:off x="448923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F14DD0C1-C5D5-91FB-D102-8D1F66293C7E}"/>
              </a:ext>
            </a:extLst>
          </p:cNvPr>
          <p:cNvSpPr/>
          <p:nvPr/>
        </p:nvSpPr>
        <p:spPr>
          <a:xfrm>
            <a:off x="2763584" y="4078311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7779D72D-65C8-D757-751C-97652E3ACF74}"/>
              </a:ext>
            </a:extLst>
          </p:cNvPr>
          <p:cNvCxnSpPr>
            <a:cxnSpLocks/>
            <a:stCxn id="12" idx="4"/>
            <a:endCxn id="186" idx="0"/>
          </p:cNvCxnSpPr>
          <p:nvPr/>
        </p:nvCxnSpPr>
        <p:spPr>
          <a:xfrm flipH="1">
            <a:off x="8244532" y="3488469"/>
            <a:ext cx="2573" cy="59757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lipse 115">
            <a:extLst>
              <a:ext uri="{FF2B5EF4-FFF2-40B4-BE49-F238E27FC236}">
                <a16:creationId xmlns:a16="http://schemas.microsoft.com/office/drawing/2014/main" id="{32E4E34B-5965-AEEF-E793-B4B95EBA5F97}"/>
              </a:ext>
            </a:extLst>
          </p:cNvPr>
          <p:cNvSpPr/>
          <p:nvPr/>
        </p:nvSpPr>
        <p:spPr>
          <a:xfrm>
            <a:off x="5771745" y="3096416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8CEC41BD-1233-9D72-6852-F14D63585A16}"/>
              </a:ext>
            </a:extLst>
          </p:cNvPr>
          <p:cNvCxnSpPr>
            <a:cxnSpLocks/>
            <a:stCxn id="116" idx="7"/>
            <a:endCxn id="8" idx="3"/>
          </p:cNvCxnSpPr>
          <p:nvPr/>
        </p:nvCxnSpPr>
        <p:spPr>
          <a:xfrm flipV="1">
            <a:off x="6096104" y="2584501"/>
            <a:ext cx="1121042" cy="56756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E5342D0F-FC1A-BED9-A33D-50EC4FFC03B1}"/>
              </a:ext>
            </a:extLst>
          </p:cNvPr>
          <p:cNvCxnSpPr>
            <a:cxnSpLocks/>
            <a:stCxn id="116" idx="3"/>
            <a:endCxn id="180" idx="7"/>
          </p:cNvCxnSpPr>
          <p:nvPr/>
        </p:nvCxnSpPr>
        <p:spPr>
          <a:xfrm flipH="1">
            <a:off x="5150200" y="3420775"/>
            <a:ext cx="677196" cy="71787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EBDEDEF3-0F0A-86F8-D922-99E30F34D31A}"/>
              </a:ext>
            </a:extLst>
          </p:cNvPr>
          <p:cNvCxnSpPr>
            <a:cxnSpLocks/>
            <a:stCxn id="116" idx="5"/>
            <a:endCxn id="188" idx="1"/>
          </p:cNvCxnSpPr>
          <p:nvPr/>
        </p:nvCxnSpPr>
        <p:spPr>
          <a:xfrm>
            <a:off x="6096104" y="3420775"/>
            <a:ext cx="538741" cy="72626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to 153">
            <a:extLst>
              <a:ext uri="{FF2B5EF4-FFF2-40B4-BE49-F238E27FC236}">
                <a16:creationId xmlns:a16="http://schemas.microsoft.com/office/drawing/2014/main" id="{9716CA67-FC3E-32C9-AB9D-4FA021D2895B}"/>
              </a:ext>
            </a:extLst>
          </p:cNvPr>
          <p:cNvCxnSpPr>
            <a:cxnSpLocks/>
            <a:stCxn id="13" idx="4"/>
            <a:endCxn id="62" idx="0"/>
          </p:cNvCxnSpPr>
          <p:nvPr/>
        </p:nvCxnSpPr>
        <p:spPr>
          <a:xfrm>
            <a:off x="638928" y="4458321"/>
            <a:ext cx="1132" cy="576331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Elipse 172">
            <a:extLst>
              <a:ext uri="{FF2B5EF4-FFF2-40B4-BE49-F238E27FC236}">
                <a16:creationId xmlns:a16="http://schemas.microsoft.com/office/drawing/2014/main" id="{7DE274DA-1EB0-868A-D273-3EBADEDBD4AD}"/>
              </a:ext>
            </a:extLst>
          </p:cNvPr>
          <p:cNvSpPr/>
          <p:nvPr/>
        </p:nvSpPr>
        <p:spPr>
          <a:xfrm>
            <a:off x="1857919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0" name="Elipse 179">
            <a:extLst>
              <a:ext uri="{FF2B5EF4-FFF2-40B4-BE49-F238E27FC236}">
                <a16:creationId xmlns:a16="http://schemas.microsoft.com/office/drawing/2014/main" id="{51DD4EBC-F05F-64E7-3EF8-20C2734BA7BF}"/>
              </a:ext>
            </a:extLst>
          </p:cNvPr>
          <p:cNvSpPr/>
          <p:nvPr/>
        </p:nvSpPr>
        <p:spPr>
          <a:xfrm>
            <a:off x="4825841" y="4082999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6" name="Elipse 185">
            <a:extLst>
              <a:ext uri="{FF2B5EF4-FFF2-40B4-BE49-F238E27FC236}">
                <a16:creationId xmlns:a16="http://schemas.microsoft.com/office/drawing/2014/main" id="{7A5FB5D1-1FA2-5006-7255-B98647C657D0}"/>
              </a:ext>
            </a:extLst>
          </p:cNvPr>
          <p:cNvSpPr/>
          <p:nvPr/>
        </p:nvSpPr>
        <p:spPr>
          <a:xfrm>
            <a:off x="8054527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4DB6EDF0-28F3-E8CF-893A-E885D0522A25}"/>
              </a:ext>
            </a:extLst>
          </p:cNvPr>
          <p:cNvSpPr/>
          <p:nvPr/>
        </p:nvSpPr>
        <p:spPr>
          <a:xfrm>
            <a:off x="6579194" y="4091384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189" name="Elipse 188">
            <a:extLst>
              <a:ext uri="{FF2B5EF4-FFF2-40B4-BE49-F238E27FC236}">
                <a16:creationId xmlns:a16="http://schemas.microsoft.com/office/drawing/2014/main" id="{50E43A23-22FF-B9A2-0FC0-D30DD2B14972}"/>
              </a:ext>
            </a:extLst>
          </p:cNvPr>
          <p:cNvSpPr/>
          <p:nvPr/>
        </p:nvSpPr>
        <p:spPr>
          <a:xfrm>
            <a:off x="6579194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190" name="Conector reto 189">
            <a:extLst>
              <a:ext uri="{FF2B5EF4-FFF2-40B4-BE49-F238E27FC236}">
                <a16:creationId xmlns:a16="http://schemas.microsoft.com/office/drawing/2014/main" id="{2CF60B21-7684-0798-BAE4-3D69CF5B60B9}"/>
              </a:ext>
            </a:extLst>
          </p:cNvPr>
          <p:cNvCxnSpPr>
            <a:cxnSpLocks/>
            <a:stCxn id="188" idx="4"/>
            <a:endCxn id="189" idx="0"/>
          </p:cNvCxnSpPr>
          <p:nvPr/>
        </p:nvCxnSpPr>
        <p:spPr>
          <a:xfrm>
            <a:off x="6769199" y="4471394"/>
            <a:ext cx="0" cy="56325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ctor reto 190">
            <a:extLst>
              <a:ext uri="{FF2B5EF4-FFF2-40B4-BE49-F238E27FC236}">
                <a16:creationId xmlns:a16="http://schemas.microsoft.com/office/drawing/2014/main" id="{71D34D0E-415B-218D-806E-F696A0129BD4}"/>
              </a:ext>
            </a:extLst>
          </p:cNvPr>
          <p:cNvCxnSpPr>
            <a:cxnSpLocks/>
            <a:stCxn id="189" idx="4"/>
            <a:endCxn id="192" idx="0"/>
          </p:cNvCxnSpPr>
          <p:nvPr/>
        </p:nvCxnSpPr>
        <p:spPr>
          <a:xfrm flipH="1">
            <a:off x="6763767" y="5414662"/>
            <a:ext cx="54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Elipse 191">
            <a:extLst>
              <a:ext uri="{FF2B5EF4-FFF2-40B4-BE49-F238E27FC236}">
                <a16:creationId xmlns:a16="http://schemas.microsoft.com/office/drawing/2014/main" id="{B6EDFA02-163B-5BB7-E8A6-13480F0FB61B}"/>
              </a:ext>
            </a:extLst>
          </p:cNvPr>
          <p:cNvSpPr/>
          <p:nvPr/>
        </p:nvSpPr>
        <p:spPr>
          <a:xfrm>
            <a:off x="6573762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265" name="CaixaDeTexto 264">
            <a:extLst>
              <a:ext uri="{FF2B5EF4-FFF2-40B4-BE49-F238E27FC236}">
                <a16:creationId xmlns:a16="http://schemas.microsoft.com/office/drawing/2014/main" id="{A8B7AD3F-0103-BD87-9C2F-93D620A2A451}"/>
              </a:ext>
            </a:extLst>
          </p:cNvPr>
          <p:cNvSpPr txBox="1"/>
          <p:nvPr/>
        </p:nvSpPr>
        <p:spPr>
          <a:xfrm>
            <a:off x="3143594" y="17418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8" name="CaixaDeTexto 267">
            <a:extLst>
              <a:ext uri="{FF2B5EF4-FFF2-40B4-BE49-F238E27FC236}">
                <a16:creationId xmlns:a16="http://schemas.microsoft.com/office/drawing/2014/main" id="{4E8E6834-42A9-345A-1CD8-2A7DA8BE7563}"/>
              </a:ext>
            </a:extLst>
          </p:cNvPr>
          <p:cNvSpPr txBox="1"/>
          <p:nvPr/>
        </p:nvSpPr>
        <p:spPr>
          <a:xfrm>
            <a:off x="2992751" y="36025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9" name="CaixaDeTexto 268">
            <a:extLst>
              <a:ext uri="{FF2B5EF4-FFF2-40B4-BE49-F238E27FC236}">
                <a16:creationId xmlns:a16="http://schemas.microsoft.com/office/drawing/2014/main" id="{E8E3E186-3519-586B-6700-55AF2C52B659}"/>
              </a:ext>
            </a:extLst>
          </p:cNvPr>
          <p:cNvSpPr txBox="1"/>
          <p:nvPr/>
        </p:nvSpPr>
        <p:spPr>
          <a:xfrm>
            <a:off x="6846630" y="55740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70" name="CaixaDeTexto 269">
            <a:extLst>
              <a:ext uri="{FF2B5EF4-FFF2-40B4-BE49-F238E27FC236}">
                <a16:creationId xmlns:a16="http://schemas.microsoft.com/office/drawing/2014/main" id="{98C832BB-DBD1-DA10-0925-2D3DC0B29736}"/>
              </a:ext>
            </a:extLst>
          </p:cNvPr>
          <p:cNvSpPr txBox="1"/>
          <p:nvPr/>
        </p:nvSpPr>
        <p:spPr>
          <a:xfrm>
            <a:off x="5867373" y="17722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1" name="CaixaDeTexto 270">
            <a:extLst>
              <a:ext uri="{FF2B5EF4-FFF2-40B4-BE49-F238E27FC236}">
                <a16:creationId xmlns:a16="http://schemas.microsoft.com/office/drawing/2014/main" id="{9902A51A-F827-7C29-C956-A4342C0B6E99}"/>
              </a:ext>
            </a:extLst>
          </p:cNvPr>
          <p:cNvSpPr txBox="1"/>
          <p:nvPr/>
        </p:nvSpPr>
        <p:spPr>
          <a:xfrm>
            <a:off x="746052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2" name="CaixaDeTexto 271">
            <a:extLst>
              <a:ext uri="{FF2B5EF4-FFF2-40B4-BE49-F238E27FC236}">
                <a16:creationId xmlns:a16="http://schemas.microsoft.com/office/drawing/2014/main" id="{F0C82196-870B-7B50-8AB5-DF0806D51ED0}"/>
              </a:ext>
            </a:extLst>
          </p:cNvPr>
          <p:cNvSpPr txBox="1"/>
          <p:nvPr/>
        </p:nvSpPr>
        <p:spPr>
          <a:xfrm>
            <a:off x="7756627" y="25866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6C03B99E-601E-8093-B332-3FD69A158819}"/>
              </a:ext>
            </a:extLst>
          </p:cNvPr>
          <p:cNvSpPr txBox="1"/>
          <p:nvPr/>
        </p:nvSpPr>
        <p:spPr>
          <a:xfrm>
            <a:off x="674884" y="45525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4" name="CaixaDeTexto 273">
            <a:extLst>
              <a:ext uri="{FF2B5EF4-FFF2-40B4-BE49-F238E27FC236}">
                <a16:creationId xmlns:a16="http://schemas.microsoft.com/office/drawing/2014/main" id="{3D46D4A9-2409-5555-9037-1E6B09BB03B1}"/>
              </a:ext>
            </a:extLst>
          </p:cNvPr>
          <p:cNvSpPr txBox="1"/>
          <p:nvPr/>
        </p:nvSpPr>
        <p:spPr>
          <a:xfrm>
            <a:off x="6387285" y="25807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5" name="CaixaDeTexto 274">
            <a:extLst>
              <a:ext uri="{FF2B5EF4-FFF2-40B4-BE49-F238E27FC236}">
                <a16:creationId xmlns:a16="http://schemas.microsoft.com/office/drawing/2014/main" id="{8002B172-73CF-7067-A3E3-9344D5D8B625}"/>
              </a:ext>
            </a:extLst>
          </p:cNvPr>
          <p:cNvSpPr txBox="1"/>
          <p:nvPr/>
        </p:nvSpPr>
        <p:spPr>
          <a:xfrm>
            <a:off x="2550694" y="2621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6" name="CaixaDeTexto 275">
            <a:extLst>
              <a:ext uri="{FF2B5EF4-FFF2-40B4-BE49-F238E27FC236}">
                <a16:creationId xmlns:a16="http://schemas.microsoft.com/office/drawing/2014/main" id="{785FC724-3BB4-C62F-DDFF-B8A4C727506B}"/>
              </a:ext>
            </a:extLst>
          </p:cNvPr>
          <p:cNvSpPr txBox="1"/>
          <p:nvPr/>
        </p:nvSpPr>
        <p:spPr>
          <a:xfrm>
            <a:off x="6776804" y="45472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7" name="CaixaDeTexto 276">
            <a:extLst>
              <a:ext uri="{FF2B5EF4-FFF2-40B4-BE49-F238E27FC236}">
                <a16:creationId xmlns:a16="http://schemas.microsoft.com/office/drawing/2014/main" id="{00977164-7E5B-93DB-83D4-908E54785C63}"/>
              </a:ext>
            </a:extLst>
          </p:cNvPr>
          <p:cNvSpPr txBox="1"/>
          <p:nvPr/>
        </p:nvSpPr>
        <p:spPr>
          <a:xfrm>
            <a:off x="638928" y="56274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78" name="CaixaDeTexto 277">
            <a:extLst>
              <a:ext uri="{FF2B5EF4-FFF2-40B4-BE49-F238E27FC236}">
                <a16:creationId xmlns:a16="http://schemas.microsoft.com/office/drawing/2014/main" id="{1B1E75B9-C67B-35B8-A723-3FA8539B798F}"/>
              </a:ext>
            </a:extLst>
          </p:cNvPr>
          <p:cNvSpPr txBox="1"/>
          <p:nvPr/>
        </p:nvSpPr>
        <p:spPr>
          <a:xfrm>
            <a:off x="5172636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79" name="CaixaDeTexto 278">
            <a:extLst>
              <a:ext uri="{FF2B5EF4-FFF2-40B4-BE49-F238E27FC236}">
                <a16:creationId xmlns:a16="http://schemas.microsoft.com/office/drawing/2014/main" id="{53389DE9-ABD7-96DA-D904-71A6D49C4246}"/>
              </a:ext>
            </a:extLst>
          </p:cNvPr>
          <p:cNvSpPr txBox="1"/>
          <p:nvPr/>
        </p:nvSpPr>
        <p:spPr>
          <a:xfrm>
            <a:off x="1703924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0" name="CaixaDeTexto 279">
            <a:extLst>
              <a:ext uri="{FF2B5EF4-FFF2-40B4-BE49-F238E27FC236}">
                <a16:creationId xmlns:a16="http://schemas.microsoft.com/office/drawing/2014/main" id="{E367E6C1-C5F0-458F-B095-3BC569E7C781}"/>
              </a:ext>
            </a:extLst>
          </p:cNvPr>
          <p:cNvSpPr txBox="1"/>
          <p:nvPr/>
        </p:nvSpPr>
        <p:spPr>
          <a:xfrm>
            <a:off x="6288932" y="34444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81" name="CaixaDeTexto 280">
            <a:extLst>
              <a:ext uri="{FF2B5EF4-FFF2-40B4-BE49-F238E27FC236}">
                <a16:creationId xmlns:a16="http://schemas.microsoft.com/office/drawing/2014/main" id="{A69E1362-09FD-AA15-DEB9-334268180782}"/>
              </a:ext>
            </a:extLst>
          </p:cNvPr>
          <p:cNvSpPr txBox="1"/>
          <p:nvPr/>
        </p:nvSpPr>
        <p:spPr>
          <a:xfrm>
            <a:off x="1567146" y="26025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98" name="CaixaDeTexto 297">
            <a:extLst>
              <a:ext uri="{FF2B5EF4-FFF2-40B4-BE49-F238E27FC236}">
                <a16:creationId xmlns:a16="http://schemas.microsoft.com/office/drawing/2014/main" id="{7A03544F-5F8E-B56B-E661-457FB9D5D6A9}"/>
              </a:ext>
            </a:extLst>
          </p:cNvPr>
          <p:cNvSpPr txBox="1"/>
          <p:nvPr/>
        </p:nvSpPr>
        <p:spPr>
          <a:xfrm>
            <a:off x="8283694" y="36443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2934D5-EDEF-121F-338B-B244DB6F18A0}"/>
              </a:ext>
            </a:extLst>
          </p:cNvPr>
          <p:cNvSpPr txBox="1"/>
          <p:nvPr/>
        </p:nvSpPr>
        <p:spPr>
          <a:xfrm>
            <a:off x="836856" y="6108184"/>
            <a:ext cx="79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1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3F2FD027-4C1D-B887-6E18-175D62B75BD2}"/>
              </a:ext>
            </a:extLst>
          </p:cNvPr>
          <p:cNvSpPr txBox="1"/>
          <p:nvPr/>
        </p:nvSpPr>
        <p:spPr>
          <a:xfrm>
            <a:off x="1650154" y="4499798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2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48BB7269-1929-CF6F-127A-3F70CBC96149}"/>
              </a:ext>
            </a:extLst>
          </p:cNvPr>
          <p:cNvSpPr txBox="1"/>
          <p:nvPr/>
        </p:nvSpPr>
        <p:spPr>
          <a:xfrm>
            <a:off x="2602492" y="4499798"/>
            <a:ext cx="79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3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9678084-96A7-14DF-EAFC-0B0F3F5F24C8}"/>
              </a:ext>
            </a:extLst>
          </p:cNvPr>
          <p:cNvSpPr txBox="1"/>
          <p:nvPr/>
        </p:nvSpPr>
        <p:spPr>
          <a:xfrm>
            <a:off x="4618076" y="4500605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4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E7225267-F1FE-77DE-7520-5FCB83CE5E5F}"/>
              </a:ext>
            </a:extLst>
          </p:cNvPr>
          <p:cNvSpPr txBox="1"/>
          <p:nvPr/>
        </p:nvSpPr>
        <p:spPr>
          <a:xfrm>
            <a:off x="6997473" y="6102844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5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F628254-C7AF-5C7D-2C7A-93FB6501D061}"/>
              </a:ext>
            </a:extLst>
          </p:cNvPr>
          <p:cNvSpPr txBox="1"/>
          <p:nvPr/>
        </p:nvSpPr>
        <p:spPr>
          <a:xfrm>
            <a:off x="7840552" y="4547220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6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B8F6F5D-D38E-E317-ACF4-AAEE940FAB54}"/>
              </a:ext>
            </a:extLst>
          </p:cNvPr>
          <p:cNvSpPr txBox="1"/>
          <p:nvPr/>
        </p:nvSpPr>
        <p:spPr>
          <a:xfrm>
            <a:off x="2411021" y="5943419"/>
            <a:ext cx="202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Rotas + custo</a:t>
            </a:r>
          </a:p>
        </p:txBody>
      </p:sp>
    </p:spTree>
    <p:extLst>
      <p:ext uri="{BB962C8B-B14F-4D97-AF65-F5344CB8AC3E}">
        <p14:creationId xmlns:p14="http://schemas.microsoft.com/office/powerpoint/2010/main" val="230229013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97584-E5F9-5429-B3B6-1F7C31716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7FF91152-9305-47A0-56D0-613093AD1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pt-BR" b="1" u="none" dirty="0"/>
              <a:t>Rotas possíveis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59A015-4B0D-F8BB-637F-B53049301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17" y="2688845"/>
            <a:ext cx="6828165" cy="20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73403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D522A-7BBA-BC56-C36B-3D7E5EA5C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CFB6B47-74C1-A44A-B7AD-1A12C5933B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9386" y="1825625"/>
                <a:ext cx="2565963" cy="4351338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pt-BR" b="1" u="none" dirty="0"/>
                  <a:t>Parâmetros</a:t>
                </a:r>
              </a:p>
              <a:p>
                <a:pPr algn="r"/>
                <a14:m>
                  <m:oMathPara xmlns:m="http://schemas.openxmlformats.org/officeDocument/2006/math">
                    <m:oMath>
                      <m:r>
                        <a:rPr lang="pt-BR" sz="27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pt-BR" sz="27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=1</m:t>
                      </m:r>
                    </m:oMath>
                  </m:oMathPara>
                </a14:m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>
                      <m:r>
                        <a:rPr lang="pt-BR" sz="27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pt-BR" sz="27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=1</m:t>
                      </m:r>
                    </m:oMath>
                  </m:oMathPara>
                </a14:m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>
                      <m:r>
                        <a:rPr lang="pt-BR" sz="27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pt-BR" sz="27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=0,1</m:t>
                      </m:r>
                    </m:oMath>
                  </m:oMathPara>
                </a14:m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7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7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7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7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7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27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>
                      <m:r>
                        <a:rPr lang="pt-BR" sz="2700" i="1" u="none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pt-BR" sz="2700" i="1" u="none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:endParaRPr lang="pt-BR" b="0" u="none" dirty="0">
                  <a:ea typeface="Cambria Math" panose="02040503050406030204" pitchFamily="18" charset="0"/>
                </a:endParaRPr>
              </a:p>
              <a:p>
                <a:pPr algn="r"/>
                <a:endParaRPr lang="pt-BR" u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CFB6B47-74C1-A44A-B7AD-1A12C5933B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9386" y="1825625"/>
                <a:ext cx="2565963" cy="4351338"/>
              </a:xfrm>
              <a:blipFill>
                <a:blip r:embed="rId2"/>
                <a:stretch>
                  <a:fillRect t="-2241" r="-4751" b="-15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533D81D9-49D9-9770-D5E4-667CE65F9E5C}"/>
              </a:ext>
            </a:extLst>
          </p:cNvPr>
          <p:cNvSpPr txBox="1"/>
          <p:nvPr/>
        </p:nvSpPr>
        <p:spPr>
          <a:xfrm>
            <a:off x="208343" y="1551008"/>
            <a:ext cx="61808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α (alfa) = 1</a:t>
            </a:r>
          </a:p>
          <a:p>
            <a:r>
              <a:rPr lang="pt-BR" dirty="0"/>
              <a:t>Representa o peso da influência do feromônio (τᵢⱼ).</a:t>
            </a:r>
          </a:p>
          <a:p>
            <a:r>
              <a:rPr lang="pt-BR" dirty="0"/>
              <a:t>Quanto maior α, mais as formigas seguem trilhas com muito feromônio, ou seja, repetem caminhos já usados.</a:t>
            </a:r>
          </a:p>
          <a:p>
            <a:r>
              <a:rPr lang="pt-BR" dirty="0"/>
              <a:t>Com α = 1, o feromônio e a visibilidade têm a mesma importância.</a:t>
            </a:r>
          </a:p>
          <a:p>
            <a:r>
              <a:rPr lang="pt-BR" dirty="0"/>
              <a:t>β (beta) = 1</a:t>
            </a:r>
          </a:p>
          <a:p>
            <a:r>
              <a:rPr lang="pt-BR" dirty="0"/>
              <a:t>Controla a influência da visibilidade (ηᵢⱼ = 1/dᵢⱼ), ou seja, a distância.</a:t>
            </a:r>
          </a:p>
          <a:p>
            <a:r>
              <a:rPr lang="pt-BR" dirty="0"/>
              <a:t>Quanto maior β, mais as formigas preferem caminhos curtos.</a:t>
            </a:r>
          </a:p>
          <a:p>
            <a:r>
              <a:rPr lang="pt-BR" dirty="0"/>
              <a:t>Com β = 1, o algoritmo dá peso igual à experiência (feromônio) e à atratividade (distância).</a:t>
            </a:r>
          </a:p>
          <a:p>
            <a:r>
              <a:rPr lang="pt-BR" dirty="0"/>
              <a:t>σ (sigma) = 0,1</a:t>
            </a:r>
          </a:p>
          <a:p>
            <a:r>
              <a:rPr lang="pt-BR" dirty="0"/>
              <a:t>É a taxa de evaporação do feromônio (ρ).</a:t>
            </a:r>
          </a:p>
          <a:p>
            <a:r>
              <a:rPr lang="pt-BR" dirty="0"/>
              <a:t>Define quanto do feromônio é perdido a cada iteração.</a:t>
            </a:r>
          </a:p>
          <a:p>
            <a:r>
              <a:rPr lang="pt-BR" dirty="0"/>
              <a:t>Aqui, 0,1 (10%) significa que a cada rodada o feromônio diminui 10%, evitando que trilhas antigas dominem o processo e garantindo exploração de novas rotas.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896336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D3214-862F-F516-796A-0CDB91B6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DD0CC-00B3-3DB1-8344-F0E5B921E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DE45FE7-B80E-1186-C8B9-2ED781B556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9386" y="1825625"/>
                <a:ext cx="2565963" cy="4351338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pt-BR" b="1" u="none" dirty="0"/>
                  <a:t>Parâmetros</a:t>
                </a:r>
              </a:p>
              <a:p>
                <a:pPr algn="r"/>
                <a14:m>
                  <m:oMathPara xmlns:m="http://schemas.openxmlformats.org/officeDocument/2006/math">
                    <m:oMath>
                      <m:r>
                        <a:rPr lang="pt-BR" sz="27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pt-BR" sz="27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=1</m:t>
                      </m:r>
                    </m:oMath>
                  </m:oMathPara>
                </a14:m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>
                      <m:r>
                        <a:rPr lang="pt-BR" sz="27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pt-BR" sz="27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=1</m:t>
                      </m:r>
                    </m:oMath>
                  </m:oMathPara>
                </a14:m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>
                      <m:r>
                        <a:rPr lang="pt-BR" sz="27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pt-BR" sz="27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=0,1</m:t>
                      </m:r>
                    </m:oMath>
                  </m:oMathPara>
                </a14:m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7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7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7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7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7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27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>
                      <m:r>
                        <a:rPr lang="pt-BR" sz="2700" i="1" u="none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pt-BR" sz="2700" i="1" u="none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2700" b="0" u="none" dirty="0">
                  <a:ea typeface="Cambria Math" panose="02040503050406030204" pitchFamily="18" charset="0"/>
                </a:endParaRPr>
              </a:p>
              <a:p>
                <a:pPr algn="r"/>
                <a:endParaRPr lang="pt-BR" b="0" u="none" dirty="0">
                  <a:ea typeface="Cambria Math" panose="02040503050406030204" pitchFamily="18" charset="0"/>
                </a:endParaRPr>
              </a:p>
              <a:p>
                <a:pPr algn="r"/>
                <a:endParaRPr lang="pt-BR" u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DE45FE7-B80E-1186-C8B9-2ED781B556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9386" y="1825625"/>
                <a:ext cx="2565963" cy="4351338"/>
              </a:xfrm>
              <a:blipFill>
                <a:blip r:embed="rId2"/>
                <a:stretch>
                  <a:fillRect t="-2241" r="-4751" b="-15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7F85618A-49DC-6739-EEA1-CFA3A4AEE82A}"/>
                  </a:ext>
                </a:extLst>
              </p:cNvPr>
              <p:cNvSpPr txBox="1"/>
              <p:nvPr/>
            </p:nvSpPr>
            <p:spPr>
              <a:xfrm>
                <a:off x="208343" y="1551008"/>
                <a:ext cx="6180881" cy="3983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τᵢⱼ = 1</a:t>
                </a:r>
              </a:p>
              <a:p>
                <a:r>
                  <a:rPr lang="pt-BR" dirty="0"/>
                  <a:t>É o feromônio inicial em todas as arestas.</a:t>
                </a:r>
              </a:p>
              <a:p>
                <a:r>
                  <a:rPr lang="pt-BR" dirty="0"/>
                  <a:t>Todas as trilhas começam com o mesmo valor, permitindo que as formigas explorem de forma equilibrada no início.</a:t>
                </a:r>
              </a:p>
              <a:p>
                <a:r>
                  <a:rPr lang="pt-BR" dirty="0"/>
                  <a:t> Q = 1</a:t>
                </a:r>
              </a:p>
              <a:p>
                <a:r>
                  <a:rPr lang="pt-BR" dirty="0"/>
                  <a:t>É a quantidade total de feromônio que uma formiga deposita após completar sua rota.</a:t>
                </a:r>
              </a:p>
              <a:p>
                <a:r>
                  <a:rPr lang="pt-BR" dirty="0"/>
                  <a:t>O valor depositado em cada aresta depende da qualidade do caminho (distância total):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b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ar-A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ar-AE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pt-BR" dirty="0"/>
                  <a:t>Como Q = 1, as diferenças entre as rotas serão proporcionais apenas ao tamanho do percurso (dₖ).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7F85618A-49DC-6739-EEA1-CFA3A4AEE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43" y="1551008"/>
                <a:ext cx="6180881" cy="3983526"/>
              </a:xfrm>
              <a:prstGeom prst="rect">
                <a:avLst/>
              </a:prstGeom>
              <a:blipFill>
                <a:blip r:embed="rId3"/>
                <a:stretch>
                  <a:fillRect l="-789" t="-7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435051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4D336-7C92-46D3-81D7-05C82FF2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8F531EE-BC08-B75D-9B20-5A9673F9B3CD}"/>
              </a:ext>
            </a:extLst>
          </p:cNvPr>
          <p:cNvSpPr/>
          <p:nvPr/>
        </p:nvSpPr>
        <p:spPr>
          <a:xfrm>
            <a:off x="4381995" y="1582286"/>
            <a:ext cx="380010" cy="38001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2CE143E-6E0C-DB21-7B8A-2F72F9411D31}"/>
              </a:ext>
            </a:extLst>
          </p:cNvPr>
          <p:cNvSpPr/>
          <p:nvPr/>
        </p:nvSpPr>
        <p:spPr>
          <a:xfrm>
            <a:off x="2031011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6EB7C5E-3A61-6576-ECA8-DDB7674B1285}"/>
              </a:ext>
            </a:extLst>
          </p:cNvPr>
          <p:cNvSpPr/>
          <p:nvPr/>
        </p:nvSpPr>
        <p:spPr>
          <a:xfrm>
            <a:off x="7161495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1B5E01D-7A22-C201-2282-27985A6509DC}"/>
              </a:ext>
            </a:extLst>
          </p:cNvPr>
          <p:cNvSpPr/>
          <p:nvPr/>
        </p:nvSpPr>
        <p:spPr>
          <a:xfrm>
            <a:off x="1178975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1F30D8D-A623-B5B4-E676-C61D06D021B4}"/>
              </a:ext>
            </a:extLst>
          </p:cNvPr>
          <p:cNvSpPr/>
          <p:nvPr/>
        </p:nvSpPr>
        <p:spPr>
          <a:xfrm>
            <a:off x="276951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74164C1-26A6-9A77-E239-4B4062390427}"/>
              </a:ext>
            </a:extLst>
          </p:cNvPr>
          <p:cNvSpPr/>
          <p:nvPr/>
        </p:nvSpPr>
        <p:spPr>
          <a:xfrm>
            <a:off x="805710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E906D63-29CD-2DC1-DA7B-1E8EDB06EF76}"/>
              </a:ext>
            </a:extLst>
          </p:cNvPr>
          <p:cNvSpPr/>
          <p:nvPr/>
        </p:nvSpPr>
        <p:spPr>
          <a:xfrm>
            <a:off x="448923" y="4078311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4F22813D-2BD5-5396-1949-030D7C5F5270}"/>
              </a:ext>
            </a:extLst>
          </p:cNvPr>
          <p:cNvCxnSpPr>
            <a:cxnSpLocks/>
            <a:stCxn id="3" idx="3"/>
            <a:endCxn id="7" idx="7"/>
          </p:cNvCxnSpPr>
          <p:nvPr/>
        </p:nvCxnSpPr>
        <p:spPr>
          <a:xfrm flipH="1">
            <a:off x="2355370" y="1906645"/>
            <a:ext cx="2082276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448799B2-9C98-5852-AE81-53D6B38A099E}"/>
              </a:ext>
            </a:extLst>
          </p:cNvPr>
          <p:cNvCxnSpPr>
            <a:cxnSpLocks/>
            <a:stCxn id="3" idx="5"/>
            <a:endCxn id="8" idx="1"/>
          </p:cNvCxnSpPr>
          <p:nvPr/>
        </p:nvCxnSpPr>
        <p:spPr>
          <a:xfrm>
            <a:off x="4706354" y="1906645"/>
            <a:ext cx="2510792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020DC8C-E3B1-7F14-9A65-1688BD43E140}"/>
              </a:ext>
            </a:extLst>
          </p:cNvPr>
          <p:cNvCxnSpPr>
            <a:cxnSpLocks/>
            <a:stCxn id="7" idx="5"/>
            <a:endCxn id="10" idx="1"/>
          </p:cNvCxnSpPr>
          <p:nvPr/>
        </p:nvCxnSpPr>
        <p:spPr>
          <a:xfrm>
            <a:off x="2355370" y="2584501"/>
            <a:ext cx="469791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28E6102A-08D1-9830-BFCC-9FC3D85499C5}"/>
              </a:ext>
            </a:extLst>
          </p:cNvPr>
          <p:cNvCxnSpPr>
            <a:cxnSpLocks/>
            <a:stCxn id="9" idx="3"/>
            <a:endCxn id="13" idx="7"/>
          </p:cNvCxnSpPr>
          <p:nvPr/>
        </p:nvCxnSpPr>
        <p:spPr>
          <a:xfrm flipH="1">
            <a:off x="773282" y="3432818"/>
            <a:ext cx="461344" cy="70114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790F476E-F819-60D6-93FF-6B9D665C6D42}"/>
              </a:ext>
            </a:extLst>
          </p:cNvPr>
          <p:cNvCxnSpPr>
            <a:cxnSpLocks/>
            <a:stCxn id="9" idx="7"/>
            <a:endCxn id="7" idx="3"/>
          </p:cNvCxnSpPr>
          <p:nvPr/>
        </p:nvCxnSpPr>
        <p:spPr>
          <a:xfrm flipV="1">
            <a:off x="1503334" y="2584501"/>
            <a:ext cx="583328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79420353-7055-2546-FF0D-E65F1234955D}"/>
              </a:ext>
            </a:extLst>
          </p:cNvPr>
          <p:cNvCxnSpPr>
            <a:cxnSpLocks/>
            <a:stCxn id="8" idx="5"/>
            <a:endCxn id="12" idx="1"/>
          </p:cNvCxnSpPr>
          <p:nvPr/>
        </p:nvCxnSpPr>
        <p:spPr>
          <a:xfrm>
            <a:off x="7485854" y="2584501"/>
            <a:ext cx="626897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BE306C76-70AF-46CA-94DD-2FAD80EA8459}"/>
              </a:ext>
            </a:extLst>
          </p:cNvPr>
          <p:cNvCxnSpPr>
            <a:cxnSpLocks/>
            <a:stCxn id="10" idx="4"/>
            <a:endCxn id="96" idx="0"/>
          </p:cNvCxnSpPr>
          <p:nvPr/>
        </p:nvCxnSpPr>
        <p:spPr>
          <a:xfrm flipH="1">
            <a:off x="2953589" y="3488469"/>
            <a:ext cx="5926" cy="589842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F361D897-B4B0-F09E-FFFE-51EC60D44E6D}"/>
              </a:ext>
            </a:extLst>
          </p:cNvPr>
          <p:cNvSpPr/>
          <p:nvPr/>
        </p:nvSpPr>
        <p:spPr>
          <a:xfrm>
            <a:off x="450055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AB764677-3E27-1B0F-1873-38ABFEB7DFF5}"/>
              </a:ext>
            </a:extLst>
          </p:cNvPr>
          <p:cNvCxnSpPr>
            <a:cxnSpLocks/>
            <a:stCxn id="9" idx="5"/>
            <a:endCxn id="173" idx="1"/>
          </p:cNvCxnSpPr>
          <p:nvPr/>
        </p:nvCxnSpPr>
        <p:spPr>
          <a:xfrm>
            <a:off x="1503334" y="3432818"/>
            <a:ext cx="410236" cy="70887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3827C75E-4552-DCA4-A3B9-4E4F7C1D63F6}"/>
              </a:ext>
            </a:extLst>
          </p:cNvPr>
          <p:cNvCxnSpPr>
            <a:cxnSpLocks/>
            <a:stCxn id="62" idx="4"/>
            <a:endCxn id="66" idx="0"/>
          </p:cNvCxnSpPr>
          <p:nvPr/>
        </p:nvCxnSpPr>
        <p:spPr>
          <a:xfrm flipH="1">
            <a:off x="638928" y="5414662"/>
            <a:ext cx="11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>
            <a:extLst>
              <a:ext uri="{FF2B5EF4-FFF2-40B4-BE49-F238E27FC236}">
                <a16:creationId xmlns:a16="http://schemas.microsoft.com/office/drawing/2014/main" id="{0A75B533-A025-2EFD-8F4B-3F1DBAFAC1B4}"/>
              </a:ext>
            </a:extLst>
          </p:cNvPr>
          <p:cNvSpPr/>
          <p:nvPr/>
        </p:nvSpPr>
        <p:spPr>
          <a:xfrm>
            <a:off x="448923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F14DD0C1-C5D5-91FB-D102-8D1F66293C7E}"/>
              </a:ext>
            </a:extLst>
          </p:cNvPr>
          <p:cNvSpPr/>
          <p:nvPr/>
        </p:nvSpPr>
        <p:spPr>
          <a:xfrm>
            <a:off x="2763584" y="4078311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7779D72D-65C8-D757-751C-97652E3ACF74}"/>
              </a:ext>
            </a:extLst>
          </p:cNvPr>
          <p:cNvCxnSpPr>
            <a:cxnSpLocks/>
            <a:stCxn id="12" idx="4"/>
            <a:endCxn id="186" idx="0"/>
          </p:cNvCxnSpPr>
          <p:nvPr/>
        </p:nvCxnSpPr>
        <p:spPr>
          <a:xfrm flipH="1">
            <a:off x="8244532" y="3488469"/>
            <a:ext cx="2573" cy="59757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lipse 115">
            <a:extLst>
              <a:ext uri="{FF2B5EF4-FFF2-40B4-BE49-F238E27FC236}">
                <a16:creationId xmlns:a16="http://schemas.microsoft.com/office/drawing/2014/main" id="{32E4E34B-5965-AEEF-E793-B4B95EBA5F97}"/>
              </a:ext>
            </a:extLst>
          </p:cNvPr>
          <p:cNvSpPr/>
          <p:nvPr/>
        </p:nvSpPr>
        <p:spPr>
          <a:xfrm>
            <a:off x="5771745" y="3096416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8CEC41BD-1233-9D72-6852-F14D63585A16}"/>
              </a:ext>
            </a:extLst>
          </p:cNvPr>
          <p:cNvCxnSpPr>
            <a:cxnSpLocks/>
            <a:stCxn id="116" idx="7"/>
            <a:endCxn id="8" idx="3"/>
          </p:cNvCxnSpPr>
          <p:nvPr/>
        </p:nvCxnSpPr>
        <p:spPr>
          <a:xfrm flipV="1">
            <a:off x="6096104" y="2584501"/>
            <a:ext cx="1121042" cy="56756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E5342D0F-FC1A-BED9-A33D-50EC4FFC03B1}"/>
              </a:ext>
            </a:extLst>
          </p:cNvPr>
          <p:cNvCxnSpPr>
            <a:cxnSpLocks/>
            <a:stCxn id="116" idx="3"/>
            <a:endCxn id="180" idx="7"/>
          </p:cNvCxnSpPr>
          <p:nvPr/>
        </p:nvCxnSpPr>
        <p:spPr>
          <a:xfrm flipH="1">
            <a:off x="5150200" y="3420775"/>
            <a:ext cx="677196" cy="71787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EBDEDEF3-0F0A-86F8-D922-99E30F34D31A}"/>
              </a:ext>
            </a:extLst>
          </p:cNvPr>
          <p:cNvCxnSpPr>
            <a:cxnSpLocks/>
            <a:stCxn id="116" idx="5"/>
            <a:endCxn id="188" idx="1"/>
          </p:cNvCxnSpPr>
          <p:nvPr/>
        </p:nvCxnSpPr>
        <p:spPr>
          <a:xfrm>
            <a:off x="6096104" y="3420775"/>
            <a:ext cx="538741" cy="72626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to 153">
            <a:extLst>
              <a:ext uri="{FF2B5EF4-FFF2-40B4-BE49-F238E27FC236}">
                <a16:creationId xmlns:a16="http://schemas.microsoft.com/office/drawing/2014/main" id="{9716CA67-FC3E-32C9-AB9D-4FA021D2895B}"/>
              </a:ext>
            </a:extLst>
          </p:cNvPr>
          <p:cNvCxnSpPr>
            <a:cxnSpLocks/>
            <a:stCxn id="13" idx="4"/>
            <a:endCxn id="62" idx="0"/>
          </p:cNvCxnSpPr>
          <p:nvPr/>
        </p:nvCxnSpPr>
        <p:spPr>
          <a:xfrm>
            <a:off x="638928" y="4458321"/>
            <a:ext cx="1132" cy="576331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Elipse 172">
            <a:extLst>
              <a:ext uri="{FF2B5EF4-FFF2-40B4-BE49-F238E27FC236}">
                <a16:creationId xmlns:a16="http://schemas.microsoft.com/office/drawing/2014/main" id="{7DE274DA-1EB0-868A-D273-3EBADEDBD4AD}"/>
              </a:ext>
            </a:extLst>
          </p:cNvPr>
          <p:cNvSpPr/>
          <p:nvPr/>
        </p:nvSpPr>
        <p:spPr>
          <a:xfrm>
            <a:off x="1857919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0" name="Elipse 179">
            <a:extLst>
              <a:ext uri="{FF2B5EF4-FFF2-40B4-BE49-F238E27FC236}">
                <a16:creationId xmlns:a16="http://schemas.microsoft.com/office/drawing/2014/main" id="{51DD4EBC-F05F-64E7-3EF8-20C2734BA7BF}"/>
              </a:ext>
            </a:extLst>
          </p:cNvPr>
          <p:cNvSpPr/>
          <p:nvPr/>
        </p:nvSpPr>
        <p:spPr>
          <a:xfrm>
            <a:off x="4825841" y="4082999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6" name="Elipse 185">
            <a:extLst>
              <a:ext uri="{FF2B5EF4-FFF2-40B4-BE49-F238E27FC236}">
                <a16:creationId xmlns:a16="http://schemas.microsoft.com/office/drawing/2014/main" id="{7A5FB5D1-1FA2-5006-7255-B98647C657D0}"/>
              </a:ext>
            </a:extLst>
          </p:cNvPr>
          <p:cNvSpPr/>
          <p:nvPr/>
        </p:nvSpPr>
        <p:spPr>
          <a:xfrm>
            <a:off x="8054527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4DB6EDF0-28F3-E8CF-893A-E885D0522A25}"/>
              </a:ext>
            </a:extLst>
          </p:cNvPr>
          <p:cNvSpPr/>
          <p:nvPr/>
        </p:nvSpPr>
        <p:spPr>
          <a:xfrm>
            <a:off x="6579194" y="4091384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189" name="Elipse 188">
            <a:extLst>
              <a:ext uri="{FF2B5EF4-FFF2-40B4-BE49-F238E27FC236}">
                <a16:creationId xmlns:a16="http://schemas.microsoft.com/office/drawing/2014/main" id="{50E43A23-22FF-B9A2-0FC0-D30DD2B14972}"/>
              </a:ext>
            </a:extLst>
          </p:cNvPr>
          <p:cNvSpPr/>
          <p:nvPr/>
        </p:nvSpPr>
        <p:spPr>
          <a:xfrm>
            <a:off x="6579194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190" name="Conector reto 189">
            <a:extLst>
              <a:ext uri="{FF2B5EF4-FFF2-40B4-BE49-F238E27FC236}">
                <a16:creationId xmlns:a16="http://schemas.microsoft.com/office/drawing/2014/main" id="{2CF60B21-7684-0798-BAE4-3D69CF5B60B9}"/>
              </a:ext>
            </a:extLst>
          </p:cNvPr>
          <p:cNvCxnSpPr>
            <a:cxnSpLocks/>
            <a:stCxn id="188" idx="4"/>
            <a:endCxn id="189" idx="0"/>
          </p:cNvCxnSpPr>
          <p:nvPr/>
        </p:nvCxnSpPr>
        <p:spPr>
          <a:xfrm>
            <a:off x="6769199" y="4471394"/>
            <a:ext cx="0" cy="56325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ctor reto 190">
            <a:extLst>
              <a:ext uri="{FF2B5EF4-FFF2-40B4-BE49-F238E27FC236}">
                <a16:creationId xmlns:a16="http://schemas.microsoft.com/office/drawing/2014/main" id="{71D34D0E-415B-218D-806E-F696A0129BD4}"/>
              </a:ext>
            </a:extLst>
          </p:cNvPr>
          <p:cNvCxnSpPr>
            <a:cxnSpLocks/>
            <a:stCxn id="189" idx="4"/>
            <a:endCxn id="192" idx="0"/>
          </p:cNvCxnSpPr>
          <p:nvPr/>
        </p:nvCxnSpPr>
        <p:spPr>
          <a:xfrm flipH="1">
            <a:off x="6763767" y="5414662"/>
            <a:ext cx="54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Elipse 191">
            <a:extLst>
              <a:ext uri="{FF2B5EF4-FFF2-40B4-BE49-F238E27FC236}">
                <a16:creationId xmlns:a16="http://schemas.microsoft.com/office/drawing/2014/main" id="{B6EDFA02-163B-5BB7-E8A6-13480F0FB61B}"/>
              </a:ext>
            </a:extLst>
          </p:cNvPr>
          <p:cNvSpPr/>
          <p:nvPr/>
        </p:nvSpPr>
        <p:spPr>
          <a:xfrm>
            <a:off x="6573762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265" name="CaixaDeTexto 264">
            <a:extLst>
              <a:ext uri="{FF2B5EF4-FFF2-40B4-BE49-F238E27FC236}">
                <a16:creationId xmlns:a16="http://schemas.microsoft.com/office/drawing/2014/main" id="{A8B7AD3F-0103-BD87-9C2F-93D620A2A451}"/>
              </a:ext>
            </a:extLst>
          </p:cNvPr>
          <p:cNvSpPr txBox="1"/>
          <p:nvPr/>
        </p:nvSpPr>
        <p:spPr>
          <a:xfrm>
            <a:off x="3143594" y="17418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8" name="CaixaDeTexto 267">
            <a:extLst>
              <a:ext uri="{FF2B5EF4-FFF2-40B4-BE49-F238E27FC236}">
                <a16:creationId xmlns:a16="http://schemas.microsoft.com/office/drawing/2014/main" id="{4E8E6834-42A9-345A-1CD8-2A7DA8BE7563}"/>
              </a:ext>
            </a:extLst>
          </p:cNvPr>
          <p:cNvSpPr txBox="1"/>
          <p:nvPr/>
        </p:nvSpPr>
        <p:spPr>
          <a:xfrm>
            <a:off x="2992751" y="36025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9" name="CaixaDeTexto 268">
            <a:extLst>
              <a:ext uri="{FF2B5EF4-FFF2-40B4-BE49-F238E27FC236}">
                <a16:creationId xmlns:a16="http://schemas.microsoft.com/office/drawing/2014/main" id="{E8E3E186-3519-586B-6700-55AF2C52B659}"/>
              </a:ext>
            </a:extLst>
          </p:cNvPr>
          <p:cNvSpPr txBox="1"/>
          <p:nvPr/>
        </p:nvSpPr>
        <p:spPr>
          <a:xfrm>
            <a:off x="6846630" y="55740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70" name="CaixaDeTexto 269">
            <a:extLst>
              <a:ext uri="{FF2B5EF4-FFF2-40B4-BE49-F238E27FC236}">
                <a16:creationId xmlns:a16="http://schemas.microsoft.com/office/drawing/2014/main" id="{98C832BB-DBD1-DA10-0925-2D3DC0B29736}"/>
              </a:ext>
            </a:extLst>
          </p:cNvPr>
          <p:cNvSpPr txBox="1"/>
          <p:nvPr/>
        </p:nvSpPr>
        <p:spPr>
          <a:xfrm>
            <a:off x="5867373" y="17722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1" name="CaixaDeTexto 270">
            <a:extLst>
              <a:ext uri="{FF2B5EF4-FFF2-40B4-BE49-F238E27FC236}">
                <a16:creationId xmlns:a16="http://schemas.microsoft.com/office/drawing/2014/main" id="{9902A51A-F827-7C29-C956-A4342C0B6E99}"/>
              </a:ext>
            </a:extLst>
          </p:cNvPr>
          <p:cNvSpPr txBox="1"/>
          <p:nvPr/>
        </p:nvSpPr>
        <p:spPr>
          <a:xfrm>
            <a:off x="746052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2" name="CaixaDeTexto 271">
            <a:extLst>
              <a:ext uri="{FF2B5EF4-FFF2-40B4-BE49-F238E27FC236}">
                <a16:creationId xmlns:a16="http://schemas.microsoft.com/office/drawing/2014/main" id="{F0C82196-870B-7B50-8AB5-DF0806D51ED0}"/>
              </a:ext>
            </a:extLst>
          </p:cNvPr>
          <p:cNvSpPr txBox="1"/>
          <p:nvPr/>
        </p:nvSpPr>
        <p:spPr>
          <a:xfrm>
            <a:off x="7756627" y="25866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6C03B99E-601E-8093-B332-3FD69A158819}"/>
              </a:ext>
            </a:extLst>
          </p:cNvPr>
          <p:cNvSpPr txBox="1"/>
          <p:nvPr/>
        </p:nvSpPr>
        <p:spPr>
          <a:xfrm>
            <a:off x="674884" y="45525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4" name="CaixaDeTexto 273">
            <a:extLst>
              <a:ext uri="{FF2B5EF4-FFF2-40B4-BE49-F238E27FC236}">
                <a16:creationId xmlns:a16="http://schemas.microsoft.com/office/drawing/2014/main" id="{3D46D4A9-2409-5555-9037-1E6B09BB03B1}"/>
              </a:ext>
            </a:extLst>
          </p:cNvPr>
          <p:cNvSpPr txBox="1"/>
          <p:nvPr/>
        </p:nvSpPr>
        <p:spPr>
          <a:xfrm>
            <a:off x="6387285" y="25807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5" name="CaixaDeTexto 274">
            <a:extLst>
              <a:ext uri="{FF2B5EF4-FFF2-40B4-BE49-F238E27FC236}">
                <a16:creationId xmlns:a16="http://schemas.microsoft.com/office/drawing/2014/main" id="{8002B172-73CF-7067-A3E3-9344D5D8B625}"/>
              </a:ext>
            </a:extLst>
          </p:cNvPr>
          <p:cNvSpPr txBox="1"/>
          <p:nvPr/>
        </p:nvSpPr>
        <p:spPr>
          <a:xfrm>
            <a:off x="2550694" y="2621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6" name="CaixaDeTexto 275">
            <a:extLst>
              <a:ext uri="{FF2B5EF4-FFF2-40B4-BE49-F238E27FC236}">
                <a16:creationId xmlns:a16="http://schemas.microsoft.com/office/drawing/2014/main" id="{785FC724-3BB4-C62F-DDFF-B8A4C727506B}"/>
              </a:ext>
            </a:extLst>
          </p:cNvPr>
          <p:cNvSpPr txBox="1"/>
          <p:nvPr/>
        </p:nvSpPr>
        <p:spPr>
          <a:xfrm>
            <a:off x="6776804" y="45472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7" name="CaixaDeTexto 276">
            <a:extLst>
              <a:ext uri="{FF2B5EF4-FFF2-40B4-BE49-F238E27FC236}">
                <a16:creationId xmlns:a16="http://schemas.microsoft.com/office/drawing/2014/main" id="{00977164-7E5B-93DB-83D4-908E54785C63}"/>
              </a:ext>
            </a:extLst>
          </p:cNvPr>
          <p:cNvSpPr txBox="1"/>
          <p:nvPr/>
        </p:nvSpPr>
        <p:spPr>
          <a:xfrm>
            <a:off x="638928" y="56274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78" name="CaixaDeTexto 277">
            <a:extLst>
              <a:ext uri="{FF2B5EF4-FFF2-40B4-BE49-F238E27FC236}">
                <a16:creationId xmlns:a16="http://schemas.microsoft.com/office/drawing/2014/main" id="{1B1E75B9-C67B-35B8-A723-3FA8539B798F}"/>
              </a:ext>
            </a:extLst>
          </p:cNvPr>
          <p:cNvSpPr txBox="1"/>
          <p:nvPr/>
        </p:nvSpPr>
        <p:spPr>
          <a:xfrm>
            <a:off x="5172636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79" name="CaixaDeTexto 278">
            <a:extLst>
              <a:ext uri="{FF2B5EF4-FFF2-40B4-BE49-F238E27FC236}">
                <a16:creationId xmlns:a16="http://schemas.microsoft.com/office/drawing/2014/main" id="{53389DE9-ABD7-96DA-D904-71A6D49C4246}"/>
              </a:ext>
            </a:extLst>
          </p:cNvPr>
          <p:cNvSpPr txBox="1"/>
          <p:nvPr/>
        </p:nvSpPr>
        <p:spPr>
          <a:xfrm>
            <a:off x="1703924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0" name="CaixaDeTexto 279">
            <a:extLst>
              <a:ext uri="{FF2B5EF4-FFF2-40B4-BE49-F238E27FC236}">
                <a16:creationId xmlns:a16="http://schemas.microsoft.com/office/drawing/2014/main" id="{E367E6C1-C5F0-458F-B095-3BC569E7C781}"/>
              </a:ext>
            </a:extLst>
          </p:cNvPr>
          <p:cNvSpPr txBox="1"/>
          <p:nvPr/>
        </p:nvSpPr>
        <p:spPr>
          <a:xfrm>
            <a:off x="6288932" y="34444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81" name="CaixaDeTexto 280">
            <a:extLst>
              <a:ext uri="{FF2B5EF4-FFF2-40B4-BE49-F238E27FC236}">
                <a16:creationId xmlns:a16="http://schemas.microsoft.com/office/drawing/2014/main" id="{A69E1362-09FD-AA15-DEB9-334268180782}"/>
              </a:ext>
            </a:extLst>
          </p:cNvPr>
          <p:cNvSpPr txBox="1"/>
          <p:nvPr/>
        </p:nvSpPr>
        <p:spPr>
          <a:xfrm>
            <a:off x="1567146" y="26025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98" name="CaixaDeTexto 297">
            <a:extLst>
              <a:ext uri="{FF2B5EF4-FFF2-40B4-BE49-F238E27FC236}">
                <a16:creationId xmlns:a16="http://schemas.microsoft.com/office/drawing/2014/main" id="{7A03544F-5F8E-B56B-E661-457FB9D5D6A9}"/>
              </a:ext>
            </a:extLst>
          </p:cNvPr>
          <p:cNvSpPr txBox="1"/>
          <p:nvPr/>
        </p:nvSpPr>
        <p:spPr>
          <a:xfrm>
            <a:off x="8283694" y="36443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2934D5-EDEF-121F-338B-B244DB6F18A0}"/>
              </a:ext>
            </a:extLst>
          </p:cNvPr>
          <p:cNvSpPr txBox="1"/>
          <p:nvPr/>
        </p:nvSpPr>
        <p:spPr>
          <a:xfrm>
            <a:off x="836856" y="6108184"/>
            <a:ext cx="79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1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3F2FD027-4C1D-B887-6E18-175D62B75BD2}"/>
              </a:ext>
            </a:extLst>
          </p:cNvPr>
          <p:cNvSpPr txBox="1"/>
          <p:nvPr/>
        </p:nvSpPr>
        <p:spPr>
          <a:xfrm>
            <a:off x="1650154" y="4499798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2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48BB7269-1929-CF6F-127A-3F70CBC96149}"/>
              </a:ext>
            </a:extLst>
          </p:cNvPr>
          <p:cNvSpPr txBox="1"/>
          <p:nvPr/>
        </p:nvSpPr>
        <p:spPr>
          <a:xfrm>
            <a:off x="2602492" y="4499798"/>
            <a:ext cx="79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3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9678084-96A7-14DF-EAFC-0B0F3F5F24C8}"/>
              </a:ext>
            </a:extLst>
          </p:cNvPr>
          <p:cNvSpPr txBox="1"/>
          <p:nvPr/>
        </p:nvSpPr>
        <p:spPr>
          <a:xfrm>
            <a:off x="4618076" y="4500605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4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E7225267-F1FE-77DE-7520-5FCB83CE5E5F}"/>
              </a:ext>
            </a:extLst>
          </p:cNvPr>
          <p:cNvSpPr txBox="1"/>
          <p:nvPr/>
        </p:nvSpPr>
        <p:spPr>
          <a:xfrm>
            <a:off x="6997473" y="6102844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5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F628254-C7AF-5C7D-2C7A-93FB6501D061}"/>
              </a:ext>
            </a:extLst>
          </p:cNvPr>
          <p:cNvSpPr txBox="1"/>
          <p:nvPr/>
        </p:nvSpPr>
        <p:spPr>
          <a:xfrm>
            <a:off x="7840552" y="4547220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6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CC8430A-D4FB-A242-6147-873641037D0E}"/>
              </a:ext>
            </a:extLst>
          </p:cNvPr>
          <p:cNvSpPr txBox="1"/>
          <p:nvPr/>
        </p:nvSpPr>
        <p:spPr>
          <a:xfrm>
            <a:off x="3407844" y="21112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B44D9CCE-6DE5-90CD-7F3F-83B72204C7A9}"/>
              </a:ext>
            </a:extLst>
          </p:cNvPr>
          <p:cNvSpPr txBox="1"/>
          <p:nvPr/>
        </p:nvSpPr>
        <p:spPr>
          <a:xfrm>
            <a:off x="5417815" y="37108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3CEADB53-3D46-42CA-2580-4039B1888D39}"/>
              </a:ext>
            </a:extLst>
          </p:cNvPr>
          <p:cNvSpPr txBox="1"/>
          <p:nvPr/>
        </p:nvSpPr>
        <p:spPr>
          <a:xfrm>
            <a:off x="6527099" y="28300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A51A1EA5-3F0B-6600-8D38-24634B3DE2BC}"/>
              </a:ext>
            </a:extLst>
          </p:cNvPr>
          <p:cNvSpPr txBox="1"/>
          <p:nvPr/>
        </p:nvSpPr>
        <p:spPr>
          <a:xfrm>
            <a:off x="7475786" y="27343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6925C08F-44F5-BF5E-5BBB-AFDD89998912}"/>
              </a:ext>
            </a:extLst>
          </p:cNvPr>
          <p:cNvSpPr txBox="1"/>
          <p:nvPr/>
        </p:nvSpPr>
        <p:spPr>
          <a:xfrm>
            <a:off x="5709542" y="20789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5A07D1EB-1F63-FD7C-EC44-0284FBF41AC0}"/>
              </a:ext>
            </a:extLst>
          </p:cNvPr>
          <p:cNvSpPr txBox="1"/>
          <p:nvPr/>
        </p:nvSpPr>
        <p:spPr>
          <a:xfrm>
            <a:off x="2317671" y="27900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FA9CF17C-FA50-9E4E-164C-A6D260DFD4D6}"/>
              </a:ext>
            </a:extLst>
          </p:cNvPr>
          <p:cNvSpPr txBox="1"/>
          <p:nvPr/>
        </p:nvSpPr>
        <p:spPr>
          <a:xfrm>
            <a:off x="1756697" y="28252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2A16953F-25CA-58BD-08B8-C49DE31FA0F9}"/>
              </a:ext>
            </a:extLst>
          </p:cNvPr>
          <p:cNvSpPr txBox="1"/>
          <p:nvPr/>
        </p:nvSpPr>
        <p:spPr>
          <a:xfrm>
            <a:off x="279818" y="56231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1E873423-CB06-9FA5-EB61-A4C6303F615B}"/>
              </a:ext>
            </a:extLst>
          </p:cNvPr>
          <p:cNvSpPr txBox="1"/>
          <p:nvPr/>
        </p:nvSpPr>
        <p:spPr>
          <a:xfrm>
            <a:off x="286384" y="45573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066DDA53-7457-6104-4C63-E67BEF239137}"/>
              </a:ext>
            </a:extLst>
          </p:cNvPr>
          <p:cNvSpPr txBox="1"/>
          <p:nvPr/>
        </p:nvSpPr>
        <p:spPr>
          <a:xfrm>
            <a:off x="982217" y="36622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11E283AE-E16A-ADAB-0615-66DF7A5DA5C4}"/>
              </a:ext>
            </a:extLst>
          </p:cNvPr>
          <p:cNvSpPr txBox="1"/>
          <p:nvPr/>
        </p:nvSpPr>
        <p:spPr>
          <a:xfrm>
            <a:off x="6411673" y="45463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A30EA443-0842-2ED6-9D47-7757A402AD9B}"/>
              </a:ext>
            </a:extLst>
          </p:cNvPr>
          <p:cNvSpPr txBox="1"/>
          <p:nvPr/>
        </p:nvSpPr>
        <p:spPr>
          <a:xfrm>
            <a:off x="6084708" y="3670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2046BDA-3E75-F881-FEA0-0DA06522A4C1}"/>
              </a:ext>
            </a:extLst>
          </p:cNvPr>
          <p:cNvSpPr txBox="1"/>
          <p:nvPr/>
        </p:nvSpPr>
        <p:spPr>
          <a:xfrm>
            <a:off x="7924552" y="3670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DAC7F17F-4E81-2230-13B9-D14609380288}"/>
              </a:ext>
            </a:extLst>
          </p:cNvPr>
          <p:cNvSpPr txBox="1"/>
          <p:nvPr/>
        </p:nvSpPr>
        <p:spPr>
          <a:xfrm>
            <a:off x="6432373" y="55740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53FE2AD-5505-5A3D-0CAC-DD66E826C379}"/>
              </a:ext>
            </a:extLst>
          </p:cNvPr>
          <p:cNvSpPr txBox="1"/>
          <p:nvPr/>
        </p:nvSpPr>
        <p:spPr>
          <a:xfrm>
            <a:off x="2642938" y="36025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2E297FB3-B2AC-93AA-A7A0-C56BFB78509A}"/>
              </a:ext>
            </a:extLst>
          </p:cNvPr>
          <p:cNvSpPr txBox="1"/>
          <p:nvPr/>
        </p:nvSpPr>
        <p:spPr>
          <a:xfrm>
            <a:off x="1456609" y="3688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26337FE-F668-23DF-0658-02819A3C51C8}"/>
              </a:ext>
            </a:extLst>
          </p:cNvPr>
          <p:cNvSpPr txBox="1"/>
          <p:nvPr/>
        </p:nvSpPr>
        <p:spPr>
          <a:xfrm>
            <a:off x="2237929" y="5414662"/>
            <a:ext cx="2934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número verde (1) é o feromônio inicial (τᵢⱼ).</a:t>
            </a:r>
          </a:p>
        </p:txBody>
      </p:sp>
    </p:spTree>
    <p:extLst>
      <p:ext uri="{BB962C8B-B14F-4D97-AF65-F5344CB8AC3E}">
        <p14:creationId xmlns:p14="http://schemas.microsoft.com/office/powerpoint/2010/main" val="169790471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7F355-177C-D70C-A539-EBEB77A7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09931EB4-3008-9016-1D74-EDB6FAF8D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pt-BR" b="1" u="none" dirty="0"/>
              <a:t>Probabilidade em cada nó do grafo</a:t>
            </a:r>
            <a:endParaRPr lang="pt-BR" sz="2600" u="none" dirty="0"/>
          </a:p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A8831CC-D948-6DD8-EB69-80D12F038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365" y="2284145"/>
            <a:ext cx="5847270" cy="407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6188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4D336-7C92-46D3-81D7-05C82FF2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8F531EE-BC08-B75D-9B20-5A9673F9B3CD}"/>
              </a:ext>
            </a:extLst>
          </p:cNvPr>
          <p:cNvSpPr/>
          <p:nvPr/>
        </p:nvSpPr>
        <p:spPr>
          <a:xfrm>
            <a:off x="4381995" y="1582286"/>
            <a:ext cx="380010" cy="38001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2CE143E-6E0C-DB21-7B8A-2F72F9411D31}"/>
              </a:ext>
            </a:extLst>
          </p:cNvPr>
          <p:cNvSpPr/>
          <p:nvPr/>
        </p:nvSpPr>
        <p:spPr>
          <a:xfrm>
            <a:off x="2031011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6EB7C5E-3A61-6576-ECA8-DDB7674B1285}"/>
              </a:ext>
            </a:extLst>
          </p:cNvPr>
          <p:cNvSpPr/>
          <p:nvPr/>
        </p:nvSpPr>
        <p:spPr>
          <a:xfrm>
            <a:off x="7161495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1B5E01D-7A22-C201-2282-27985A6509DC}"/>
              </a:ext>
            </a:extLst>
          </p:cNvPr>
          <p:cNvSpPr/>
          <p:nvPr/>
        </p:nvSpPr>
        <p:spPr>
          <a:xfrm>
            <a:off x="1178975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1F30D8D-A623-B5B4-E676-C61D06D021B4}"/>
              </a:ext>
            </a:extLst>
          </p:cNvPr>
          <p:cNvSpPr/>
          <p:nvPr/>
        </p:nvSpPr>
        <p:spPr>
          <a:xfrm>
            <a:off x="276951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74164C1-26A6-9A77-E239-4B4062390427}"/>
              </a:ext>
            </a:extLst>
          </p:cNvPr>
          <p:cNvSpPr/>
          <p:nvPr/>
        </p:nvSpPr>
        <p:spPr>
          <a:xfrm>
            <a:off x="805710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E906D63-29CD-2DC1-DA7B-1E8EDB06EF76}"/>
              </a:ext>
            </a:extLst>
          </p:cNvPr>
          <p:cNvSpPr/>
          <p:nvPr/>
        </p:nvSpPr>
        <p:spPr>
          <a:xfrm>
            <a:off x="448923" y="4078311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4F22813D-2BD5-5396-1949-030D7C5F5270}"/>
              </a:ext>
            </a:extLst>
          </p:cNvPr>
          <p:cNvCxnSpPr>
            <a:cxnSpLocks/>
            <a:stCxn id="3" idx="3"/>
            <a:endCxn id="7" idx="7"/>
          </p:cNvCxnSpPr>
          <p:nvPr/>
        </p:nvCxnSpPr>
        <p:spPr>
          <a:xfrm flipH="1">
            <a:off x="2355370" y="1906645"/>
            <a:ext cx="2082276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448799B2-9C98-5852-AE81-53D6B38A099E}"/>
              </a:ext>
            </a:extLst>
          </p:cNvPr>
          <p:cNvCxnSpPr>
            <a:cxnSpLocks/>
            <a:stCxn id="3" idx="5"/>
            <a:endCxn id="8" idx="1"/>
          </p:cNvCxnSpPr>
          <p:nvPr/>
        </p:nvCxnSpPr>
        <p:spPr>
          <a:xfrm>
            <a:off x="4706354" y="1906645"/>
            <a:ext cx="2510792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020DC8C-E3B1-7F14-9A65-1688BD43E140}"/>
              </a:ext>
            </a:extLst>
          </p:cNvPr>
          <p:cNvCxnSpPr>
            <a:cxnSpLocks/>
            <a:stCxn id="7" idx="5"/>
            <a:endCxn id="10" idx="1"/>
          </p:cNvCxnSpPr>
          <p:nvPr/>
        </p:nvCxnSpPr>
        <p:spPr>
          <a:xfrm>
            <a:off x="2355370" y="2584501"/>
            <a:ext cx="469791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28E6102A-08D1-9830-BFCC-9FC3D85499C5}"/>
              </a:ext>
            </a:extLst>
          </p:cNvPr>
          <p:cNvCxnSpPr>
            <a:cxnSpLocks/>
            <a:stCxn id="9" idx="3"/>
            <a:endCxn id="13" idx="7"/>
          </p:cNvCxnSpPr>
          <p:nvPr/>
        </p:nvCxnSpPr>
        <p:spPr>
          <a:xfrm flipH="1">
            <a:off x="773282" y="3432818"/>
            <a:ext cx="461344" cy="70114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790F476E-F819-60D6-93FF-6B9D665C6D42}"/>
              </a:ext>
            </a:extLst>
          </p:cNvPr>
          <p:cNvCxnSpPr>
            <a:cxnSpLocks/>
            <a:stCxn id="9" idx="7"/>
            <a:endCxn id="7" idx="3"/>
          </p:cNvCxnSpPr>
          <p:nvPr/>
        </p:nvCxnSpPr>
        <p:spPr>
          <a:xfrm flipV="1">
            <a:off x="1503334" y="2584501"/>
            <a:ext cx="583328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79420353-7055-2546-FF0D-E65F1234955D}"/>
              </a:ext>
            </a:extLst>
          </p:cNvPr>
          <p:cNvCxnSpPr>
            <a:cxnSpLocks/>
            <a:stCxn id="8" idx="5"/>
            <a:endCxn id="12" idx="1"/>
          </p:cNvCxnSpPr>
          <p:nvPr/>
        </p:nvCxnSpPr>
        <p:spPr>
          <a:xfrm>
            <a:off x="7485854" y="2584501"/>
            <a:ext cx="626897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BE306C76-70AF-46CA-94DD-2FAD80EA8459}"/>
              </a:ext>
            </a:extLst>
          </p:cNvPr>
          <p:cNvCxnSpPr>
            <a:cxnSpLocks/>
            <a:stCxn id="10" idx="4"/>
            <a:endCxn id="96" idx="0"/>
          </p:cNvCxnSpPr>
          <p:nvPr/>
        </p:nvCxnSpPr>
        <p:spPr>
          <a:xfrm flipH="1">
            <a:off x="2953589" y="3488469"/>
            <a:ext cx="5926" cy="589842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F361D897-B4B0-F09E-FFFE-51EC60D44E6D}"/>
              </a:ext>
            </a:extLst>
          </p:cNvPr>
          <p:cNvSpPr/>
          <p:nvPr/>
        </p:nvSpPr>
        <p:spPr>
          <a:xfrm>
            <a:off x="450055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AB764677-3E27-1B0F-1873-38ABFEB7DFF5}"/>
              </a:ext>
            </a:extLst>
          </p:cNvPr>
          <p:cNvCxnSpPr>
            <a:cxnSpLocks/>
            <a:stCxn id="9" idx="5"/>
            <a:endCxn id="173" idx="1"/>
          </p:cNvCxnSpPr>
          <p:nvPr/>
        </p:nvCxnSpPr>
        <p:spPr>
          <a:xfrm>
            <a:off x="1503334" y="3432818"/>
            <a:ext cx="410236" cy="70887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3827C75E-4552-DCA4-A3B9-4E4F7C1D63F6}"/>
              </a:ext>
            </a:extLst>
          </p:cNvPr>
          <p:cNvCxnSpPr>
            <a:cxnSpLocks/>
            <a:stCxn id="62" idx="4"/>
            <a:endCxn id="66" idx="0"/>
          </p:cNvCxnSpPr>
          <p:nvPr/>
        </p:nvCxnSpPr>
        <p:spPr>
          <a:xfrm flipH="1">
            <a:off x="638928" y="5414662"/>
            <a:ext cx="11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>
            <a:extLst>
              <a:ext uri="{FF2B5EF4-FFF2-40B4-BE49-F238E27FC236}">
                <a16:creationId xmlns:a16="http://schemas.microsoft.com/office/drawing/2014/main" id="{0A75B533-A025-2EFD-8F4B-3F1DBAFAC1B4}"/>
              </a:ext>
            </a:extLst>
          </p:cNvPr>
          <p:cNvSpPr/>
          <p:nvPr/>
        </p:nvSpPr>
        <p:spPr>
          <a:xfrm>
            <a:off x="448923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F14DD0C1-C5D5-91FB-D102-8D1F66293C7E}"/>
              </a:ext>
            </a:extLst>
          </p:cNvPr>
          <p:cNvSpPr/>
          <p:nvPr/>
        </p:nvSpPr>
        <p:spPr>
          <a:xfrm>
            <a:off x="2763584" y="4078311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7779D72D-65C8-D757-751C-97652E3ACF74}"/>
              </a:ext>
            </a:extLst>
          </p:cNvPr>
          <p:cNvCxnSpPr>
            <a:cxnSpLocks/>
            <a:stCxn id="12" idx="4"/>
            <a:endCxn id="186" idx="0"/>
          </p:cNvCxnSpPr>
          <p:nvPr/>
        </p:nvCxnSpPr>
        <p:spPr>
          <a:xfrm flipH="1">
            <a:off x="8244532" y="3488469"/>
            <a:ext cx="2573" cy="59757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lipse 115">
            <a:extLst>
              <a:ext uri="{FF2B5EF4-FFF2-40B4-BE49-F238E27FC236}">
                <a16:creationId xmlns:a16="http://schemas.microsoft.com/office/drawing/2014/main" id="{32E4E34B-5965-AEEF-E793-B4B95EBA5F97}"/>
              </a:ext>
            </a:extLst>
          </p:cNvPr>
          <p:cNvSpPr/>
          <p:nvPr/>
        </p:nvSpPr>
        <p:spPr>
          <a:xfrm>
            <a:off x="5771745" y="3096416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8CEC41BD-1233-9D72-6852-F14D63585A16}"/>
              </a:ext>
            </a:extLst>
          </p:cNvPr>
          <p:cNvCxnSpPr>
            <a:cxnSpLocks/>
            <a:stCxn id="116" idx="7"/>
            <a:endCxn id="8" idx="3"/>
          </p:cNvCxnSpPr>
          <p:nvPr/>
        </p:nvCxnSpPr>
        <p:spPr>
          <a:xfrm flipV="1">
            <a:off x="6096104" y="2584501"/>
            <a:ext cx="1121042" cy="56756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E5342D0F-FC1A-BED9-A33D-50EC4FFC03B1}"/>
              </a:ext>
            </a:extLst>
          </p:cNvPr>
          <p:cNvCxnSpPr>
            <a:cxnSpLocks/>
            <a:stCxn id="116" idx="3"/>
            <a:endCxn id="180" idx="7"/>
          </p:cNvCxnSpPr>
          <p:nvPr/>
        </p:nvCxnSpPr>
        <p:spPr>
          <a:xfrm flipH="1">
            <a:off x="5150200" y="3420775"/>
            <a:ext cx="677196" cy="71787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EBDEDEF3-0F0A-86F8-D922-99E30F34D31A}"/>
              </a:ext>
            </a:extLst>
          </p:cNvPr>
          <p:cNvCxnSpPr>
            <a:cxnSpLocks/>
            <a:stCxn id="116" idx="5"/>
            <a:endCxn id="188" idx="1"/>
          </p:cNvCxnSpPr>
          <p:nvPr/>
        </p:nvCxnSpPr>
        <p:spPr>
          <a:xfrm>
            <a:off x="6096104" y="3420775"/>
            <a:ext cx="538741" cy="72626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to 153">
            <a:extLst>
              <a:ext uri="{FF2B5EF4-FFF2-40B4-BE49-F238E27FC236}">
                <a16:creationId xmlns:a16="http://schemas.microsoft.com/office/drawing/2014/main" id="{9716CA67-FC3E-32C9-AB9D-4FA021D2895B}"/>
              </a:ext>
            </a:extLst>
          </p:cNvPr>
          <p:cNvCxnSpPr>
            <a:cxnSpLocks/>
            <a:stCxn id="13" idx="4"/>
            <a:endCxn id="62" idx="0"/>
          </p:cNvCxnSpPr>
          <p:nvPr/>
        </p:nvCxnSpPr>
        <p:spPr>
          <a:xfrm>
            <a:off x="638928" y="4458321"/>
            <a:ext cx="1132" cy="576331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Elipse 172">
            <a:extLst>
              <a:ext uri="{FF2B5EF4-FFF2-40B4-BE49-F238E27FC236}">
                <a16:creationId xmlns:a16="http://schemas.microsoft.com/office/drawing/2014/main" id="{7DE274DA-1EB0-868A-D273-3EBADEDBD4AD}"/>
              </a:ext>
            </a:extLst>
          </p:cNvPr>
          <p:cNvSpPr/>
          <p:nvPr/>
        </p:nvSpPr>
        <p:spPr>
          <a:xfrm>
            <a:off x="1857919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0" name="Elipse 179">
            <a:extLst>
              <a:ext uri="{FF2B5EF4-FFF2-40B4-BE49-F238E27FC236}">
                <a16:creationId xmlns:a16="http://schemas.microsoft.com/office/drawing/2014/main" id="{51DD4EBC-F05F-64E7-3EF8-20C2734BA7BF}"/>
              </a:ext>
            </a:extLst>
          </p:cNvPr>
          <p:cNvSpPr/>
          <p:nvPr/>
        </p:nvSpPr>
        <p:spPr>
          <a:xfrm>
            <a:off x="4825841" y="4082999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6" name="Elipse 185">
            <a:extLst>
              <a:ext uri="{FF2B5EF4-FFF2-40B4-BE49-F238E27FC236}">
                <a16:creationId xmlns:a16="http://schemas.microsoft.com/office/drawing/2014/main" id="{7A5FB5D1-1FA2-5006-7255-B98647C657D0}"/>
              </a:ext>
            </a:extLst>
          </p:cNvPr>
          <p:cNvSpPr/>
          <p:nvPr/>
        </p:nvSpPr>
        <p:spPr>
          <a:xfrm>
            <a:off x="8054527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4DB6EDF0-28F3-E8CF-893A-E885D0522A25}"/>
              </a:ext>
            </a:extLst>
          </p:cNvPr>
          <p:cNvSpPr/>
          <p:nvPr/>
        </p:nvSpPr>
        <p:spPr>
          <a:xfrm>
            <a:off x="6579194" y="4091384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189" name="Elipse 188">
            <a:extLst>
              <a:ext uri="{FF2B5EF4-FFF2-40B4-BE49-F238E27FC236}">
                <a16:creationId xmlns:a16="http://schemas.microsoft.com/office/drawing/2014/main" id="{50E43A23-22FF-B9A2-0FC0-D30DD2B14972}"/>
              </a:ext>
            </a:extLst>
          </p:cNvPr>
          <p:cNvSpPr/>
          <p:nvPr/>
        </p:nvSpPr>
        <p:spPr>
          <a:xfrm>
            <a:off x="6579194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190" name="Conector reto 189">
            <a:extLst>
              <a:ext uri="{FF2B5EF4-FFF2-40B4-BE49-F238E27FC236}">
                <a16:creationId xmlns:a16="http://schemas.microsoft.com/office/drawing/2014/main" id="{2CF60B21-7684-0798-BAE4-3D69CF5B60B9}"/>
              </a:ext>
            </a:extLst>
          </p:cNvPr>
          <p:cNvCxnSpPr>
            <a:cxnSpLocks/>
            <a:stCxn id="188" idx="4"/>
            <a:endCxn id="189" idx="0"/>
          </p:cNvCxnSpPr>
          <p:nvPr/>
        </p:nvCxnSpPr>
        <p:spPr>
          <a:xfrm>
            <a:off x="6769199" y="4471394"/>
            <a:ext cx="0" cy="56325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ctor reto 190">
            <a:extLst>
              <a:ext uri="{FF2B5EF4-FFF2-40B4-BE49-F238E27FC236}">
                <a16:creationId xmlns:a16="http://schemas.microsoft.com/office/drawing/2014/main" id="{71D34D0E-415B-218D-806E-F696A0129BD4}"/>
              </a:ext>
            </a:extLst>
          </p:cNvPr>
          <p:cNvCxnSpPr>
            <a:cxnSpLocks/>
            <a:stCxn id="189" idx="4"/>
            <a:endCxn id="192" idx="0"/>
          </p:cNvCxnSpPr>
          <p:nvPr/>
        </p:nvCxnSpPr>
        <p:spPr>
          <a:xfrm flipH="1">
            <a:off x="6763767" y="5414662"/>
            <a:ext cx="54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Elipse 191">
            <a:extLst>
              <a:ext uri="{FF2B5EF4-FFF2-40B4-BE49-F238E27FC236}">
                <a16:creationId xmlns:a16="http://schemas.microsoft.com/office/drawing/2014/main" id="{B6EDFA02-163B-5BB7-E8A6-13480F0FB61B}"/>
              </a:ext>
            </a:extLst>
          </p:cNvPr>
          <p:cNvSpPr/>
          <p:nvPr/>
        </p:nvSpPr>
        <p:spPr>
          <a:xfrm>
            <a:off x="6573762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265" name="CaixaDeTexto 264">
            <a:extLst>
              <a:ext uri="{FF2B5EF4-FFF2-40B4-BE49-F238E27FC236}">
                <a16:creationId xmlns:a16="http://schemas.microsoft.com/office/drawing/2014/main" id="{A8B7AD3F-0103-BD87-9C2F-93D620A2A451}"/>
              </a:ext>
            </a:extLst>
          </p:cNvPr>
          <p:cNvSpPr txBox="1"/>
          <p:nvPr/>
        </p:nvSpPr>
        <p:spPr>
          <a:xfrm>
            <a:off x="3143594" y="17418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8" name="CaixaDeTexto 267">
            <a:extLst>
              <a:ext uri="{FF2B5EF4-FFF2-40B4-BE49-F238E27FC236}">
                <a16:creationId xmlns:a16="http://schemas.microsoft.com/office/drawing/2014/main" id="{4E8E6834-42A9-345A-1CD8-2A7DA8BE7563}"/>
              </a:ext>
            </a:extLst>
          </p:cNvPr>
          <p:cNvSpPr txBox="1"/>
          <p:nvPr/>
        </p:nvSpPr>
        <p:spPr>
          <a:xfrm>
            <a:off x="2992751" y="36025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9" name="CaixaDeTexto 268">
            <a:extLst>
              <a:ext uri="{FF2B5EF4-FFF2-40B4-BE49-F238E27FC236}">
                <a16:creationId xmlns:a16="http://schemas.microsoft.com/office/drawing/2014/main" id="{E8E3E186-3519-586B-6700-55AF2C52B659}"/>
              </a:ext>
            </a:extLst>
          </p:cNvPr>
          <p:cNvSpPr txBox="1"/>
          <p:nvPr/>
        </p:nvSpPr>
        <p:spPr>
          <a:xfrm>
            <a:off x="6846630" y="55740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70" name="CaixaDeTexto 269">
            <a:extLst>
              <a:ext uri="{FF2B5EF4-FFF2-40B4-BE49-F238E27FC236}">
                <a16:creationId xmlns:a16="http://schemas.microsoft.com/office/drawing/2014/main" id="{98C832BB-DBD1-DA10-0925-2D3DC0B29736}"/>
              </a:ext>
            </a:extLst>
          </p:cNvPr>
          <p:cNvSpPr txBox="1"/>
          <p:nvPr/>
        </p:nvSpPr>
        <p:spPr>
          <a:xfrm>
            <a:off x="5867373" y="17722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1" name="CaixaDeTexto 270">
            <a:extLst>
              <a:ext uri="{FF2B5EF4-FFF2-40B4-BE49-F238E27FC236}">
                <a16:creationId xmlns:a16="http://schemas.microsoft.com/office/drawing/2014/main" id="{9902A51A-F827-7C29-C956-A4342C0B6E99}"/>
              </a:ext>
            </a:extLst>
          </p:cNvPr>
          <p:cNvSpPr txBox="1"/>
          <p:nvPr/>
        </p:nvSpPr>
        <p:spPr>
          <a:xfrm>
            <a:off x="746052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2" name="CaixaDeTexto 271">
            <a:extLst>
              <a:ext uri="{FF2B5EF4-FFF2-40B4-BE49-F238E27FC236}">
                <a16:creationId xmlns:a16="http://schemas.microsoft.com/office/drawing/2014/main" id="{F0C82196-870B-7B50-8AB5-DF0806D51ED0}"/>
              </a:ext>
            </a:extLst>
          </p:cNvPr>
          <p:cNvSpPr txBox="1"/>
          <p:nvPr/>
        </p:nvSpPr>
        <p:spPr>
          <a:xfrm>
            <a:off x="7756627" y="25866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6C03B99E-601E-8093-B332-3FD69A158819}"/>
              </a:ext>
            </a:extLst>
          </p:cNvPr>
          <p:cNvSpPr txBox="1"/>
          <p:nvPr/>
        </p:nvSpPr>
        <p:spPr>
          <a:xfrm>
            <a:off x="674884" y="45525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4" name="CaixaDeTexto 273">
            <a:extLst>
              <a:ext uri="{FF2B5EF4-FFF2-40B4-BE49-F238E27FC236}">
                <a16:creationId xmlns:a16="http://schemas.microsoft.com/office/drawing/2014/main" id="{3D46D4A9-2409-5555-9037-1E6B09BB03B1}"/>
              </a:ext>
            </a:extLst>
          </p:cNvPr>
          <p:cNvSpPr txBox="1"/>
          <p:nvPr/>
        </p:nvSpPr>
        <p:spPr>
          <a:xfrm>
            <a:off x="6387285" y="25807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5" name="CaixaDeTexto 274">
            <a:extLst>
              <a:ext uri="{FF2B5EF4-FFF2-40B4-BE49-F238E27FC236}">
                <a16:creationId xmlns:a16="http://schemas.microsoft.com/office/drawing/2014/main" id="{8002B172-73CF-7067-A3E3-9344D5D8B625}"/>
              </a:ext>
            </a:extLst>
          </p:cNvPr>
          <p:cNvSpPr txBox="1"/>
          <p:nvPr/>
        </p:nvSpPr>
        <p:spPr>
          <a:xfrm>
            <a:off x="2550694" y="2621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6" name="CaixaDeTexto 275">
            <a:extLst>
              <a:ext uri="{FF2B5EF4-FFF2-40B4-BE49-F238E27FC236}">
                <a16:creationId xmlns:a16="http://schemas.microsoft.com/office/drawing/2014/main" id="{785FC724-3BB4-C62F-DDFF-B8A4C727506B}"/>
              </a:ext>
            </a:extLst>
          </p:cNvPr>
          <p:cNvSpPr txBox="1"/>
          <p:nvPr/>
        </p:nvSpPr>
        <p:spPr>
          <a:xfrm>
            <a:off x="6776804" y="45472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7" name="CaixaDeTexto 276">
            <a:extLst>
              <a:ext uri="{FF2B5EF4-FFF2-40B4-BE49-F238E27FC236}">
                <a16:creationId xmlns:a16="http://schemas.microsoft.com/office/drawing/2014/main" id="{00977164-7E5B-93DB-83D4-908E54785C63}"/>
              </a:ext>
            </a:extLst>
          </p:cNvPr>
          <p:cNvSpPr txBox="1"/>
          <p:nvPr/>
        </p:nvSpPr>
        <p:spPr>
          <a:xfrm>
            <a:off x="638928" y="56274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78" name="CaixaDeTexto 277">
            <a:extLst>
              <a:ext uri="{FF2B5EF4-FFF2-40B4-BE49-F238E27FC236}">
                <a16:creationId xmlns:a16="http://schemas.microsoft.com/office/drawing/2014/main" id="{1B1E75B9-C67B-35B8-A723-3FA8539B798F}"/>
              </a:ext>
            </a:extLst>
          </p:cNvPr>
          <p:cNvSpPr txBox="1"/>
          <p:nvPr/>
        </p:nvSpPr>
        <p:spPr>
          <a:xfrm>
            <a:off x="5172636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79" name="CaixaDeTexto 278">
            <a:extLst>
              <a:ext uri="{FF2B5EF4-FFF2-40B4-BE49-F238E27FC236}">
                <a16:creationId xmlns:a16="http://schemas.microsoft.com/office/drawing/2014/main" id="{53389DE9-ABD7-96DA-D904-71A6D49C4246}"/>
              </a:ext>
            </a:extLst>
          </p:cNvPr>
          <p:cNvSpPr txBox="1"/>
          <p:nvPr/>
        </p:nvSpPr>
        <p:spPr>
          <a:xfrm>
            <a:off x="1703924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0" name="CaixaDeTexto 279">
            <a:extLst>
              <a:ext uri="{FF2B5EF4-FFF2-40B4-BE49-F238E27FC236}">
                <a16:creationId xmlns:a16="http://schemas.microsoft.com/office/drawing/2014/main" id="{E367E6C1-C5F0-458F-B095-3BC569E7C781}"/>
              </a:ext>
            </a:extLst>
          </p:cNvPr>
          <p:cNvSpPr txBox="1"/>
          <p:nvPr/>
        </p:nvSpPr>
        <p:spPr>
          <a:xfrm>
            <a:off x="6288932" y="34444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81" name="CaixaDeTexto 280">
            <a:extLst>
              <a:ext uri="{FF2B5EF4-FFF2-40B4-BE49-F238E27FC236}">
                <a16:creationId xmlns:a16="http://schemas.microsoft.com/office/drawing/2014/main" id="{A69E1362-09FD-AA15-DEB9-334268180782}"/>
              </a:ext>
            </a:extLst>
          </p:cNvPr>
          <p:cNvSpPr txBox="1"/>
          <p:nvPr/>
        </p:nvSpPr>
        <p:spPr>
          <a:xfrm>
            <a:off x="1567146" y="26025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98" name="CaixaDeTexto 297">
            <a:extLst>
              <a:ext uri="{FF2B5EF4-FFF2-40B4-BE49-F238E27FC236}">
                <a16:creationId xmlns:a16="http://schemas.microsoft.com/office/drawing/2014/main" id="{7A03544F-5F8E-B56B-E661-457FB9D5D6A9}"/>
              </a:ext>
            </a:extLst>
          </p:cNvPr>
          <p:cNvSpPr txBox="1"/>
          <p:nvPr/>
        </p:nvSpPr>
        <p:spPr>
          <a:xfrm>
            <a:off x="8283694" y="36443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2934D5-EDEF-121F-338B-B244DB6F18A0}"/>
              </a:ext>
            </a:extLst>
          </p:cNvPr>
          <p:cNvSpPr txBox="1"/>
          <p:nvPr/>
        </p:nvSpPr>
        <p:spPr>
          <a:xfrm>
            <a:off x="836856" y="6108184"/>
            <a:ext cx="79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1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3F2FD027-4C1D-B887-6E18-175D62B75BD2}"/>
              </a:ext>
            </a:extLst>
          </p:cNvPr>
          <p:cNvSpPr txBox="1"/>
          <p:nvPr/>
        </p:nvSpPr>
        <p:spPr>
          <a:xfrm>
            <a:off x="1650154" y="4499798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2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48BB7269-1929-CF6F-127A-3F70CBC96149}"/>
              </a:ext>
            </a:extLst>
          </p:cNvPr>
          <p:cNvSpPr txBox="1"/>
          <p:nvPr/>
        </p:nvSpPr>
        <p:spPr>
          <a:xfrm>
            <a:off x="2602492" y="4499798"/>
            <a:ext cx="79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3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9678084-96A7-14DF-EAFC-0B0F3F5F24C8}"/>
              </a:ext>
            </a:extLst>
          </p:cNvPr>
          <p:cNvSpPr txBox="1"/>
          <p:nvPr/>
        </p:nvSpPr>
        <p:spPr>
          <a:xfrm>
            <a:off x="4618076" y="4500605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4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E7225267-F1FE-77DE-7520-5FCB83CE5E5F}"/>
              </a:ext>
            </a:extLst>
          </p:cNvPr>
          <p:cNvSpPr txBox="1"/>
          <p:nvPr/>
        </p:nvSpPr>
        <p:spPr>
          <a:xfrm>
            <a:off x="6997473" y="6102844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5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F628254-C7AF-5C7D-2C7A-93FB6501D061}"/>
              </a:ext>
            </a:extLst>
          </p:cNvPr>
          <p:cNvSpPr txBox="1"/>
          <p:nvPr/>
        </p:nvSpPr>
        <p:spPr>
          <a:xfrm>
            <a:off x="7840552" y="4547220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6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CC8430A-D4FB-A242-6147-873641037D0E}"/>
              </a:ext>
            </a:extLst>
          </p:cNvPr>
          <p:cNvSpPr txBox="1"/>
          <p:nvPr/>
        </p:nvSpPr>
        <p:spPr>
          <a:xfrm>
            <a:off x="3407844" y="21112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B44D9CCE-6DE5-90CD-7F3F-83B72204C7A9}"/>
              </a:ext>
            </a:extLst>
          </p:cNvPr>
          <p:cNvSpPr txBox="1"/>
          <p:nvPr/>
        </p:nvSpPr>
        <p:spPr>
          <a:xfrm>
            <a:off x="5417815" y="37108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3CEADB53-3D46-42CA-2580-4039B1888D39}"/>
              </a:ext>
            </a:extLst>
          </p:cNvPr>
          <p:cNvSpPr txBox="1"/>
          <p:nvPr/>
        </p:nvSpPr>
        <p:spPr>
          <a:xfrm>
            <a:off x="6527099" y="28300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A51A1EA5-3F0B-6600-8D38-24634B3DE2BC}"/>
              </a:ext>
            </a:extLst>
          </p:cNvPr>
          <p:cNvSpPr txBox="1"/>
          <p:nvPr/>
        </p:nvSpPr>
        <p:spPr>
          <a:xfrm>
            <a:off x="7475786" y="27343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6925C08F-44F5-BF5E-5BBB-AFDD89998912}"/>
              </a:ext>
            </a:extLst>
          </p:cNvPr>
          <p:cNvSpPr txBox="1"/>
          <p:nvPr/>
        </p:nvSpPr>
        <p:spPr>
          <a:xfrm>
            <a:off x="5709542" y="20789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5A07D1EB-1F63-FD7C-EC44-0284FBF41AC0}"/>
              </a:ext>
            </a:extLst>
          </p:cNvPr>
          <p:cNvSpPr txBox="1"/>
          <p:nvPr/>
        </p:nvSpPr>
        <p:spPr>
          <a:xfrm>
            <a:off x="2317671" y="27900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FA9CF17C-FA50-9E4E-164C-A6D260DFD4D6}"/>
              </a:ext>
            </a:extLst>
          </p:cNvPr>
          <p:cNvSpPr txBox="1"/>
          <p:nvPr/>
        </p:nvSpPr>
        <p:spPr>
          <a:xfrm>
            <a:off x="1756697" y="28252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2A16953F-25CA-58BD-08B8-C49DE31FA0F9}"/>
              </a:ext>
            </a:extLst>
          </p:cNvPr>
          <p:cNvSpPr txBox="1"/>
          <p:nvPr/>
        </p:nvSpPr>
        <p:spPr>
          <a:xfrm>
            <a:off x="279818" y="56231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1E873423-CB06-9FA5-EB61-A4C6303F615B}"/>
              </a:ext>
            </a:extLst>
          </p:cNvPr>
          <p:cNvSpPr txBox="1"/>
          <p:nvPr/>
        </p:nvSpPr>
        <p:spPr>
          <a:xfrm>
            <a:off x="286384" y="45573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066DDA53-7457-6104-4C63-E67BEF239137}"/>
              </a:ext>
            </a:extLst>
          </p:cNvPr>
          <p:cNvSpPr txBox="1"/>
          <p:nvPr/>
        </p:nvSpPr>
        <p:spPr>
          <a:xfrm>
            <a:off x="982217" y="36622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11E283AE-E16A-ADAB-0615-66DF7A5DA5C4}"/>
              </a:ext>
            </a:extLst>
          </p:cNvPr>
          <p:cNvSpPr txBox="1"/>
          <p:nvPr/>
        </p:nvSpPr>
        <p:spPr>
          <a:xfrm>
            <a:off x="6411673" y="45463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A30EA443-0842-2ED6-9D47-7757A402AD9B}"/>
              </a:ext>
            </a:extLst>
          </p:cNvPr>
          <p:cNvSpPr txBox="1"/>
          <p:nvPr/>
        </p:nvSpPr>
        <p:spPr>
          <a:xfrm>
            <a:off x="6084708" y="3670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2046BDA-3E75-F881-FEA0-0DA06522A4C1}"/>
              </a:ext>
            </a:extLst>
          </p:cNvPr>
          <p:cNvSpPr txBox="1"/>
          <p:nvPr/>
        </p:nvSpPr>
        <p:spPr>
          <a:xfrm>
            <a:off x="7924552" y="3670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DAC7F17F-4E81-2230-13B9-D14609380288}"/>
              </a:ext>
            </a:extLst>
          </p:cNvPr>
          <p:cNvSpPr txBox="1"/>
          <p:nvPr/>
        </p:nvSpPr>
        <p:spPr>
          <a:xfrm>
            <a:off x="6432373" y="55740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53FE2AD-5505-5A3D-0CAC-DD66E826C379}"/>
              </a:ext>
            </a:extLst>
          </p:cNvPr>
          <p:cNvSpPr txBox="1"/>
          <p:nvPr/>
        </p:nvSpPr>
        <p:spPr>
          <a:xfrm>
            <a:off x="2642938" y="36025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2E297FB3-B2AC-93AA-A7A0-C56BFB78509A}"/>
              </a:ext>
            </a:extLst>
          </p:cNvPr>
          <p:cNvSpPr txBox="1"/>
          <p:nvPr/>
        </p:nvSpPr>
        <p:spPr>
          <a:xfrm>
            <a:off x="1456609" y="3688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3B939D9-019B-62CE-0E16-98BB80AF8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841" y="1362055"/>
            <a:ext cx="461344" cy="260371"/>
          </a:xfrm>
          <a:prstGeom prst="rect">
            <a:avLst/>
          </a:prstGeom>
        </p:spPr>
      </p:pic>
      <p:pic>
        <p:nvPicPr>
          <p:cNvPr id="77" name="Imagem 76">
            <a:extLst>
              <a:ext uri="{FF2B5EF4-FFF2-40B4-BE49-F238E27FC236}">
                <a16:creationId xmlns:a16="http://schemas.microsoft.com/office/drawing/2014/main" id="{F08AFFA7-90F1-EA3B-6EFB-477F76628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969" y="1359775"/>
            <a:ext cx="461344" cy="260371"/>
          </a:xfrm>
          <a:prstGeom prst="rect">
            <a:avLst/>
          </a:prstGeom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45BF74C1-C882-9F3D-AFD9-2322672C1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833" y="1359775"/>
            <a:ext cx="461344" cy="260371"/>
          </a:xfrm>
          <a:prstGeom prst="rect">
            <a:avLst/>
          </a:prstGeom>
        </p:spPr>
      </p:pic>
      <p:pic>
        <p:nvPicPr>
          <p:cNvPr id="81" name="Imagem 80">
            <a:extLst>
              <a:ext uri="{FF2B5EF4-FFF2-40B4-BE49-F238E27FC236}">
                <a16:creationId xmlns:a16="http://schemas.microsoft.com/office/drawing/2014/main" id="{4745B6DA-6FE0-46E1-AD34-6410F4CEA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468" y="1368847"/>
            <a:ext cx="461344" cy="260371"/>
          </a:xfrm>
          <a:prstGeom prst="rect">
            <a:avLst/>
          </a:prstGeom>
        </p:spPr>
      </p:pic>
      <p:pic>
        <p:nvPicPr>
          <p:cNvPr id="82" name="Imagem 81">
            <a:extLst>
              <a:ext uri="{FF2B5EF4-FFF2-40B4-BE49-F238E27FC236}">
                <a16:creationId xmlns:a16="http://schemas.microsoft.com/office/drawing/2014/main" id="{2B9969B4-F9D6-15C2-7095-7C36A3F8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12" y="1353751"/>
            <a:ext cx="461344" cy="260371"/>
          </a:xfrm>
          <a:prstGeom prst="rect">
            <a:avLst/>
          </a:prstGeom>
        </p:spPr>
      </p:pic>
      <p:pic>
        <p:nvPicPr>
          <p:cNvPr id="83" name="Imagem 82">
            <a:extLst>
              <a:ext uri="{FF2B5EF4-FFF2-40B4-BE49-F238E27FC236}">
                <a16:creationId xmlns:a16="http://schemas.microsoft.com/office/drawing/2014/main" id="{F521C83C-14E5-710D-4925-70B2BD3D4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825" y="1353751"/>
            <a:ext cx="461344" cy="26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01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4D336-7C92-46D3-81D7-05C82FF2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8F531EE-BC08-B75D-9B20-5A9673F9B3CD}"/>
              </a:ext>
            </a:extLst>
          </p:cNvPr>
          <p:cNvSpPr/>
          <p:nvPr/>
        </p:nvSpPr>
        <p:spPr>
          <a:xfrm>
            <a:off x="4381995" y="1582286"/>
            <a:ext cx="380010" cy="38001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2CE143E-6E0C-DB21-7B8A-2F72F9411D31}"/>
              </a:ext>
            </a:extLst>
          </p:cNvPr>
          <p:cNvSpPr/>
          <p:nvPr/>
        </p:nvSpPr>
        <p:spPr>
          <a:xfrm>
            <a:off x="2031011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6EB7C5E-3A61-6576-ECA8-DDB7674B1285}"/>
              </a:ext>
            </a:extLst>
          </p:cNvPr>
          <p:cNvSpPr/>
          <p:nvPr/>
        </p:nvSpPr>
        <p:spPr>
          <a:xfrm>
            <a:off x="7161495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1B5E01D-7A22-C201-2282-27985A6509DC}"/>
              </a:ext>
            </a:extLst>
          </p:cNvPr>
          <p:cNvSpPr/>
          <p:nvPr/>
        </p:nvSpPr>
        <p:spPr>
          <a:xfrm>
            <a:off x="1178975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1F30D8D-A623-B5B4-E676-C61D06D021B4}"/>
              </a:ext>
            </a:extLst>
          </p:cNvPr>
          <p:cNvSpPr/>
          <p:nvPr/>
        </p:nvSpPr>
        <p:spPr>
          <a:xfrm>
            <a:off x="276951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74164C1-26A6-9A77-E239-4B4062390427}"/>
              </a:ext>
            </a:extLst>
          </p:cNvPr>
          <p:cNvSpPr/>
          <p:nvPr/>
        </p:nvSpPr>
        <p:spPr>
          <a:xfrm>
            <a:off x="805710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E906D63-29CD-2DC1-DA7B-1E8EDB06EF76}"/>
              </a:ext>
            </a:extLst>
          </p:cNvPr>
          <p:cNvSpPr/>
          <p:nvPr/>
        </p:nvSpPr>
        <p:spPr>
          <a:xfrm>
            <a:off x="448923" y="4078311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4F22813D-2BD5-5396-1949-030D7C5F5270}"/>
              </a:ext>
            </a:extLst>
          </p:cNvPr>
          <p:cNvCxnSpPr>
            <a:cxnSpLocks/>
            <a:stCxn id="3" idx="3"/>
            <a:endCxn id="7" idx="7"/>
          </p:cNvCxnSpPr>
          <p:nvPr/>
        </p:nvCxnSpPr>
        <p:spPr>
          <a:xfrm flipH="1">
            <a:off x="2355370" y="1906645"/>
            <a:ext cx="2082276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448799B2-9C98-5852-AE81-53D6B38A099E}"/>
              </a:ext>
            </a:extLst>
          </p:cNvPr>
          <p:cNvCxnSpPr>
            <a:cxnSpLocks/>
            <a:stCxn id="3" idx="5"/>
            <a:endCxn id="8" idx="1"/>
          </p:cNvCxnSpPr>
          <p:nvPr/>
        </p:nvCxnSpPr>
        <p:spPr>
          <a:xfrm>
            <a:off x="4706354" y="1906645"/>
            <a:ext cx="2510792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020DC8C-E3B1-7F14-9A65-1688BD43E140}"/>
              </a:ext>
            </a:extLst>
          </p:cNvPr>
          <p:cNvCxnSpPr>
            <a:cxnSpLocks/>
            <a:stCxn id="7" idx="5"/>
            <a:endCxn id="10" idx="1"/>
          </p:cNvCxnSpPr>
          <p:nvPr/>
        </p:nvCxnSpPr>
        <p:spPr>
          <a:xfrm>
            <a:off x="2355370" y="2584501"/>
            <a:ext cx="469791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28E6102A-08D1-9830-BFCC-9FC3D85499C5}"/>
              </a:ext>
            </a:extLst>
          </p:cNvPr>
          <p:cNvCxnSpPr>
            <a:cxnSpLocks/>
            <a:stCxn id="9" idx="3"/>
            <a:endCxn id="13" idx="7"/>
          </p:cNvCxnSpPr>
          <p:nvPr/>
        </p:nvCxnSpPr>
        <p:spPr>
          <a:xfrm flipH="1">
            <a:off x="773282" y="3432818"/>
            <a:ext cx="461344" cy="70114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790F476E-F819-60D6-93FF-6B9D665C6D42}"/>
              </a:ext>
            </a:extLst>
          </p:cNvPr>
          <p:cNvCxnSpPr>
            <a:cxnSpLocks/>
            <a:stCxn id="9" idx="7"/>
            <a:endCxn id="7" idx="3"/>
          </p:cNvCxnSpPr>
          <p:nvPr/>
        </p:nvCxnSpPr>
        <p:spPr>
          <a:xfrm flipV="1">
            <a:off x="1503334" y="2584501"/>
            <a:ext cx="583328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79420353-7055-2546-FF0D-E65F1234955D}"/>
              </a:ext>
            </a:extLst>
          </p:cNvPr>
          <p:cNvCxnSpPr>
            <a:cxnSpLocks/>
            <a:stCxn id="8" idx="5"/>
            <a:endCxn id="12" idx="1"/>
          </p:cNvCxnSpPr>
          <p:nvPr/>
        </p:nvCxnSpPr>
        <p:spPr>
          <a:xfrm>
            <a:off x="7485854" y="2584501"/>
            <a:ext cx="626897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BE306C76-70AF-46CA-94DD-2FAD80EA8459}"/>
              </a:ext>
            </a:extLst>
          </p:cNvPr>
          <p:cNvCxnSpPr>
            <a:cxnSpLocks/>
            <a:stCxn id="10" idx="4"/>
            <a:endCxn id="96" idx="0"/>
          </p:cNvCxnSpPr>
          <p:nvPr/>
        </p:nvCxnSpPr>
        <p:spPr>
          <a:xfrm flipH="1">
            <a:off x="2953589" y="3488469"/>
            <a:ext cx="5926" cy="589842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F361D897-B4B0-F09E-FFFE-51EC60D44E6D}"/>
              </a:ext>
            </a:extLst>
          </p:cNvPr>
          <p:cNvSpPr/>
          <p:nvPr/>
        </p:nvSpPr>
        <p:spPr>
          <a:xfrm>
            <a:off x="450055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AB764677-3E27-1B0F-1873-38ABFEB7DFF5}"/>
              </a:ext>
            </a:extLst>
          </p:cNvPr>
          <p:cNvCxnSpPr>
            <a:cxnSpLocks/>
            <a:stCxn id="9" idx="5"/>
            <a:endCxn id="173" idx="1"/>
          </p:cNvCxnSpPr>
          <p:nvPr/>
        </p:nvCxnSpPr>
        <p:spPr>
          <a:xfrm>
            <a:off x="1503334" y="3432818"/>
            <a:ext cx="410236" cy="70887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3827C75E-4552-DCA4-A3B9-4E4F7C1D63F6}"/>
              </a:ext>
            </a:extLst>
          </p:cNvPr>
          <p:cNvCxnSpPr>
            <a:cxnSpLocks/>
            <a:stCxn id="62" idx="4"/>
            <a:endCxn id="66" idx="0"/>
          </p:cNvCxnSpPr>
          <p:nvPr/>
        </p:nvCxnSpPr>
        <p:spPr>
          <a:xfrm flipH="1">
            <a:off x="638928" y="5414662"/>
            <a:ext cx="11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>
            <a:extLst>
              <a:ext uri="{FF2B5EF4-FFF2-40B4-BE49-F238E27FC236}">
                <a16:creationId xmlns:a16="http://schemas.microsoft.com/office/drawing/2014/main" id="{0A75B533-A025-2EFD-8F4B-3F1DBAFAC1B4}"/>
              </a:ext>
            </a:extLst>
          </p:cNvPr>
          <p:cNvSpPr/>
          <p:nvPr/>
        </p:nvSpPr>
        <p:spPr>
          <a:xfrm>
            <a:off x="448923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F14DD0C1-C5D5-91FB-D102-8D1F66293C7E}"/>
              </a:ext>
            </a:extLst>
          </p:cNvPr>
          <p:cNvSpPr/>
          <p:nvPr/>
        </p:nvSpPr>
        <p:spPr>
          <a:xfrm>
            <a:off x="2763584" y="4078311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7779D72D-65C8-D757-751C-97652E3ACF74}"/>
              </a:ext>
            </a:extLst>
          </p:cNvPr>
          <p:cNvCxnSpPr>
            <a:cxnSpLocks/>
            <a:stCxn id="12" idx="4"/>
            <a:endCxn id="186" idx="0"/>
          </p:cNvCxnSpPr>
          <p:nvPr/>
        </p:nvCxnSpPr>
        <p:spPr>
          <a:xfrm flipH="1">
            <a:off x="8244532" y="3488469"/>
            <a:ext cx="2573" cy="59757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lipse 115">
            <a:extLst>
              <a:ext uri="{FF2B5EF4-FFF2-40B4-BE49-F238E27FC236}">
                <a16:creationId xmlns:a16="http://schemas.microsoft.com/office/drawing/2014/main" id="{32E4E34B-5965-AEEF-E793-B4B95EBA5F97}"/>
              </a:ext>
            </a:extLst>
          </p:cNvPr>
          <p:cNvSpPr/>
          <p:nvPr/>
        </p:nvSpPr>
        <p:spPr>
          <a:xfrm>
            <a:off x="5771745" y="3096416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8CEC41BD-1233-9D72-6852-F14D63585A16}"/>
              </a:ext>
            </a:extLst>
          </p:cNvPr>
          <p:cNvCxnSpPr>
            <a:cxnSpLocks/>
            <a:stCxn id="116" idx="7"/>
            <a:endCxn id="8" idx="3"/>
          </p:cNvCxnSpPr>
          <p:nvPr/>
        </p:nvCxnSpPr>
        <p:spPr>
          <a:xfrm flipV="1">
            <a:off x="6096104" y="2584501"/>
            <a:ext cx="1121042" cy="56756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E5342D0F-FC1A-BED9-A33D-50EC4FFC03B1}"/>
              </a:ext>
            </a:extLst>
          </p:cNvPr>
          <p:cNvCxnSpPr>
            <a:cxnSpLocks/>
            <a:stCxn id="116" idx="3"/>
            <a:endCxn id="180" idx="7"/>
          </p:cNvCxnSpPr>
          <p:nvPr/>
        </p:nvCxnSpPr>
        <p:spPr>
          <a:xfrm flipH="1">
            <a:off x="5150200" y="3420775"/>
            <a:ext cx="677196" cy="71787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EBDEDEF3-0F0A-86F8-D922-99E30F34D31A}"/>
              </a:ext>
            </a:extLst>
          </p:cNvPr>
          <p:cNvCxnSpPr>
            <a:cxnSpLocks/>
            <a:stCxn id="116" idx="5"/>
            <a:endCxn id="188" idx="1"/>
          </p:cNvCxnSpPr>
          <p:nvPr/>
        </p:nvCxnSpPr>
        <p:spPr>
          <a:xfrm>
            <a:off x="6096104" y="3420775"/>
            <a:ext cx="538741" cy="72626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to 153">
            <a:extLst>
              <a:ext uri="{FF2B5EF4-FFF2-40B4-BE49-F238E27FC236}">
                <a16:creationId xmlns:a16="http://schemas.microsoft.com/office/drawing/2014/main" id="{9716CA67-FC3E-32C9-AB9D-4FA021D2895B}"/>
              </a:ext>
            </a:extLst>
          </p:cNvPr>
          <p:cNvCxnSpPr>
            <a:cxnSpLocks/>
            <a:stCxn id="13" idx="4"/>
            <a:endCxn id="62" idx="0"/>
          </p:cNvCxnSpPr>
          <p:nvPr/>
        </p:nvCxnSpPr>
        <p:spPr>
          <a:xfrm>
            <a:off x="638928" y="4458321"/>
            <a:ext cx="1132" cy="576331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Elipse 172">
            <a:extLst>
              <a:ext uri="{FF2B5EF4-FFF2-40B4-BE49-F238E27FC236}">
                <a16:creationId xmlns:a16="http://schemas.microsoft.com/office/drawing/2014/main" id="{7DE274DA-1EB0-868A-D273-3EBADEDBD4AD}"/>
              </a:ext>
            </a:extLst>
          </p:cNvPr>
          <p:cNvSpPr/>
          <p:nvPr/>
        </p:nvSpPr>
        <p:spPr>
          <a:xfrm>
            <a:off x="1857919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0" name="Elipse 179">
            <a:extLst>
              <a:ext uri="{FF2B5EF4-FFF2-40B4-BE49-F238E27FC236}">
                <a16:creationId xmlns:a16="http://schemas.microsoft.com/office/drawing/2014/main" id="{51DD4EBC-F05F-64E7-3EF8-20C2734BA7BF}"/>
              </a:ext>
            </a:extLst>
          </p:cNvPr>
          <p:cNvSpPr/>
          <p:nvPr/>
        </p:nvSpPr>
        <p:spPr>
          <a:xfrm>
            <a:off x="4825841" y="4082999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6" name="Elipse 185">
            <a:extLst>
              <a:ext uri="{FF2B5EF4-FFF2-40B4-BE49-F238E27FC236}">
                <a16:creationId xmlns:a16="http://schemas.microsoft.com/office/drawing/2014/main" id="{7A5FB5D1-1FA2-5006-7255-B98647C657D0}"/>
              </a:ext>
            </a:extLst>
          </p:cNvPr>
          <p:cNvSpPr/>
          <p:nvPr/>
        </p:nvSpPr>
        <p:spPr>
          <a:xfrm>
            <a:off x="8054527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4DB6EDF0-28F3-E8CF-893A-E885D0522A25}"/>
              </a:ext>
            </a:extLst>
          </p:cNvPr>
          <p:cNvSpPr/>
          <p:nvPr/>
        </p:nvSpPr>
        <p:spPr>
          <a:xfrm>
            <a:off x="6579194" y="4091384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189" name="Elipse 188">
            <a:extLst>
              <a:ext uri="{FF2B5EF4-FFF2-40B4-BE49-F238E27FC236}">
                <a16:creationId xmlns:a16="http://schemas.microsoft.com/office/drawing/2014/main" id="{50E43A23-22FF-B9A2-0FC0-D30DD2B14972}"/>
              </a:ext>
            </a:extLst>
          </p:cNvPr>
          <p:cNvSpPr/>
          <p:nvPr/>
        </p:nvSpPr>
        <p:spPr>
          <a:xfrm>
            <a:off x="6579194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190" name="Conector reto 189">
            <a:extLst>
              <a:ext uri="{FF2B5EF4-FFF2-40B4-BE49-F238E27FC236}">
                <a16:creationId xmlns:a16="http://schemas.microsoft.com/office/drawing/2014/main" id="{2CF60B21-7684-0798-BAE4-3D69CF5B60B9}"/>
              </a:ext>
            </a:extLst>
          </p:cNvPr>
          <p:cNvCxnSpPr>
            <a:cxnSpLocks/>
            <a:stCxn id="188" idx="4"/>
            <a:endCxn id="189" idx="0"/>
          </p:cNvCxnSpPr>
          <p:nvPr/>
        </p:nvCxnSpPr>
        <p:spPr>
          <a:xfrm>
            <a:off x="6769199" y="4471394"/>
            <a:ext cx="0" cy="56325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ctor reto 190">
            <a:extLst>
              <a:ext uri="{FF2B5EF4-FFF2-40B4-BE49-F238E27FC236}">
                <a16:creationId xmlns:a16="http://schemas.microsoft.com/office/drawing/2014/main" id="{71D34D0E-415B-218D-806E-F696A0129BD4}"/>
              </a:ext>
            </a:extLst>
          </p:cNvPr>
          <p:cNvCxnSpPr>
            <a:cxnSpLocks/>
            <a:stCxn id="189" idx="4"/>
            <a:endCxn id="192" idx="0"/>
          </p:cNvCxnSpPr>
          <p:nvPr/>
        </p:nvCxnSpPr>
        <p:spPr>
          <a:xfrm flipH="1">
            <a:off x="6763767" y="5414662"/>
            <a:ext cx="54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Elipse 191">
            <a:extLst>
              <a:ext uri="{FF2B5EF4-FFF2-40B4-BE49-F238E27FC236}">
                <a16:creationId xmlns:a16="http://schemas.microsoft.com/office/drawing/2014/main" id="{B6EDFA02-163B-5BB7-E8A6-13480F0FB61B}"/>
              </a:ext>
            </a:extLst>
          </p:cNvPr>
          <p:cNvSpPr/>
          <p:nvPr/>
        </p:nvSpPr>
        <p:spPr>
          <a:xfrm>
            <a:off x="6573762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265" name="CaixaDeTexto 264">
            <a:extLst>
              <a:ext uri="{FF2B5EF4-FFF2-40B4-BE49-F238E27FC236}">
                <a16:creationId xmlns:a16="http://schemas.microsoft.com/office/drawing/2014/main" id="{A8B7AD3F-0103-BD87-9C2F-93D620A2A451}"/>
              </a:ext>
            </a:extLst>
          </p:cNvPr>
          <p:cNvSpPr txBox="1"/>
          <p:nvPr/>
        </p:nvSpPr>
        <p:spPr>
          <a:xfrm>
            <a:off x="3143594" y="17418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8" name="CaixaDeTexto 267">
            <a:extLst>
              <a:ext uri="{FF2B5EF4-FFF2-40B4-BE49-F238E27FC236}">
                <a16:creationId xmlns:a16="http://schemas.microsoft.com/office/drawing/2014/main" id="{4E8E6834-42A9-345A-1CD8-2A7DA8BE7563}"/>
              </a:ext>
            </a:extLst>
          </p:cNvPr>
          <p:cNvSpPr txBox="1"/>
          <p:nvPr/>
        </p:nvSpPr>
        <p:spPr>
          <a:xfrm>
            <a:off x="2992751" y="36025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9" name="CaixaDeTexto 268">
            <a:extLst>
              <a:ext uri="{FF2B5EF4-FFF2-40B4-BE49-F238E27FC236}">
                <a16:creationId xmlns:a16="http://schemas.microsoft.com/office/drawing/2014/main" id="{E8E3E186-3519-586B-6700-55AF2C52B659}"/>
              </a:ext>
            </a:extLst>
          </p:cNvPr>
          <p:cNvSpPr txBox="1"/>
          <p:nvPr/>
        </p:nvSpPr>
        <p:spPr>
          <a:xfrm>
            <a:off x="6846630" y="55740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70" name="CaixaDeTexto 269">
            <a:extLst>
              <a:ext uri="{FF2B5EF4-FFF2-40B4-BE49-F238E27FC236}">
                <a16:creationId xmlns:a16="http://schemas.microsoft.com/office/drawing/2014/main" id="{98C832BB-DBD1-DA10-0925-2D3DC0B29736}"/>
              </a:ext>
            </a:extLst>
          </p:cNvPr>
          <p:cNvSpPr txBox="1"/>
          <p:nvPr/>
        </p:nvSpPr>
        <p:spPr>
          <a:xfrm>
            <a:off x="5867373" y="17722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1" name="CaixaDeTexto 270">
            <a:extLst>
              <a:ext uri="{FF2B5EF4-FFF2-40B4-BE49-F238E27FC236}">
                <a16:creationId xmlns:a16="http://schemas.microsoft.com/office/drawing/2014/main" id="{9902A51A-F827-7C29-C956-A4342C0B6E99}"/>
              </a:ext>
            </a:extLst>
          </p:cNvPr>
          <p:cNvSpPr txBox="1"/>
          <p:nvPr/>
        </p:nvSpPr>
        <p:spPr>
          <a:xfrm>
            <a:off x="746052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2" name="CaixaDeTexto 271">
            <a:extLst>
              <a:ext uri="{FF2B5EF4-FFF2-40B4-BE49-F238E27FC236}">
                <a16:creationId xmlns:a16="http://schemas.microsoft.com/office/drawing/2014/main" id="{F0C82196-870B-7B50-8AB5-DF0806D51ED0}"/>
              </a:ext>
            </a:extLst>
          </p:cNvPr>
          <p:cNvSpPr txBox="1"/>
          <p:nvPr/>
        </p:nvSpPr>
        <p:spPr>
          <a:xfrm>
            <a:off x="7756627" y="25866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6C03B99E-601E-8093-B332-3FD69A158819}"/>
              </a:ext>
            </a:extLst>
          </p:cNvPr>
          <p:cNvSpPr txBox="1"/>
          <p:nvPr/>
        </p:nvSpPr>
        <p:spPr>
          <a:xfrm>
            <a:off x="674884" y="45525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4" name="CaixaDeTexto 273">
            <a:extLst>
              <a:ext uri="{FF2B5EF4-FFF2-40B4-BE49-F238E27FC236}">
                <a16:creationId xmlns:a16="http://schemas.microsoft.com/office/drawing/2014/main" id="{3D46D4A9-2409-5555-9037-1E6B09BB03B1}"/>
              </a:ext>
            </a:extLst>
          </p:cNvPr>
          <p:cNvSpPr txBox="1"/>
          <p:nvPr/>
        </p:nvSpPr>
        <p:spPr>
          <a:xfrm>
            <a:off x="6387285" y="25807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5" name="CaixaDeTexto 274">
            <a:extLst>
              <a:ext uri="{FF2B5EF4-FFF2-40B4-BE49-F238E27FC236}">
                <a16:creationId xmlns:a16="http://schemas.microsoft.com/office/drawing/2014/main" id="{8002B172-73CF-7067-A3E3-9344D5D8B625}"/>
              </a:ext>
            </a:extLst>
          </p:cNvPr>
          <p:cNvSpPr txBox="1"/>
          <p:nvPr/>
        </p:nvSpPr>
        <p:spPr>
          <a:xfrm>
            <a:off x="2550694" y="2621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6" name="CaixaDeTexto 275">
            <a:extLst>
              <a:ext uri="{FF2B5EF4-FFF2-40B4-BE49-F238E27FC236}">
                <a16:creationId xmlns:a16="http://schemas.microsoft.com/office/drawing/2014/main" id="{785FC724-3BB4-C62F-DDFF-B8A4C727506B}"/>
              </a:ext>
            </a:extLst>
          </p:cNvPr>
          <p:cNvSpPr txBox="1"/>
          <p:nvPr/>
        </p:nvSpPr>
        <p:spPr>
          <a:xfrm>
            <a:off x="6776804" y="45472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7" name="CaixaDeTexto 276">
            <a:extLst>
              <a:ext uri="{FF2B5EF4-FFF2-40B4-BE49-F238E27FC236}">
                <a16:creationId xmlns:a16="http://schemas.microsoft.com/office/drawing/2014/main" id="{00977164-7E5B-93DB-83D4-908E54785C63}"/>
              </a:ext>
            </a:extLst>
          </p:cNvPr>
          <p:cNvSpPr txBox="1"/>
          <p:nvPr/>
        </p:nvSpPr>
        <p:spPr>
          <a:xfrm>
            <a:off x="638928" y="56274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78" name="CaixaDeTexto 277">
            <a:extLst>
              <a:ext uri="{FF2B5EF4-FFF2-40B4-BE49-F238E27FC236}">
                <a16:creationId xmlns:a16="http://schemas.microsoft.com/office/drawing/2014/main" id="{1B1E75B9-C67B-35B8-A723-3FA8539B798F}"/>
              </a:ext>
            </a:extLst>
          </p:cNvPr>
          <p:cNvSpPr txBox="1"/>
          <p:nvPr/>
        </p:nvSpPr>
        <p:spPr>
          <a:xfrm>
            <a:off x="5172636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79" name="CaixaDeTexto 278">
            <a:extLst>
              <a:ext uri="{FF2B5EF4-FFF2-40B4-BE49-F238E27FC236}">
                <a16:creationId xmlns:a16="http://schemas.microsoft.com/office/drawing/2014/main" id="{53389DE9-ABD7-96DA-D904-71A6D49C4246}"/>
              </a:ext>
            </a:extLst>
          </p:cNvPr>
          <p:cNvSpPr txBox="1"/>
          <p:nvPr/>
        </p:nvSpPr>
        <p:spPr>
          <a:xfrm>
            <a:off x="1703924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0" name="CaixaDeTexto 279">
            <a:extLst>
              <a:ext uri="{FF2B5EF4-FFF2-40B4-BE49-F238E27FC236}">
                <a16:creationId xmlns:a16="http://schemas.microsoft.com/office/drawing/2014/main" id="{E367E6C1-C5F0-458F-B095-3BC569E7C781}"/>
              </a:ext>
            </a:extLst>
          </p:cNvPr>
          <p:cNvSpPr txBox="1"/>
          <p:nvPr/>
        </p:nvSpPr>
        <p:spPr>
          <a:xfrm>
            <a:off x="6288932" y="34444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81" name="CaixaDeTexto 280">
            <a:extLst>
              <a:ext uri="{FF2B5EF4-FFF2-40B4-BE49-F238E27FC236}">
                <a16:creationId xmlns:a16="http://schemas.microsoft.com/office/drawing/2014/main" id="{A69E1362-09FD-AA15-DEB9-334268180782}"/>
              </a:ext>
            </a:extLst>
          </p:cNvPr>
          <p:cNvSpPr txBox="1"/>
          <p:nvPr/>
        </p:nvSpPr>
        <p:spPr>
          <a:xfrm>
            <a:off x="1567146" y="26025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98" name="CaixaDeTexto 297">
            <a:extLst>
              <a:ext uri="{FF2B5EF4-FFF2-40B4-BE49-F238E27FC236}">
                <a16:creationId xmlns:a16="http://schemas.microsoft.com/office/drawing/2014/main" id="{7A03544F-5F8E-B56B-E661-457FB9D5D6A9}"/>
              </a:ext>
            </a:extLst>
          </p:cNvPr>
          <p:cNvSpPr txBox="1"/>
          <p:nvPr/>
        </p:nvSpPr>
        <p:spPr>
          <a:xfrm>
            <a:off x="8283694" y="36443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2934D5-EDEF-121F-338B-B244DB6F18A0}"/>
              </a:ext>
            </a:extLst>
          </p:cNvPr>
          <p:cNvSpPr txBox="1"/>
          <p:nvPr/>
        </p:nvSpPr>
        <p:spPr>
          <a:xfrm>
            <a:off x="836856" y="6108184"/>
            <a:ext cx="79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1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3F2FD027-4C1D-B887-6E18-175D62B75BD2}"/>
              </a:ext>
            </a:extLst>
          </p:cNvPr>
          <p:cNvSpPr txBox="1"/>
          <p:nvPr/>
        </p:nvSpPr>
        <p:spPr>
          <a:xfrm>
            <a:off x="1650154" y="4499798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2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48BB7269-1929-CF6F-127A-3F70CBC96149}"/>
              </a:ext>
            </a:extLst>
          </p:cNvPr>
          <p:cNvSpPr txBox="1"/>
          <p:nvPr/>
        </p:nvSpPr>
        <p:spPr>
          <a:xfrm>
            <a:off x="2602492" y="4499798"/>
            <a:ext cx="79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3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9678084-96A7-14DF-EAFC-0B0F3F5F24C8}"/>
              </a:ext>
            </a:extLst>
          </p:cNvPr>
          <p:cNvSpPr txBox="1"/>
          <p:nvPr/>
        </p:nvSpPr>
        <p:spPr>
          <a:xfrm>
            <a:off x="4618076" y="4500605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4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E7225267-F1FE-77DE-7520-5FCB83CE5E5F}"/>
              </a:ext>
            </a:extLst>
          </p:cNvPr>
          <p:cNvSpPr txBox="1"/>
          <p:nvPr/>
        </p:nvSpPr>
        <p:spPr>
          <a:xfrm>
            <a:off x="6997473" y="6102844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5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F628254-C7AF-5C7D-2C7A-93FB6501D061}"/>
              </a:ext>
            </a:extLst>
          </p:cNvPr>
          <p:cNvSpPr txBox="1"/>
          <p:nvPr/>
        </p:nvSpPr>
        <p:spPr>
          <a:xfrm>
            <a:off x="7840552" y="4547220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6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CC8430A-D4FB-A242-6147-873641037D0E}"/>
              </a:ext>
            </a:extLst>
          </p:cNvPr>
          <p:cNvSpPr txBox="1"/>
          <p:nvPr/>
        </p:nvSpPr>
        <p:spPr>
          <a:xfrm>
            <a:off x="3407844" y="21112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B44D9CCE-6DE5-90CD-7F3F-83B72204C7A9}"/>
              </a:ext>
            </a:extLst>
          </p:cNvPr>
          <p:cNvSpPr txBox="1"/>
          <p:nvPr/>
        </p:nvSpPr>
        <p:spPr>
          <a:xfrm>
            <a:off x="5417815" y="37108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3CEADB53-3D46-42CA-2580-4039B1888D39}"/>
              </a:ext>
            </a:extLst>
          </p:cNvPr>
          <p:cNvSpPr txBox="1"/>
          <p:nvPr/>
        </p:nvSpPr>
        <p:spPr>
          <a:xfrm>
            <a:off x="6527099" y="28300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A51A1EA5-3F0B-6600-8D38-24634B3DE2BC}"/>
              </a:ext>
            </a:extLst>
          </p:cNvPr>
          <p:cNvSpPr txBox="1"/>
          <p:nvPr/>
        </p:nvSpPr>
        <p:spPr>
          <a:xfrm>
            <a:off x="7475786" y="27343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6925C08F-44F5-BF5E-5BBB-AFDD89998912}"/>
              </a:ext>
            </a:extLst>
          </p:cNvPr>
          <p:cNvSpPr txBox="1"/>
          <p:nvPr/>
        </p:nvSpPr>
        <p:spPr>
          <a:xfrm>
            <a:off x="5709542" y="20789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5A07D1EB-1F63-FD7C-EC44-0284FBF41AC0}"/>
              </a:ext>
            </a:extLst>
          </p:cNvPr>
          <p:cNvSpPr txBox="1"/>
          <p:nvPr/>
        </p:nvSpPr>
        <p:spPr>
          <a:xfrm>
            <a:off x="2317671" y="27900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FA9CF17C-FA50-9E4E-164C-A6D260DFD4D6}"/>
              </a:ext>
            </a:extLst>
          </p:cNvPr>
          <p:cNvSpPr txBox="1"/>
          <p:nvPr/>
        </p:nvSpPr>
        <p:spPr>
          <a:xfrm>
            <a:off x="1756697" y="28252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2A16953F-25CA-58BD-08B8-C49DE31FA0F9}"/>
              </a:ext>
            </a:extLst>
          </p:cNvPr>
          <p:cNvSpPr txBox="1"/>
          <p:nvPr/>
        </p:nvSpPr>
        <p:spPr>
          <a:xfrm>
            <a:off x="279818" y="56231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1E873423-CB06-9FA5-EB61-A4C6303F615B}"/>
              </a:ext>
            </a:extLst>
          </p:cNvPr>
          <p:cNvSpPr txBox="1"/>
          <p:nvPr/>
        </p:nvSpPr>
        <p:spPr>
          <a:xfrm>
            <a:off x="286384" y="45573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066DDA53-7457-6104-4C63-E67BEF239137}"/>
              </a:ext>
            </a:extLst>
          </p:cNvPr>
          <p:cNvSpPr txBox="1"/>
          <p:nvPr/>
        </p:nvSpPr>
        <p:spPr>
          <a:xfrm>
            <a:off x="982217" y="36622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11E283AE-E16A-ADAB-0615-66DF7A5DA5C4}"/>
              </a:ext>
            </a:extLst>
          </p:cNvPr>
          <p:cNvSpPr txBox="1"/>
          <p:nvPr/>
        </p:nvSpPr>
        <p:spPr>
          <a:xfrm>
            <a:off x="6411673" y="45463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A30EA443-0842-2ED6-9D47-7757A402AD9B}"/>
              </a:ext>
            </a:extLst>
          </p:cNvPr>
          <p:cNvSpPr txBox="1"/>
          <p:nvPr/>
        </p:nvSpPr>
        <p:spPr>
          <a:xfrm>
            <a:off x="6084708" y="3670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2046BDA-3E75-F881-FEA0-0DA06522A4C1}"/>
              </a:ext>
            </a:extLst>
          </p:cNvPr>
          <p:cNvSpPr txBox="1"/>
          <p:nvPr/>
        </p:nvSpPr>
        <p:spPr>
          <a:xfrm>
            <a:off x="7924552" y="3670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DAC7F17F-4E81-2230-13B9-D14609380288}"/>
              </a:ext>
            </a:extLst>
          </p:cNvPr>
          <p:cNvSpPr txBox="1"/>
          <p:nvPr/>
        </p:nvSpPr>
        <p:spPr>
          <a:xfrm>
            <a:off x="6432373" y="55740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53FE2AD-5505-5A3D-0CAC-DD66E826C379}"/>
              </a:ext>
            </a:extLst>
          </p:cNvPr>
          <p:cNvSpPr txBox="1"/>
          <p:nvPr/>
        </p:nvSpPr>
        <p:spPr>
          <a:xfrm>
            <a:off x="2642938" y="36025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2E297FB3-B2AC-93AA-A7A0-C56BFB78509A}"/>
              </a:ext>
            </a:extLst>
          </p:cNvPr>
          <p:cNvSpPr txBox="1"/>
          <p:nvPr/>
        </p:nvSpPr>
        <p:spPr>
          <a:xfrm>
            <a:off x="1456609" y="3688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3B939D9-019B-62CE-0E16-98BB80AF8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900" y="5161677"/>
            <a:ext cx="461344" cy="260371"/>
          </a:xfrm>
          <a:prstGeom prst="rect">
            <a:avLst/>
          </a:prstGeom>
        </p:spPr>
      </p:pic>
      <p:pic>
        <p:nvPicPr>
          <p:cNvPr id="77" name="Imagem 76">
            <a:extLst>
              <a:ext uri="{FF2B5EF4-FFF2-40B4-BE49-F238E27FC236}">
                <a16:creationId xmlns:a16="http://schemas.microsoft.com/office/drawing/2014/main" id="{F08AFFA7-90F1-EA3B-6EFB-477F76628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312" y="5158337"/>
            <a:ext cx="461344" cy="260371"/>
          </a:xfrm>
          <a:prstGeom prst="rect">
            <a:avLst/>
          </a:prstGeom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45BF74C1-C882-9F3D-AFD9-2322672C1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141" y="5087744"/>
            <a:ext cx="461344" cy="260371"/>
          </a:xfrm>
          <a:prstGeom prst="rect">
            <a:avLst/>
          </a:prstGeom>
        </p:spPr>
      </p:pic>
      <p:pic>
        <p:nvPicPr>
          <p:cNvPr id="81" name="Imagem 80">
            <a:extLst>
              <a:ext uri="{FF2B5EF4-FFF2-40B4-BE49-F238E27FC236}">
                <a16:creationId xmlns:a16="http://schemas.microsoft.com/office/drawing/2014/main" id="{4745B6DA-6FE0-46E1-AD34-6410F4CEA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38" y="6522847"/>
            <a:ext cx="461344" cy="260371"/>
          </a:xfrm>
          <a:prstGeom prst="rect">
            <a:avLst/>
          </a:prstGeom>
        </p:spPr>
      </p:pic>
      <p:pic>
        <p:nvPicPr>
          <p:cNvPr id="82" name="Imagem 81">
            <a:extLst>
              <a:ext uri="{FF2B5EF4-FFF2-40B4-BE49-F238E27FC236}">
                <a16:creationId xmlns:a16="http://schemas.microsoft.com/office/drawing/2014/main" id="{2B9969B4-F9D6-15C2-7095-7C36A3F8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050" y="5377480"/>
            <a:ext cx="461344" cy="260371"/>
          </a:xfrm>
          <a:prstGeom prst="rect">
            <a:avLst/>
          </a:prstGeom>
        </p:spPr>
      </p:pic>
      <p:pic>
        <p:nvPicPr>
          <p:cNvPr id="83" name="Imagem 82">
            <a:extLst>
              <a:ext uri="{FF2B5EF4-FFF2-40B4-BE49-F238E27FC236}">
                <a16:creationId xmlns:a16="http://schemas.microsoft.com/office/drawing/2014/main" id="{F521C83C-14E5-710D-4925-70B2BD3D4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643" y="5094471"/>
            <a:ext cx="461344" cy="26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50776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0C79D-3B39-65F2-30C3-F8A321AFF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FA504AB-41FF-83F2-ED87-3F2BF30AF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73" y="2335212"/>
            <a:ext cx="3681054" cy="177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0287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E3657-E196-5328-B199-6B138BBB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7E1925DB-40AA-9DBF-284B-B9836BD809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56280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pt-BR" u="none" dirty="0"/>
                  <a:t>Contribuição F1 (Rota 2)</a:t>
                </a:r>
                <a:endParaRPr lang="pt-BR" sz="2100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=0,0833</m:t>
                      </m:r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=0,0833</m:t>
                      </m:r>
                    </m:oMath>
                  </m:oMathPara>
                </a14:m>
                <a:endParaRPr lang="pt-BR" sz="2100" b="0" u="none" dirty="0">
                  <a:ea typeface="Cambria Math" panose="02040503050406030204" pitchFamily="18" charset="0"/>
                </a:endParaRPr>
              </a:p>
              <a:p>
                <a:endParaRPr lang="pt-BR" sz="2100" b="0" u="none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=0,0833</m:t>
                      </m:r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7E1925DB-40AA-9DBF-284B-B9836BD80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562804"/>
              </a:xfrm>
              <a:blipFill>
                <a:blip r:embed="rId2"/>
                <a:stretch>
                  <a:fillRect l="-1391" t="-42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88384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E3657-E196-5328-B199-6B138BBB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7E1925DB-40AA-9DBF-284B-B9836BD809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pt-BR" u="none" dirty="0"/>
                  <a:t>Contribuição F2 (Rota 1)</a:t>
                </a:r>
                <a:endParaRPr lang="pt-BR" sz="2100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19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19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9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19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19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9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19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sz="19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pt-BR" sz="19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=0,07143</m:t>
                      </m:r>
                    </m:oMath>
                  </m:oMathPara>
                </a14:m>
                <a:endParaRPr lang="pt-BR" sz="1900" dirty="0"/>
              </a:p>
              <a:p>
                <a:endParaRPr lang="pt-BR" sz="19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19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19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9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19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19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9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19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sz="19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pt-BR" sz="19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=0,07143</m:t>
                      </m:r>
                    </m:oMath>
                  </m:oMathPara>
                </a14:m>
                <a:endParaRPr lang="pt-BR" sz="1900" b="0" u="none" dirty="0">
                  <a:ea typeface="Cambria Math" panose="02040503050406030204" pitchFamily="18" charset="0"/>
                </a:endParaRPr>
              </a:p>
              <a:p>
                <a:endParaRPr lang="pt-BR" sz="1900" b="0" u="none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19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19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9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19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19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9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19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sz="19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pt-BR" sz="19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=0,07143</m:t>
                      </m:r>
                    </m:oMath>
                  </m:oMathPara>
                </a14:m>
                <a:endParaRPr lang="pt-BR" sz="1900" dirty="0"/>
              </a:p>
              <a:p>
                <a:endParaRPr lang="pt-BR" sz="19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19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19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9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19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19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9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19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sz="19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pt-BR" sz="19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=0,07143</m:t>
                      </m:r>
                    </m:oMath>
                  </m:oMathPara>
                </a14:m>
                <a:endParaRPr lang="pt-BR" sz="1900" dirty="0"/>
              </a:p>
              <a:p>
                <a:endParaRPr lang="pt-BR" sz="19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19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19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9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  <m:sup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19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19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9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19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sz="19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9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pt-BR" sz="19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=0,07143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7E1925DB-40AA-9DBF-284B-B9836BD80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28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156288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E3657-E196-5328-B199-6B138BBB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7E1925DB-40AA-9DBF-284B-B9836BD809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pt-BR" u="none" dirty="0"/>
                  <a:t>Contribuição F3 (Rota 3)</a:t>
                </a:r>
                <a:endParaRPr lang="pt-BR" sz="2100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=0,1111</m:t>
                      </m:r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=0,1111</m:t>
                      </m:r>
                    </m:oMath>
                  </m:oMathPara>
                </a14:m>
                <a:endParaRPr lang="pt-BR" sz="2100" b="0" u="none" dirty="0">
                  <a:ea typeface="Cambria Math" panose="02040503050406030204" pitchFamily="18" charset="0"/>
                </a:endParaRPr>
              </a:p>
              <a:p>
                <a:endParaRPr lang="pt-BR" sz="2100" b="0" u="none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=0,1111</m:t>
                      </m:r>
                    </m:oMath>
                  </m:oMathPara>
                </a14:m>
                <a:endParaRPr lang="pt-BR" sz="2100" dirty="0"/>
              </a:p>
            </p:txBody>
          </p:sp>
        </mc:Choice>
        <mc:Fallback xmlns="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7E1925DB-40AA-9DBF-284B-B9836BD80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902580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E3657-E196-5328-B199-6B138BBB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7E1925DB-40AA-9DBF-284B-B9836BD809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pt-BR" u="none" dirty="0"/>
                  <a:t>Contribuição F4 (Rota 6)</a:t>
                </a:r>
                <a:endParaRPr lang="pt-BR" sz="2100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=0,1000</m:t>
                      </m:r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=0,1000</m:t>
                      </m:r>
                    </m:oMath>
                  </m:oMathPara>
                </a14:m>
                <a:endParaRPr lang="pt-BR" sz="2100" b="0" u="none" dirty="0">
                  <a:ea typeface="Cambria Math" panose="02040503050406030204" pitchFamily="18" charset="0"/>
                </a:endParaRPr>
              </a:p>
              <a:p>
                <a:endParaRPr lang="pt-BR" sz="2100" b="0" u="none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=0,1000</m:t>
                      </m:r>
                    </m:oMath>
                  </m:oMathPara>
                </a14:m>
                <a:endParaRPr lang="pt-BR" sz="2100" dirty="0"/>
              </a:p>
            </p:txBody>
          </p:sp>
        </mc:Choice>
        <mc:Fallback xmlns="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7E1925DB-40AA-9DBF-284B-B9836BD80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228082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E3657-E196-5328-B199-6B138BBB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7E1925DB-40AA-9DBF-284B-B9836BD809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pt-BR" u="none" dirty="0"/>
                  <a:t>Contribuição F5 (Rota 4)</a:t>
                </a:r>
                <a:endParaRPr lang="pt-BR" sz="2100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=0,1000</m:t>
                      </m:r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=0,1000</m:t>
                      </m:r>
                    </m:oMath>
                  </m:oMathPara>
                </a14:m>
                <a:endParaRPr lang="pt-BR" sz="2100" b="0" u="none" dirty="0">
                  <a:ea typeface="Cambria Math" panose="02040503050406030204" pitchFamily="18" charset="0"/>
                </a:endParaRPr>
              </a:p>
              <a:p>
                <a:endParaRPr lang="pt-BR" sz="2100" b="0" u="none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=0,1000</m:t>
                      </m:r>
                    </m:oMath>
                  </m:oMathPara>
                </a14:m>
                <a:endParaRPr lang="pt-BR" sz="2100" dirty="0"/>
              </a:p>
            </p:txBody>
          </p:sp>
        </mc:Choice>
        <mc:Fallback xmlns="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7E1925DB-40AA-9DBF-284B-B9836BD80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454273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E3657-E196-5328-B199-6B138BBB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7E1925DB-40AA-9DBF-284B-B9836BD809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pt-BR" u="none" dirty="0"/>
                  <a:t>Contribuição F6 (Rota 3)</a:t>
                </a:r>
                <a:endParaRPr lang="pt-BR" sz="2100" u="none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=0,1111</m:t>
                      </m:r>
                    </m:oMath>
                  </m:oMathPara>
                </a14:m>
                <a:endParaRPr lang="pt-BR" sz="2100" dirty="0"/>
              </a:p>
              <a:p>
                <a:endParaRPr lang="pt-BR" sz="21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=0,1111</m:t>
                      </m:r>
                    </m:oMath>
                  </m:oMathPara>
                </a14:m>
                <a:endParaRPr lang="pt-BR" sz="2100" b="0" u="none" dirty="0">
                  <a:ea typeface="Cambria Math" panose="02040503050406030204" pitchFamily="18" charset="0"/>
                </a:endParaRPr>
              </a:p>
              <a:p>
                <a:endParaRPr lang="pt-BR" sz="2100" b="0" u="none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sz="21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1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  <m:sup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1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1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pt-BR" sz="21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=0,1111</m:t>
                      </m:r>
                    </m:oMath>
                  </m:oMathPara>
                </a14:m>
                <a:endParaRPr lang="pt-BR" sz="2100" dirty="0"/>
              </a:p>
            </p:txBody>
          </p:sp>
        </mc:Choice>
        <mc:Fallback xmlns="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7E1925DB-40AA-9DBF-284B-B9836BD80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360618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DFD449-9A0F-C90C-1216-8843E02EE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D7BE663-6929-2AA8-E7A0-58111B825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967" y="2680741"/>
            <a:ext cx="5826065" cy="207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5108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4162BD-1D5B-037D-D6DE-6321535B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A882F14-D222-C5D5-79EF-0E7E398BA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73" y="1996416"/>
            <a:ext cx="76157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48107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6D63A2D8-477F-4748-20CA-7830270C8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r>
              <a:rPr lang="pt-BR" sz="2000" u="none" dirty="0"/>
              <a:t>Contribuição F1 (Rota 2)</a:t>
            </a:r>
          </a:p>
          <a:p>
            <a:r>
              <a:rPr lang="pt-BR" sz="2000" u="none" dirty="0"/>
              <a:t>A </a:t>
            </a:r>
            <a:r>
              <a:rPr lang="pt-BR" sz="2000" u="none" dirty="0">
                <a:sym typeface="Wingdings" panose="05000000000000000000" pitchFamily="2" charset="2"/>
              </a:rPr>
              <a:t> B  D  G com contribuição 0,0833</a:t>
            </a:r>
            <a:endParaRPr lang="pt-BR" sz="2000" u="none" dirty="0"/>
          </a:p>
          <a:p>
            <a:endParaRPr lang="pt-BR" sz="21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4162BD-1D5B-037D-D6DE-6321535B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63FF033-1431-FB1E-88CC-1D2EE29F1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4" y="1996416"/>
            <a:ext cx="76157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37699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6D63A2D8-477F-4748-20CA-7830270C8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r>
              <a:rPr lang="pt-BR" sz="2000" u="none" dirty="0"/>
              <a:t>Contribuição F2 (Rota 1)</a:t>
            </a:r>
          </a:p>
          <a:p>
            <a:r>
              <a:rPr lang="pt-BR" sz="2000" u="none" dirty="0"/>
              <a:t>A </a:t>
            </a:r>
            <a:r>
              <a:rPr lang="pt-BR" sz="2000" u="none" dirty="0">
                <a:sym typeface="Wingdings" panose="05000000000000000000" pitchFamily="2" charset="2"/>
              </a:rPr>
              <a:t> B  D  CFG com contribuição 0,0714</a:t>
            </a:r>
            <a:endParaRPr lang="pt-BR" sz="2000" u="none" dirty="0"/>
          </a:p>
          <a:p>
            <a:endParaRPr lang="pt-BR" sz="21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4162BD-1D5B-037D-D6DE-6321535B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30DEF5A-820E-0CCF-1D8E-647821B25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4" y="1994456"/>
            <a:ext cx="76157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9929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6D63A2D8-477F-4748-20CA-7830270C8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r>
              <a:rPr lang="pt-BR" sz="2000" u="none" dirty="0"/>
              <a:t>Contribuição F3 (Rota 3)</a:t>
            </a:r>
          </a:p>
          <a:p>
            <a:r>
              <a:rPr lang="pt-BR" sz="2000" u="none" dirty="0"/>
              <a:t>A </a:t>
            </a:r>
            <a:r>
              <a:rPr lang="pt-BR" sz="2000" u="none" dirty="0">
                <a:sym typeface="Wingdings" panose="05000000000000000000" pitchFamily="2" charset="2"/>
              </a:rPr>
              <a:t> B  E  G com contribuição 0,1111</a:t>
            </a:r>
            <a:endParaRPr lang="pt-BR" sz="2000" u="none" dirty="0"/>
          </a:p>
          <a:p>
            <a:endParaRPr lang="pt-BR" sz="21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4162BD-1D5B-037D-D6DE-6321535B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584AEA1-E17E-C9D2-326F-502A5972A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4" y="2003883"/>
            <a:ext cx="76157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7952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6D63A2D8-477F-4748-20CA-7830270C8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r>
              <a:rPr lang="pt-BR" sz="2000" u="none" dirty="0"/>
              <a:t>Contribuição F4 (Rota 6)</a:t>
            </a:r>
          </a:p>
          <a:p>
            <a:r>
              <a:rPr lang="pt-BR" sz="2000" u="none" dirty="0"/>
              <a:t>A </a:t>
            </a:r>
            <a:r>
              <a:rPr lang="pt-BR" sz="2000" u="none" dirty="0">
                <a:sym typeface="Wingdings" panose="05000000000000000000" pitchFamily="2" charset="2"/>
              </a:rPr>
              <a:t> C  F  G com contribuição 0,1000</a:t>
            </a:r>
            <a:endParaRPr lang="pt-BR" sz="2000" u="none" dirty="0"/>
          </a:p>
          <a:p>
            <a:endParaRPr lang="pt-BR" sz="21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4162BD-1D5B-037D-D6DE-6321535B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68BDB4E-5865-EA07-CA5C-C04840FD4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4" y="2007550"/>
            <a:ext cx="76157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7094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6D63A2D8-477F-4748-20CA-7830270C8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r>
              <a:rPr lang="pt-BR" sz="2000" u="none" dirty="0"/>
              <a:t>Contribuição F5 (Rota 4)</a:t>
            </a:r>
          </a:p>
          <a:p>
            <a:r>
              <a:rPr lang="pt-BR" sz="2000" u="none" dirty="0"/>
              <a:t>A </a:t>
            </a:r>
            <a:r>
              <a:rPr lang="pt-BR" sz="2000" u="none" dirty="0">
                <a:sym typeface="Wingdings" panose="05000000000000000000" pitchFamily="2" charset="2"/>
              </a:rPr>
              <a:t> C  D  G com contribuição 0,1000</a:t>
            </a:r>
            <a:endParaRPr lang="pt-BR" sz="2000" u="none" dirty="0"/>
          </a:p>
          <a:p>
            <a:endParaRPr lang="pt-BR" sz="21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4162BD-1D5B-037D-D6DE-6321535B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F2C092A-0899-5106-9E70-6C5077E30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4" y="2003883"/>
            <a:ext cx="76157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06381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6D63A2D8-477F-4748-20CA-7830270C8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r>
              <a:rPr lang="pt-BR" sz="2000" u="none" dirty="0"/>
              <a:t>Contribuição F6 (Rota 3)</a:t>
            </a:r>
          </a:p>
          <a:p>
            <a:r>
              <a:rPr lang="pt-BR" sz="2000" u="none" dirty="0"/>
              <a:t>A </a:t>
            </a:r>
            <a:r>
              <a:rPr lang="pt-BR" sz="2000" u="none" dirty="0">
                <a:sym typeface="Wingdings" panose="05000000000000000000" pitchFamily="2" charset="2"/>
              </a:rPr>
              <a:t> B  E  G com contribuição 0,1111</a:t>
            </a:r>
            <a:endParaRPr lang="pt-BR" sz="2000" u="none" dirty="0"/>
          </a:p>
          <a:p>
            <a:endParaRPr lang="pt-BR" sz="21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4162BD-1D5B-037D-D6DE-6321535B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63BE2F2-3D1E-1BD3-1A2B-E91B0F7B8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4" y="2003882"/>
            <a:ext cx="76157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92056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88D21193-C271-0A56-5250-D080ED4E5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4" y="2003882"/>
            <a:ext cx="7615752" cy="2520000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6D63A2D8-477F-4748-20CA-7830270C8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r>
              <a:rPr lang="pt-BR" sz="2000" u="none" dirty="0"/>
              <a:t>Contribuição F6 (Rota 3)</a:t>
            </a:r>
          </a:p>
          <a:p>
            <a:r>
              <a:rPr lang="pt-BR" sz="2000" u="none" dirty="0"/>
              <a:t>A </a:t>
            </a:r>
            <a:r>
              <a:rPr lang="pt-BR" sz="2000" u="none" dirty="0">
                <a:sym typeface="Wingdings" panose="05000000000000000000" pitchFamily="2" charset="2"/>
              </a:rPr>
              <a:t> B  E  G com contribuição 0,1111</a:t>
            </a:r>
            <a:endParaRPr lang="pt-BR" sz="2000" u="none" dirty="0"/>
          </a:p>
          <a:p>
            <a:endParaRPr lang="pt-BR" sz="21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4162BD-1D5B-037D-D6DE-6321535B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sp>
        <p:nvSpPr>
          <p:cNvPr id="3" name="Explosão: 14 Pontos 2">
            <a:extLst>
              <a:ext uri="{FF2B5EF4-FFF2-40B4-BE49-F238E27FC236}">
                <a16:creationId xmlns:a16="http://schemas.microsoft.com/office/drawing/2014/main" id="{96E14B79-5370-4D5F-D808-28A2BD55E47B}"/>
              </a:ext>
            </a:extLst>
          </p:cNvPr>
          <p:cNvSpPr/>
          <p:nvPr/>
        </p:nvSpPr>
        <p:spPr>
          <a:xfrm>
            <a:off x="2844512" y="3554555"/>
            <a:ext cx="4215740" cy="2520000"/>
          </a:xfrm>
          <a:prstGeom prst="irregularSeal2">
            <a:avLst/>
          </a:prstGeom>
          <a:solidFill>
            <a:srgbClr val="298B5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A atualização é feita sobre as arestas e não sobre as rotas!</a:t>
            </a:r>
          </a:p>
        </p:txBody>
      </p:sp>
    </p:spTree>
    <p:extLst>
      <p:ext uri="{BB962C8B-B14F-4D97-AF65-F5344CB8AC3E}">
        <p14:creationId xmlns:p14="http://schemas.microsoft.com/office/powerpoint/2010/main" val="132241098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AA88E-ED6F-D94A-168D-6BAEC5308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DC820BF-780C-F8A7-CF6D-2BE6CDBC1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02" y="2470078"/>
            <a:ext cx="8300995" cy="23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7532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89C9528E-F0B5-52E6-FA0D-EC8CDA631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pt-BR" b="1" u="none" dirty="0"/>
              <a:t>Probabilidade em cada nó do grafo</a:t>
            </a:r>
            <a:endParaRPr lang="pt-BR" sz="2600" u="none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3AA88E-ED6F-D94A-168D-6BAEC5308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BB5C7C0-47F7-EC10-C228-8AE2E0D9D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621" y="2286000"/>
            <a:ext cx="5891721" cy="40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5119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89C9528E-F0B5-52E6-FA0D-EC8CDA631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pt-BR" b="1" u="none" dirty="0"/>
              <a:t>Probabilidade em cada nó do grafo</a:t>
            </a:r>
            <a:endParaRPr lang="pt-BR" sz="2600" u="none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3AA88E-ED6F-D94A-168D-6BAEC5308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38451B-7698-273C-D6B6-4B731928B72C}"/>
              </a:ext>
            </a:extLst>
          </p:cNvPr>
          <p:cNvSpPr txBox="1"/>
          <p:nvPr/>
        </p:nvSpPr>
        <p:spPr>
          <a:xfrm>
            <a:off x="6831827" y="1932213"/>
            <a:ext cx="674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Atual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16D90F9-AF0F-BFE9-5218-1E497ADF3D0D}"/>
              </a:ext>
            </a:extLst>
          </p:cNvPr>
          <p:cNvSpPr txBox="1"/>
          <p:nvPr/>
        </p:nvSpPr>
        <p:spPr>
          <a:xfrm>
            <a:off x="7624292" y="1932213"/>
            <a:ext cx="79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Antigo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943E466-BBCC-3CE5-681F-9BF1CC909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126" y="2284751"/>
            <a:ext cx="814320" cy="40716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815B81B-F6AC-ECF8-2CCA-7DC8BEB78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621" y="2286000"/>
            <a:ext cx="5891721" cy="40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1406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4D336-7C92-46D3-81D7-05C82FF2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8F531EE-BC08-B75D-9B20-5A9673F9B3CD}"/>
              </a:ext>
            </a:extLst>
          </p:cNvPr>
          <p:cNvSpPr/>
          <p:nvPr/>
        </p:nvSpPr>
        <p:spPr>
          <a:xfrm>
            <a:off x="4381995" y="1582286"/>
            <a:ext cx="380010" cy="38001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2CE143E-6E0C-DB21-7B8A-2F72F9411D31}"/>
              </a:ext>
            </a:extLst>
          </p:cNvPr>
          <p:cNvSpPr/>
          <p:nvPr/>
        </p:nvSpPr>
        <p:spPr>
          <a:xfrm>
            <a:off x="2031011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6EB7C5E-3A61-6576-ECA8-DDB7674B1285}"/>
              </a:ext>
            </a:extLst>
          </p:cNvPr>
          <p:cNvSpPr/>
          <p:nvPr/>
        </p:nvSpPr>
        <p:spPr>
          <a:xfrm>
            <a:off x="7161495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1B5E01D-7A22-C201-2282-27985A6509DC}"/>
              </a:ext>
            </a:extLst>
          </p:cNvPr>
          <p:cNvSpPr/>
          <p:nvPr/>
        </p:nvSpPr>
        <p:spPr>
          <a:xfrm>
            <a:off x="1178975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1F30D8D-A623-B5B4-E676-C61D06D021B4}"/>
              </a:ext>
            </a:extLst>
          </p:cNvPr>
          <p:cNvSpPr/>
          <p:nvPr/>
        </p:nvSpPr>
        <p:spPr>
          <a:xfrm>
            <a:off x="276951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74164C1-26A6-9A77-E239-4B4062390427}"/>
              </a:ext>
            </a:extLst>
          </p:cNvPr>
          <p:cNvSpPr/>
          <p:nvPr/>
        </p:nvSpPr>
        <p:spPr>
          <a:xfrm>
            <a:off x="805710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E906D63-29CD-2DC1-DA7B-1E8EDB06EF76}"/>
              </a:ext>
            </a:extLst>
          </p:cNvPr>
          <p:cNvSpPr/>
          <p:nvPr/>
        </p:nvSpPr>
        <p:spPr>
          <a:xfrm>
            <a:off x="448923" y="4078311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4F22813D-2BD5-5396-1949-030D7C5F5270}"/>
              </a:ext>
            </a:extLst>
          </p:cNvPr>
          <p:cNvCxnSpPr>
            <a:cxnSpLocks/>
            <a:stCxn id="3" idx="3"/>
            <a:endCxn id="7" idx="7"/>
          </p:cNvCxnSpPr>
          <p:nvPr/>
        </p:nvCxnSpPr>
        <p:spPr>
          <a:xfrm flipH="1">
            <a:off x="2355370" y="1906645"/>
            <a:ext cx="2082276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448799B2-9C98-5852-AE81-53D6B38A099E}"/>
              </a:ext>
            </a:extLst>
          </p:cNvPr>
          <p:cNvCxnSpPr>
            <a:cxnSpLocks/>
            <a:stCxn id="3" idx="5"/>
            <a:endCxn id="8" idx="1"/>
          </p:cNvCxnSpPr>
          <p:nvPr/>
        </p:nvCxnSpPr>
        <p:spPr>
          <a:xfrm>
            <a:off x="4706354" y="1906645"/>
            <a:ext cx="2510792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020DC8C-E3B1-7F14-9A65-1688BD43E140}"/>
              </a:ext>
            </a:extLst>
          </p:cNvPr>
          <p:cNvCxnSpPr>
            <a:cxnSpLocks/>
            <a:stCxn id="7" idx="5"/>
            <a:endCxn id="10" idx="1"/>
          </p:cNvCxnSpPr>
          <p:nvPr/>
        </p:nvCxnSpPr>
        <p:spPr>
          <a:xfrm>
            <a:off x="2355370" y="2584501"/>
            <a:ext cx="469791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28E6102A-08D1-9830-BFCC-9FC3D85499C5}"/>
              </a:ext>
            </a:extLst>
          </p:cNvPr>
          <p:cNvCxnSpPr>
            <a:cxnSpLocks/>
            <a:stCxn id="9" idx="3"/>
            <a:endCxn id="13" idx="7"/>
          </p:cNvCxnSpPr>
          <p:nvPr/>
        </p:nvCxnSpPr>
        <p:spPr>
          <a:xfrm flipH="1">
            <a:off x="773282" y="3432818"/>
            <a:ext cx="461344" cy="70114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790F476E-F819-60D6-93FF-6B9D665C6D42}"/>
              </a:ext>
            </a:extLst>
          </p:cNvPr>
          <p:cNvCxnSpPr>
            <a:cxnSpLocks/>
            <a:stCxn id="9" idx="7"/>
            <a:endCxn id="7" idx="3"/>
          </p:cNvCxnSpPr>
          <p:nvPr/>
        </p:nvCxnSpPr>
        <p:spPr>
          <a:xfrm flipV="1">
            <a:off x="1503334" y="2584501"/>
            <a:ext cx="583328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79420353-7055-2546-FF0D-E65F1234955D}"/>
              </a:ext>
            </a:extLst>
          </p:cNvPr>
          <p:cNvCxnSpPr>
            <a:cxnSpLocks/>
            <a:stCxn id="8" idx="5"/>
            <a:endCxn id="12" idx="1"/>
          </p:cNvCxnSpPr>
          <p:nvPr/>
        </p:nvCxnSpPr>
        <p:spPr>
          <a:xfrm>
            <a:off x="7485854" y="2584501"/>
            <a:ext cx="626897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BE306C76-70AF-46CA-94DD-2FAD80EA8459}"/>
              </a:ext>
            </a:extLst>
          </p:cNvPr>
          <p:cNvCxnSpPr>
            <a:cxnSpLocks/>
            <a:stCxn id="10" idx="4"/>
            <a:endCxn id="96" idx="0"/>
          </p:cNvCxnSpPr>
          <p:nvPr/>
        </p:nvCxnSpPr>
        <p:spPr>
          <a:xfrm flipH="1">
            <a:off x="2953589" y="3488469"/>
            <a:ext cx="5926" cy="589842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F361D897-B4B0-F09E-FFFE-51EC60D44E6D}"/>
              </a:ext>
            </a:extLst>
          </p:cNvPr>
          <p:cNvSpPr/>
          <p:nvPr/>
        </p:nvSpPr>
        <p:spPr>
          <a:xfrm>
            <a:off x="450055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AB764677-3E27-1B0F-1873-38ABFEB7DFF5}"/>
              </a:ext>
            </a:extLst>
          </p:cNvPr>
          <p:cNvCxnSpPr>
            <a:cxnSpLocks/>
            <a:stCxn id="9" idx="5"/>
            <a:endCxn id="173" idx="1"/>
          </p:cNvCxnSpPr>
          <p:nvPr/>
        </p:nvCxnSpPr>
        <p:spPr>
          <a:xfrm>
            <a:off x="1503334" y="3432818"/>
            <a:ext cx="410236" cy="70887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3827C75E-4552-DCA4-A3B9-4E4F7C1D63F6}"/>
              </a:ext>
            </a:extLst>
          </p:cNvPr>
          <p:cNvCxnSpPr>
            <a:cxnSpLocks/>
            <a:stCxn id="62" idx="4"/>
            <a:endCxn id="66" idx="0"/>
          </p:cNvCxnSpPr>
          <p:nvPr/>
        </p:nvCxnSpPr>
        <p:spPr>
          <a:xfrm flipH="1">
            <a:off x="638928" y="5414662"/>
            <a:ext cx="11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>
            <a:extLst>
              <a:ext uri="{FF2B5EF4-FFF2-40B4-BE49-F238E27FC236}">
                <a16:creationId xmlns:a16="http://schemas.microsoft.com/office/drawing/2014/main" id="{0A75B533-A025-2EFD-8F4B-3F1DBAFAC1B4}"/>
              </a:ext>
            </a:extLst>
          </p:cNvPr>
          <p:cNvSpPr/>
          <p:nvPr/>
        </p:nvSpPr>
        <p:spPr>
          <a:xfrm>
            <a:off x="448923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F14DD0C1-C5D5-91FB-D102-8D1F66293C7E}"/>
              </a:ext>
            </a:extLst>
          </p:cNvPr>
          <p:cNvSpPr/>
          <p:nvPr/>
        </p:nvSpPr>
        <p:spPr>
          <a:xfrm>
            <a:off x="2763584" y="4078311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7779D72D-65C8-D757-751C-97652E3ACF74}"/>
              </a:ext>
            </a:extLst>
          </p:cNvPr>
          <p:cNvCxnSpPr>
            <a:cxnSpLocks/>
            <a:stCxn id="12" idx="4"/>
            <a:endCxn id="186" idx="0"/>
          </p:cNvCxnSpPr>
          <p:nvPr/>
        </p:nvCxnSpPr>
        <p:spPr>
          <a:xfrm flipH="1">
            <a:off x="8244532" y="3488469"/>
            <a:ext cx="2573" cy="59757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lipse 115">
            <a:extLst>
              <a:ext uri="{FF2B5EF4-FFF2-40B4-BE49-F238E27FC236}">
                <a16:creationId xmlns:a16="http://schemas.microsoft.com/office/drawing/2014/main" id="{32E4E34B-5965-AEEF-E793-B4B95EBA5F97}"/>
              </a:ext>
            </a:extLst>
          </p:cNvPr>
          <p:cNvSpPr/>
          <p:nvPr/>
        </p:nvSpPr>
        <p:spPr>
          <a:xfrm>
            <a:off x="5771745" y="3096416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8CEC41BD-1233-9D72-6852-F14D63585A16}"/>
              </a:ext>
            </a:extLst>
          </p:cNvPr>
          <p:cNvCxnSpPr>
            <a:cxnSpLocks/>
            <a:stCxn id="116" idx="7"/>
            <a:endCxn id="8" idx="3"/>
          </p:cNvCxnSpPr>
          <p:nvPr/>
        </p:nvCxnSpPr>
        <p:spPr>
          <a:xfrm flipV="1">
            <a:off x="6096104" y="2584501"/>
            <a:ext cx="1121042" cy="56756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E5342D0F-FC1A-BED9-A33D-50EC4FFC03B1}"/>
              </a:ext>
            </a:extLst>
          </p:cNvPr>
          <p:cNvCxnSpPr>
            <a:cxnSpLocks/>
            <a:stCxn id="116" idx="3"/>
            <a:endCxn id="180" idx="7"/>
          </p:cNvCxnSpPr>
          <p:nvPr/>
        </p:nvCxnSpPr>
        <p:spPr>
          <a:xfrm flipH="1">
            <a:off x="5150200" y="3420775"/>
            <a:ext cx="677196" cy="71787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EBDEDEF3-0F0A-86F8-D922-99E30F34D31A}"/>
              </a:ext>
            </a:extLst>
          </p:cNvPr>
          <p:cNvCxnSpPr>
            <a:cxnSpLocks/>
            <a:stCxn id="116" idx="5"/>
            <a:endCxn id="188" idx="1"/>
          </p:cNvCxnSpPr>
          <p:nvPr/>
        </p:nvCxnSpPr>
        <p:spPr>
          <a:xfrm>
            <a:off x="6096104" y="3420775"/>
            <a:ext cx="538741" cy="72626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to 153">
            <a:extLst>
              <a:ext uri="{FF2B5EF4-FFF2-40B4-BE49-F238E27FC236}">
                <a16:creationId xmlns:a16="http://schemas.microsoft.com/office/drawing/2014/main" id="{9716CA67-FC3E-32C9-AB9D-4FA021D2895B}"/>
              </a:ext>
            </a:extLst>
          </p:cNvPr>
          <p:cNvCxnSpPr>
            <a:cxnSpLocks/>
            <a:stCxn id="13" idx="4"/>
            <a:endCxn id="62" idx="0"/>
          </p:cNvCxnSpPr>
          <p:nvPr/>
        </p:nvCxnSpPr>
        <p:spPr>
          <a:xfrm>
            <a:off x="638928" y="4458321"/>
            <a:ext cx="1132" cy="576331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Elipse 172">
            <a:extLst>
              <a:ext uri="{FF2B5EF4-FFF2-40B4-BE49-F238E27FC236}">
                <a16:creationId xmlns:a16="http://schemas.microsoft.com/office/drawing/2014/main" id="{7DE274DA-1EB0-868A-D273-3EBADEDBD4AD}"/>
              </a:ext>
            </a:extLst>
          </p:cNvPr>
          <p:cNvSpPr/>
          <p:nvPr/>
        </p:nvSpPr>
        <p:spPr>
          <a:xfrm>
            <a:off x="1857919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0" name="Elipse 179">
            <a:extLst>
              <a:ext uri="{FF2B5EF4-FFF2-40B4-BE49-F238E27FC236}">
                <a16:creationId xmlns:a16="http://schemas.microsoft.com/office/drawing/2014/main" id="{51DD4EBC-F05F-64E7-3EF8-20C2734BA7BF}"/>
              </a:ext>
            </a:extLst>
          </p:cNvPr>
          <p:cNvSpPr/>
          <p:nvPr/>
        </p:nvSpPr>
        <p:spPr>
          <a:xfrm>
            <a:off x="4825841" y="4082999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6" name="Elipse 185">
            <a:extLst>
              <a:ext uri="{FF2B5EF4-FFF2-40B4-BE49-F238E27FC236}">
                <a16:creationId xmlns:a16="http://schemas.microsoft.com/office/drawing/2014/main" id="{7A5FB5D1-1FA2-5006-7255-B98647C657D0}"/>
              </a:ext>
            </a:extLst>
          </p:cNvPr>
          <p:cNvSpPr/>
          <p:nvPr/>
        </p:nvSpPr>
        <p:spPr>
          <a:xfrm>
            <a:off x="8054527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4DB6EDF0-28F3-E8CF-893A-E885D0522A25}"/>
              </a:ext>
            </a:extLst>
          </p:cNvPr>
          <p:cNvSpPr/>
          <p:nvPr/>
        </p:nvSpPr>
        <p:spPr>
          <a:xfrm>
            <a:off x="6579194" y="4091384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189" name="Elipse 188">
            <a:extLst>
              <a:ext uri="{FF2B5EF4-FFF2-40B4-BE49-F238E27FC236}">
                <a16:creationId xmlns:a16="http://schemas.microsoft.com/office/drawing/2014/main" id="{50E43A23-22FF-B9A2-0FC0-D30DD2B14972}"/>
              </a:ext>
            </a:extLst>
          </p:cNvPr>
          <p:cNvSpPr/>
          <p:nvPr/>
        </p:nvSpPr>
        <p:spPr>
          <a:xfrm>
            <a:off x="6579194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190" name="Conector reto 189">
            <a:extLst>
              <a:ext uri="{FF2B5EF4-FFF2-40B4-BE49-F238E27FC236}">
                <a16:creationId xmlns:a16="http://schemas.microsoft.com/office/drawing/2014/main" id="{2CF60B21-7684-0798-BAE4-3D69CF5B60B9}"/>
              </a:ext>
            </a:extLst>
          </p:cNvPr>
          <p:cNvCxnSpPr>
            <a:cxnSpLocks/>
            <a:stCxn id="188" idx="4"/>
            <a:endCxn id="189" idx="0"/>
          </p:cNvCxnSpPr>
          <p:nvPr/>
        </p:nvCxnSpPr>
        <p:spPr>
          <a:xfrm>
            <a:off x="6769199" y="4471394"/>
            <a:ext cx="0" cy="56325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ctor reto 190">
            <a:extLst>
              <a:ext uri="{FF2B5EF4-FFF2-40B4-BE49-F238E27FC236}">
                <a16:creationId xmlns:a16="http://schemas.microsoft.com/office/drawing/2014/main" id="{71D34D0E-415B-218D-806E-F696A0129BD4}"/>
              </a:ext>
            </a:extLst>
          </p:cNvPr>
          <p:cNvCxnSpPr>
            <a:cxnSpLocks/>
            <a:stCxn id="189" idx="4"/>
            <a:endCxn id="192" idx="0"/>
          </p:cNvCxnSpPr>
          <p:nvPr/>
        </p:nvCxnSpPr>
        <p:spPr>
          <a:xfrm flipH="1">
            <a:off x="6763767" y="5414662"/>
            <a:ext cx="54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Elipse 191">
            <a:extLst>
              <a:ext uri="{FF2B5EF4-FFF2-40B4-BE49-F238E27FC236}">
                <a16:creationId xmlns:a16="http://schemas.microsoft.com/office/drawing/2014/main" id="{B6EDFA02-163B-5BB7-E8A6-13480F0FB61B}"/>
              </a:ext>
            </a:extLst>
          </p:cNvPr>
          <p:cNvSpPr/>
          <p:nvPr/>
        </p:nvSpPr>
        <p:spPr>
          <a:xfrm>
            <a:off x="6573762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265" name="CaixaDeTexto 264">
            <a:extLst>
              <a:ext uri="{FF2B5EF4-FFF2-40B4-BE49-F238E27FC236}">
                <a16:creationId xmlns:a16="http://schemas.microsoft.com/office/drawing/2014/main" id="{A8B7AD3F-0103-BD87-9C2F-93D620A2A451}"/>
              </a:ext>
            </a:extLst>
          </p:cNvPr>
          <p:cNvSpPr txBox="1"/>
          <p:nvPr/>
        </p:nvSpPr>
        <p:spPr>
          <a:xfrm>
            <a:off x="3143594" y="17418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8" name="CaixaDeTexto 267">
            <a:extLst>
              <a:ext uri="{FF2B5EF4-FFF2-40B4-BE49-F238E27FC236}">
                <a16:creationId xmlns:a16="http://schemas.microsoft.com/office/drawing/2014/main" id="{4E8E6834-42A9-345A-1CD8-2A7DA8BE7563}"/>
              </a:ext>
            </a:extLst>
          </p:cNvPr>
          <p:cNvSpPr txBox="1"/>
          <p:nvPr/>
        </p:nvSpPr>
        <p:spPr>
          <a:xfrm>
            <a:off x="2992751" y="36025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9" name="CaixaDeTexto 268">
            <a:extLst>
              <a:ext uri="{FF2B5EF4-FFF2-40B4-BE49-F238E27FC236}">
                <a16:creationId xmlns:a16="http://schemas.microsoft.com/office/drawing/2014/main" id="{E8E3E186-3519-586B-6700-55AF2C52B659}"/>
              </a:ext>
            </a:extLst>
          </p:cNvPr>
          <p:cNvSpPr txBox="1"/>
          <p:nvPr/>
        </p:nvSpPr>
        <p:spPr>
          <a:xfrm>
            <a:off x="6846630" y="55740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70" name="CaixaDeTexto 269">
            <a:extLst>
              <a:ext uri="{FF2B5EF4-FFF2-40B4-BE49-F238E27FC236}">
                <a16:creationId xmlns:a16="http://schemas.microsoft.com/office/drawing/2014/main" id="{98C832BB-DBD1-DA10-0925-2D3DC0B29736}"/>
              </a:ext>
            </a:extLst>
          </p:cNvPr>
          <p:cNvSpPr txBox="1"/>
          <p:nvPr/>
        </p:nvSpPr>
        <p:spPr>
          <a:xfrm>
            <a:off x="5867373" y="17722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1" name="CaixaDeTexto 270">
            <a:extLst>
              <a:ext uri="{FF2B5EF4-FFF2-40B4-BE49-F238E27FC236}">
                <a16:creationId xmlns:a16="http://schemas.microsoft.com/office/drawing/2014/main" id="{9902A51A-F827-7C29-C956-A4342C0B6E99}"/>
              </a:ext>
            </a:extLst>
          </p:cNvPr>
          <p:cNvSpPr txBox="1"/>
          <p:nvPr/>
        </p:nvSpPr>
        <p:spPr>
          <a:xfrm>
            <a:off x="746052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2" name="CaixaDeTexto 271">
            <a:extLst>
              <a:ext uri="{FF2B5EF4-FFF2-40B4-BE49-F238E27FC236}">
                <a16:creationId xmlns:a16="http://schemas.microsoft.com/office/drawing/2014/main" id="{F0C82196-870B-7B50-8AB5-DF0806D51ED0}"/>
              </a:ext>
            </a:extLst>
          </p:cNvPr>
          <p:cNvSpPr txBox="1"/>
          <p:nvPr/>
        </p:nvSpPr>
        <p:spPr>
          <a:xfrm>
            <a:off x="7756627" y="25866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6C03B99E-601E-8093-B332-3FD69A158819}"/>
              </a:ext>
            </a:extLst>
          </p:cNvPr>
          <p:cNvSpPr txBox="1"/>
          <p:nvPr/>
        </p:nvSpPr>
        <p:spPr>
          <a:xfrm>
            <a:off x="674884" y="45525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4" name="CaixaDeTexto 273">
            <a:extLst>
              <a:ext uri="{FF2B5EF4-FFF2-40B4-BE49-F238E27FC236}">
                <a16:creationId xmlns:a16="http://schemas.microsoft.com/office/drawing/2014/main" id="{3D46D4A9-2409-5555-9037-1E6B09BB03B1}"/>
              </a:ext>
            </a:extLst>
          </p:cNvPr>
          <p:cNvSpPr txBox="1"/>
          <p:nvPr/>
        </p:nvSpPr>
        <p:spPr>
          <a:xfrm>
            <a:off x="6387285" y="25807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5" name="CaixaDeTexto 274">
            <a:extLst>
              <a:ext uri="{FF2B5EF4-FFF2-40B4-BE49-F238E27FC236}">
                <a16:creationId xmlns:a16="http://schemas.microsoft.com/office/drawing/2014/main" id="{8002B172-73CF-7067-A3E3-9344D5D8B625}"/>
              </a:ext>
            </a:extLst>
          </p:cNvPr>
          <p:cNvSpPr txBox="1"/>
          <p:nvPr/>
        </p:nvSpPr>
        <p:spPr>
          <a:xfrm>
            <a:off x="2550694" y="2621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6" name="CaixaDeTexto 275">
            <a:extLst>
              <a:ext uri="{FF2B5EF4-FFF2-40B4-BE49-F238E27FC236}">
                <a16:creationId xmlns:a16="http://schemas.microsoft.com/office/drawing/2014/main" id="{785FC724-3BB4-C62F-DDFF-B8A4C727506B}"/>
              </a:ext>
            </a:extLst>
          </p:cNvPr>
          <p:cNvSpPr txBox="1"/>
          <p:nvPr/>
        </p:nvSpPr>
        <p:spPr>
          <a:xfrm>
            <a:off x="6776804" y="45472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7" name="CaixaDeTexto 276">
            <a:extLst>
              <a:ext uri="{FF2B5EF4-FFF2-40B4-BE49-F238E27FC236}">
                <a16:creationId xmlns:a16="http://schemas.microsoft.com/office/drawing/2014/main" id="{00977164-7E5B-93DB-83D4-908E54785C63}"/>
              </a:ext>
            </a:extLst>
          </p:cNvPr>
          <p:cNvSpPr txBox="1"/>
          <p:nvPr/>
        </p:nvSpPr>
        <p:spPr>
          <a:xfrm>
            <a:off x="638928" y="56274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78" name="CaixaDeTexto 277">
            <a:extLst>
              <a:ext uri="{FF2B5EF4-FFF2-40B4-BE49-F238E27FC236}">
                <a16:creationId xmlns:a16="http://schemas.microsoft.com/office/drawing/2014/main" id="{1B1E75B9-C67B-35B8-A723-3FA8539B798F}"/>
              </a:ext>
            </a:extLst>
          </p:cNvPr>
          <p:cNvSpPr txBox="1"/>
          <p:nvPr/>
        </p:nvSpPr>
        <p:spPr>
          <a:xfrm>
            <a:off x="5172636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79" name="CaixaDeTexto 278">
            <a:extLst>
              <a:ext uri="{FF2B5EF4-FFF2-40B4-BE49-F238E27FC236}">
                <a16:creationId xmlns:a16="http://schemas.microsoft.com/office/drawing/2014/main" id="{53389DE9-ABD7-96DA-D904-71A6D49C4246}"/>
              </a:ext>
            </a:extLst>
          </p:cNvPr>
          <p:cNvSpPr txBox="1"/>
          <p:nvPr/>
        </p:nvSpPr>
        <p:spPr>
          <a:xfrm>
            <a:off x="1703924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0" name="CaixaDeTexto 279">
            <a:extLst>
              <a:ext uri="{FF2B5EF4-FFF2-40B4-BE49-F238E27FC236}">
                <a16:creationId xmlns:a16="http://schemas.microsoft.com/office/drawing/2014/main" id="{E367E6C1-C5F0-458F-B095-3BC569E7C781}"/>
              </a:ext>
            </a:extLst>
          </p:cNvPr>
          <p:cNvSpPr txBox="1"/>
          <p:nvPr/>
        </p:nvSpPr>
        <p:spPr>
          <a:xfrm>
            <a:off x="6288932" y="34444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81" name="CaixaDeTexto 280">
            <a:extLst>
              <a:ext uri="{FF2B5EF4-FFF2-40B4-BE49-F238E27FC236}">
                <a16:creationId xmlns:a16="http://schemas.microsoft.com/office/drawing/2014/main" id="{A69E1362-09FD-AA15-DEB9-334268180782}"/>
              </a:ext>
            </a:extLst>
          </p:cNvPr>
          <p:cNvSpPr txBox="1"/>
          <p:nvPr/>
        </p:nvSpPr>
        <p:spPr>
          <a:xfrm>
            <a:off x="1567146" y="26025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98" name="CaixaDeTexto 297">
            <a:extLst>
              <a:ext uri="{FF2B5EF4-FFF2-40B4-BE49-F238E27FC236}">
                <a16:creationId xmlns:a16="http://schemas.microsoft.com/office/drawing/2014/main" id="{7A03544F-5F8E-B56B-E661-457FB9D5D6A9}"/>
              </a:ext>
            </a:extLst>
          </p:cNvPr>
          <p:cNvSpPr txBox="1"/>
          <p:nvPr/>
        </p:nvSpPr>
        <p:spPr>
          <a:xfrm>
            <a:off x="8283694" y="36443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2934D5-EDEF-121F-338B-B244DB6F18A0}"/>
              </a:ext>
            </a:extLst>
          </p:cNvPr>
          <p:cNvSpPr txBox="1"/>
          <p:nvPr/>
        </p:nvSpPr>
        <p:spPr>
          <a:xfrm>
            <a:off x="836856" y="6108184"/>
            <a:ext cx="79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1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3F2FD027-4C1D-B887-6E18-175D62B75BD2}"/>
              </a:ext>
            </a:extLst>
          </p:cNvPr>
          <p:cNvSpPr txBox="1"/>
          <p:nvPr/>
        </p:nvSpPr>
        <p:spPr>
          <a:xfrm>
            <a:off x="1650154" y="4499798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2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48BB7269-1929-CF6F-127A-3F70CBC96149}"/>
              </a:ext>
            </a:extLst>
          </p:cNvPr>
          <p:cNvSpPr txBox="1"/>
          <p:nvPr/>
        </p:nvSpPr>
        <p:spPr>
          <a:xfrm>
            <a:off x="2602492" y="4499798"/>
            <a:ext cx="79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3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9678084-96A7-14DF-EAFC-0B0F3F5F24C8}"/>
              </a:ext>
            </a:extLst>
          </p:cNvPr>
          <p:cNvSpPr txBox="1"/>
          <p:nvPr/>
        </p:nvSpPr>
        <p:spPr>
          <a:xfrm>
            <a:off x="4618076" y="4500605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4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E7225267-F1FE-77DE-7520-5FCB83CE5E5F}"/>
              </a:ext>
            </a:extLst>
          </p:cNvPr>
          <p:cNvSpPr txBox="1"/>
          <p:nvPr/>
        </p:nvSpPr>
        <p:spPr>
          <a:xfrm>
            <a:off x="6997473" y="6102844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5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F628254-C7AF-5C7D-2C7A-93FB6501D061}"/>
              </a:ext>
            </a:extLst>
          </p:cNvPr>
          <p:cNvSpPr txBox="1"/>
          <p:nvPr/>
        </p:nvSpPr>
        <p:spPr>
          <a:xfrm>
            <a:off x="7840552" y="4547220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6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CC8430A-D4FB-A242-6147-873641037D0E}"/>
              </a:ext>
            </a:extLst>
          </p:cNvPr>
          <p:cNvSpPr txBox="1"/>
          <p:nvPr/>
        </p:nvSpPr>
        <p:spPr>
          <a:xfrm>
            <a:off x="3407844" y="21112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B44D9CCE-6DE5-90CD-7F3F-83B72204C7A9}"/>
              </a:ext>
            </a:extLst>
          </p:cNvPr>
          <p:cNvSpPr txBox="1"/>
          <p:nvPr/>
        </p:nvSpPr>
        <p:spPr>
          <a:xfrm>
            <a:off x="5417815" y="37108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3CEADB53-3D46-42CA-2580-4039B1888D39}"/>
              </a:ext>
            </a:extLst>
          </p:cNvPr>
          <p:cNvSpPr txBox="1"/>
          <p:nvPr/>
        </p:nvSpPr>
        <p:spPr>
          <a:xfrm>
            <a:off x="6527099" y="28300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A51A1EA5-3F0B-6600-8D38-24634B3DE2BC}"/>
              </a:ext>
            </a:extLst>
          </p:cNvPr>
          <p:cNvSpPr txBox="1"/>
          <p:nvPr/>
        </p:nvSpPr>
        <p:spPr>
          <a:xfrm>
            <a:off x="7475786" y="27343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6925C08F-44F5-BF5E-5BBB-AFDD89998912}"/>
              </a:ext>
            </a:extLst>
          </p:cNvPr>
          <p:cNvSpPr txBox="1"/>
          <p:nvPr/>
        </p:nvSpPr>
        <p:spPr>
          <a:xfrm>
            <a:off x="5709542" y="20789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5A07D1EB-1F63-FD7C-EC44-0284FBF41AC0}"/>
              </a:ext>
            </a:extLst>
          </p:cNvPr>
          <p:cNvSpPr txBox="1"/>
          <p:nvPr/>
        </p:nvSpPr>
        <p:spPr>
          <a:xfrm>
            <a:off x="2317671" y="27900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FA9CF17C-FA50-9E4E-164C-A6D260DFD4D6}"/>
              </a:ext>
            </a:extLst>
          </p:cNvPr>
          <p:cNvSpPr txBox="1"/>
          <p:nvPr/>
        </p:nvSpPr>
        <p:spPr>
          <a:xfrm>
            <a:off x="1756697" y="28252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2A16953F-25CA-58BD-08B8-C49DE31FA0F9}"/>
              </a:ext>
            </a:extLst>
          </p:cNvPr>
          <p:cNvSpPr txBox="1"/>
          <p:nvPr/>
        </p:nvSpPr>
        <p:spPr>
          <a:xfrm>
            <a:off x="279818" y="56231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1E873423-CB06-9FA5-EB61-A4C6303F615B}"/>
              </a:ext>
            </a:extLst>
          </p:cNvPr>
          <p:cNvSpPr txBox="1"/>
          <p:nvPr/>
        </p:nvSpPr>
        <p:spPr>
          <a:xfrm>
            <a:off x="286384" y="45573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066DDA53-7457-6104-4C63-E67BEF239137}"/>
              </a:ext>
            </a:extLst>
          </p:cNvPr>
          <p:cNvSpPr txBox="1"/>
          <p:nvPr/>
        </p:nvSpPr>
        <p:spPr>
          <a:xfrm>
            <a:off x="982217" y="36622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11E283AE-E16A-ADAB-0615-66DF7A5DA5C4}"/>
              </a:ext>
            </a:extLst>
          </p:cNvPr>
          <p:cNvSpPr txBox="1"/>
          <p:nvPr/>
        </p:nvSpPr>
        <p:spPr>
          <a:xfrm>
            <a:off x="6411673" y="45463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A30EA443-0842-2ED6-9D47-7757A402AD9B}"/>
              </a:ext>
            </a:extLst>
          </p:cNvPr>
          <p:cNvSpPr txBox="1"/>
          <p:nvPr/>
        </p:nvSpPr>
        <p:spPr>
          <a:xfrm>
            <a:off x="6084708" y="3670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2046BDA-3E75-F881-FEA0-0DA06522A4C1}"/>
              </a:ext>
            </a:extLst>
          </p:cNvPr>
          <p:cNvSpPr txBox="1"/>
          <p:nvPr/>
        </p:nvSpPr>
        <p:spPr>
          <a:xfrm>
            <a:off x="7924552" y="3670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DAC7F17F-4E81-2230-13B9-D14609380288}"/>
              </a:ext>
            </a:extLst>
          </p:cNvPr>
          <p:cNvSpPr txBox="1"/>
          <p:nvPr/>
        </p:nvSpPr>
        <p:spPr>
          <a:xfrm>
            <a:off x="6432373" y="55740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53FE2AD-5505-5A3D-0CAC-DD66E826C379}"/>
              </a:ext>
            </a:extLst>
          </p:cNvPr>
          <p:cNvSpPr txBox="1"/>
          <p:nvPr/>
        </p:nvSpPr>
        <p:spPr>
          <a:xfrm>
            <a:off x="2642938" y="36025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2E297FB3-B2AC-93AA-A7A0-C56BFB78509A}"/>
              </a:ext>
            </a:extLst>
          </p:cNvPr>
          <p:cNvSpPr txBox="1"/>
          <p:nvPr/>
        </p:nvSpPr>
        <p:spPr>
          <a:xfrm>
            <a:off x="1456609" y="3688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3B939D9-019B-62CE-0E16-98BB80AF8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900" y="5161677"/>
            <a:ext cx="461344" cy="260371"/>
          </a:xfrm>
          <a:prstGeom prst="rect">
            <a:avLst/>
          </a:prstGeom>
        </p:spPr>
      </p:pic>
      <p:pic>
        <p:nvPicPr>
          <p:cNvPr id="77" name="Imagem 76">
            <a:extLst>
              <a:ext uri="{FF2B5EF4-FFF2-40B4-BE49-F238E27FC236}">
                <a16:creationId xmlns:a16="http://schemas.microsoft.com/office/drawing/2014/main" id="{F08AFFA7-90F1-EA3B-6EFB-477F76628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312" y="5158337"/>
            <a:ext cx="461344" cy="260371"/>
          </a:xfrm>
          <a:prstGeom prst="rect">
            <a:avLst/>
          </a:prstGeom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45BF74C1-C882-9F3D-AFD9-2322672C1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141" y="5087744"/>
            <a:ext cx="461344" cy="260371"/>
          </a:xfrm>
          <a:prstGeom prst="rect">
            <a:avLst/>
          </a:prstGeom>
        </p:spPr>
      </p:pic>
      <p:pic>
        <p:nvPicPr>
          <p:cNvPr id="81" name="Imagem 80">
            <a:extLst>
              <a:ext uri="{FF2B5EF4-FFF2-40B4-BE49-F238E27FC236}">
                <a16:creationId xmlns:a16="http://schemas.microsoft.com/office/drawing/2014/main" id="{4745B6DA-6FE0-46E1-AD34-6410F4CEA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354" y="5367047"/>
            <a:ext cx="461344" cy="260371"/>
          </a:xfrm>
          <a:prstGeom prst="rect">
            <a:avLst/>
          </a:prstGeom>
        </p:spPr>
      </p:pic>
      <p:pic>
        <p:nvPicPr>
          <p:cNvPr id="82" name="Imagem 81">
            <a:extLst>
              <a:ext uri="{FF2B5EF4-FFF2-40B4-BE49-F238E27FC236}">
                <a16:creationId xmlns:a16="http://schemas.microsoft.com/office/drawing/2014/main" id="{2B9969B4-F9D6-15C2-7095-7C36A3F8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050" y="5377480"/>
            <a:ext cx="461344" cy="260371"/>
          </a:xfrm>
          <a:prstGeom prst="rect">
            <a:avLst/>
          </a:prstGeom>
        </p:spPr>
      </p:pic>
      <p:pic>
        <p:nvPicPr>
          <p:cNvPr id="83" name="Imagem 82">
            <a:extLst>
              <a:ext uri="{FF2B5EF4-FFF2-40B4-BE49-F238E27FC236}">
                <a16:creationId xmlns:a16="http://schemas.microsoft.com/office/drawing/2014/main" id="{F521C83C-14E5-710D-4925-70B2BD3D4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643" y="5094471"/>
            <a:ext cx="461344" cy="26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57454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1F951D-5697-5BB7-CD2D-067FC79E1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10CD4D7-ACFD-FF45-405D-41C95B319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487" y="2728837"/>
            <a:ext cx="6124345" cy="20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32056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03A15-E8E7-CE14-DEC2-655594CD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ADC5A8B-3CEB-430B-D86D-E6921072F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4" y="2003883"/>
            <a:ext cx="76157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4899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5D8BDDA-603A-A150-7C3E-2144EC704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r>
              <a:rPr lang="pt-BR" sz="2000" u="none" dirty="0"/>
              <a:t>Contribuição F1 (Rota 3)</a:t>
            </a:r>
          </a:p>
          <a:p>
            <a:r>
              <a:rPr lang="pt-BR" sz="2000" u="none" dirty="0"/>
              <a:t>A </a:t>
            </a:r>
            <a:r>
              <a:rPr lang="pt-BR" sz="2000" u="none" dirty="0">
                <a:sym typeface="Wingdings" panose="05000000000000000000" pitchFamily="2" charset="2"/>
              </a:rPr>
              <a:t> B  E  G com contribuição 0,1111</a:t>
            </a:r>
            <a:endParaRPr lang="pt-BR" sz="2000" u="none" dirty="0"/>
          </a:p>
          <a:p>
            <a:endParaRPr lang="pt-BR" sz="21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F03A15-E8E7-CE14-DEC2-655594CD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3A8ED4-BD33-5E37-704C-F9735C54A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4" y="2003884"/>
            <a:ext cx="76157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60792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5D8BDDA-603A-A150-7C3E-2144EC704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r>
              <a:rPr lang="pt-BR" sz="2000" u="none" dirty="0"/>
              <a:t>Contribuição F2 (Rota 3)</a:t>
            </a:r>
          </a:p>
          <a:p>
            <a:r>
              <a:rPr lang="pt-BR" sz="2000" u="none" dirty="0"/>
              <a:t>A </a:t>
            </a:r>
            <a:r>
              <a:rPr lang="pt-BR" sz="2000" u="none" dirty="0">
                <a:sym typeface="Wingdings" panose="05000000000000000000" pitchFamily="2" charset="2"/>
              </a:rPr>
              <a:t> B  E  G com contribuição 0,1111</a:t>
            </a:r>
            <a:endParaRPr lang="pt-BR" sz="2000" u="none" dirty="0"/>
          </a:p>
          <a:p>
            <a:endParaRPr lang="pt-BR" sz="21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F03A15-E8E7-CE14-DEC2-655594CD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77D0073-284B-BDE7-911A-27768DD33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4" y="2008744"/>
            <a:ext cx="76157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6741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5D8BDDA-603A-A150-7C3E-2144EC704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r>
              <a:rPr lang="pt-BR" sz="2000" u="none" dirty="0"/>
              <a:t>Contribuição F3 (Rota 2)</a:t>
            </a:r>
          </a:p>
          <a:p>
            <a:r>
              <a:rPr lang="pt-BR" sz="2000" u="none" dirty="0"/>
              <a:t>A </a:t>
            </a:r>
            <a:r>
              <a:rPr lang="pt-BR" sz="2000" u="none" dirty="0">
                <a:sym typeface="Wingdings" panose="05000000000000000000" pitchFamily="2" charset="2"/>
              </a:rPr>
              <a:t> B  D  G com contribuição 0,0833</a:t>
            </a:r>
            <a:endParaRPr lang="pt-BR" sz="2000" u="none" dirty="0"/>
          </a:p>
          <a:p>
            <a:endParaRPr lang="pt-BR" sz="21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F03A15-E8E7-CE14-DEC2-655594CD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D90207-0282-2F8A-A010-8CE819345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4" y="2003884"/>
            <a:ext cx="76157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3458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5D8BDDA-603A-A150-7C3E-2144EC704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r>
              <a:rPr lang="pt-BR" sz="2000" u="none" dirty="0"/>
              <a:t>Contribuição F4 (Rota 4)</a:t>
            </a:r>
          </a:p>
          <a:p>
            <a:r>
              <a:rPr lang="pt-BR" sz="2000" u="none" dirty="0"/>
              <a:t>A </a:t>
            </a:r>
            <a:r>
              <a:rPr lang="pt-BR" sz="2000" u="none" dirty="0">
                <a:sym typeface="Wingdings" panose="05000000000000000000" pitchFamily="2" charset="2"/>
              </a:rPr>
              <a:t> C  D  G com contribuição 0,1000</a:t>
            </a:r>
            <a:endParaRPr lang="pt-BR" sz="2000" u="none" dirty="0"/>
          </a:p>
          <a:p>
            <a:endParaRPr lang="pt-BR" sz="21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F03A15-E8E7-CE14-DEC2-655594CD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2015E0-3C80-33CB-D1A0-88C0D318E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4" y="2003883"/>
            <a:ext cx="76157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9503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5D8BDDA-603A-A150-7C3E-2144EC704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r>
              <a:rPr lang="pt-BR" sz="2000" u="none" dirty="0"/>
              <a:t>Contribuição F5 (Rota 4)</a:t>
            </a:r>
          </a:p>
          <a:p>
            <a:r>
              <a:rPr lang="pt-BR" sz="2000" u="none" dirty="0"/>
              <a:t>A </a:t>
            </a:r>
            <a:r>
              <a:rPr lang="pt-BR" sz="2000" u="none" dirty="0">
                <a:sym typeface="Wingdings" panose="05000000000000000000" pitchFamily="2" charset="2"/>
              </a:rPr>
              <a:t> C  D  G com contribuição 0,1000</a:t>
            </a:r>
            <a:endParaRPr lang="pt-BR" sz="2000" u="none" dirty="0"/>
          </a:p>
          <a:p>
            <a:endParaRPr lang="pt-BR" sz="21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F03A15-E8E7-CE14-DEC2-655594CD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CD43467-0F82-9412-9AE9-B972A75AC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4" y="2003883"/>
            <a:ext cx="76157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32607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5D8BDDA-603A-A150-7C3E-2144EC704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r>
              <a:rPr lang="pt-BR" sz="2000" u="none" dirty="0"/>
              <a:t>Contribuição F6 (Rota 6)</a:t>
            </a:r>
          </a:p>
          <a:p>
            <a:r>
              <a:rPr lang="pt-BR" sz="2000" u="none" dirty="0"/>
              <a:t>A </a:t>
            </a:r>
            <a:r>
              <a:rPr lang="pt-BR" sz="2000" u="none" dirty="0">
                <a:sym typeface="Wingdings" panose="05000000000000000000" pitchFamily="2" charset="2"/>
              </a:rPr>
              <a:t> C  F  G com contribuição 0,1000</a:t>
            </a:r>
            <a:endParaRPr lang="pt-BR" sz="2000" u="none" dirty="0"/>
          </a:p>
          <a:p>
            <a:endParaRPr lang="pt-BR" sz="21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F03A15-E8E7-CE14-DEC2-655594CD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1E8AF1-1477-2D67-4D4B-020FDB169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4" y="2003884"/>
            <a:ext cx="76157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7713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C70F74C-CAF4-D89E-BCE9-E983C8990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pt-BR" b="1" u="none" dirty="0"/>
              <a:t>Probabilidade em cada nó do grafo</a:t>
            </a:r>
            <a:endParaRPr lang="pt-BR" sz="2600" u="none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141528-72C2-A7AB-8959-B85621FE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71C0E9A-9FAD-7FC6-EA5E-7D3AF2792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243" y="2284751"/>
            <a:ext cx="5891721" cy="40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2865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C70F74C-CAF4-D89E-BCE9-E983C8990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pt-BR" b="1" u="none" dirty="0"/>
              <a:t>Probabilidade em cada nó do grafo</a:t>
            </a:r>
            <a:endParaRPr lang="pt-BR" sz="2600" u="none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141528-72C2-A7AB-8959-B85621FE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29E824F-A80E-000E-9704-89D471E69C25}"/>
              </a:ext>
            </a:extLst>
          </p:cNvPr>
          <p:cNvSpPr txBox="1"/>
          <p:nvPr/>
        </p:nvSpPr>
        <p:spPr>
          <a:xfrm>
            <a:off x="6831827" y="1932213"/>
            <a:ext cx="674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Atual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DC0200C-E20C-2579-1AD1-4ED0686B940A}"/>
              </a:ext>
            </a:extLst>
          </p:cNvPr>
          <p:cNvSpPr txBox="1"/>
          <p:nvPr/>
        </p:nvSpPr>
        <p:spPr>
          <a:xfrm>
            <a:off x="7624292" y="1932213"/>
            <a:ext cx="79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Antigo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F59EF70-7307-66A0-D047-4F3A8AAE1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7600" y="2284751"/>
            <a:ext cx="814320" cy="40716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67E0E5B-8B5A-B07C-9196-2C5E569CD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243" y="2284751"/>
            <a:ext cx="5891721" cy="40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3531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4D336-7C92-46D3-81D7-05C82FF2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8F531EE-BC08-B75D-9B20-5A9673F9B3CD}"/>
              </a:ext>
            </a:extLst>
          </p:cNvPr>
          <p:cNvSpPr/>
          <p:nvPr/>
        </p:nvSpPr>
        <p:spPr>
          <a:xfrm>
            <a:off x="4381995" y="1582286"/>
            <a:ext cx="380010" cy="38001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2CE143E-6E0C-DB21-7B8A-2F72F9411D31}"/>
              </a:ext>
            </a:extLst>
          </p:cNvPr>
          <p:cNvSpPr/>
          <p:nvPr/>
        </p:nvSpPr>
        <p:spPr>
          <a:xfrm>
            <a:off x="2031011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6EB7C5E-3A61-6576-ECA8-DDB7674B1285}"/>
              </a:ext>
            </a:extLst>
          </p:cNvPr>
          <p:cNvSpPr/>
          <p:nvPr/>
        </p:nvSpPr>
        <p:spPr>
          <a:xfrm>
            <a:off x="7161495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1B5E01D-7A22-C201-2282-27985A6509DC}"/>
              </a:ext>
            </a:extLst>
          </p:cNvPr>
          <p:cNvSpPr/>
          <p:nvPr/>
        </p:nvSpPr>
        <p:spPr>
          <a:xfrm>
            <a:off x="1178975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1F30D8D-A623-B5B4-E676-C61D06D021B4}"/>
              </a:ext>
            </a:extLst>
          </p:cNvPr>
          <p:cNvSpPr/>
          <p:nvPr/>
        </p:nvSpPr>
        <p:spPr>
          <a:xfrm>
            <a:off x="276951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74164C1-26A6-9A77-E239-4B4062390427}"/>
              </a:ext>
            </a:extLst>
          </p:cNvPr>
          <p:cNvSpPr/>
          <p:nvPr/>
        </p:nvSpPr>
        <p:spPr>
          <a:xfrm>
            <a:off x="805710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E906D63-29CD-2DC1-DA7B-1E8EDB06EF76}"/>
              </a:ext>
            </a:extLst>
          </p:cNvPr>
          <p:cNvSpPr/>
          <p:nvPr/>
        </p:nvSpPr>
        <p:spPr>
          <a:xfrm>
            <a:off x="448923" y="4078311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4F22813D-2BD5-5396-1949-030D7C5F5270}"/>
              </a:ext>
            </a:extLst>
          </p:cNvPr>
          <p:cNvCxnSpPr>
            <a:cxnSpLocks/>
            <a:stCxn id="3" idx="3"/>
            <a:endCxn id="7" idx="7"/>
          </p:cNvCxnSpPr>
          <p:nvPr/>
        </p:nvCxnSpPr>
        <p:spPr>
          <a:xfrm flipH="1">
            <a:off x="2355370" y="1906645"/>
            <a:ext cx="2082276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448799B2-9C98-5852-AE81-53D6B38A099E}"/>
              </a:ext>
            </a:extLst>
          </p:cNvPr>
          <p:cNvCxnSpPr>
            <a:cxnSpLocks/>
            <a:stCxn id="3" idx="5"/>
            <a:endCxn id="8" idx="1"/>
          </p:cNvCxnSpPr>
          <p:nvPr/>
        </p:nvCxnSpPr>
        <p:spPr>
          <a:xfrm>
            <a:off x="4706354" y="1906645"/>
            <a:ext cx="2510792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020DC8C-E3B1-7F14-9A65-1688BD43E140}"/>
              </a:ext>
            </a:extLst>
          </p:cNvPr>
          <p:cNvCxnSpPr>
            <a:cxnSpLocks/>
            <a:stCxn id="7" idx="5"/>
            <a:endCxn id="10" idx="1"/>
          </p:cNvCxnSpPr>
          <p:nvPr/>
        </p:nvCxnSpPr>
        <p:spPr>
          <a:xfrm>
            <a:off x="2355370" y="2584501"/>
            <a:ext cx="469791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28E6102A-08D1-9830-BFCC-9FC3D85499C5}"/>
              </a:ext>
            </a:extLst>
          </p:cNvPr>
          <p:cNvCxnSpPr>
            <a:cxnSpLocks/>
            <a:stCxn id="9" idx="3"/>
            <a:endCxn id="13" idx="7"/>
          </p:cNvCxnSpPr>
          <p:nvPr/>
        </p:nvCxnSpPr>
        <p:spPr>
          <a:xfrm flipH="1">
            <a:off x="773282" y="3432818"/>
            <a:ext cx="461344" cy="70114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790F476E-F819-60D6-93FF-6B9D665C6D42}"/>
              </a:ext>
            </a:extLst>
          </p:cNvPr>
          <p:cNvCxnSpPr>
            <a:cxnSpLocks/>
            <a:stCxn id="9" idx="7"/>
            <a:endCxn id="7" idx="3"/>
          </p:cNvCxnSpPr>
          <p:nvPr/>
        </p:nvCxnSpPr>
        <p:spPr>
          <a:xfrm flipV="1">
            <a:off x="1503334" y="2584501"/>
            <a:ext cx="583328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79420353-7055-2546-FF0D-E65F1234955D}"/>
              </a:ext>
            </a:extLst>
          </p:cNvPr>
          <p:cNvCxnSpPr>
            <a:cxnSpLocks/>
            <a:stCxn id="8" idx="5"/>
            <a:endCxn id="12" idx="1"/>
          </p:cNvCxnSpPr>
          <p:nvPr/>
        </p:nvCxnSpPr>
        <p:spPr>
          <a:xfrm>
            <a:off x="7485854" y="2584501"/>
            <a:ext cx="626897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BE306C76-70AF-46CA-94DD-2FAD80EA8459}"/>
              </a:ext>
            </a:extLst>
          </p:cNvPr>
          <p:cNvCxnSpPr>
            <a:cxnSpLocks/>
            <a:stCxn id="10" idx="4"/>
            <a:endCxn id="96" idx="0"/>
          </p:cNvCxnSpPr>
          <p:nvPr/>
        </p:nvCxnSpPr>
        <p:spPr>
          <a:xfrm flipH="1">
            <a:off x="2953589" y="3488469"/>
            <a:ext cx="5926" cy="589842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F361D897-B4B0-F09E-FFFE-51EC60D44E6D}"/>
              </a:ext>
            </a:extLst>
          </p:cNvPr>
          <p:cNvSpPr/>
          <p:nvPr/>
        </p:nvSpPr>
        <p:spPr>
          <a:xfrm>
            <a:off x="450055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AB764677-3E27-1B0F-1873-38ABFEB7DFF5}"/>
              </a:ext>
            </a:extLst>
          </p:cNvPr>
          <p:cNvCxnSpPr>
            <a:cxnSpLocks/>
            <a:stCxn id="9" idx="5"/>
            <a:endCxn id="173" idx="1"/>
          </p:cNvCxnSpPr>
          <p:nvPr/>
        </p:nvCxnSpPr>
        <p:spPr>
          <a:xfrm>
            <a:off x="1503334" y="3432818"/>
            <a:ext cx="410236" cy="70887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3827C75E-4552-DCA4-A3B9-4E4F7C1D63F6}"/>
              </a:ext>
            </a:extLst>
          </p:cNvPr>
          <p:cNvCxnSpPr>
            <a:cxnSpLocks/>
            <a:stCxn id="62" idx="4"/>
            <a:endCxn id="66" idx="0"/>
          </p:cNvCxnSpPr>
          <p:nvPr/>
        </p:nvCxnSpPr>
        <p:spPr>
          <a:xfrm flipH="1">
            <a:off x="638928" y="5414662"/>
            <a:ext cx="11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>
            <a:extLst>
              <a:ext uri="{FF2B5EF4-FFF2-40B4-BE49-F238E27FC236}">
                <a16:creationId xmlns:a16="http://schemas.microsoft.com/office/drawing/2014/main" id="{0A75B533-A025-2EFD-8F4B-3F1DBAFAC1B4}"/>
              </a:ext>
            </a:extLst>
          </p:cNvPr>
          <p:cNvSpPr/>
          <p:nvPr/>
        </p:nvSpPr>
        <p:spPr>
          <a:xfrm>
            <a:off x="448923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F14DD0C1-C5D5-91FB-D102-8D1F66293C7E}"/>
              </a:ext>
            </a:extLst>
          </p:cNvPr>
          <p:cNvSpPr/>
          <p:nvPr/>
        </p:nvSpPr>
        <p:spPr>
          <a:xfrm>
            <a:off x="2763584" y="4078311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7779D72D-65C8-D757-751C-97652E3ACF74}"/>
              </a:ext>
            </a:extLst>
          </p:cNvPr>
          <p:cNvCxnSpPr>
            <a:cxnSpLocks/>
            <a:stCxn id="12" idx="4"/>
            <a:endCxn id="186" idx="0"/>
          </p:cNvCxnSpPr>
          <p:nvPr/>
        </p:nvCxnSpPr>
        <p:spPr>
          <a:xfrm flipH="1">
            <a:off x="8244532" y="3488469"/>
            <a:ext cx="2573" cy="59757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lipse 115">
            <a:extLst>
              <a:ext uri="{FF2B5EF4-FFF2-40B4-BE49-F238E27FC236}">
                <a16:creationId xmlns:a16="http://schemas.microsoft.com/office/drawing/2014/main" id="{32E4E34B-5965-AEEF-E793-B4B95EBA5F97}"/>
              </a:ext>
            </a:extLst>
          </p:cNvPr>
          <p:cNvSpPr/>
          <p:nvPr/>
        </p:nvSpPr>
        <p:spPr>
          <a:xfrm>
            <a:off x="5771745" y="3096416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8CEC41BD-1233-9D72-6852-F14D63585A16}"/>
              </a:ext>
            </a:extLst>
          </p:cNvPr>
          <p:cNvCxnSpPr>
            <a:cxnSpLocks/>
            <a:stCxn id="116" idx="7"/>
            <a:endCxn id="8" idx="3"/>
          </p:cNvCxnSpPr>
          <p:nvPr/>
        </p:nvCxnSpPr>
        <p:spPr>
          <a:xfrm flipV="1">
            <a:off x="6096104" y="2584501"/>
            <a:ext cx="1121042" cy="56756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E5342D0F-FC1A-BED9-A33D-50EC4FFC03B1}"/>
              </a:ext>
            </a:extLst>
          </p:cNvPr>
          <p:cNvCxnSpPr>
            <a:cxnSpLocks/>
            <a:stCxn id="116" idx="3"/>
            <a:endCxn id="180" idx="7"/>
          </p:cNvCxnSpPr>
          <p:nvPr/>
        </p:nvCxnSpPr>
        <p:spPr>
          <a:xfrm flipH="1">
            <a:off x="5150200" y="3420775"/>
            <a:ext cx="677196" cy="71787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EBDEDEF3-0F0A-86F8-D922-99E30F34D31A}"/>
              </a:ext>
            </a:extLst>
          </p:cNvPr>
          <p:cNvCxnSpPr>
            <a:cxnSpLocks/>
            <a:stCxn id="116" idx="5"/>
            <a:endCxn id="188" idx="1"/>
          </p:cNvCxnSpPr>
          <p:nvPr/>
        </p:nvCxnSpPr>
        <p:spPr>
          <a:xfrm>
            <a:off x="6096104" y="3420775"/>
            <a:ext cx="538741" cy="72626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to 153">
            <a:extLst>
              <a:ext uri="{FF2B5EF4-FFF2-40B4-BE49-F238E27FC236}">
                <a16:creationId xmlns:a16="http://schemas.microsoft.com/office/drawing/2014/main" id="{9716CA67-FC3E-32C9-AB9D-4FA021D2895B}"/>
              </a:ext>
            </a:extLst>
          </p:cNvPr>
          <p:cNvCxnSpPr>
            <a:cxnSpLocks/>
            <a:stCxn id="13" idx="4"/>
            <a:endCxn id="62" idx="0"/>
          </p:cNvCxnSpPr>
          <p:nvPr/>
        </p:nvCxnSpPr>
        <p:spPr>
          <a:xfrm>
            <a:off x="638928" y="4458321"/>
            <a:ext cx="1132" cy="576331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Elipse 172">
            <a:extLst>
              <a:ext uri="{FF2B5EF4-FFF2-40B4-BE49-F238E27FC236}">
                <a16:creationId xmlns:a16="http://schemas.microsoft.com/office/drawing/2014/main" id="{7DE274DA-1EB0-868A-D273-3EBADEDBD4AD}"/>
              </a:ext>
            </a:extLst>
          </p:cNvPr>
          <p:cNvSpPr/>
          <p:nvPr/>
        </p:nvSpPr>
        <p:spPr>
          <a:xfrm>
            <a:off x="1857919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0" name="Elipse 179">
            <a:extLst>
              <a:ext uri="{FF2B5EF4-FFF2-40B4-BE49-F238E27FC236}">
                <a16:creationId xmlns:a16="http://schemas.microsoft.com/office/drawing/2014/main" id="{51DD4EBC-F05F-64E7-3EF8-20C2734BA7BF}"/>
              </a:ext>
            </a:extLst>
          </p:cNvPr>
          <p:cNvSpPr/>
          <p:nvPr/>
        </p:nvSpPr>
        <p:spPr>
          <a:xfrm>
            <a:off x="4825841" y="4082999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6" name="Elipse 185">
            <a:extLst>
              <a:ext uri="{FF2B5EF4-FFF2-40B4-BE49-F238E27FC236}">
                <a16:creationId xmlns:a16="http://schemas.microsoft.com/office/drawing/2014/main" id="{7A5FB5D1-1FA2-5006-7255-B98647C657D0}"/>
              </a:ext>
            </a:extLst>
          </p:cNvPr>
          <p:cNvSpPr/>
          <p:nvPr/>
        </p:nvSpPr>
        <p:spPr>
          <a:xfrm>
            <a:off x="8054527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4DB6EDF0-28F3-E8CF-893A-E885D0522A25}"/>
              </a:ext>
            </a:extLst>
          </p:cNvPr>
          <p:cNvSpPr/>
          <p:nvPr/>
        </p:nvSpPr>
        <p:spPr>
          <a:xfrm>
            <a:off x="6579194" y="4091384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189" name="Elipse 188">
            <a:extLst>
              <a:ext uri="{FF2B5EF4-FFF2-40B4-BE49-F238E27FC236}">
                <a16:creationId xmlns:a16="http://schemas.microsoft.com/office/drawing/2014/main" id="{50E43A23-22FF-B9A2-0FC0-D30DD2B14972}"/>
              </a:ext>
            </a:extLst>
          </p:cNvPr>
          <p:cNvSpPr/>
          <p:nvPr/>
        </p:nvSpPr>
        <p:spPr>
          <a:xfrm>
            <a:off x="6579194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190" name="Conector reto 189">
            <a:extLst>
              <a:ext uri="{FF2B5EF4-FFF2-40B4-BE49-F238E27FC236}">
                <a16:creationId xmlns:a16="http://schemas.microsoft.com/office/drawing/2014/main" id="{2CF60B21-7684-0798-BAE4-3D69CF5B60B9}"/>
              </a:ext>
            </a:extLst>
          </p:cNvPr>
          <p:cNvCxnSpPr>
            <a:cxnSpLocks/>
            <a:stCxn id="188" idx="4"/>
            <a:endCxn id="189" idx="0"/>
          </p:cNvCxnSpPr>
          <p:nvPr/>
        </p:nvCxnSpPr>
        <p:spPr>
          <a:xfrm>
            <a:off x="6769199" y="4471394"/>
            <a:ext cx="0" cy="56325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ctor reto 190">
            <a:extLst>
              <a:ext uri="{FF2B5EF4-FFF2-40B4-BE49-F238E27FC236}">
                <a16:creationId xmlns:a16="http://schemas.microsoft.com/office/drawing/2014/main" id="{71D34D0E-415B-218D-806E-F696A0129BD4}"/>
              </a:ext>
            </a:extLst>
          </p:cNvPr>
          <p:cNvCxnSpPr>
            <a:cxnSpLocks/>
            <a:stCxn id="189" idx="4"/>
            <a:endCxn id="192" idx="0"/>
          </p:cNvCxnSpPr>
          <p:nvPr/>
        </p:nvCxnSpPr>
        <p:spPr>
          <a:xfrm flipH="1">
            <a:off x="6763767" y="5414662"/>
            <a:ext cx="54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Elipse 191">
            <a:extLst>
              <a:ext uri="{FF2B5EF4-FFF2-40B4-BE49-F238E27FC236}">
                <a16:creationId xmlns:a16="http://schemas.microsoft.com/office/drawing/2014/main" id="{B6EDFA02-163B-5BB7-E8A6-13480F0FB61B}"/>
              </a:ext>
            </a:extLst>
          </p:cNvPr>
          <p:cNvSpPr/>
          <p:nvPr/>
        </p:nvSpPr>
        <p:spPr>
          <a:xfrm>
            <a:off x="6573762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265" name="CaixaDeTexto 264">
            <a:extLst>
              <a:ext uri="{FF2B5EF4-FFF2-40B4-BE49-F238E27FC236}">
                <a16:creationId xmlns:a16="http://schemas.microsoft.com/office/drawing/2014/main" id="{A8B7AD3F-0103-BD87-9C2F-93D620A2A451}"/>
              </a:ext>
            </a:extLst>
          </p:cNvPr>
          <p:cNvSpPr txBox="1"/>
          <p:nvPr/>
        </p:nvSpPr>
        <p:spPr>
          <a:xfrm>
            <a:off x="3143594" y="17418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8" name="CaixaDeTexto 267">
            <a:extLst>
              <a:ext uri="{FF2B5EF4-FFF2-40B4-BE49-F238E27FC236}">
                <a16:creationId xmlns:a16="http://schemas.microsoft.com/office/drawing/2014/main" id="{4E8E6834-42A9-345A-1CD8-2A7DA8BE7563}"/>
              </a:ext>
            </a:extLst>
          </p:cNvPr>
          <p:cNvSpPr txBox="1"/>
          <p:nvPr/>
        </p:nvSpPr>
        <p:spPr>
          <a:xfrm>
            <a:off x="2992751" y="36025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9" name="CaixaDeTexto 268">
            <a:extLst>
              <a:ext uri="{FF2B5EF4-FFF2-40B4-BE49-F238E27FC236}">
                <a16:creationId xmlns:a16="http://schemas.microsoft.com/office/drawing/2014/main" id="{E8E3E186-3519-586B-6700-55AF2C52B659}"/>
              </a:ext>
            </a:extLst>
          </p:cNvPr>
          <p:cNvSpPr txBox="1"/>
          <p:nvPr/>
        </p:nvSpPr>
        <p:spPr>
          <a:xfrm>
            <a:off x="6846630" y="55740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70" name="CaixaDeTexto 269">
            <a:extLst>
              <a:ext uri="{FF2B5EF4-FFF2-40B4-BE49-F238E27FC236}">
                <a16:creationId xmlns:a16="http://schemas.microsoft.com/office/drawing/2014/main" id="{98C832BB-DBD1-DA10-0925-2D3DC0B29736}"/>
              </a:ext>
            </a:extLst>
          </p:cNvPr>
          <p:cNvSpPr txBox="1"/>
          <p:nvPr/>
        </p:nvSpPr>
        <p:spPr>
          <a:xfrm>
            <a:off x="5867373" y="17722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1" name="CaixaDeTexto 270">
            <a:extLst>
              <a:ext uri="{FF2B5EF4-FFF2-40B4-BE49-F238E27FC236}">
                <a16:creationId xmlns:a16="http://schemas.microsoft.com/office/drawing/2014/main" id="{9902A51A-F827-7C29-C956-A4342C0B6E99}"/>
              </a:ext>
            </a:extLst>
          </p:cNvPr>
          <p:cNvSpPr txBox="1"/>
          <p:nvPr/>
        </p:nvSpPr>
        <p:spPr>
          <a:xfrm>
            <a:off x="746052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2" name="CaixaDeTexto 271">
            <a:extLst>
              <a:ext uri="{FF2B5EF4-FFF2-40B4-BE49-F238E27FC236}">
                <a16:creationId xmlns:a16="http://schemas.microsoft.com/office/drawing/2014/main" id="{F0C82196-870B-7B50-8AB5-DF0806D51ED0}"/>
              </a:ext>
            </a:extLst>
          </p:cNvPr>
          <p:cNvSpPr txBox="1"/>
          <p:nvPr/>
        </p:nvSpPr>
        <p:spPr>
          <a:xfrm>
            <a:off x="7756627" y="25866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6C03B99E-601E-8093-B332-3FD69A158819}"/>
              </a:ext>
            </a:extLst>
          </p:cNvPr>
          <p:cNvSpPr txBox="1"/>
          <p:nvPr/>
        </p:nvSpPr>
        <p:spPr>
          <a:xfrm>
            <a:off x="674884" y="45525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4" name="CaixaDeTexto 273">
            <a:extLst>
              <a:ext uri="{FF2B5EF4-FFF2-40B4-BE49-F238E27FC236}">
                <a16:creationId xmlns:a16="http://schemas.microsoft.com/office/drawing/2014/main" id="{3D46D4A9-2409-5555-9037-1E6B09BB03B1}"/>
              </a:ext>
            </a:extLst>
          </p:cNvPr>
          <p:cNvSpPr txBox="1"/>
          <p:nvPr/>
        </p:nvSpPr>
        <p:spPr>
          <a:xfrm>
            <a:off x="6387285" y="25807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5" name="CaixaDeTexto 274">
            <a:extLst>
              <a:ext uri="{FF2B5EF4-FFF2-40B4-BE49-F238E27FC236}">
                <a16:creationId xmlns:a16="http://schemas.microsoft.com/office/drawing/2014/main" id="{8002B172-73CF-7067-A3E3-9344D5D8B625}"/>
              </a:ext>
            </a:extLst>
          </p:cNvPr>
          <p:cNvSpPr txBox="1"/>
          <p:nvPr/>
        </p:nvSpPr>
        <p:spPr>
          <a:xfrm>
            <a:off x="2550694" y="2621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6" name="CaixaDeTexto 275">
            <a:extLst>
              <a:ext uri="{FF2B5EF4-FFF2-40B4-BE49-F238E27FC236}">
                <a16:creationId xmlns:a16="http://schemas.microsoft.com/office/drawing/2014/main" id="{785FC724-3BB4-C62F-DDFF-B8A4C727506B}"/>
              </a:ext>
            </a:extLst>
          </p:cNvPr>
          <p:cNvSpPr txBox="1"/>
          <p:nvPr/>
        </p:nvSpPr>
        <p:spPr>
          <a:xfrm>
            <a:off x="6776804" y="45472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7" name="CaixaDeTexto 276">
            <a:extLst>
              <a:ext uri="{FF2B5EF4-FFF2-40B4-BE49-F238E27FC236}">
                <a16:creationId xmlns:a16="http://schemas.microsoft.com/office/drawing/2014/main" id="{00977164-7E5B-93DB-83D4-908E54785C63}"/>
              </a:ext>
            </a:extLst>
          </p:cNvPr>
          <p:cNvSpPr txBox="1"/>
          <p:nvPr/>
        </p:nvSpPr>
        <p:spPr>
          <a:xfrm>
            <a:off x="638928" y="56274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78" name="CaixaDeTexto 277">
            <a:extLst>
              <a:ext uri="{FF2B5EF4-FFF2-40B4-BE49-F238E27FC236}">
                <a16:creationId xmlns:a16="http://schemas.microsoft.com/office/drawing/2014/main" id="{1B1E75B9-C67B-35B8-A723-3FA8539B798F}"/>
              </a:ext>
            </a:extLst>
          </p:cNvPr>
          <p:cNvSpPr txBox="1"/>
          <p:nvPr/>
        </p:nvSpPr>
        <p:spPr>
          <a:xfrm>
            <a:off x="5172636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79" name="CaixaDeTexto 278">
            <a:extLst>
              <a:ext uri="{FF2B5EF4-FFF2-40B4-BE49-F238E27FC236}">
                <a16:creationId xmlns:a16="http://schemas.microsoft.com/office/drawing/2014/main" id="{53389DE9-ABD7-96DA-D904-71A6D49C4246}"/>
              </a:ext>
            </a:extLst>
          </p:cNvPr>
          <p:cNvSpPr txBox="1"/>
          <p:nvPr/>
        </p:nvSpPr>
        <p:spPr>
          <a:xfrm>
            <a:off x="1703924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0" name="CaixaDeTexto 279">
            <a:extLst>
              <a:ext uri="{FF2B5EF4-FFF2-40B4-BE49-F238E27FC236}">
                <a16:creationId xmlns:a16="http://schemas.microsoft.com/office/drawing/2014/main" id="{E367E6C1-C5F0-458F-B095-3BC569E7C781}"/>
              </a:ext>
            </a:extLst>
          </p:cNvPr>
          <p:cNvSpPr txBox="1"/>
          <p:nvPr/>
        </p:nvSpPr>
        <p:spPr>
          <a:xfrm>
            <a:off x="6288932" y="34444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81" name="CaixaDeTexto 280">
            <a:extLst>
              <a:ext uri="{FF2B5EF4-FFF2-40B4-BE49-F238E27FC236}">
                <a16:creationId xmlns:a16="http://schemas.microsoft.com/office/drawing/2014/main" id="{A69E1362-09FD-AA15-DEB9-334268180782}"/>
              </a:ext>
            </a:extLst>
          </p:cNvPr>
          <p:cNvSpPr txBox="1"/>
          <p:nvPr/>
        </p:nvSpPr>
        <p:spPr>
          <a:xfrm>
            <a:off x="1567146" y="26025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98" name="CaixaDeTexto 297">
            <a:extLst>
              <a:ext uri="{FF2B5EF4-FFF2-40B4-BE49-F238E27FC236}">
                <a16:creationId xmlns:a16="http://schemas.microsoft.com/office/drawing/2014/main" id="{7A03544F-5F8E-B56B-E661-457FB9D5D6A9}"/>
              </a:ext>
            </a:extLst>
          </p:cNvPr>
          <p:cNvSpPr txBox="1"/>
          <p:nvPr/>
        </p:nvSpPr>
        <p:spPr>
          <a:xfrm>
            <a:off x="8283694" y="36443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2934D5-EDEF-121F-338B-B244DB6F18A0}"/>
              </a:ext>
            </a:extLst>
          </p:cNvPr>
          <p:cNvSpPr txBox="1"/>
          <p:nvPr/>
        </p:nvSpPr>
        <p:spPr>
          <a:xfrm>
            <a:off x="836856" y="6108184"/>
            <a:ext cx="79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1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3F2FD027-4C1D-B887-6E18-175D62B75BD2}"/>
              </a:ext>
            </a:extLst>
          </p:cNvPr>
          <p:cNvSpPr txBox="1"/>
          <p:nvPr/>
        </p:nvSpPr>
        <p:spPr>
          <a:xfrm>
            <a:off x="1650154" y="4499798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2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48BB7269-1929-CF6F-127A-3F70CBC96149}"/>
              </a:ext>
            </a:extLst>
          </p:cNvPr>
          <p:cNvSpPr txBox="1"/>
          <p:nvPr/>
        </p:nvSpPr>
        <p:spPr>
          <a:xfrm>
            <a:off x="2602492" y="4499798"/>
            <a:ext cx="79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3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9678084-96A7-14DF-EAFC-0B0F3F5F24C8}"/>
              </a:ext>
            </a:extLst>
          </p:cNvPr>
          <p:cNvSpPr txBox="1"/>
          <p:nvPr/>
        </p:nvSpPr>
        <p:spPr>
          <a:xfrm>
            <a:off x="4618076" y="4500605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4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E7225267-F1FE-77DE-7520-5FCB83CE5E5F}"/>
              </a:ext>
            </a:extLst>
          </p:cNvPr>
          <p:cNvSpPr txBox="1"/>
          <p:nvPr/>
        </p:nvSpPr>
        <p:spPr>
          <a:xfrm>
            <a:off x="6997473" y="6102844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5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F628254-C7AF-5C7D-2C7A-93FB6501D061}"/>
              </a:ext>
            </a:extLst>
          </p:cNvPr>
          <p:cNvSpPr txBox="1"/>
          <p:nvPr/>
        </p:nvSpPr>
        <p:spPr>
          <a:xfrm>
            <a:off x="7840552" y="4547220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6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CC8430A-D4FB-A242-6147-873641037D0E}"/>
              </a:ext>
            </a:extLst>
          </p:cNvPr>
          <p:cNvSpPr txBox="1"/>
          <p:nvPr/>
        </p:nvSpPr>
        <p:spPr>
          <a:xfrm>
            <a:off x="3407844" y="21112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B44D9CCE-6DE5-90CD-7F3F-83B72204C7A9}"/>
              </a:ext>
            </a:extLst>
          </p:cNvPr>
          <p:cNvSpPr txBox="1"/>
          <p:nvPr/>
        </p:nvSpPr>
        <p:spPr>
          <a:xfrm>
            <a:off x="5417815" y="37108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3CEADB53-3D46-42CA-2580-4039B1888D39}"/>
              </a:ext>
            </a:extLst>
          </p:cNvPr>
          <p:cNvSpPr txBox="1"/>
          <p:nvPr/>
        </p:nvSpPr>
        <p:spPr>
          <a:xfrm>
            <a:off x="6527099" y="28300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A51A1EA5-3F0B-6600-8D38-24634B3DE2BC}"/>
              </a:ext>
            </a:extLst>
          </p:cNvPr>
          <p:cNvSpPr txBox="1"/>
          <p:nvPr/>
        </p:nvSpPr>
        <p:spPr>
          <a:xfrm>
            <a:off x="7475786" y="27343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6925C08F-44F5-BF5E-5BBB-AFDD89998912}"/>
              </a:ext>
            </a:extLst>
          </p:cNvPr>
          <p:cNvSpPr txBox="1"/>
          <p:nvPr/>
        </p:nvSpPr>
        <p:spPr>
          <a:xfrm>
            <a:off x="5709542" y="20789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5A07D1EB-1F63-FD7C-EC44-0284FBF41AC0}"/>
              </a:ext>
            </a:extLst>
          </p:cNvPr>
          <p:cNvSpPr txBox="1"/>
          <p:nvPr/>
        </p:nvSpPr>
        <p:spPr>
          <a:xfrm>
            <a:off x="2317671" y="27900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FA9CF17C-FA50-9E4E-164C-A6D260DFD4D6}"/>
              </a:ext>
            </a:extLst>
          </p:cNvPr>
          <p:cNvSpPr txBox="1"/>
          <p:nvPr/>
        </p:nvSpPr>
        <p:spPr>
          <a:xfrm>
            <a:off x="1756697" y="28252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2A16953F-25CA-58BD-08B8-C49DE31FA0F9}"/>
              </a:ext>
            </a:extLst>
          </p:cNvPr>
          <p:cNvSpPr txBox="1"/>
          <p:nvPr/>
        </p:nvSpPr>
        <p:spPr>
          <a:xfrm>
            <a:off x="279818" y="56231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1E873423-CB06-9FA5-EB61-A4C6303F615B}"/>
              </a:ext>
            </a:extLst>
          </p:cNvPr>
          <p:cNvSpPr txBox="1"/>
          <p:nvPr/>
        </p:nvSpPr>
        <p:spPr>
          <a:xfrm>
            <a:off x="286384" y="45573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066DDA53-7457-6104-4C63-E67BEF239137}"/>
              </a:ext>
            </a:extLst>
          </p:cNvPr>
          <p:cNvSpPr txBox="1"/>
          <p:nvPr/>
        </p:nvSpPr>
        <p:spPr>
          <a:xfrm>
            <a:off x="982217" y="36622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11E283AE-E16A-ADAB-0615-66DF7A5DA5C4}"/>
              </a:ext>
            </a:extLst>
          </p:cNvPr>
          <p:cNvSpPr txBox="1"/>
          <p:nvPr/>
        </p:nvSpPr>
        <p:spPr>
          <a:xfrm>
            <a:off x="6411673" y="45463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A30EA443-0842-2ED6-9D47-7757A402AD9B}"/>
              </a:ext>
            </a:extLst>
          </p:cNvPr>
          <p:cNvSpPr txBox="1"/>
          <p:nvPr/>
        </p:nvSpPr>
        <p:spPr>
          <a:xfrm>
            <a:off x="6084708" y="3670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2046BDA-3E75-F881-FEA0-0DA06522A4C1}"/>
              </a:ext>
            </a:extLst>
          </p:cNvPr>
          <p:cNvSpPr txBox="1"/>
          <p:nvPr/>
        </p:nvSpPr>
        <p:spPr>
          <a:xfrm>
            <a:off x="7924552" y="3670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DAC7F17F-4E81-2230-13B9-D14609380288}"/>
              </a:ext>
            </a:extLst>
          </p:cNvPr>
          <p:cNvSpPr txBox="1"/>
          <p:nvPr/>
        </p:nvSpPr>
        <p:spPr>
          <a:xfrm>
            <a:off x="6432373" y="55740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53FE2AD-5505-5A3D-0CAC-DD66E826C379}"/>
              </a:ext>
            </a:extLst>
          </p:cNvPr>
          <p:cNvSpPr txBox="1"/>
          <p:nvPr/>
        </p:nvSpPr>
        <p:spPr>
          <a:xfrm>
            <a:off x="2642938" y="36025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2E297FB3-B2AC-93AA-A7A0-C56BFB78509A}"/>
              </a:ext>
            </a:extLst>
          </p:cNvPr>
          <p:cNvSpPr txBox="1"/>
          <p:nvPr/>
        </p:nvSpPr>
        <p:spPr>
          <a:xfrm>
            <a:off x="1456609" y="3688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1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3B939D9-019B-62CE-0E16-98BB80AF8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00" y="5663823"/>
            <a:ext cx="461344" cy="260371"/>
          </a:xfrm>
          <a:prstGeom prst="rect">
            <a:avLst/>
          </a:prstGeom>
        </p:spPr>
      </p:pic>
      <p:pic>
        <p:nvPicPr>
          <p:cNvPr id="77" name="Imagem 76">
            <a:extLst>
              <a:ext uri="{FF2B5EF4-FFF2-40B4-BE49-F238E27FC236}">
                <a16:creationId xmlns:a16="http://schemas.microsoft.com/office/drawing/2014/main" id="{F08AFFA7-90F1-EA3B-6EFB-477F76628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354" y="5645485"/>
            <a:ext cx="461344" cy="260371"/>
          </a:xfrm>
          <a:prstGeom prst="rect">
            <a:avLst/>
          </a:prstGeom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45BF74C1-C882-9F3D-AFD9-2322672C1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141" y="5087744"/>
            <a:ext cx="461344" cy="260371"/>
          </a:xfrm>
          <a:prstGeom prst="rect">
            <a:avLst/>
          </a:prstGeom>
        </p:spPr>
      </p:pic>
      <p:pic>
        <p:nvPicPr>
          <p:cNvPr id="81" name="Imagem 80">
            <a:extLst>
              <a:ext uri="{FF2B5EF4-FFF2-40B4-BE49-F238E27FC236}">
                <a16:creationId xmlns:a16="http://schemas.microsoft.com/office/drawing/2014/main" id="{4745B6DA-6FE0-46E1-AD34-6410F4CEA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354" y="5367047"/>
            <a:ext cx="461344" cy="260371"/>
          </a:xfrm>
          <a:prstGeom prst="rect">
            <a:avLst/>
          </a:prstGeom>
        </p:spPr>
      </p:pic>
      <p:pic>
        <p:nvPicPr>
          <p:cNvPr id="82" name="Imagem 81">
            <a:extLst>
              <a:ext uri="{FF2B5EF4-FFF2-40B4-BE49-F238E27FC236}">
                <a16:creationId xmlns:a16="http://schemas.microsoft.com/office/drawing/2014/main" id="{2B9969B4-F9D6-15C2-7095-7C36A3F8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050" y="5377480"/>
            <a:ext cx="461344" cy="260371"/>
          </a:xfrm>
          <a:prstGeom prst="rect">
            <a:avLst/>
          </a:prstGeom>
        </p:spPr>
      </p:pic>
      <p:pic>
        <p:nvPicPr>
          <p:cNvPr id="83" name="Imagem 82">
            <a:extLst>
              <a:ext uri="{FF2B5EF4-FFF2-40B4-BE49-F238E27FC236}">
                <a16:creationId xmlns:a16="http://schemas.microsoft.com/office/drawing/2014/main" id="{F521C83C-14E5-710D-4925-70B2BD3D4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643" y="5094471"/>
            <a:ext cx="461344" cy="26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56481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41528-72C2-A7AB-8959-B85621FE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6D67050-CDC6-B1A1-40D1-71DC0A359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827" y="2681337"/>
            <a:ext cx="6124345" cy="20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39094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5D8BDDA-603A-A150-7C3E-2144EC704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pt-BR" sz="2800" u="none" dirty="0"/>
              <a:t>Contribuição F1, F2 e F3 (Rota 3)</a:t>
            </a:r>
          </a:p>
          <a:p>
            <a:r>
              <a:rPr lang="pt-BR" sz="2800" u="none" dirty="0"/>
              <a:t>A </a:t>
            </a:r>
            <a:r>
              <a:rPr lang="pt-BR" sz="2800" u="none" dirty="0">
                <a:sym typeface="Wingdings" panose="05000000000000000000" pitchFamily="2" charset="2"/>
              </a:rPr>
              <a:t> B  E  G com contribuição 0,1111</a:t>
            </a:r>
            <a:endParaRPr lang="pt-BR" sz="2800" u="none" dirty="0"/>
          </a:p>
          <a:p>
            <a:endParaRPr lang="pt-BR" sz="2800" u="none" dirty="0"/>
          </a:p>
          <a:p>
            <a:r>
              <a:rPr lang="pt-BR" sz="2800" u="none" dirty="0"/>
              <a:t>Contribuição F4, F5 e F6 (Rota 4)</a:t>
            </a:r>
          </a:p>
          <a:p>
            <a:r>
              <a:rPr lang="pt-BR" sz="2800" u="none" dirty="0"/>
              <a:t>A </a:t>
            </a:r>
            <a:r>
              <a:rPr lang="pt-BR" sz="2800" u="none" dirty="0">
                <a:sym typeface="Wingdings" panose="05000000000000000000" pitchFamily="2" charset="2"/>
              </a:rPr>
              <a:t> C  D  G com contribuição 0,1000</a:t>
            </a:r>
            <a:endParaRPr lang="pt-BR" sz="2800" u="none" dirty="0"/>
          </a:p>
          <a:p>
            <a:endParaRPr lang="pt-BR" sz="2100" u="non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F03A15-E8E7-CE14-DEC2-655594CD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</p:spTree>
    <p:extLst>
      <p:ext uri="{BB962C8B-B14F-4D97-AF65-F5344CB8AC3E}">
        <p14:creationId xmlns:p14="http://schemas.microsoft.com/office/powerpoint/2010/main" val="45765804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AD4B55-9DE1-AD45-C2F8-25D8EED98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006E5C9-817E-7C63-BC1F-6FCDC7EFC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4" y="2008290"/>
            <a:ext cx="76157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918726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C70F74C-CAF4-D89E-BCE9-E983C8990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pt-BR" b="1" u="none" dirty="0"/>
              <a:t>Probabilidade em cada nó do grafo</a:t>
            </a:r>
            <a:endParaRPr lang="pt-BR" sz="2600" u="none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141528-72C2-A7AB-8959-B85621FE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DA7D6B9-7858-B066-03A9-E9245D2B7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139" y="2284751"/>
            <a:ext cx="5891721" cy="40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41906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41528-72C2-A7AB-8959-B85621FE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BAB3B6D-6FD3-0593-8B43-AB4008400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4" y="2008291"/>
            <a:ext cx="76157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81249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3B357-10D5-0900-B119-98BF78FA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7B4B0F6-36E8-D451-5BF3-05DB736CF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12" y="2170279"/>
            <a:ext cx="8184644" cy="30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9136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41528-72C2-A7AB-8959-B85621FE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BB522686-C158-21FD-91D6-E3321F68FE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8816162"/>
              </p:ext>
            </p:extLst>
          </p:nvPr>
        </p:nvGraphicFramePr>
        <p:xfrm>
          <a:off x="719137" y="1819619"/>
          <a:ext cx="7705725" cy="4067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1134017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4D336-7C92-46D3-81D7-05C82FF2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Roteamento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8F531EE-BC08-B75D-9B20-5A9673F9B3CD}"/>
              </a:ext>
            </a:extLst>
          </p:cNvPr>
          <p:cNvSpPr/>
          <p:nvPr/>
        </p:nvSpPr>
        <p:spPr>
          <a:xfrm>
            <a:off x="4381995" y="1582286"/>
            <a:ext cx="380010" cy="38001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2CE143E-6E0C-DB21-7B8A-2F72F9411D31}"/>
              </a:ext>
            </a:extLst>
          </p:cNvPr>
          <p:cNvSpPr/>
          <p:nvPr/>
        </p:nvSpPr>
        <p:spPr>
          <a:xfrm>
            <a:off x="2031011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6EB7C5E-3A61-6576-ECA8-DDB7674B1285}"/>
              </a:ext>
            </a:extLst>
          </p:cNvPr>
          <p:cNvSpPr/>
          <p:nvPr/>
        </p:nvSpPr>
        <p:spPr>
          <a:xfrm>
            <a:off x="7161495" y="226014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1B5E01D-7A22-C201-2282-27985A6509DC}"/>
              </a:ext>
            </a:extLst>
          </p:cNvPr>
          <p:cNvSpPr/>
          <p:nvPr/>
        </p:nvSpPr>
        <p:spPr>
          <a:xfrm>
            <a:off x="1178975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1F30D8D-A623-B5B4-E676-C61D06D021B4}"/>
              </a:ext>
            </a:extLst>
          </p:cNvPr>
          <p:cNvSpPr/>
          <p:nvPr/>
        </p:nvSpPr>
        <p:spPr>
          <a:xfrm>
            <a:off x="276951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74164C1-26A6-9A77-E239-4B4062390427}"/>
              </a:ext>
            </a:extLst>
          </p:cNvPr>
          <p:cNvSpPr/>
          <p:nvPr/>
        </p:nvSpPr>
        <p:spPr>
          <a:xfrm>
            <a:off x="8057100" y="3108459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E906D63-29CD-2DC1-DA7B-1E8EDB06EF76}"/>
              </a:ext>
            </a:extLst>
          </p:cNvPr>
          <p:cNvSpPr/>
          <p:nvPr/>
        </p:nvSpPr>
        <p:spPr>
          <a:xfrm>
            <a:off x="448923" y="4078311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4F22813D-2BD5-5396-1949-030D7C5F5270}"/>
              </a:ext>
            </a:extLst>
          </p:cNvPr>
          <p:cNvCxnSpPr>
            <a:cxnSpLocks/>
            <a:stCxn id="3" idx="3"/>
            <a:endCxn id="7" idx="7"/>
          </p:cNvCxnSpPr>
          <p:nvPr/>
        </p:nvCxnSpPr>
        <p:spPr>
          <a:xfrm flipH="1">
            <a:off x="2355370" y="1906645"/>
            <a:ext cx="2082276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448799B2-9C98-5852-AE81-53D6B38A099E}"/>
              </a:ext>
            </a:extLst>
          </p:cNvPr>
          <p:cNvCxnSpPr>
            <a:cxnSpLocks/>
            <a:stCxn id="3" idx="5"/>
            <a:endCxn id="8" idx="1"/>
          </p:cNvCxnSpPr>
          <p:nvPr/>
        </p:nvCxnSpPr>
        <p:spPr>
          <a:xfrm>
            <a:off x="4706354" y="1906645"/>
            <a:ext cx="2510792" cy="40914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020DC8C-E3B1-7F14-9A65-1688BD43E140}"/>
              </a:ext>
            </a:extLst>
          </p:cNvPr>
          <p:cNvCxnSpPr>
            <a:cxnSpLocks/>
            <a:stCxn id="7" idx="5"/>
            <a:endCxn id="10" idx="1"/>
          </p:cNvCxnSpPr>
          <p:nvPr/>
        </p:nvCxnSpPr>
        <p:spPr>
          <a:xfrm>
            <a:off x="2355370" y="2584501"/>
            <a:ext cx="469791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28E6102A-08D1-9830-BFCC-9FC3D85499C5}"/>
              </a:ext>
            </a:extLst>
          </p:cNvPr>
          <p:cNvCxnSpPr>
            <a:cxnSpLocks/>
            <a:stCxn id="9" idx="3"/>
            <a:endCxn id="13" idx="7"/>
          </p:cNvCxnSpPr>
          <p:nvPr/>
        </p:nvCxnSpPr>
        <p:spPr>
          <a:xfrm flipH="1">
            <a:off x="773282" y="3432818"/>
            <a:ext cx="461344" cy="70114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790F476E-F819-60D6-93FF-6B9D665C6D42}"/>
              </a:ext>
            </a:extLst>
          </p:cNvPr>
          <p:cNvCxnSpPr>
            <a:cxnSpLocks/>
            <a:stCxn id="9" idx="7"/>
            <a:endCxn id="7" idx="3"/>
          </p:cNvCxnSpPr>
          <p:nvPr/>
        </p:nvCxnSpPr>
        <p:spPr>
          <a:xfrm flipV="1">
            <a:off x="1503334" y="2584501"/>
            <a:ext cx="583328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79420353-7055-2546-FF0D-E65F1234955D}"/>
              </a:ext>
            </a:extLst>
          </p:cNvPr>
          <p:cNvCxnSpPr>
            <a:cxnSpLocks/>
            <a:stCxn id="8" idx="5"/>
            <a:endCxn id="12" idx="1"/>
          </p:cNvCxnSpPr>
          <p:nvPr/>
        </p:nvCxnSpPr>
        <p:spPr>
          <a:xfrm>
            <a:off x="7485854" y="2584501"/>
            <a:ext cx="626897" cy="57960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BE306C76-70AF-46CA-94DD-2FAD80EA8459}"/>
              </a:ext>
            </a:extLst>
          </p:cNvPr>
          <p:cNvCxnSpPr>
            <a:cxnSpLocks/>
            <a:stCxn id="10" idx="4"/>
            <a:endCxn id="96" idx="0"/>
          </p:cNvCxnSpPr>
          <p:nvPr/>
        </p:nvCxnSpPr>
        <p:spPr>
          <a:xfrm flipH="1">
            <a:off x="2953589" y="3488469"/>
            <a:ext cx="5926" cy="589842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F361D897-B4B0-F09E-FFFE-51EC60D44E6D}"/>
              </a:ext>
            </a:extLst>
          </p:cNvPr>
          <p:cNvSpPr/>
          <p:nvPr/>
        </p:nvSpPr>
        <p:spPr>
          <a:xfrm>
            <a:off x="450055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AB764677-3E27-1B0F-1873-38ABFEB7DFF5}"/>
              </a:ext>
            </a:extLst>
          </p:cNvPr>
          <p:cNvCxnSpPr>
            <a:cxnSpLocks/>
            <a:stCxn id="9" idx="5"/>
            <a:endCxn id="173" idx="1"/>
          </p:cNvCxnSpPr>
          <p:nvPr/>
        </p:nvCxnSpPr>
        <p:spPr>
          <a:xfrm>
            <a:off x="1503334" y="3432818"/>
            <a:ext cx="410236" cy="70887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3827C75E-4552-DCA4-A3B9-4E4F7C1D63F6}"/>
              </a:ext>
            </a:extLst>
          </p:cNvPr>
          <p:cNvCxnSpPr>
            <a:cxnSpLocks/>
            <a:stCxn id="62" idx="4"/>
            <a:endCxn id="66" idx="0"/>
          </p:cNvCxnSpPr>
          <p:nvPr/>
        </p:nvCxnSpPr>
        <p:spPr>
          <a:xfrm flipH="1">
            <a:off x="638928" y="5414662"/>
            <a:ext cx="11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>
            <a:extLst>
              <a:ext uri="{FF2B5EF4-FFF2-40B4-BE49-F238E27FC236}">
                <a16:creationId xmlns:a16="http://schemas.microsoft.com/office/drawing/2014/main" id="{0A75B533-A025-2EFD-8F4B-3F1DBAFAC1B4}"/>
              </a:ext>
            </a:extLst>
          </p:cNvPr>
          <p:cNvSpPr/>
          <p:nvPr/>
        </p:nvSpPr>
        <p:spPr>
          <a:xfrm>
            <a:off x="448923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F14DD0C1-C5D5-91FB-D102-8D1F66293C7E}"/>
              </a:ext>
            </a:extLst>
          </p:cNvPr>
          <p:cNvSpPr/>
          <p:nvPr/>
        </p:nvSpPr>
        <p:spPr>
          <a:xfrm>
            <a:off x="2763584" y="4078311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7779D72D-65C8-D757-751C-97652E3ACF74}"/>
              </a:ext>
            </a:extLst>
          </p:cNvPr>
          <p:cNvCxnSpPr>
            <a:cxnSpLocks/>
            <a:stCxn id="12" idx="4"/>
            <a:endCxn id="186" idx="0"/>
          </p:cNvCxnSpPr>
          <p:nvPr/>
        </p:nvCxnSpPr>
        <p:spPr>
          <a:xfrm flipH="1">
            <a:off x="8244532" y="3488469"/>
            <a:ext cx="2573" cy="59757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lipse 115">
            <a:extLst>
              <a:ext uri="{FF2B5EF4-FFF2-40B4-BE49-F238E27FC236}">
                <a16:creationId xmlns:a16="http://schemas.microsoft.com/office/drawing/2014/main" id="{32E4E34B-5965-AEEF-E793-B4B95EBA5F97}"/>
              </a:ext>
            </a:extLst>
          </p:cNvPr>
          <p:cNvSpPr/>
          <p:nvPr/>
        </p:nvSpPr>
        <p:spPr>
          <a:xfrm>
            <a:off x="5771745" y="3096416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8CEC41BD-1233-9D72-6852-F14D63585A16}"/>
              </a:ext>
            </a:extLst>
          </p:cNvPr>
          <p:cNvCxnSpPr>
            <a:cxnSpLocks/>
            <a:stCxn id="116" idx="7"/>
            <a:endCxn id="8" idx="3"/>
          </p:cNvCxnSpPr>
          <p:nvPr/>
        </p:nvCxnSpPr>
        <p:spPr>
          <a:xfrm flipV="1">
            <a:off x="6096104" y="2584501"/>
            <a:ext cx="1121042" cy="56756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E5342D0F-FC1A-BED9-A33D-50EC4FFC03B1}"/>
              </a:ext>
            </a:extLst>
          </p:cNvPr>
          <p:cNvCxnSpPr>
            <a:cxnSpLocks/>
            <a:stCxn id="116" idx="3"/>
            <a:endCxn id="180" idx="7"/>
          </p:cNvCxnSpPr>
          <p:nvPr/>
        </p:nvCxnSpPr>
        <p:spPr>
          <a:xfrm flipH="1">
            <a:off x="5150200" y="3420775"/>
            <a:ext cx="677196" cy="71787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EBDEDEF3-0F0A-86F8-D922-99E30F34D31A}"/>
              </a:ext>
            </a:extLst>
          </p:cNvPr>
          <p:cNvCxnSpPr>
            <a:cxnSpLocks/>
            <a:stCxn id="116" idx="5"/>
            <a:endCxn id="188" idx="1"/>
          </p:cNvCxnSpPr>
          <p:nvPr/>
        </p:nvCxnSpPr>
        <p:spPr>
          <a:xfrm>
            <a:off x="6096104" y="3420775"/>
            <a:ext cx="538741" cy="72626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to 153">
            <a:extLst>
              <a:ext uri="{FF2B5EF4-FFF2-40B4-BE49-F238E27FC236}">
                <a16:creationId xmlns:a16="http://schemas.microsoft.com/office/drawing/2014/main" id="{9716CA67-FC3E-32C9-AB9D-4FA021D2895B}"/>
              </a:ext>
            </a:extLst>
          </p:cNvPr>
          <p:cNvCxnSpPr>
            <a:cxnSpLocks/>
            <a:stCxn id="13" idx="4"/>
            <a:endCxn id="62" idx="0"/>
          </p:cNvCxnSpPr>
          <p:nvPr/>
        </p:nvCxnSpPr>
        <p:spPr>
          <a:xfrm>
            <a:off x="638928" y="4458321"/>
            <a:ext cx="1132" cy="576331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Elipse 172">
            <a:extLst>
              <a:ext uri="{FF2B5EF4-FFF2-40B4-BE49-F238E27FC236}">
                <a16:creationId xmlns:a16="http://schemas.microsoft.com/office/drawing/2014/main" id="{7DE274DA-1EB0-868A-D273-3EBADEDBD4AD}"/>
              </a:ext>
            </a:extLst>
          </p:cNvPr>
          <p:cNvSpPr/>
          <p:nvPr/>
        </p:nvSpPr>
        <p:spPr>
          <a:xfrm>
            <a:off x="1857919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0" name="Elipse 179">
            <a:extLst>
              <a:ext uri="{FF2B5EF4-FFF2-40B4-BE49-F238E27FC236}">
                <a16:creationId xmlns:a16="http://schemas.microsoft.com/office/drawing/2014/main" id="{51DD4EBC-F05F-64E7-3EF8-20C2734BA7BF}"/>
              </a:ext>
            </a:extLst>
          </p:cNvPr>
          <p:cNvSpPr/>
          <p:nvPr/>
        </p:nvSpPr>
        <p:spPr>
          <a:xfrm>
            <a:off x="4825841" y="4082999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6" name="Elipse 185">
            <a:extLst>
              <a:ext uri="{FF2B5EF4-FFF2-40B4-BE49-F238E27FC236}">
                <a16:creationId xmlns:a16="http://schemas.microsoft.com/office/drawing/2014/main" id="{7A5FB5D1-1FA2-5006-7255-B98647C657D0}"/>
              </a:ext>
            </a:extLst>
          </p:cNvPr>
          <p:cNvSpPr/>
          <p:nvPr/>
        </p:nvSpPr>
        <p:spPr>
          <a:xfrm>
            <a:off x="8054527" y="4086043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4DB6EDF0-28F3-E8CF-893A-E885D0522A25}"/>
              </a:ext>
            </a:extLst>
          </p:cNvPr>
          <p:cNvSpPr/>
          <p:nvPr/>
        </p:nvSpPr>
        <p:spPr>
          <a:xfrm>
            <a:off x="6579194" y="4091384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189" name="Elipse 188">
            <a:extLst>
              <a:ext uri="{FF2B5EF4-FFF2-40B4-BE49-F238E27FC236}">
                <a16:creationId xmlns:a16="http://schemas.microsoft.com/office/drawing/2014/main" id="{50E43A23-22FF-B9A2-0FC0-D30DD2B14972}"/>
              </a:ext>
            </a:extLst>
          </p:cNvPr>
          <p:cNvSpPr/>
          <p:nvPr/>
        </p:nvSpPr>
        <p:spPr>
          <a:xfrm>
            <a:off x="6579194" y="5034652"/>
            <a:ext cx="380010" cy="38001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190" name="Conector reto 189">
            <a:extLst>
              <a:ext uri="{FF2B5EF4-FFF2-40B4-BE49-F238E27FC236}">
                <a16:creationId xmlns:a16="http://schemas.microsoft.com/office/drawing/2014/main" id="{2CF60B21-7684-0798-BAE4-3D69CF5B60B9}"/>
              </a:ext>
            </a:extLst>
          </p:cNvPr>
          <p:cNvCxnSpPr>
            <a:cxnSpLocks/>
            <a:stCxn id="188" idx="4"/>
            <a:endCxn id="189" idx="0"/>
          </p:cNvCxnSpPr>
          <p:nvPr/>
        </p:nvCxnSpPr>
        <p:spPr>
          <a:xfrm>
            <a:off x="6769199" y="4471394"/>
            <a:ext cx="0" cy="56325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ctor reto 190">
            <a:extLst>
              <a:ext uri="{FF2B5EF4-FFF2-40B4-BE49-F238E27FC236}">
                <a16:creationId xmlns:a16="http://schemas.microsoft.com/office/drawing/2014/main" id="{71D34D0E-415B-218D-806E-F696A0129BD4}"/>
              </a:ext>
            </a:extLst>
          </p:cNvPr>
          <p:cNvCxnSpPr>
            <a:cxnSpLocks/>
            <a:stCxn id="189" idx="4"/>
            <a:endCxn id="192" idx="0"/>
          </p:cNvCxnSpPr>
          <p:nvPr/>
        </p:nvCxnSpPr>
        <p:spPr>
          <a:xfrm flipH="1">
            <a:off x="6763767" y="5414662"/>
            <a:ext cx="5432" cy="68818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Elipse 191">
            <a:extLst>
              <a:ext uri="{FF2B5EF4-FFF2-40B4-BE49-F238E27FC236}">
                <a16:creationId xmlns:a16="http://schemas.microsoft.com/office/drawing/2014/main" id="{B6EDFA02-163B-5BB7-E8A6-13480F0FB61B}"/>
              </a:ext>
            </a:extLst>
          </p:cNvPr>
          <p:cNvSpPr/>
          <p:nvPr/>
        </p:nvSpPr>
        <p:spPr>
          <a:xfrm>
            <a:off x="6573762" y="6102845"/>
            <a:ext cx="380010" cy="38001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265" name="CaixaDeTexto 264">
            <a:extLst>
              <a:ext uri="{FF2B5EF4-FFF2-40B4-BE49-F238E27FC236}">
                <a16:creationId xmlns:a16="http://schemas.microsoft.com/office/drawing/2014/main" id="{A8B7AD3F-0103-BD87-9C2F-93D620A2A451}"/>
              </a:ext>
            </a:extLst>
          </p:cNvPr>
          <p:cNvSpPr txBox="1"/>
          <p:nvPr/>
        </p:nvSpPr>
        <p:spPr>
          <a:xfrm>
            <a:off x="3143594" y="17418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8" name="CaixaDeTexto 267">
            <a:extLst>
              <a:ext uri="{FF2B5EF4-FFF2-40B4-BE49-F238E27FC236}">
                <a16:creationId xmlns:a16="http://schemas.microsoft.com/office/drawing/2014/main" id="{4E8E6834-42A9-345A-1CD8-2A7DA8BE7563}"/>
              </a:ext>
            </a:extLst>
          </p:cNvPr>
          <p:cNvSpPr txBox="1"/>
          <p:nvPr/>
        </p:nvSpPr>
        <p:spPr>
          <a:xfrm>
            <a:off x="2992751" y="36025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9" name="CaixaDeTexto 268">
            <a:extLst>
              <a:ext uri="{FF2B5EF4-FFF2-40B4-BE49-F238E27FC236}">
                <a16:creationId xmlns:a16="http://schemas.microsoft.com/office/drawing/2014/main" id="{E8E3E186-3519-586B-6700-55AF2C52B659}"/>
              </a:ext>
            </a:extLst>
          </p:cNvPr>
          <p:cNvSpPr txBox="1"/>
          <p:nvPr/>
        </p:nvSpPr>
        <p:spPr>
          <a:xfrm>
            <a:off x="6846630" y="55740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70" name="CaixaDeTexto 269">
            <a:extLst>
              <a:ext uri="{FF2B5EF4-FFF2-40B4-BE49-F238E27FC236}">
                <a16:creationId xmlns:a16="http://schemas.microsoft.com/office/drawing/2014/main" id="{98C832BB-DBD1-DA10-0925-2D3DC0B29736}"/>
              </a:ext>
            </a:extLst>
          </p:cNvPr>
          <p:cNvSpPr txBox="1"/>
          <p:nvPr/>
        </p:nvSpPr>
        <p:spPr>
          <a:xfrm>
            <a:off x="5867373" y="17722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1" name="CaixaDeTexto 270">
            <a:extLst>
              <a:ext uri="{FF2B5EF4-FFF2-40B4-BE49-F238E27FC236}">
                <a16:creationId xmlns:a16="http://schemas.microsoft.com/office/drawing/2014/main" id="{9902A51A-F827-7C29-C956-A4342C0B6E99}"/>
              </a:ext>
            </a:extLst>
          </p:cNvPr>
          <p:cNvSpPr txBox="1"/>
          <p:nvPr/>
        </p:nvSpPr>
        <p:spPr>
          <a:xfrm>
            <a:off x="746052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2" name="CaixaDeTexto 271">
            <a:extLst>
              <a:ext uri="{FF2B5EF4-FFF2-40B4-BE49-F238E27FC236}">
                <a16:creationId xmlns:a16="http://schemas.microsoft.com/office/drawing/2014/main" id="{F0C82196-870B-7B50-8AB5-DF0806D51ED0}"/>
              </a:ext>
            </a:extLst>
          </p:cNvPr>
          <p:cNvSpPr txBox="1"/>
          <p:nvPr/>
        </p:nvSpPr>
        <p:spPr>
          <a:xfrm>
            <a:off x="7756627" y="25866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6C03B99E-601E-8093-B332-3FD69A158819}"/>
              </a:ext>
            </a:extLst>
          </p:cNvPr>
          <p:cNvSpPr txBox="1"/>
          <p:nvPr/>
        </p:nvSpPr>
        <p:spPr>
          <a:xfrm>
            <a:off x="674884" y="45525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4" name="CaixaDeTexto 273">
            <a:extLst>
              <a:ext uri="{FF2B5EF4-FFF2-40B4-BE49-F238E27FC236}">
                <a16:creationId xmlns:a16="http://schemas.microsoft.com/office/drawing/2014/main" id="{3D46D4A9-2409-5555-9037-1E6B09BB03B1}"/>
              </a:ext>
            </a:extLst>
          </p:cNvPr>
          <p:cNvSpPr txBox="1"/>
          <p:nvPr/>
        </p:nvSpPr>
        <p:spPr>
          <a:xfrm>
            <a:off x="6387285" y="25807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5" name="CaixaDeTexto 274">
            <a:extLst>
              <a:ext uri="{FF2B5EF4-FFF2-40B4-BE49-F238E27FC236}">
                <a16:creationId xmlns:a16="http://schemas.microsoft.com/office/drawing/2014/main" id="{8002B172-73CF-7067-A3E3-9344D5D8B625}"/>
              </a:ext>
            </a:extLst>
          </p:cNvPr>
          <p:cNvSpPr txBox="1"/>
          <p:nvPr/>
        </p:nvSpPr>
        <p:spPr>
          <a:xfrm>
            <a:off x="2550694" y="2621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6" name="CaixaDeTexto 275">
            <a:extLst>
              <a:ext uri="{FF2B5EF4-FFF2-40B4-BE49-F238E27FC236}">
                <a16:creationId xmlns:a16="http://schemas.microsoft.com/office/drawing/2014/main" id="{785FC724-3BB4-C62F-DDFF-B8A4C727506B}"/>
              </a:ext>
            </a:extLst>
          </p:cNvPr>
          <p:cNvSpPr txBox="1"/>
          <p:nvPr/>
        </p:nvSpPr>
        <p:spPr>
          <a:xfrm>
            <a:off x="6776804" y="45472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77" name="CaixaDeTexto 276">
            <a:extLst>
              <a:ext uri="{FF2B5EF4-FFF2-40B4-BE49-F238E27FC236}">
                <a16:creationId xmlns:a16="http://schemas.microsoft.com/office/drawing/2014/main" id="{00977164-7E5B-93DB-83D4-908E54785C63}"/>
              </a:ext>
            </a:extLst>
          </p:cNvPr>
          <p:cNvSpPr txBox="1"/>
          <p:nvPr/>
        </p:nvSpPr>
        <p:spPr>
          <a:xfrm>
            <a:off x="638928" y="56274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78" name="CaixaDeTexto 277">
            <a:extLst>
              <a:ext uri="{FF2B5EF4-FFF2-40B4-BE49-F238E27FC236}">
                <a16:creationId xmlns:a16="http://schemas.microsoft.com/office/drawing/2014/main" id="{1B1E75B9-C67B-35B8-A723-3FA8539B798F}"/>
              </a:ext>
            </a:extLst>
          </p:cNvPr>
          <p:cNvSpPr txBox="1"/>
          <p:nvPr/>
        </p:nvSpPr>
        <p:spPr>
          <a:xfrm>
            <a:off x="5172636" y="3512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79" name="CaixaDeTexto 278">
            <a:extLst>
              <a:ext uri="{FF2B5EF4-FFF2-40B4-BE49-F238E27FC236}">
                <a16:creationId xmlns:a16="http://schemas.microsoft.com/office/drawing/2014/main" id="{53389DE9-ABD7-96DA-D904-71A6D49C4246}"/>
              </a:ext>
            </a:extLst>
          </p:cNvPr>
          <p:cNvSpPr txBox="1"/>
          <p:nvPr/>
        </p:nvSpPr>
        <p:spPr>
          <a:xfrm>
            <a:off x="1417664" y="36968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0" name="CaixaDeTexto 279">
            <a:extLst>
              <a:ext uri="{FF2B5EF4-FFF2-40B4-BE49-F238E27FC236}">
                <a16:creationId xmlns:a16="http://schemas.microsoft.com/office/drawing/2014/main" id="{E367E6C1-C5F0-458F-B095-3BC569E7C781}"/>
              </a:ext>
            </a:extLst>
          </p:cNvPr>
          <p:cNvSpPr txBox="1"/>
          <p:nvPr/>
        </p:nvSpPr>
        <p:spPr>
          <a:xfrm>
            <a:off x="6333159" y="35032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81" name="CaixaDeTexto 280">
            <a:extLst>
              <a:ext uri="{FF2B5EF4-FFF2-40B4-BE49-F238E27FC236}">
                <a16:creationId xmlns:a16="http://schemas.microsoft.com/office/drawing/2014/main" id="{A69E1362-09FD-AA15-DEB9-334268180782}"/>
              </a:ext>
            </a:extLst>
          </p:cNvPr>
          <p:cNvSpPr txBox="1"/>
          <p:nvPr/>
        </p:nvSpPr>
        <p:spPr>
          <a:xfrm>
            <a:off x="1567146" y="26025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98" name="CaixaDeTexto 297">
            <a:extLst>
              <a:ext uri="{FF2B5EF4-FFF2-40B4-BE49-F238E27FC236}">
                <a16:creationId xmlns:a16="http://schemas.microsoft.com/office/drawing/2014/main" id="{7A03544F-5F8E-B56B-E661-457FB9D5D6A9}"/>
              </a:ext>
            </a:extLst>
          </p:cNvPr>
          <p:cNvSpPr txBox="1"/>
          <p:nvPr/>
        </p:nvSpPr>
        <p:spPr>
          <a:xfrm>
            <a:off x="8283694" y="36443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2934D5-EDEF-121F-338B-B244DB6F18A0}"/>
              </a:ext>
            </a:extLst>
          </p:cNvPr>
          <p:cNvSpPr txBox="1"/>
          <p:nvPr/>
        </p:nvSpPr>
        <p:spPr>
          <a:xfrm>
            <a:off x="836856" y="6108184"/>
            <a:ext cx="79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1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3F2FD027-4C1D-B887-6E18-175D62B75BD2}"/>
              </a:ext>
            </a:extLst>
          </p:cNvPr>
          <p:cNvSpPr txBox="1"/>
          <p:nvPr/>
        </p:nvSpPr>
        <p:spPr>
          <a:xfrm>
            <a:off x="1650154" y="4499798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2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48BB7269-1929-CF6F-127A-3F70CBC96149}"/>
              </a:ext>
            </a:extLst>
          </p:cNvPr>
          <p:cNvSpPr txBox="1"/>
          <p:nvPr/>
        </p:nvSpPr>
        <p:spPr>
          <a:xfrm>
            <a:off x="2602492" y="4499798"/>
            <a:ext cx="79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3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9678084-96A7-14DF-EAFC-0B0F3F5F24C8}"/>
              </a:ext>
            </a:extLst>
          </p:cNvPr>
          <p:cNvSpPr txBox="1"/>
          <p:nvPr/>
        </p:nvSpPr>
        <p:spPr>
          <a:xfrm>
            <a:off x="4618076" y="4500605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4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E7225267-F1FE-77DE-7520-5FCB83CE5E5F}"/>
              </a:ext>
            </a:extLst>
          </p:cNvPr>
          <p:cNvSpPr txBox="1"/>
          <p:nvPr/>
        </p:nvSpPr>
        <p:spPr>
          <a:xfrm>
            <a:off x="6997473" y="6102844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5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F628254-C7AF-5C7D-2C7A-93FB6501D061}"/>
              </a:ext>
            </a:extLst>
          </p:cNvPr>
          <p:cNvSpPr txBox="1"/>
          <p:nvPr/>
        </p:nvSpPr>
        <p:spPr>
          <a:xfrm>
            <a:off x="7840552" y="4547220"/>
            <a:ext cx="79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 6</a:t>
            </a:r>
          </a:p>
          <a:p>
            <a:pPr algn="ctr"/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CC8430A-D4FB-A242-6147-873641037D0E}"/>
              </a:ext>
            </a:extLst>
          </p:cNvPr>
          <p:cNvSpPr txBox="1"/>
          <p:nvPr/>
        </p:nvSpPr>
        <p:spPr>
          <a:xfrm>
            <a:off x="3407844" y="2111219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2,5632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B44D9CCE-6DE5-90CD-7F3F-83B72204C7A9}"/>
              </a:ext>
            </a:extLst>
          </p:cNvPr>
          <p:cNvSpPr txBox="1"/>
          <p:nvPr/>
        </p:nvSpPr>
        <p:spPr>
          <a:xfrm>
            <a:off x="4467646" y="3519968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2,2115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3CEADB53-3D46-42CA-2580-4039B1888D39}"/>
              </a:ext>
            </a:extLst>
          </p:cNvPr>
          <p:cNvSpPr txBox="1"/>
          <p:nvPr/>
        </p:nvSpPr>
        <p:spPr>
          <a:xfrm>
            <a:off x="6432746" y="2889285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2,1710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A51A1EA5-3F0B-6600-8D38-24634B3DE2BC}"/>
              </a:ext>
            </a:extLst>
          </p:cNvPr>
          <p:cNvSpPr txBox="1"/>
          <p:nvPr/>
        </p:nvSpPr>
        <p:spPr>
          <a:xfrm>
            <a:off x="8023374" y="260252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0,4581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6925C08F-44F5-BF5E-5BBB-AFDD89998912}"/>
              </a:ext>
            </a:extLst>
          </p:cNvPr>
          <p:cNvSpPr txBox="1"/>
          <p:nvPr/>
        </p:nvSpPr>
        <p:spPr>
          <a:xfrm>
            <a:off x="5447307" y="2101821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2,2252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5A07D1EB-1F63-FD7C-EC44-0284FBF41AC0}"/>
              </a:ext>
            </a:extLst>
          </p:cNvPr>
          <p:cNvSpPr txBox="1"/>
          <p:nvPr/>
        </p:nvSpPr>
        <p:spPr>
          <a:xfrm>
            <a:off x="2753690" y="2623452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2,4674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FA9CF17C-FA50-9E4E-164C-A6D260DFD4D6}"/>
              </a:ext>
            </a:extLst>
          </p:cNvPr>
          <p:cNvSpPr txBox="1"/>
          <p:nvPr/>
        </p:nvSpPr>
        <p:spPr>
          <a:xfrm>
            <a:off x="866129" y="2611502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0,4445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2A16953F-25CA-58BD-08B8-C49DE31FA0F9}"/>
              </a:ext>
            </a:extLst>
          </p:cNvPr>
          <p:cNvSpPr txBox="1"/>
          <p:nvPr/>
        </p:nvSpPr>
        <p:spPr>
          <a:xfrm>
            <a:off x="872375" y="5645485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0,4581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1E873423-CB06-9FA5-EB61-A4C6303F615B}"/>
              </a:ext>
            </a:extLst>
          </p:cNvPr>
          <p:cNvSpPr txBox="1"/>
          <p:nvPr/>
        </p:nvSpPr>
        <p:spPr>
          <a:xfrm>
            <a:off x="913624" y="4546373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0,4581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066DDA53-7457-6104-4C63-E67BEF239137}"/>
              </a:ext>
            </a:extLst>
          </p:cNvPr>
          <p:cNvSpPr txBox="1"/>
          <p:nvPr/>
        </p:nvSpPr>
        <p:spPr>
          <a:xfrm>
            <a:off x="7990" y="351038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2,1710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A30EA443-0842-2ED6-9D47-7757A402AD9B}"/>
              </a:ext>
            </a:extLst>
          </p:cNvPr>
          <p:cNvSpPr txBox="1"/>
          <p:nvPr/>
        </p:nvSpPr>
        <p:spPr>
          <a:xfrm>
            <a:off x="5671270" y="377733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0,4445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2046BDA-3E75-F881-FEA0-0DA06522A4C1}"/>
              </a:ext>
            </a:extLst>
          </p:cNvPr>
          <p:cNvSpPr txBox="1"/>
          <p:nvPr/>
        </p:nvSpPr>
        <p:spPr>
          <a:xfrm>
            <a:off x="7437928" y="3645318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0,4581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DAC7F17F-4E81-2230-13B9-D14609380288}"/>
              </a:ext>
            </a:extLst>
          </p:cNvPr>
          <p:cNvSpPr txBox="1"/>
          <p:nvPr/>
        </p:nvSpPr>
        <p:spPr>
          <a:xfrm>
            <a:off x="5957747" y="5561213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2,4674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53FE2AD-5505-5A3D-0CAC-DD66E826C379}"/>
              </a:ext>
            </a:extLst>
          </p:cNvPr>
          <p:cNvSpPr txBox="1"/>
          <p:nvPr/>
        </p:nvSpPr>
        <p:spPr>
          <a:xfrm>
            <a:off x="3250063" y="3613653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2,4674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2E297FB3-B2AC-93AA-A7A0-C56BFB78509A}"/>
              </a:ext>
            </a:extLst>
          </p:cNvPr>
          <p:cNvSpPr txBox="1"/>
          <p:nvPr/>
        </p:nvSpPr>
        <p:spPr>
          <a:xfrm>
            <a:off x="1729345" y="361938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2,2115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3B939D9-019B-62CE-0E16-98BB80AF8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00" y="5663823"/>
            <a:ext cx="461344" cy="260371"/>
          </a:xfrm>
          <a:prstGeom prst="rect">
            <a:avLst/>
          </a:prstGeom>
        </p:spPr>
      </p:pic>
      <p:pic>
        <p:nvPicPr>
          <p:cNvPr id="77" name="Imagem 76">
            <a:extLst>
              <a:ext uri="{FF2B5EF4-FFF2-40B4-BE49-F238E27FC236}">
                <a16:creationId xmlns:a16="http://schemas.microsoft.com/office/drawing/2014/main" id="{F08AFFA7-90F1-EA3B-6EFB-477F76628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354" y="5645485"/>
            <a:ext cx="461344" cy="260371"/>
          </a:xfrm>
          <a:prstGeom prst="rect">
            <a:avLst/>
          </a:prstGeom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45BF74C1-C882-9F3D-AFD9-2322672C1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141" y="5087744"/>
            <a:ext cx="461344" cy="260371"/>
          </a:xfrm>
          <a:prstGeom prst="rect">
            <a:avLst/>
          </a:prstGeom>
        </p:spPr>
      </p:pic>
      <p:pic>
        <p:nvPicPr>
          <p:cNvPr id="81" name="Imagem 80">
            <a:extLst>
              <a:ext uri="{FF2B5EF4-FFF2-40B4-BE49-F238E27FC236}">
                <a16:creationId xmlns:a16="http://schemas.microsoft.com/office/drawing/2014/main" id="{4745B6DA-6FE0-46E1-AD34-6410F4CEA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354" y="5367047"/>
            <a:ext cx="461344" cy="260371"/>
          </a:xfrm>
          <a:prstGeom prst="rect">
            <a:avLst/>
          </a:prstGeom>
        </p:spPr>
      </p:pic>
      <p:pic>
        <p:nvPicPr>
          <p:cNvPr id="82" name="Imagem 81">
            <a:extLst>
              <a:ext uri="{FF2B5EF4-FFF2-40B4-BE49-F238E27FC236}">
                <a16:creationId xmlns:a16="http://schemas.microsoft.com/office/drawing/2014/main" id="{2B9969B4-F9D6-15C2-7095-7C36A3F8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050" y="5377480"/>
            <a:ext cx="461344" cy="260371"/>
          </a:xfrm>
          <a:prstGeom prst="rect">
            <a:avLst/>
          </a:prstGeom>
        </p:spPr>
      </p:pic>
      <p:pic>
        <p:nvPicPr>
          <p:cNvPr id="83" name="Imagem 82">
            <a:extLst>
              <a:ext uri="{FF2B5EF4-FFF2-40B4-BE49-F238E27FC236}">
                <a16:creationId xmlns:a16="http://schemas.microsoft.com/office/drawing/2014/main" id="{F521C83C-14E5-710D-4925-70B2BD3D4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643" y="5094471"/>
            <a:ext cx="461344" cy="260371"/>
          </a:xfrm>
          <a:prstGeom prst="rect">
            <a:avLst/>
          </a:prstGeom>
        </p:spPr>
      </p:pic>
      <p:sp>
        <p:nvSpPr>
          <p:cNvPr id="84" name="CaixaDeTexto 83">
            <a:extLst>
              <a:ext uri="{FF2B5EF4-FFF2-40B4-BE49-F238E27FC236}">
                <a16:creationId xmlns:a16="http://schemas.microsoft.com/office/drawing/2014/main" id="{D8117A8F-1D88-7DE1-6B2F-F5A93A8F122C}"/>
              </a:ext>
            </a:extLst>
          </p:cNvPr>
          <p:cNvSpPr txBox="1"/>
          <p:nvPr/>
        </p:nvSpPr>
        <p:spPr>
          <a:xfrm>
            <a:off x="5911398" y="456835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298B52"/>
                </a:solidFill>
              </a:rPr>
              <a:t>2,4674</a:t>
            </a:r>
          </a:p>
        </p:txBody>
      </p:sp>
    </p:spTree>
    <p:extLst>
      <p:ext uri="{BB962C8B-B14F-4D97-AF65-F5344CB8AC3E}">
        <p14:creationId xmlns:p14="http://schemas.microsoft.com/office/powerpoint/2010/main" val="260165629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24855-6DDB-4F9D-A8A0-921A7912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88C19F-F650-45C9-BD74-76A9FBE6E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pt-BR" sz="2000" u="none" dirty="0" err="1"/>
              <a:t>Dorigo</a:t>
            </a:r>
            <a:r>
              <a:rPr lang="pt-BR" sz="2000" u="none" dirty="0"/>
              <a:t>, M; Di Caro, G. &amp; </a:t>
            </a:r>
            <a:r>
              <a:rPr lang="pt-BR" sz="2000" u="none" dirty="0" err="1"/>
              <a:t>Gambardella</a:t>
            </a:r>
            <a:r>
              <a:rPr lang="pt-BR" sz="2000" u="none" dirty="0"/>
              <a:t>, L.M. </a:t>
            </a:r>
            <a:r>
              <a:rPr lang="pt-BR" sz="2000" u="none" dirty="0" err="1"/>
              <a:t>Ant</a:t>
            </a:r>
            <a:r>
              <a:rPr lang="pt-BR" sz="2000" u="none" dirty="0"/>
              <a:t> </a:t>
            </a:r>
            <a:r>
              <a:rPr lang="pt-BR" sz="2000" u="none" dirty="0" err="1"/>
              <a:t>Algorithms</a:t>
            </a:r>
            <a:r>
              <a:rPr lang="pt-BR" sz="2000" u="none" dirty="0"/>
              <a:t> for </a:t>
            </a:r>
            <a:r>
              <a:rPr lang="pt-BR" sz="2000" u="none" dirty="0" err="1"/>
              <a:t>Discrete</a:t>
            </a:r>
            <a:r>
              <a:rPr lang="pt-BR" sz="2000" u="none" dirty="0"/>
              <a:t> </a:t>
            </a:r>
            <a:r>
              <a:rPr lang="pt-BR" sz="2000" u="none" dirty="0" err="1"/>
              <a:t>Optimization</a:t>
            </a:r>
            <a:r>
              <a:rPr lang="pt-BR" sz="2000" u="none" dirty="0"/>
              <a:t>, </a:t>
            </a:r>
            <a:r>
              <a:rPr lang="pt-BR" sz="2000" u="none" dirty="0" err="1"/>
              <a:t>Articial</a:t>
            </a:r>
            <a:r>
              <a:rPr lang="pt-BR" sz="2000" u="none" dirty="0"/>
              <a:t> Life, Vol. 5, N◦. 3, p. 137-172, abril 1999, </a:t>
            </a:r>
            <a:r>
              <a:rPr lang="pt-BR" sz="2000" u="none" dirty="0" err="1"/>
              <a:t>doi</a:t>
            </a:r>
            <a:r>
              <a:rPr lang="pt-BR" sz="2000" u="none" dirty="0"/>
              <a:t>: </a:t>
            </a:r>
            <a:r>
              <a:rPr lang="pt-BR" sz="2000" u="none" dirty="0">
                <a:hlinkClick r:id="rId2"/>
              </a:rPr>
              <a:t>https://doi.org/10.1162/106454699568728</a:t>
            </a:r>
            <a:endParaRPr lang="pt-BR" sz="2000" u="none" dirty="0"/>
          </a:p>
          <a:p>
            <a:pPr algn="just"/>
            <a:endParaRPr lang="pt-BR" sz="2000" u="none" dirty="0"/>
          </a:p>
          <a:p>
            <a:pPr algn="just"/>
            <a:r>
              <a:rPr lang="en-US" sz="2000" u="none" dirty="0"/>
              <a:t>Dorigo M.; Gambardella, L. M. Ant colony system: a cooperative learning approach to the traveling salesman problem in IEEE Transactions on Evolutionary Computation, vol. 1, no. 1, pp. 53-66, </a:t>
            </a:r>
            <a:r>
              <a:rPr lang="en-US" sz="2000" u="none" dirty="0" err="1"/>
              <a:t>abril</a:t>
            </a:r>
            <a:r>
              <a:rPr lang="en-US" sz="2000" u="none" dirty="0"/>
              <a:t> 1997, </a:t>
            </a:r>
            <a:r>
              <a:rPr lang="en-US" sz="2000" u="none" dirty="0" err="1"/>
              <a:t>doi</a:t>
            </a:r>
            <a:r>
              <a:rPr lang="en-US" sz="2000" u="none" dirty="0"/>
              <a:t>: </a:t>
            </a:r>
            <a:r>
              <a:rPr lang="en-US" sz="2000" u="none" dirty="0">
                <a:hlinkClick r:id="rId3"/>
              </a:rPr>
              <a:t>https://doi.org/10.1109/4235.585892</a:t>
            </a:r>
            <a:endParaRPr lang="en-US" sz="2000" u="none" dirty="0"/>
          </a:p>
          <a:p>
            <a:pPr algn="just"/>
            <a:endParaRPr lang="en-US" sz="2000" u="none" dirty="0"/>
          </a:p>
          <a:p>
            <a:pPr algn="just"/>
            <a:r>
              <a:rPr lang="pt-BR" sz="2000" u="none" dirty="0" err="1"/>
              <a:t>Goliatt</a:t>
            </a:r>
            <a:r>
              <a:rPr lang="pt-BR" sz="2000" u="none" dirty="0"/>
              <a:t>, P. V. Z. C.; Angelo, J. S. e Barbosa, H. J. C. Colônia de Formigas. In: Gaspar-Cunha, A.; Takahashi, R.; Antunes, C. H. Manual de Computação Evolutiva e Meta Heurística. Belo Horizonte: Editora UFMG, 2013.</a:t>
            </a:r>
          </a:p>
          <a:p>
            <a:pPr algn="just"/>
            <a:endParaRPr lang="en-US" sz="2000" u="none" dirty="0"/>
          </a:p>
          <a:p>
            <a:pPr algn="just"/>
            <a:r>
              <a:rPr lang="pt-BR" sz="2000" u="none" dirty="0"/>
              <a:t>Marsh,  l.; </a:t>
            </a:r>
            <a:r>
              <a:rPr lang="pt-BR" sz="2000" u="none" dirty="0" err="1"/>
              <a:t>Onof</a:t>
            </a:r>
            <a:r>
              <a:rPr lang="pt-BR" sz="2000" u="none" dirty="0"/>
              <a:t>, C. </a:t>
            </a:r>
            <a:r>
              <a:rPr lang="pt-BR" sz="2000" u="none" dirty="0" err="1"/>
              <a:t>Stigmergic</a:t>
            </a:r>
            <a:r>
              <a:rPr lang="pt-BR" sz="2000" u="none" dirty="0"/>
              <a:t> </a:t>
            </a:r>
            <a:r>
              <a:rPr lang="pt-BR" sz="2000" u="none" dirty="0" err="1"/>
              <a:t>epistemology</a:t>
            </a:r>
            <a:r>
              <a:rPr lang="pt-BR" sz="2000" u="none" dirty="0"/>
              <a:t>, </a:t>
            </a:r>
            <a:r>
              <a:rPr lang="pt-BR" sz="2000" u="none" dirty="0" err="1"/>
              <a:t>stigmergic</a:t>
            </a:r>
            <a:r>
              <a:rPr lang="pt-BR" sz="2000" u="none" dirty="0"/>
              <a:t> </a:t>
            </a:r>
            <a:r>
              <a:rPr lang="pt-BR" sz="2000" u="none" dirty="0" err="1"/>
              <a:t>cognition</a:t>
            </a:r>
            <a:r>
              <a:rPr lang="pt-BR" sz="2000" u="none" dirty="0"/>
              <a:t>. </a:t>
            </a:r>
            <a:r>
              <a:rPr lang="pt-BR" sz="2000" u="none" dirty="0" err="1"/>
              <a:t>Cognitive</a:t>
            </a:r>
            <a:r>
              <a:rPr lang="pt-BR" sz="2000" u="none" dirty="0"/>
              <a:t> Systems </a:t>
            </a:r>
            <a:r>
              <a:rPr lang="pt-BR" sz="2000" u="none" dirty="0" err="1"/>
              <a:t>Research</a:t>
            </a:r>
            <a:r>
              <a:rPr lang="pt-BR" sz="2000" u="none" dirty="0"/>
              <a:t>, Volume 9, </a:t>
            </a:r>
            <a:r>
              <a:rPr lang="pt-BR" sz="2000" u="none" dirty="0" err="1"/>
              <a:t>Issues</a:t>
            </a:r>
            <a:r>
              <a:rPr lang="pt-BR" sz="2000" u="none" dirty="0"/>
              <a:t> 1–2, 2008, pp 136-149. </a:t>
            </a:r>
            <a:r>
              <a:rPr lang="pt-BR" sz="2000" u="none" dirty="0">
                <a:hlinkClick r:id="rId4"/>
              </a:rPr>
              <a:t>https://doi.org/10.1016/j.cogsys.2007.06.009</a:t>
            </a:r>
            <a:r>
              <a:rPr lang="pt-BR" sz="2000" u="non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3143713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24855-6DDB-4F9D-A8A0-921A7912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88C19F-F650-45C9-BD74-76A9FBE6E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u="none" dirty="0"/>
              <a:t>Maughan-</a:t>
            </a:r>
            <a:r>
              <a:rPr lang="en-US" sz="2000" u="none" dirty="0" err="1"/>
              <a:t>Carr</a:t>
            </a:r>
            <a:r>
              <a:rPr lang="en-US" sz="2000" u="none" dirty="0"/>
              <a:t>, Edward. The Price of Planet Earth II: Can Planet Earth II be used as an Ecological Model for Future Natural History Productions? 2018. </a:t>
            </a:r>
            <a:r>
              <a:rPr lang="en-US" sz="2000" u="none" dirty="0">
                <a:hlinkClick r:id="rId2"/>
              </a:rPr>
              <a:t>http://dx.doi.org/10.13140/RG.2.2.19853.36326</a:t>
            </a:r>
            <a:r>
              <a:rPr lang="en-US" sz="2000" u="none" dirty="0"/>
              <a:t>  </a:t>
            </a:r>
          </a:p>
          <a:p>
            <a:pPr algn="just"/>
            <a:endParaRPr lang="en-US" sz="2000" u="none" dirty="0"/>
          </a:p>
          <a:p>
            <a:pPr algn="just"/>
            <a:r>
              <a:rPr lang="en-US" sz="2000" u="none" dirty="0"/>
              <a:t>Silva, Erick </a:t>
            </a:r>
            <a:r>
              <a:rPr lang="en-US" sz="2000" u="none" dirty="0" err="1"/>
              <a:t>Baleeiro</a:t>
            </a:r>
            <a:r>
              <a:rPr lang="en-US" sz="2000" u="none" dirty="0"/>
              <a:t> da. </a:t>
            </a:r>
            <a:r>
              <a:rPr lang="pt-BR" sz="2000" u="none" dirty="0"/>
              <a:t>Aplicação do algoritmo colônia de formigas na restauração de redes elétricas de distribuição. Dissertação de mestrado apresentada ao Programa de Pós-Graduação em Engenharia Elétrica da Universidade Federal da Bahia, Salvador, 2016.</a:t>
            </a:r>
          </a:p>
          <a:p>
            <a:pPr algn="just"/>
            <a:endParaRPr lang="pt-BR" sz="2000" u="none" dirty="0"/>
          </a:p>
        </p:txBody>
      </p:sp>
    </p:spTree>
    <p:extLst>
      <p:ext uri="{BB962C8B-B14F-4D97-AF65-F5344CB8AC3E}">
        <p14:creationId xmlns:p14="http://schemas.microsoft.com/office/powerpoint/2010/main" val="21402098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EB8D299CD1DAE4D9305D8EAE7F0A000" ma:contentTypeVersion="3" ma:contentTypeDescription="Crie um novo documento." ma:contentTypeScope="" ma:versionID="0d447589f79d1efb351422d2b65b39e9">
  <xsd:schema xmlns:xsd="http://www.w3.org/2001/XMLSchema" xmlns:xs="http://www.w3.org/2001/XMLSchema" xmlns:p="http://schemas.microsoft.com/office/2006/metadata/properties" xmlns:ns2="4c79e324-12e2-4fd5-8ce7-78a0fe476cfa" targetNamespace="http://schemas.microsoft.com/office/2006/metadata/properties" ma:root="true" ma:fieldsID="add556f28c95cf5ad6719a1c46c4ad42" ns2:_="">
    <xsd:import namespace="4c79e324-12e2-4fd5-8ce7-78a0fe476c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79e324-12e2-4fd5-8ce7-78a0fe476c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183C90C-A39F-4446-BD74-034857861523}"/>
</file>

<file path=customXml/itemProps2.xml><?xml version="1.0" encoding="utf-8"?>
<ds:datastoreItem xmlns:ds="http://schemas.openxmlformats.org/officeDocument/2006/customXml" ds:itemID="{8B7149F5-6A7C-4D84-BE13-8E79B15D03B6}"/>
</file>

<file path=customXml/itemProps3.xml><?xml version="1.0" encoding="utf-8"?>
<ds:datastoreItem xmlns:ds="http://schemas.openxmlformats.org/officeDocument/2006/customXml" ds:itemID="{65892311-B4D8-4D13-B11F-776AA74DB635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18236</TotalTime>
  <Words>5483</Words>
  <Application>Microsoft Office PowerPoint</Application>
  <PresentationFormat>Apresentação na tela (4:3)</PresentationFormat>
  <Paragraphs>1684</Paragraphs>
  <Slides>166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166</vt:i4>
      </vt:variant>
    </vt:vector>
  </HeadingPairs>
  <TitlesOfParts>
    <vt:vector size="173" baseType="lpstr">
      <vt:lpstr>Arial</vt:lpstr>
      <vt:lpstr>Calibri</vt:lpstr>
      <vt:lpstr>Calibri Light</vt:lpstr>
      <vt:lpstr>Cambria Math</vt:lpstr>
      <vt:lpstr>Rockwell Extra Bold</vt:lpstr>
      <vt:lpstr>Wingdings</vt:lpstr>
      <vt:lpstr>Tema do Office</vt:lpstr>
      <vt:lpstr>Apresentação do PowerPoint</vt:lpstr>
      <vt:lpstr>Introdução</vt:lpstr>
      <vt:lpstr>Introdução</vt:lpstr>
      <vt:lpstr>Introdução</vt:lpstr>
      <vt:lpstr>Introdução</vt:lpstr>
      <vt:lpstr>Introdução</vt:lpstr>
      <vt:lpstr>Introdução</vt:lpstr>
      <vt:lpstr>Características de Sistemas Baseados em insetos sociais</vt:lpstr>
      <vt:lpstr>Características de Sistemas Baseados em insetos sociais</vt:lpstr>
      <vt:lpstr>Construindo Formigas Artificiais</vt:lpstr>
      <vt:lpstr>Construindo Formigas Artificiais</vt:lpstr>
      <vt:lpstr>Etapas de um ACO</vt:lpstr>
      <vt:lpstr>Problema do Caixeiro Viajante (TSP)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Etapas de um ACO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Apresentação do PowerPoint</vt:lpstr>
      <vt:lpstr>Apresentação do PowerPoint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TSP</vt:lpstr>
      <vt:lpstr>Apresentação do PowerPoint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Roteamento</vt:lpstr>
      <vt:lpstr>Bibliografia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Abrun</dc:creator>
  <cp:lastModifiedBy>matheus raffael simon</cp:lastModifiedBy>
  <cp:revision>1008</cp:revision>
  <dcterms:created xsi:type="dcterms:W3CDTF">2018-02-28T17:45:29Z</dcterms:created>
  <dcterms:modified xsi:type="dcterms:W3CDTF">2026-09-15T12:14:08Z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0x010100EEB8D299CD1DAE4D9305D8EAE7F0A000</vt:lpwstr>
  </property>
</Properties>
</file>