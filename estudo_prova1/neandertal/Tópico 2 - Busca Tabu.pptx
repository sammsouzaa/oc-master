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08"/>
  </p:notesMasterIdLst>
  <p:sldIdLst>
    <p:sldId id="256" r:id="rId2"/>
    <p:sldId id="284" r:id="rId3"/>
    <p:sldId id="291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2" r:id="rId13"/>
    <p:sldId id="303" r:id="rId14"/>
    <p:sldId id="301" r:id="rId15"/>
    <p:sldId id="304" r:id="rId16"/>
    <p:sldId id="305" r:id="rId17"/>
    <p:sldId id="306" r:id="rId18"/>
    <p:sldId id="307" r:id="rId19"/>
    <p:sldId id="308" r:id="rId20"/>
    <p:sldId id="357" r:id="rId21"/>
    <p:sldId id="356" r:id="rId22"/>
    <p:sldId id="355" r:id="rId23"/>
    <p:sldId id="358" r:id="rId24"/>
    <p:sldId id="359" r:id="rId25"/>
    <p:sldId id="360" r:id="rId26"/>
    <p:sldId id="361" r:id="rId27"/>
    <p:sldId id="362" r:id="rId28"/>
    <p:sldId id="364" r:id="rId29"/>
    <p:sldId id="363" r:id="rId30"/>
    <p:sldId id="365" r:id="rId31"/>
    <p:sldId id="366" r:id="rId32"/>
    <p:sldId id="367" r:id="rId33"/>
    <p:sldId id="368" r:id="rId34"/>
    <p:sldId id="369" r:id="rId35"/>
    <p:sldId id="370" r:id="rId36"/>
    <p:sldId id="371" r:id="rId37"/>
    <p:sldId id="372" r:id="rId38"/>
    <p:sldId id="373" r:id="rId39"/>
    <p:sldId id="374" r:id="rId40"/>
    <p:sldId id="375" r:id="rId41"/>
    <p:sldId id="376" r:id="rId42"/>
    <p:sldId id="377" r:id="rId43"/>
    <p:sldId id="378" r:id="rId44"/>
    <p:sldId id="379" r:id="rId45"/>
    <p:sldId id="380" r:id="rId46"/>
    <p:sldId id="381" r:id="rId47"/>
    <p:sldId id="382" r:id="rId48"/>
    <p:sldId id="383" r:id="rId49"/>
    <p:sldId id="384" r:id="rId50"/>
    <p:sldId id="449" r:id="rId51"/>
    <p:sldId id="287" r:id="rId52"/>
    <p:sldId id="286" r:id="rId53"/>
    <p:sldId id="288" r:id="rId54"/>
    <p:sldId id="289" r:id="rId55"/>
    <p:sldId id="290" r:id="rId56"/>
    <p:sldId id="310" r:id="rId57"/>
    <p:sldId id="312" r:id="rId58"/>
    <p:sldId id="309" r:id="rId59"/>
    <p:sldId id="315" r:id="rId60"/>
    <p:sldId id="314" r:id="rId61"/>
    <p:sldId id="313" r:id="rId62"/>
    <p:sldId id="316" r:id="rId63"/>
    <p:sldId id="317" r:id="rId64"/>
    <p:sldId id="318" r:id="rId65"/>
    <p:sldId id="319" r:id="rId66"/>
    <p:sldId id="320" r:id="rId67"/>
    <p:sldId id="321" r:id="rId68"/>
    <p:sldId id="450" r:id="rId69"/>
    <p:sldId id="451" r:id="rId70"/>
    <p:sldId id="322" r:id="rId71"/>
    <p:sldId id="323" r:id="rId72"/>
    <p:sldId id="325" r:id="rId73"/>
    <p:sldId id="326" r:id="rId74"/>
    <p:sldId id="285" r:id="rId75"/>
    <p:sldId id="327" r:id="rId76"/>
    <p:sldId id="328" r:id="rId77"/>
    <p:sldId id="329" r:id="rId78"/>
    <p:sldId id="330" r:id="rId79"/>
    <p:sldId id="331" r:id="rId80"/>
    <p:sldId id="292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11" r:id="rId103"/>
    <p:sldId id="353" r:id="rId104"/>
    <p:sldId id="354" r:id="rId105"/>
    <p:sldId id="448" r:id="rId106"/>
    <p:sldId id="282" r:id="rId10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8B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214A5A-B3F8-4447-BBFE-24A817C7510B}" v="20" dt="2026-08-25T01:07:38.1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77386" autoAdjust="0"/>
  </p:normalViewPr>
  <p:slideViewPr>
    <p:cSldViewPr snapToGrid="0" showGuides="1">
      <p:cViewPr varScale="1">
        <p:scale>
          <a:sx n="60" d="100"/>
          <a:sy n="60" d="100"/>
        </p:scale>
        <p:origin x="2054" y="53"/>
      </p:cViewPr>
      <p:guideLst>
        <p:guide orient="horz" pos="218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customXml" Target="../customXml/item3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microsoft.com/office/2016/11/relationships/changesInfo" Target="changesInfos/changesInfo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115" Type="http://schemas.openxmlformats.org/officeDocument/2006/relationships/customXml" Target="../customXml/item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2A30EAE0-20CD-46EA-A10B-ED45FE71C15D}"/>
    <pc:docChg chg="undo custSel addSld modSld">
      <pc:chgData name="matheus raffael simon" userId="b81fe4e685964744" providerId="LiveId" clId="{2A30EAE0-20CD-46EA-A10B-ED45FE71C15D}" dt="2026-08-25T01:07:38.191" v="568"/>
      <pc:docMkLst>
        <pc:docMk/>
      </pc:docMkLst>
      <pc:sldChg chg="addSp delSp modSp mod modNotesTx">
        <pc:chgData name="matheus raffael simon" userId="b81fe4e685964744" providerId="LiveId" clId="{2A30EAE0-20CD-46EA-A10B-ED45FE71C15D}" dt="2026-08-25T00:55:47.241" v="517" actId="1076"/>
        <pc:sldMkLst>
          <pc:docMk/>
          <pc:sldMk cId="3023170421" sldId="295"/>
        </pc:sldMkLst>
        <pc:spChg chg="add mod">
          <ac:chgData name="matheus raffael simon" userId="b81fe4e685964744" providerId="LiveId" clId="{2A30EAE0-20CD-46EA-A10B-ED45FE71C15D}" dt="2026-08-25T00:55:47.241" v="517" actId="1076"/>
          <ac:spMkLst>
            <pc:docMk/>
            <pc:sldMk cId="3023170421" sldId="295"/>
            <ac:spMk id="3" creationId="{E7F65E98-F04A-4782-71ED-94B6E8E774F7}"/>
          </ac:spMkLst>
        </pc:spChg>
      </pc:sldChg>
      <pc:sldChg chg="addSp modSp mod">
        <pc:chgData name="matheus raffael simon" userId="b81fe4e685964744" providerId="LiveId" clId="{2A30EAE0-20CD-46EA-A10B-ED45FE71C15D}" dt="2026-08-25T00:56:43.324" v="526" actId="14100"/>
        <pc:sldMkLst>
          <pc:docMk/>
          <pc:sldMk cId="2241790002" sldId="296"/>
        </pc:sldMkLst>
        <pc:spChg chg="add mod">
          <ac:chgData name="matheus raffael simon" userId="b81fe4e685964744" providerId="LiveId" clId="{2A30EAE0-20CD-46EA-A10B-ED45FE71C15D}" dt="2026-08-25T00:56:43.324" v="526" actId="14100"/>
          <ac:spMkLst>
            <pc:docMk/>
            <pc:sldMk cId="2241790002" sldId="296"/>
            <ac:spMk id="3" creationId="{3554B137-E4EF-54B1-C709-5BB194916427}"/>
          </ac:spMkLst>
        </pc:spChg>
        <pc:spChg chg="mod">
          <ac:chgData name="matheus raffael simon" userId="b81fe4e685964744" providerId="LiveId" clId="{2A30EAE0-20CD-46EA-A10B-ED45FE71C15D}" dt="2026-08-25T00:56:32.554" v="524" actId="1076"/>
          <ac:spMkLst>
            <pc:docMk/>
            <pc:sldMk cId="2241790002" sldId="296"/>
            <ac:spMk id="9" creationId="{C1C0F9BB-CE60-44BC-BD66-5B1E84D9EAD9}"/>
          </ac:spMkLst>
        </pc:spChg>
        <pc:picChg chg="mod">
          <ac:chgData name="matheus raffael simon" userId="b81fe4e685964744" providerId="LiveId" clId="{2A30EAE0-20CD-46EA-A10B-ED45FE71C15D}" dt="2026-08-25T00:56:39.639" v="525" actId="1076"/>
          <ac:picMkLst>
            <pc:docMk/>
            <pc:sldMk cId="2241790002" sldId="296"/>
            <ac:picMk id="5" creationId="{68756543-4BCF-4253-81FD-962D1ABB8150}"/>
          </ac:picMkLst>
        </pc:picChg>
        <pc:picChg chg="mod">
          <ac:chgData name="matheus raffael simon" userId="b81fe4e685964744" providerId="LiveId" clId="{2A30EAE0-20CD-46EA-A10B-ED45FE71C15D}" dt="2026-08-25T00:56:29.618" v="523" actId="1076"/>
          <ac:picMkLst>
            <pc:docMk/>
            <pc:sldMk cId="2241790002" sldId="296"/>
            <ac:picMk id="8" creationId="{5FB720BD-CC18-472F-B136-BA7C05BFA55E}"/>
          </ac:picMkLst>
        </pc:picChg>
      </pc:sldChg>
      <pc:sldChg chg="addSp modSp mod">
        <pc:chgData name="matheus raffael simon" userId="b81fe4e685964744" providerId="LiveId" clId="{2A30EAE0-20CD-46EA-A10B-ED45FE71C15D}" dt="2026-08-25T00:57:44.755" v="532" actId="1076"/>
        <pc:sldMkLst>
          <pc:docMk/>
          <pc:sldMk cId="2756769322" sldId="297"/>
        </pc:sldMkLst>
        <pc:spChg chg="add mod">
          <ac:chgData name="matheus raffael simon" userId="b81fe4e685964744" providerId="LiveId" clId="{2A30EAE0-20CD-46EA-A10B-ED45FE71C15D}" dt="2026-08-25T00:57:38.612" v="530" actId="1076"/>
          <ac:spMkLst>
            <pc:docMk/>
            <pc:sldMk cId="2756769322" sldId="297"/>
            <ac:spMk id="3" creationId="{9A7E6A81-E1A9-993E-E438-243A2C59ACE7}"/>
          </ac:spMkLst>
        </pc:spChg>
        <pc:spChg chg="mod">
          <ac:chgData name="matheus raffael simon" userId="b81fe4e685964744" providerId="LiveId" clId="{2A30EAE0-20CD-46EA-A10B-ED45FE71C15D}" dt="2026-08-25T00:57:44.755" v="532" actId="1076"/>
          <ac:spMkLst>
            <pc:docMk/>
            <pc:sldMk cId="2756769322" sldId="297"/>
            <ac:spMk id="9" creationId="{F53036AA-3349-494B-8E77-871C07477D1F}"/>
          </ac:spMkLst>
        </pc:spChg>
        <pc:picChg chg="mod">
          <ac:chgData name="matheus raffael simon" userId="b81fe4e685964744" providerId="LiveId" clId="{2A30EAE0-20CD-46EA-A10B-ED45FE71C15D}" dt="2026-08-25T00:57:42.216" v="531" actId="1076"/>
          <ac:picMkLst>
            <pc:docMk/>
            <pc:sldMk cId="2756769322" sldId="297"/>
            <ac:picMk id="6" creationId="{E8F5288A-1052-4BFD-9C16-E0572A8A8F3C}"/>
          </ac:picMkLst>
        </pc:picChg>
      </pc:sldChg>
      <pc:sldChg chg="addSp modSp">
        <pc:chgData name="matheus raffael simon" userId="b81fe4e685964744" providerId="LiveId" clId="{2A30EAE0-20CD-46EA-A10B-ED45FE71C15D}" dt="2026-08-25T00:58:48.664" v="534"/>
        <pc:sldMkLst>
          <pc:docMk/>
          <pc:sldMk cId="530216100" sldId="298"/>
        </pc:sldMkLst>
        <pc:spChg chg="add mod">
          <ac:chgData name="matheus raffael simon" userId="b81fe4e685964744" providerId="LiveId" clId="{2A30EAE0-20CD-46EA-A10B-ED45FE71C15D}" dt="2026-08-25T00:58:48.664" v="534"/>
          <ac:spMkLst>
            <pc:docMk/>
            <pc:sldMk cId="530216100" sldId="298"/>
            <ac:spMk id="4" creationId="{2B1EA263-5446-E799-6293-D4AF247D4EAA}"/>
          </ac:spMkLst>
        </pc:spChg>
      </pc:sldChg>
      <pc:sldChg chg="addSp modSp">
        <pc:chgData name="matheus raffael simon" userId="b81fe4e685964744" providerId="LiveId" clId="{2A30EAE0-20CD-46EA-A10B-ED45FE71C15D}" dt="2026-08-25T01:00:39.642" v="536"/>
        <pc:sldMkLst>
          <pc:docMk/>
          <pc:sldMk cId="2995532175" sldId="300"/>
        </pc:sldMkLst>
        <pc:spChg chg="add mod">
          <ac:chgData name="matheus raffael simon" userId="b81fe4e685964744" providerId="LiveId" clId="{2A30EAE0-20CD-46EA-A10B-ED45FE71C15D}" dt="2026-08-25T01:00:39.642" v="536"/>
          <ac:spMkLst>
            <pc:docMk/>
            <pc:sldMk cId="2995532175" sldId="300"/>
            <ac:spMk id="3" creationId="{9121935E-C98C-7A25-8003-6591E7906502}"/>
          </ac:spMkLst>
        </pc:spChg>
      </pc:sldChg>
      <pc:sldChg chg="addSp modSp mod">
        <pc:chgData name="matheus raffael simon" userId="b81fe4e685964744" providerId="LiveId" clId="{2A30EAE0-20CD-46EA-A10B-ED45FE71C15D}" dt="2026-08-25T01:01:04.782" v="539" actId="1076"/>
        <pc:sldMkLst>
          <pc:docMk/>
          <pc:sldMk cId="3077562638" sldId="302"/>
        </pc:sldMkLst>
        <pc:spChg chg="add mod">
          <ac:chgData name="matheus raffael simon" userId="b81fe4e685964744" providerId="LiveId" clId="{2A30EAE0-20CD-46EA-A10B-ED45FE71C15D}" dt="2026-08-25T01:01:04.782" v="539" actId="1076"/>
          <ac:spMkLst>
            <pc:docMk/>
            <pc:sldMk cId="3077562638" sldId="302"/>
            <ac:spMk id="3" creationId="{258CD7B0-59A9-62B5-7444-87678A0B640E}"/>
          </ac:spMkLst>
        </pc:spChg>
      </pc:sldChg>
      <pc:sldChg chg="addSp modSp mod">
        <pc:chgData name="matheus raffael simon" userId="b81fe4e685964744" providerId="LiveId" clId="{2A30EAE0-20CD-46EA-A10B-ED45FE71C15D}" dt="2026-08-25T01:02:46.968" v="543" actId="14100"/>
        <pc:sldMkLst>
          <pc:docMk/>
          <pc:sldMk cId="371176896" sldId="304"/>
        </pc:sldMkLst>
        <pc:spChg chg="add mod">
          <ac:chgData name="matheus raffael simon" userId="b81fe4e685964744" providerId="LiveId" clId="{2A30EAE0-20CD-46EA-A10B-ED45FE71C15D}" dt="2026-08-25T01:02:46.968" v="543" actId="14100"/>
          <ac:spMkLst>
            <pc:docMk/>
            <pc:sldMk cId="371176896" sldId="304"/>
            <ac:spMk id="3" creationId="{FDD91632-84ED-6361-6E4D-ACA710CB68DA}"/>
          </ac:spMkLst>
        </pc:spChg>
      </pc:sldChg>
      <pc:sldChg chg="addSp modSp">
        <pc:chgData name="matheus raffael simon" userId="b81fe4e685964744" providerId="LiveId" clId="{2A30EAE0-20CD-46EA-A10B-ED45FE71C15D}" dt="2026-08-25T01:03:23.440" v="545"/>
        <pc:sldMkLst>
          <pc:docMk/>
          <pc:sldMk cId="2553500386" sldId="305"/>
        </pc:sldMkLst>
        <pc:spChg chg="add mod">
          <ac:chgData name="matheus raffael simon" userId="b81fe4e685964744" providerId="LiveId" clId="{2A30EAE0-20CD-46EA-A10B-ED45FE71C15D}" dt="2026-08-25T01:03:23.440" v="545"/>
          <ac:spMkLst>
            <pc:docMk/>
            <pc:sldMk cId="2553500386" sldId="305"/>
            <ac:spMk id="3" creationId="{0874F4B4-2D57-7214-73DD-80BC38E95CDD}"/>
          </ac:spMkLst>
        </pc:spChg>
      </pc:sldChg>
      <pc:sldChg chg="addSp modSp mod">
        <pc:chgData name="matheus raffael simon" userId="b81fe4e685964744" providerId="LiveId" clId="{2A30EAE0-20CD-46EA-A10B-ED45FE71C15D}" dt="2026-08-25T01:05:40.254" v="563" actId="14100"/>
        <pc:sldMkLst>
          <pc:docMk/>
          <pc:sldMk cId="2068217284" sldId="306"/>
        </pc:sldMkLst>
        <pc:spChg chg="add mod">
          <ac:chgData name="matheus raffael simon" userId="b81fe4e685964744" providerId="LiveId" clId="{2A30EAE0-20CD-46EA-A10B-ED45FE71C15D}" dt="2026-08-25T01:05:40.254" v="563" actId="14100"/>
          <ac:spMkLst>
            <pc:docMk/>
            <pc:sldMk cId="2068217284" sldId="306"/>
            <ac:spMk id="3" creationId="{4A5155A5-8867-DFAE-3FB8-F72F22968748}"/>
          </ac:spMkLst>
        </pc:spChg>
        <pc:spChg chg="mod">
          <ac:chgData name="matheus raffael simon" userId="b81fe4e685964744" providerId="LiveId" clId="{2A30EAE0-20CD-46EA-A10B-ED45FE71C15D}" dt="2026-08-25T01:05:16.493" v="560" actId="1076"/>
          <ac:spMkLst>
            <pc:docMk/>
            <pc:sldMk cId="2068217284" sldId="306"/>
            <ac:spMk id="6" creationId="{F6FE997F-1999-478A-827C-0687508D7CB5}"/>
          </ac:spMkLst>
        </pc:spChg>
        <pc:spChg chg="mod">
          <ac:chgData name="matheus raffael simon" userId="b81fe4e685964744" providerId="LiveId" clId="{2A30EAE0-20CD-46EA-A10B-ED45FE71C15D}" dt="2026-08-25T01:05:13.782" v="559" actId="1076"/>
          <ac:spMkLst>
            <pc:docMk/>
            <pc:sldMk cId="2068217284" sldId="306"/>
            <ac:spMk id="7" creationId="{80523BEF-E0CE-4409-B2BD-7A1E2DA62CE4}"/>
          </ac:spMkLst>
        </pc:spChg>
        <pc:picChg chg="mod">
          <ac:chgData name="matheus raffael simon" userId="b81fe4e685964744" providerId="LiveId" clId="{2A30EAE0-20CD-46EA-A10B-ED45FE71C15D}" dt="2026-08-25T01:05:29.143" v="561" actId="1076"/>
          <ac:picMkLst>
            <pc:docMk/>
            <pc:sldMk cId="2068217284" sldId="306"/>
            <ac:picMk id="5" creationId="{AAD040EB-99A3-4349-9C3E-BE4E4F888691}"/>
          </ac:picMkLst>
        </pc:picChg>
      </pc:sldChg>
      <pc:sldChg chg="addSp modSp mod">
        <pc:chgData name="matheus raffael simon" userId="b81fe4e685964744" providerId="LiveId" clId="{2A30EAE0-20CD-46EA-A10B-ED45FE71C15D}" dt="2026-08-25T01:07:38.191" v="568"/>
        <pc:sldMkLst>
          <pc:docMk/>
          <pc:sldMk cId="2043997816" sldId="361"/>
        </pc:sldMkLst>
        <pc:spChg chg="mod">
          <ac:chgData name="matheus raffael simon" userId="b81fe4e685964744" providerId="LiveId" clId="{2A30EAE0-20CD-46EA-A10B-ED45FE71C15D}" dt="2026-08-25T01:07:28.476" v="566" actId="1076"/>
          <ac:spMkLst>
            <pc:docMk/>
            <pc:sldMk cId="2043997816" sldId="361"/>
            <ac:spMk id="3" creationId="{A922380D-55CB-F6AD-88F7-BBA03B8E7642}"/>
          </ac:spMkLst>
        </pc:spChg>
        <pc:spChg chg="add mod">
          <ac:chgData name="matheus raffael simon" userId="b81fe4e685964744" providerId="LiveId" clId="{2A30EAE0-20CD-46EA-A10B-ED45FE71C15D}" dt="2026-08-25T01:07:38.191" v="568"/>
          <ac:spMkLst>
            <pc:docMk/>
            <pc:sldMk cId="2043997816" sldId="361"/>
            <ac:spMk id="4" creationId="{E39ECE55-C63B-3832-9803-B08157DA1350}"/>
          </ac:spMkLst>
        </pc:spChg>
        <pc:grpChg chg="mod">
          <ac:chgData name="matheus raffael simon" userId="b81fe4e685964744" providerId="LiveId" clId="{2A30EAE0-20CD-46EA-A10B-ED45FE71C15D}" dt="2026-08-25T01:07:24.284" v="565" actId="1076"/>
          <ac:grpSpMkLst>
            <pc:docMk/>
            <pc:sldMk cId="2043997816" sldId="361"/>
            <ac:grpSpMk id="8" creationId="{C343143E-7BC6-1EE8-7DB4-B31CAE4776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DEED8-6BED-4F13-8C8A-863D4F82DE30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EBCED-39D9-4F30-9C0A-5B616ECD8E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2817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Um sinal de entrada passa por uma sequência de filtros (modules) e vira um sinal de saída.</a:t>
            </a:r>
          </a:p>
          <a:p>
            <a:r>
              <a:rPr lang="pt-BR" b="0" dirty="0"/>
              <a:t>A ordem dos filtros muda o resultado. Cada número é um filtro diferente.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9974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A seta curva indica aplicar um movimento para criar um vizinho (uma permutação “pertinho” da atual).</a:t>
            </a:r>
          </a:p>
          <a:p>
            <a:r>
              <a:rPr lang="pt-BR" b="0" dirty="0" err="1"/>
              <a:t>Insertion</a:t>
            </a:r>
            <a:r>
              <a:rPr lang="pt-BR" b="0" dirty="0"/>
              <a:t> (inserção) – tirar um módulo de uma posição e inserir em outra. Exemplo coerente com a seta: mover o primeiro módulo </a:t>
            </a:r>
            <a:r>
              <a:rPr lang="pt-B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pt-BR" b="0" dirty="0"/>
              <a:t> para o final .</a:t>
            </a:r>
          </a:p>
          <a:p>
            <a:r>
              <a:rPr lang="pt-BR" b="0" dirty="0"/>
              <a:t>Swap (troca) – trocar as posições de dois módulos. Exemplo: trocar o primeiro </a:t>
            </a:r>
            <a:r>
              <a:rPr lang="pt-B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pt-BR" b="0" dirty="0"/>
              <a:t> com o último </a:t>
            </a:r>
            <a:r>
              <a:rPr lang="pt-B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pt-BR" b="0" dirty="0"/>
              <a:t> → vizinho 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7199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É o “setup” da Busca Tabu com vizinhança de trocas (swap).</a:t>
            </a:r>
          </a:p>
          <a:p>
            <a:r>
              <a:rPr lang="pt-BR" b="0" dirty="0"/>
              <a:t>Esquerda: solução inicial </a:t>
            </a:r>
            <a:r>
              <a:rPr lang="pt-B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[2,5,7,3,4,6,1]</a:t>
            </a:r>
            <a:r>
              <a:rPr lang="pt-BR" b="0" dirty="0"/>
              <a:t> com valor 10.</a:t>
            </a:r>
          </a:p>
          <a:p>
            <a:r>
              <a:rPr lang="pt-BR" b="0" dirty="0"/>
              <a:t>Direita: estrutura tabu em matriz triangular. As linhas/colunas (1…7) representam posições (ou módulos); cada célula (</a:t>
            </a:r>
            <a:r>
              <a:rPr lang="pt-BR" b="0" dirty="0" err="1"/>
              <a:t>i,j</a:t>
            </a:r>
            <a:r>
              <a:rPr lang="pt-BR" b="0" dirty="0"/>
              <a:t>) corresponde ao movimento swap(</a:t>
            </a:r>
            <a:r>
              <a:rPr lang="pt-BR" b="0" dirty="0" err="1"/>
              <a:t>i,j</a:t>
            </a:r>
            <a:r>
              <a:rPr lang="pt-BR" b="0" dirty="0"/>
              <a:t>).</a:t>
            </a:r>
          </a:p>
          <a:p>
            <a:r>
              <a:rPr lang="pt-BR" b="0" dirty="0"/>
              <a:t>Quando você faz um swap, marca a célula (</a:t>
            </a:r>
            <a:r>
              <a:rPr lang="pt-BR" b="0" dirty="0" err="1"/>
              <a:t>i,j</a:t>
            </a:r>
            <a:r>
              <a:rPr lang="pt-BR" b="0" dirty="0"/>
              <a:t>) com um </a:t>
            </a:r>
            <a:r>
              <a:rPr lang="pt-BR" b="0" dirty="0" err="1"/>
              <a:t>tenure</a:t>
            </a:r>
            <a:r>
              <a:rPr lang="pt-BR" b="0" dirty="0"/>
              <a:t> (nº de iterações restantes). Enquanto não expira, é proibido refazer/“desfazer” esse movimento.</a:t>
            </a:r>
          </a:p>
          <a:p>
            <a:r>
              <a:rPr lang="pt-BR" b="0" dirty="0"/>
              <a:t>Se um swap tabu gera uma solução melhor que a melhor global, o critério de aspiração permite usá-lo.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08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ordene por “</a:t>
            </a:r>
            <a:r>
              <a:rPr lang="pt-BR" b="0" dirty="0" err="1"/>
              <a:t>Value</a:t>
            </a:r>
            <a:r>
              <a:rPr lang="pt-BR" b="0" dirty="0"/>
              <a:t>” e escolha o melhor admissível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9445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esse quadro é a lista de movimentos candidatos na 2ª iteração, agora partindo da solução atual </a:t>
            </a:r>
            <a:r>
              <a:rPr lang="pt-B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[2, 4, 7, 3, 5, 6, 1]</a:t>
            </a:r>
            <a:r>
              <a:rPr lang="pt-BR" b="0" dirty="0"/>
              <a:t> com valor 16.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6823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Depois de aplicar swap(3,1) na solução anterior, a ordem vira [2, 4, 7, 1, 5, 6, 3] e o valor sobe para 18 (solução atual/</a:t>
            </a:r>
            <a:r>
              <a:rPr lang="pt-BR" b="0" dirty="0" err="1"/>
              <a:t>best-so-far</a:t>
            </a:r>
            <a:r>
              <a:rPr lang="pt-BR" b="0" dirty="0"/>
              <a:t>).</a:t>
            </a:r>
          </a:p>
          <a:p>
            <a:r>
              <a:rPr lang="pt-BR" b="0" dirty="0"/>
              <a:t>Na matriz tabu, marcamos o par (1,3) com 3 → esse movimento (e seu inverso) fica proibido por 3 iterações.</a:t>
            </a:r>
          </a:p>
          <a:p>
            <a:r>
              <a:rPr lang="pt-BR" b="0" dirty="0"/>
              <a:t>O tabu antigo (4,5), criado na 1ª iteração, decrementa para 2 (ainda proibido por 2 iterações).</a:t>
            </a:r>
          </a:p>
          <a:p>
            <a:r>
              <a:rPr lang="pt-BR" b="0" dirty="0"/>
              <a:t>Próximo passo: gerar vizinhos e escolher o melhor admissível (evitando pares tabu), a menos que um movimento tabu satisfaça aspiração (melhora o melhor global).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1134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Estamos na solução atual [4,2,7,1,5,6,3], valor 14.</a:t>
            </a:r>
          </a:p>
          <a:p>
            <a:r>
              <a:rPr lang="pt-BR" b="0" dirty="0"/>
              <a:t>A tabela lista swaps (por módulos) e o </a:t>
            </a:r>
            <a:r>
              <a:rPr lang="pt-BR" b="0" dirty="0" err="1"/>
              <a:t>ΔValue</a:t>
            </a:r>
            <a:r>
              <a:rPr lang="pt-BR" b="0" dirty="0"/>
              <a:t> que cada um traria.</a:t>
            </a:r>
          </a:p>
          <a:p>
            <a:r>
              <a:rPr lang="pt-B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</a:t>
            </a:r>
            <a:r>
              <a:rPr lang="pt-BR" b="0" dirty="0"/>
              <a:t> = movimento tabu no momento. Repare que swap(4,5) está tabu e teria +6 → novo valor seria 20 (14 + 6).</a:t>
            </a:r>
          </a:p>
          <a:p>
            <a:r>
              <a:rPr lang="pt-BR" b="0" dirty="0"/>
              <a:t>Como 20 &gt; </a:t>
            </a:r>
            <a:r>
              <a:rPr lang="pt-BR" b="0" dirty="0" err="1"/>
              <a:t>best-so-far</a:t>
            </a:r>
            <a:r>
              <a:rPr lang="pt-BR" b="0" dirty="0"/>
              <a:t> = 18, a aspiração libera o tabu (por isso o </a:t>
            </a:r>
            <a:r>
              <a:rPr lang="pt-B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T*</a:t>
            </a:r>
            <a:r>
              <a:rPr lang="pt-BR" b="0" dirty="0"/>
              <a:t>).</a:t>
            </a:r>
          </a:p>
          <a:p>
            <a:r>
              <a:rPr lang="pt-BR" b="0" dirty="0"/>
              <a:t>Então a escolha correta é swap(4,5) mesmo sendo tabu.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7591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Depois de aplicar a aspiração e fazer swap(4,5), a sequência ficou [5, 2, 7, 1, 4, 6, 3] e o valor subiu para 20 (novo </a:t>
            </a:r>
            <a:r>
              <a:rPr lang="pt-BR" b="0" i="1" dirty="0" err="1"/>
              <a:t>best-so-far</a:t>
            </a:r>
            <a:r>
              <a:rPr lang="pt-BR" b="0" dirty="0"/>
              <a:t>).</a:t>
            </a:r>
          </a:p>
          <a:p>
            <a:r>
              <a:rPr lang="pt-BR" b="0" dirty="0"/>
              <a:t>A matriz à direita é a lista tabu com o tempo restante (</a:t>
            </a:r>
            <a:r>
              <a:rPr lang="pt-BR" b="0" dirty="0" err="1"/>
              <a:t>tenure</a:t>
            </a:r>
            <a:r>
              <a:rPr lang="pt-BR" b="0" dirty="0"/>
              <a:t>) de cada par trocado:</a:t>
            </a:r>
          </a:p>
          <a:p>
            <a:r>
              <a:rPr lang="pt-BR" b="0" dirty="0"/>
              <a:t>(4,5) = 3 → o movimento recém-feito entra tabu por 3 iterações.</a:t>
            </a:r>
          </a:p>
          <a:p>
            <a:r>
              <a:rPr lang="pt-BR" b="0" dirty="0"/>
              <a:t>(2,4) = 2 → herdado da iteração anterior, decrementou.</a:t>
            </a:r>
          </a:p>
          <a:p>
            <a:r>
              <a:rPr lang="pt-BR" b="0" dirty="0"/>
              <a:t>(1,3) = 1 → também decrementou.</a:t>
            </a:r>
          </a:p>
          <a:p>
            <a:r>
              <a:rPr lang="pt-BR" b="0" dirty="0"/>
              <a:t>Enquanto esses contadores não zerarem, não podemos refazer/desfazer esses pares, a menos que o movimento tabu melhore o </a:t>
            </a:r>
            <a:r>
              <a:rPr lang="pt-BR" b="0" dirty="0" err="1"/>
              <a:t>best-so-far</a:t>
            </a:r>
            <a:r>
              <a:rPr lang="pt-BR" b="0" dirty="0"/>
              <a:t> (critério de aspiração).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9083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Solução atual: </a:t>
            </a:r>
            <a:r>
              <a:rPr lang="pt-B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[1, 3, 6, 2, 7, 5, 4]</a:t>
            </a:r>
            <a:r>
              <a:rPr lang="pt-BR" b="0" dirty="0"/>
              <a:t> com valor 12 (o algoritmo já andou bastante e pode estar explorando para sair de um vale).</a:t>
            </a:r>
          </a:p>
          <a:p>
            <a:r>
              <a:rPr lang="pt-BR" b="0" dirty="0"/>
              <a:t>Matriz (triangular): cada célula </a:t>
            </a:r>
            <a:r>
              <a:rPr lang="pt-B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pt-BR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pt-B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pt-BR" b="0" dirty="0"/>
              <a:t> representa o movimento </a:t>
            </a:r>
            <a:r>
              <a:rPr lang="pt-B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swap(</a:t>
            </a:r>
            <a:r>
              <a:rPr lang="pt-BR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pt-B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pt-BR" b="0" dirty="0"/>
              <a:t> (trocar os módulos </a:t>
            </a:r>
            <a:r>
              <a:rPr lang="pt-BR" b="0" i="1" dirty="0"/>
              <a:t>i</a:t>
            </a:r>
            <a:r>
              <a:rPr lang="pt-BR" b="0" dirty="0"/>
              <a:t> e </a:t>
            </a:r>
            <a:r>
              <a:rPr lang="pt-BR" b="0" i="1" dirty="0"/>
              <a:t>j</a:t>
            </a:r>
            <a:r>
              <a:rPr lang="pt-BR" b="0" dirty="0"/>
              <a:t>).</a:t>
            </a:r>
          </a:p>
          <a:p>
            <a:r>
              <a:rPr lang="pt-BR" b="0" dirty="0"/>
              <a:t>“Frequency” (eixos de baixo/valores nas células): números dentro das células contam quantas vezes aquele swap foi aceito até agora.</a:t>
            </a:r>
            <a:br>
              <a:rPr lang="pt-BR" b="0" dirty="0"/>
            </a:br>
            <a:r>
              <a:rPr lang="pt-BR" b="0" dirty="0"/>
              <a:t>→ Servem para diversificação: movimentos muito usados podem receber penalidade (evitar repetir caminhos); raros ganham bônus para explorar regiões novas.</a:t>
            </a:r>
          </a:p>
          <a:p>
            <a:r>
              <a:rPr lang="pt-BR" b="0" dirty="0"/>
              <a:t>“</a:t>
            </a:r>
            <a:r>
              <a:rPr lang="pt-BR" b="0" dirty="0" err="1"/>
              <a:t>Recency</a:t>
            </a:r>
            <a:r>
              <a:rPr lang="pt-BR" b="0" dirty="0"/>
              <a:t>” (lado direito/sombreados): indica quão recente foi o uso do movimento (ou o tempo restante de tabu).</a:t>
            </a:r>
            <a:br>
              <a:rPr lang="pt-BR" b="0" dirty="0"/>
            </a:br>
            <a:r>
              <a:rPr lang="pt-BR" b="0" dirty="0"/>
              <a:t>→ Células sombreadas/indicadas estão tabu por algumas iterações para evitar ciclos; quando o contador zera, voltam a ser permitidas.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7270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O tabuleiro à direita é a configuração atual; o texto “Solução Inicial = 4 ataques” diz que, nesse arranjo, existem 4 conflitos.</a:t>
            </a:r>
          </a:p>
          <a:p>
            <a:r>
              <a:rPr lang="pt-BR" b="0" dirty="0"/>
              <a:t>A lista de setas (“R1 → R4, R1 → R2, R2 → R3, R2 → R4”) está enumerando vizinhos:</a:t>
            </a:r>
          </a:p>
          <a:p>
            <a:r>
              <a:rPr lang="pt-BR" b="0" dirty="0"/>
              <a:t>R1 = rainha da coluna 1; movê-la para a linha 4 (ou para a 2).</a:t>
            </a:r>
          </a:p>
          <a:p>
            <a:r>
              <a:rPr lang="pt-BR" b="0" dirty="0"/>
              <a:t>R2 = rainha da coluna 2; movê-la para a linha 3 (ou para a 4).</a:t>
            </a:r>
          </a:p>
          <a:p>
            <a:r>
              <a:rPr lang="pt-BR" b="0" dirty="0"/>
              <a:t>(Faria o mesmo para as colunas 3 e 4.)</a:t>
            </a:r>
          </a:p>
          <a:p>
            <a:r>
              <a:rPr lang="pt-BR" b="0" dirty="0"/>
              <a:t>Para cada candidato, recalcula-se quantos ataques haveria. O “Melhor = 4” indica que nenhum movimento melhora (o melhor vizinho ainda tem 4 conflitos).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30626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b="0" dirty="0"/>
                  <a:t>Ótimo: itens 1, 2 e 4.</a:t>
                </a:r>
              </a:p>
              <a:p>
                <a:r>
                  <a:rPr lang="pt-BR" b="0" dirty="0"/>
                  <a:t>Peso total = </a:t>
                </a:r>
                <a14:m>
                  <m:oMath xmlns:m="http://schemas.openxmlformats.org/officeDocument/2006/math">
                    <m:r>
                      <a:rPr lang="pt-BR" sz="12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  <m:r>
                      <a:rPr lang="pt-BR" sz="1200" b="0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+3+5=10</m:t>
                    </m:r>
                  </m:oMath>
                </a14:m>
                <a:r>
                  <a:rPr lang="pt-BR" b="0" dirty="0"/>
                  <a:t>. Valor total = </a:t>
                </a:r>
                <a14:m>
                  <m:oMath xmlns:m="http://schemas.openxmlformats.org/officeDocument/2006/math">
                    <m:r>
                      <a:rPr lang="pt-BR" sz="12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3</m:t>
                    </m:r>
                    <m:r>
                      <a:rPr lang="pt-BR" sz="1200" b="0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+4+8=15</m:t>
                    </m:r>
                  </m:oMath>
                </a14:m>
                <a:r>
                  <a:rPr lang="pt-BR" b="0" dirty="0"/>
                  <a:t>.</a:t>
                </a:r>
              </a:p>
              <a:p>
                <a:r>
                  <a:rPr lang="pt-BR" b="0" dirty="0"/>
                  <a:t>Vetor </a:t>
                </a:r>
                <a14:m>
                  <m:oMath xmlns:m="http://schemas.openxmlformats.org/officeDocument/2006/math">
                    <m:r>
                      <a:rPr lang="pt-BR" sz="12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𝑠</m:t>
                    </m:r>
                    <m:r>
                      <a:rPr lang="pt-BR" sz="1200" b="0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sz="1200" b="0" i="0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b="0" i="0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  <m:e>
                        <m:r>
                          <a:rPr lang="ar-AE" sz="1200" b="0" i="0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  <m:e>
                        <m:r>
                          <a:rPr lang="ar-AE" sz="1200" b="0" i="0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e>
                      <m:e>
                        <m:r>
                          <a:rPr lang="ar-AE" sz="1200" b="0" i="0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  <m:e>
                        <m:r>
                          <a:rPr lang="ar-AE" sz="1200" b="0" i="0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e>
                    </m:d>
                  </m:oMath>
                </a14:m>
                <a:r>
                  <a:rPr lang="ar-AE" b="0" dirty="0"/>
                  <a:t>.</a:t>
                </a:r>
              </a:p>
              <a:p>
                <a:r>
                  <a:rPr lang="pt-BR" b="0" dirty="0"/>
                  <a:t>Como resolver (sugestão em sala):</a:t>
                </a:r>
                <a:br>
                  <a:rPr lang="pt-BR" b="0" dirty="0"/>
                </a:br>
                <a:r>
                  <a:rPr lang="pt-BR" b="0" dirty="0"/>
                  <a:t>Enumerar combinações que cabem (p.ex., {4,2,1} valor 15; {3,4} valor 13; {2,4} valor 12; {5} valor 10…). A melhor é {1,2,4} com 15.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b="0" dirty="0"/>
                  <a:t>Ótimo: itens 1, 2 e 4.</a:t>
                </a:r>
              </a:p>
              <a:p>
                <a:r>
                  <a:rPr lang="pt-BR" b="0" dirty="0"/>
                  <a:t>Peso total = </a:t>
                </a:r>
                <a:r>
                  <a:rPr lang="pt-BR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2+3+5=10</a:t>
                </a:r>
                <a:r>
                  <a:rPr lang="pt-BR" b="0" dirty="0"/>
                  <a:t>. Valor total = </a:t>
                </a:r>
                <a:r>
                  <a:rPr lang="pt-BR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3+4+8=15</a:t>
                </a:r>
                <a:r>
                  <a:rPr lang="pt-BR" b="0" dirty="0"/>
                  <a:t>.</a:t>
                </a:r>
              </a:p>
              <a:p>
                <a:r>
                  <a:rPr lang="pt-BR" b="0" dirty="0"/>
                  <a:t>Vetor </a:t>
                </a:r>
                <a:r>
                  <a:rPr lang="pt-BR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𝑠=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1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ⓜ,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1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ⓜ,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0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ⓜ,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1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ⓜ,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0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ar-AE" b="0" dirty="0"/>
                  <a:t>.</a:t>
                </a:r>
              </a:p>
              <a:p>
                <a:r>
                  <a:rPr lang="pt-BR" b="0" dirty="0"/>
                  <a:t>Como resolver (sugestão em sala):</a:t>
                </a:r>
                <a:br>
                  <a:rPr lang="pt-BR" b="0" dirty="0"/>
                </a:br>
                <a:r>
                  <a:rPr lang="pt-BR" b="0" dirty="0"/>
                  <a:t>Enumerar combinações que cabem (p.ex., {4,2,1} valor 15; {3,4} valor 13; {2,4} valor 12; {5} valor 10…). A melhor é {1,2,4} com 15.</a:t>
                </a:r>
              </a:p>
              <a:p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68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53687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Os pontos A, B, C, D, E </a:t>
            </a:r>
            <a:r>
              <a:rPr lang="pt-BR" b="0" dirty="0" err="1"/>
              <a:t>e</a:t>
            </a:r>
            <a:r>
              <a:rPr lang="pt-BR" b="0" dirty="0"/>
              <a:t> F representam cidades (ou locais a serem visitados).</a:t>
            </a:r>
          </a:p>
          <a:p>
            <a:r>
              <a:rPr lang="pt-BR" b="0" dirty="0"/>
              <a:t>Cada cidade tem uma coordenada (</a:t>
            </a:r>
            <a:r>
              <a:rPr lang="pt-BR" b="0" dirty="0" err="1"/>
              <a:t>x,y</a:t>
            </a:r>
            <a:r>
              <a:rPr lang="pt-BR" b="0" dirty="0"/>
              <a:t>) no plano cartesiano.</a:t>
            </a:r>
          </a:p>
          <a:p>
            <a:r>
              <a:rPr lang="pt-BR" b="0" dirty="0"/>
              <a:t>O objetivo do problema é encontrar o menor caminho possível que:</a:t>
            </a:r>
          </a:p>
          <a:p>
            <a:r>
              <a:rPr lang="pt-BR" b="0" dirty="0"/>
              <a:t>Passe por todas as cidades uma única vez.</a:t>
            </a:r>
          </a:p>
          <a:p>
            <a:r>
              <a:rPr lang="pt-BR" b="0" dirty="0"/>
              <a:t>Retorne ao ponto inicial.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70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72853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As linhas e colunas representam as cidades A, B, C, D e </a:t>
            </a:r>
            <a:r>
              <a:rPr lang="pt-BR" b="0" dirty="0" err="1"/>
              <a:t>E</a:t>
            </a:r>
            <a:r>
              <a:rPr lang="pt-BR" b="0" dirty="0"/>
              <a:t>.</a:t>
            </a:r>
          </a:p>
          <a:p>
            <a:r>
              <a:rPr lang="pt-BR" b="0" dirty="0"/>
              <a:t>Cada célula contém a distância entre duas cidades.</a:t>
            </a:r>
          </a:p>
          <a:p>
            <a:endParaRPr lang="pt-BR" b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71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48539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73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26997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As colunas de T3 aparecem com </a:t>
            </a:r>
            <a:r>
              <a:rPr lang="pt-B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pt-BR" b="0" dirty="0"/>
              <a:t>, pois já foram atribuídas no Passo 1.</a:t>
            </a:r>
          </a:p>
          <a:p>
            <a:r>
              <a:rPr lang="pt-BR" b="0" dirty="0"/>
              <a:t>Arrependimento:</a:t>
            </a:r>
            <a:br>
              <a:rPr lang="pt-BR" b="0" dirty="0"/>
            </a:br>
            <a:r>
              <a:rPr lang="pt-BR" b="0" dirty="0"/>
              <a:t>Quando designamos uma tarefa a um agente, ela consome uma certa quantidade de recurso desse agente.</a:t>
            </a:r>
          </a:p>
          <a:p>
            <a:r>
              <a:rPr lang="pt-BR" b="0" dirty="0"/>
              <a:t>Mas, se tivéssemos escolhido outro agente para a mesma tarefa, o consumo poderia ter sido menor.</a:t>
            </a:r>
          </a:p>
          <a:p>
            <a:r>
              <a:rPr lang="pt-BR" b="0" dirty="0"/>
              <a:t>O arrependimento mede exatamente essa diferença: é o “custo extra” em termos de recursos por não ter feito a escolha mais econômica.</a:t>
            </a:r>
          </a:p>
          <a:p>
            <a:endParaRPr lang="pt-BR" b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77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27974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Cada número destacado em vermelho representa a atribuição escolhida (qual agente executa qual tarefa). A ideia é distribuir todas as tarefas entre os agentes, minimizando o custo total, mas respeitando os limites de recurso.</a:t>
            </a:r>
          </a:p>
          <a:p>
            <a:r>
              <a:rPr lang="pt-BR" b="0" dirty="0"/>
              <a:t>Parte de baixo – Consumo de recursos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86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12331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essa solução inicial não é única. Ela é diferente da apresentada antes, mas está sendo usada como ponto de partida porque ajuda a visualizar melhor a evolução do algoritmo.</a:t>
            </a:r>
          </a:p>
          <a:p>
            <a:r>
              <a:rPr lang="pt-BR" b="0" dirty="0"/>
              <a:t> Ou seja, a ideia é: começar com uma solução viável (mesmo que não ótima), e depois aplicar heurísticas como a Busca Tabu para tentar reduzir o custo total e encontrar uma alocação melhor.</a:t>
            </a:r>
          </a:p>
          <a:p>
            <a:endParaRPr lang="pt-BR" b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87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69632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Cada agente (A1, A2, A3) tem suas tarefas atribuídas, os custos calculados e a capacidade utilizada.</a:t>
            </a:r>
          </a:p>
          <a:p>
            <a:r>
              <a:rPr lang="pt-BR" b="0" dirty="0"/>
              <a:t>O custo total inicial é 258, sem excesso de recursos.</a:t>
            </a:r>
          </a:p>
          <a:p>
            <a:r>
              <a:rPr lang="pt-BR" b="0" dirty="0"/>
              <a:t>A tabela da direita (“Cap. </a:t>
            </a:r>
            <a:r>
              <a:rPr lang="pt-BR" b="0" dirty="0" err="1"/>
              <a:t>disp</a:t>
            </a:r>
            <a:r>
              <a:rPr lang="pt-BR" b="0" dirty="0"/>
              <a:t>. após movimento”) indica como ficaria a disponibilidade de recursos se cada tarefa fosse movida para outro agente.</a:t>
            </a:r>
          </a:p>
          <a:p>
            <a:r>
              <a:rPr lang="pt-BR" b="0" dirty="0"/>
              <a:t>Os valores negativos mostram que a mudança causaria estouro de capacidade, logo seriam movimentos inviáveis, a menos que a busca tabu permita pela regra de aspiração.</a:t>
            </a:r>
          </a:p>
          <a:p>
            <a:endParaRPr lang="pt-BR" b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92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08169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A tarefa T4 está atualmente com o agente A3.</a:t>
            </a:r>
          </a:p>
          <a:p>
            <a:r>
              <a:rPr lang="pt-BR" b="0" dirty="0"/>
              <a:t>O algoritmo testa mover T4 para o agente A1.</a:t>
            </a:r>
          </a:p>
          <a:p>
            <a:r>
              <a:rPr lang="pt-BR" b="0" dirty="0"/>
              <a:t>O movimento de transferir T4 de A3 para A1 gera um custo total menor (-4), mas ainda existe um excesso de recurso (</a:t>
            </a:r>
            <a:r>
              <a:rPr lang="pt-BR" b="0" dirty="0" err="1"/>
              <a:t>infactibilidade</a:t>
            </a:r>
            <a:r>
              <a:rPr lang="pt-BR" b="0" dirty="0"/>
              <a:t>).</a:t>
            </a:r>
            <a:br>
              <a:rPr lang="pt-BR" b="0" dirty="0"/>
            </a:br>
            <a:r>
              <a:rPr lang="pt-BR" b="0" dirty="0"/>
              <a:t>Isso mostra como a Busca Tabu lida com soluções inviáveis: aplica penalizações para equilibrar custo e restrições.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94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66083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Na solução inicial o custo total era 258.</a:t>
            </a:r>
          </a:p>
          <a:p>
            <a:r>
              <a:rPr lang="pt-BR" b="0" dirty="0"/>
              <a:t>Após os movimentos da Busca Tabu, o custo de alocação caiu para 228.</a:t>
            </a:r>
          </a:p>
          <a:p>
            <a:r>
              <a:rPr lang="pt-BR" b="0" dirty="0"/>
              <a:t>Porém, houve excesso de recursos (12 unidades no A3), o que gera uma penalidade de 24.</a:t>
            </a:r>
          </a:p>
          <a:p>
            <a:r>
              <a:rPr lang="pt-BR" b="0" dirty="0"/>
              <a:t>Assim, o custo total ajustado ficou em 252.</a:t>
            </a:r>
          </a:p>
          <a:p>
            <a:r>
              <a:rPr lang="pt-BR" b="0" dirty="0"/>
              <a:t>A Busca Tabu conseguiu reduzir o custo de execução (de 258 → 228).</a:t>
            </a:r>
          </a:p>
          <a:p>
            <a:r>
              <a:rPr lang="pt-BR" b="0" dirty="0"/>
              <a:t>Porém, devido à </a:t>
            </a:r>
            <a:r>
              <a:rPr lang="pt-BR" b="0" dirty="0" err="1"/>
              <a:t>infactibilidade</a:t>
            </a:r>
            <a:r>
              <a:rPr lang="pt-BR" b="0" dirty="0"/>
              <a:t> (excesso de recursos no A3), o custo ajustado sobe para 252.</a:t>
            </a:r>
          </a:p>
          <a:p>
            <a:r>
              <a:rPr lang="pt-BR" b="0" dirty="0"/>
              <a:t>Ainda assim, a solução é melhor que a inicial (258), mostrando como a Busca Tabu encontra alternativas que exploram além do ótimo local, mesmo aceitando violações temporárias das restrições.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95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56761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96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98745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A Busca Tabu conseguiu encontrar uma solução:</a:t>
            </a:r>
          </a:p>
          <a:p>
            <a:r>
              <a:rPr lang="pt-BR" b="0" dirty="0"/>
              <a:t>Válida (sem ultrapassar recursos).</a:t>
            </a:r>
          </a:p>
          <a:p>
            <a:r>
              <a:rPr lang="pt-BR" b="0" dirty="0"/>
              <a:t>Mais econômica (258 → 230).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97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34917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EBCED-39D9-4F30-9C0A-5B616ECD8E7A}" type="slidenum">
              <a:rPr lang="pt-BR" smtClean="0"/>
              <a:t>103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4346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CEB06C5-9180-47A5-9CD9-3F1B3EC9F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4836C-5CF0-447D-A39C-27A375875E26}" type="datetime1">
              <a:rPr lang="pt-BR" smtClean="0"/>
              <a:t>24/08/2026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6515F0A-B9EE-48F0-A501-102F477B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321D10-4545-41D6-B331-0EECB55E5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880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2300" y="285750"/>
            <a:ext cx="6623050" cy="790574"/>
          </a:xfrm>
        </p:spPr>
        <p:txBody>
          <a:bodyPr/>
          <a:lstStyle>
            <a:lvl1pPr algn="ctr">
              <a:defRPr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u="sng"/>
            </a:lvl1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8CD52-908F-40F6-A98B-6DC6749FA636}" type="datetime1">
              <a:rPr lang="pt-BR" smtClean="0"/>
              <a:t>24/08/2026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1142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73235-254F-4A2D-9A52-47E659C26C8E}" type="datetime1">
              <a:rPr lang="pt-BR" smtClean="0"/>
              <a:t>24/08/2026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031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160EE-6A31-4253-9408-DAAFCB391B62}" type="datetime1">
              <a:rPr lang="pt-BR" smtClean="0"/>
              <a:t>24/08/2026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6750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650E2-6E08-4BDC-9E5D-DCCC83E045CE}" type="datetime1">
              <a:rPr lang="pt-BR" smtClean="0"/>
              <a:t>24/08/2026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7520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9E392-BDF7-486B-84A3-4C596C246A34}" type="datetime1">
              <a:rPr lang="pt-BR" smtClean="0"/>
              <a:t>24/08/2026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9174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14807-DCD1-49DE-A6AC-38F8FB37459F}" type="datetime1">
              <a:rPr lang="pt-BR" smtClean="0"/>
              <a:t>24/08/2026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2859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EBD07-A083-44F9-99AF-16ACE4C9CCC7}" type="datetime1">
              <a:rPr lang="pt-BR" smtClean="0"/>
              <a:t>24/08/2026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294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3C370-2AB7-4DBF-990B-EFD2B31F8B3B}" type="datetime1">
              <a:rPr lang="pt-BR" smtClean="0"/>
              <a:t>24/08/2026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3165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0FA7-782F-4DF1-82E6-54AF517ACA4A}" type="datetime1">
              <a:rPr lang="pt-BR" smtClean="0"/>
              <a:t>24/08/2026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9696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DB7B-7C5E-4364-959F-F3DBD0BFD586}" type="datetime1">
              <a:rPr lang="pt-BR" smtClean="0"/>
              <a:t>24/08/2026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2A521-5815-4629-9305-32B7ECC1C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759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F1FEE-04CA-4783-B5B2-93FB2CBFE57C}" type="datetime1">
              <a:rPr lang="pt-BR" smtClean="0"/>
              <a:t>24/08/2026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98B52"/>
                </a:solidFill>
              </a:defRPr>
            </a:lvl1pPr>
          </a:lstStyle>
          <a:p>
            <a:r>
              <a:rPr lang="pt-BR"/>
              <a:t>Otimização Combinatória 2024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298B52"/>
                </a:solidFill>
              </a:defRPr>
            </a:lvl1pPr>
          </a:lstStyle>
          <a:p>
            <a:fld id="{91C2A521-5815-4629-9305-32B7ECC1C04A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C7EC6E4-B348-4B5B-8517-74C9A11A4025}"/>
              </a:ext>
            </a:extLst>
          </p:cNvPr>
          <p:cNvSpPr/>
          <p:nvPr userDrawn="1"/>
        </p:nvSpPr>
        <p:spPr>
          <a:xfrm>
            <a:off x="1" y="1"/>
            <a:ext cx="9144000" cy="1325563"/>
          </a:xfrm>
          <a:prstGeom prst="rect">
            <a:avLst/>
          </a:prstGeom>
          <a:solidFill>
            <a:srgbClr val="298B52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pic>
        <p:nvPicPr>
          <p:cNvPr id="10" name="Imagem 9" descr="Uma imagem contendo material de papelaria, lápis&#10;&#10;Descrição gerada automaticamente">
            <a:extLst>
              <a:ext uri="{FF2B5EF4-FFF2-40B4-BE49-F238E27FC236}">
                <a16:creationId xmlns:a16="http://schemas.microsoft.com/office/drawing/2014/main" id="{205EF4E5-AF27-42B7-B553-C06E34360BB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532" y="62323"/>
            <a:ext cx="1849066" cy="132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595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Excel_Worksheet2.xlsx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em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978-1-4615-6089-0_1" TargetMode="External"/><Relationship Id="rId2" Type="http://schemas.openxmlformats.org/officeDocument/2006/relationships/hyperlink" Target="https://community.rapidminer.com/discussion/45775/multi-objective-feature-selection-part-1-the-basic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40843F8C-1F1B-4309-9BB1-ACADCB734F21}"/>
              </a:ext>
            </a:extLst>
          </p:cNvPr>
          <p:cNvSpPr/>
          <p:nvPr/>
        </p:nvSpPr>
        <p:spPr>
          <a:xfrm>
            <a:off x="0" y="1704026"/>
            <a:ext cx="9144000" cy="1485741"/>
          </a:xfrm>
          <a:prstGeom prst="rect">
            <a:avLst/>
          </a:prstGeom>
          <a:solidFill>
            <a:srgbClr val="298B5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C809DA3-1BE5-4FB3-81F8-9D037262E4F9}"/>
              </a:ext>
            </a:extLst>
          </p:cNvPr>
          <p:cNvSpPr txBox="1">
            <a:spLocks/>
          </p:cNvSpPr>
          <p:nvPr/>
        </p:nvSpPr>
        <p:spPr>
          <a:xfrm>
            <a:off x="1044942" y="2051609"/>
            <a:ext cx="7070725" cy="7905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5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+mn-lt"/>
              </a:rPr>
              <a:t>Otimização Combinatória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2E217D7-099A-4AE2-9799-FF59C27D7FAB}"/>
              </a:ext>
            </a:extLst>
          </p:cNvPr>
          <p:cNvSpPr/>
          <p:nvPr/>
        </p:nvSpPr>
        <p:spPr>
          <a:xfrm>
            <a:off x="0" y="0"/>
            <a:ext cx="9144000" cy="16636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54B5864-D2FD-4238-B1B5-0AD7B58B48C7}"/>
              </a:ext>
            </a:extLst>
          </p:cNvPr>
          <p:cNvSpPr txBox="1"/>
          <p:nvPr/>
        </p:nvSpPr>
        <p:spPr>
          <a:xfrm>
            <a:off x="3663322" y="5259581"/>
            <a:ext cx="26002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Matheus Raffael Simon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0D3277-FFCD-403E-9A91-B6E35EC93598}"/>
              </a:ext>
            </a:extLst>
          </p:cNvPr>
          <p:cNvSpPr txBox="1"/>
          <p:nvPr/>
        </p:nvSpPr>
        <p:spPr>
          <a:xfrm>
            <a:off x="4230613" y="6268308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2025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8556100-2B4A-4B9C-ABE2-3313DAA2EA03}"/>
              </a:ext>
            </a:extLst>
          </p:cNvPr>
          <p:cNvSpPr txBox="1">
            <a:spLocks/>
          </p:cNvSpPr>
          <p:nvPr/>
        </p:nvSpPr>
        <p:spPr>
          <a:xfrm>
            <a:off x="1044942" y="3184635"/>
            <a:ext cx="7070725" cy="7905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500" b="1" dirty="0">
                <a:ln w="12700">
                  <a:solidFill>
                    <a:schemeClr val="tx1"/>
                  </a:solidFill>
                </a:ln>
                <a:solidFill>
                  <a:srgbClr val="298B52"/>
                </a:solidFill>
                <a:latin typeface="+mn-lt"/>
              </a:rPr>
              <a:t>Busca Tabu</a:t>
            </a:r>
          </a:p>
        </p:txBody>
      </p:sp>
    </p:spTree>
    <p:extLst>
      <p:ext uri="{BB962C8B-B14F-4D97-AF65-F5344CB8AC3E}">
        <p14:creationId xmlns:p14="http://schemas.microsoft.com/office/powerpoint/2010/main" val="62381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B4C85-2609-4A2B-A9AA-1C2E9EAC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8DCC3B-ED7F-4C6E-BD56-F547A1D0A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u="none" dirty="0"/>
              <a:t>Proposta em 1986 por Fred Glover (GLOVER, 1986)</a:t>
            </a:r>
          </a:p>
          <a:p>
            <a:pPr marL="0" indent="0" algn="just">
              <a:buNone/>
            </a:pPr>
            <a:endParaRPr lang="pt-BR" u="none" dirty="0"/>
          </a:p>
          <a:p>
            <a:pPr marL="0" indent="0" algn="just">
              <a:buNone/>
            </a:pPr>
            <a:r>
              <a:rPr lang="pt-BR" u="none" dirty="0"/>
              <a:t>Surgiu como uma técnica para guiar uma heurística de busca local tradicional na exploração do espaço de soluções além da otimalidade local. Usa, para isso, estruturas de memória (tabelas)</a:t>
            </a:r>
          </a:p>
          <a:p>
            <a:pPr marL="0" indent="0" algn="just">
              <a:buNone/>
            </a:pPr>
            <a:endParaRPr lang="pt-BR" u="none" dirty="0"/>
          </a:p>
          <a:p>
            <a:pPr algn="just"/>
            <a:r>
              <a:rPr lang="pt-BR" u="none" dirty="0"/>
              <a:t>Indicado para problemas de otimização em que a quantidade de soluções é um conjunto discreto mas que cresce exponencialmente</a:t>
            </a:r>
          </a:p>
        </p:txBody>
      </p:sp>
    </p:spTree>
    <p:extLst>
      <p:ext uri="{BB962C8B-B14F-4D97-AF65-F5344CB8AC3E}">
        <p14:creationId xmlns:p14="http://schemas.microsoft.com/office/powerpoint/2010/main" val="2795297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DE991-9979-47D6-A3FA-80816C76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F6D7F6-0895-4AA2-9359-D63160FEF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u="none" dirty="0"/>
              <a:t>Parte de uma solução inicial e se move no espaço de soluções de uma possibilidade para outra que esteja em sua vizinhança</a:t>
            </a:r>
          </a:p>
          <a:p>
            <a:pPr algn="just"/>
            <a:endParaRPr lang="pt-BR" u="none" dirty="0"/>
          </a:p>
          <a:p>
            <a:pPr algn="just"/>
            <a:r>
              <a:rPr lang="pt-BR" u="none" dirty="0"/>
              <a:t>Tenta evitar o recálculo de soluções de forma a otimizar o tempo de execução. Para isso, emprega um mecanismo de armazenamento de soluções já conhecidas e alternativas proibidas, dai o nome Tabu</a:t>
            </a:r>
          </a:p>
          <a:p>
            <a:pPr algn="just"/>
            <a:endParaRPr lang="pt-BR" u="none" dirty="0"/>
          </a:p>
          <a:p>
            <a:pPr algn="just"/>
            <a:endParaRPr lang="pt-BR" u="none" dirty="0"/>
          </a:p>
        </p:txBody>
      </p:sp>
    </p:spTree>
    <p:extLst>
      <p:ext uri="{BB962C8B-B14F-4D97-AF65-F5344CB8AC3E}">
        <p14:creationId xmlns:p14="http://schemas.microsoft.com/office/powerpoint/2010/main" val="1070202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DE991-9979-47D6-A3FA-80816C76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F6D7F6-0895-4AA2-9359-D63160FEF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u="none" dirty="0"/>
              <a:t>Parte de uma solução inicial e se move no espaço de soluções de uma solução para outra que esteja em sua vizinhança</a:t>
            </a:r>
          </a:p>
          <a:p>
            <a:pPr algn="just"/>
            <a:endParaRPr lang="pt-BR" u="none" dirty="0"/>
          </a:p>
          <a:p>
            <a:pPr algn="just"/>
            <a:endParaRPr lang="pt-BR" u="none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F4D5B48-C9B3-4B4B-9244-1729CCB9A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Otimização Combinatória 2024</a:t>
            </a:r>
            <a:endParaRPr lang="pt-BR" dirty="0"/>
          </a:p>
        </p:txBody>
      </p:sp>
      <p:pic>
        <p:nvPicPr>
          <p:cNvPr id="6" name="Imagem 5" descr="Gráfico, Gráfico de superfície&#10;&#10;Descrição gerada automaticamente">
            <a:extLst>
              <a:ext uri="{FF2B5EF4-FFF2-40B4-BE49-F238E27FC236}">
                <a16:creationId xmlns:a16="http://schemas.microsoft.com/office/drawing/2014/main" id="{095AE5FE-BC33-4E4A-9445-BB951217C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8765"/>
            <a:ext cx="9144000" cy="525958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3C206AF-F508-414F-865F-E8E7241EFC27}"/>
              </a:ext>
            </a:extLst>
          </p:cNvPr>
          <p:cNvSpPr txBox="1"/>
          <p:nvPr/>
        </p:nvSpPr>
        <p:spPr>
          <a:xfrm>
            <a:off x="6365173" y="6316046"/>
            <a:ext cx="20493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Fonte: </a:t>
            </a:r>
            <a:r>
              <a:rPr lang="pt-BR" sz="1400" dirty="0" err="1"/>
              <a:t>Rapidminer</a:t>
            </a:r>
            <a:r>
              <a:rPr lang="pt-BR" sz="1400" dirty="0"/>
              <a:t> (2022)</a:t>
            </a:r>
          </a:p>
        </p:txBody>
      </p:sp>
    </p:spTree>
    <p:extLst>
      <p:ext uri="{BB962C8B-B14F-4D97-AF65-F5344CB8AC3E}">
        <p14:creationId xmlns:p14="http://schemas.microsoft.com/office/powerpoint/2010/main" val="1778039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F404A1-2EBB-4C7E-BED8-9FEA2A4C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C76A475-6D6A-42A7-A275-8CDD06F4D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20" y="2157412"/>
            <a:ext cx="7858125" cy="254317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9A490AC3-E7A3-4E13-96A3-D2724F64C850}"/>
              </a:ext>
            </a:extLst>
          </p:cNvPr>
          <p:cNvSpPr txBox="1"/>
          <p:nvPr/>
        </p:nvSpPr>
        <p:spPr>
          <a:xfrm>
            <a:off x="6222669" y="6315027"/>
            <a:ext cx="24091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Fonte: Glover &amp; Laguna (1997)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7DA94BF-CA0F-D266-D699-60793B5DE787}"/>
              </a:ext>
            </a:extLst>
          </p:cNvPr>
          <p:cNvSpPr txBox="1"/>
          <p:nvPr/>
        </p:nvSpPr>
        <p:spPr>
          <a:xfrm>
            <a:off x="375557" y="5184641"/>
            <a:ext cx="63943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Imagine um material composto por camadas (módulos). </a:t>
            </a:r>
          </a:p>
          <a:p>
            <a:r>
              <a:rPr lang="pt-BR" dirty="0"/>
              <a:t>Cada módulo tem um efeito de blindagem (isolamento) diferente</a:t>
            </a:r>
          </a:p>
        </p:txBody>
      </p:sp>
    </p:spTree>
    <p:extLst>
      <p:ext uri="{BB962C8B-B14F-4D97-AF65-F5344CB8AC3E}">
        <p14:creationId xmlns:p14="http://schemas.microsoft.com/office/powerpoint/2010/main" val="1554284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F8EDFA-D662-4DE9-BE91-14C541F0C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2D00005-32F0-4199-8CC7-CEA71A968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662" y="1354817"/>
            <a:ext cx="6162675" cy="28098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CC49853-BDC2-4B8D-B7CD-51917120D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709" y="4336596"/>
            <a:ext cx="4494581" cy="171982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46B67E2-D713-4F28-ABC4-9DA101176E5A}"/>
              </a:ext>
            </a:extLst>
          </p:cNvPr>
          <p:cNvSpPr txBox="1"/>
          <p:nvPr/>
        </p:nvSpPr>
        <p:spPr>
          <a:xfrm>
            <a:off x="6222669" y="6315027"/>
            <a:ext cx="2439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Fonte: Glover &amp; Laguna (1997)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F65E98-F04A-4782-71ED-94B6E8E774F7}"/>
              </a:ext>
            </a:extLst>
          </p:cNvPr>
          <p:cNvSpPr txBox="1"/>
          <p:nvPr/>
        </p:nvSpPr>
        <p:spPr>
          <a:xfrm>
            <a:off x="152400" y="3194094"/>
            <a:ext cx="24398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Um sinal de entrada passa por uma sequência de filtros (modules) e vira um sinal de saída.</a:t>
            </a:r>
          </a:p>
          <a:p>
            <a:r>
              <a:rPr lang="pt-BR" dirty="0"/>
              <a:t>A ordem dos filtros muda o resultado. Cada número é um filtro diferente.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3170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99D10-8542-465D-9E47-BCBF0EA8F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8756543-4BCF-4253-81FD-962D1ABB8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88" y="1654911"/>
            <a:ext cx="4494581" cy="1719820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ED2F0461-264F-4616-9CD4-DC7B62AD9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u="none" dirty="0"/>
              <a:t>Solução Inicial: 10 unidades de isolamento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FB720BD-CC18-472F-B136-BA7C05BFA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58" y="4428880"/>
            <a:ext cx="4403375" cy="181782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1C0F9BB-CE60-44BC-BD66-5B1E84D9EAD9}"/>
              </a:ext>
            </a:extLst>
          </p:cNvPr>
          <p:cNvSpPr txBox="1"/>
          <p:nvPr/>
        </p:nvSpPr>
        <p:spPr>
          <a:xfrm>
            <a:off x="5261169" y="5653743"/>
            <a:ext cx="1260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solidFill>
                  <a:srgbClr val="FF0000"/>
                </a:solidFill>
              </a:rPr>
              <a:t>Vizinho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554B137-E4EF-54B1-C709-5BB194916427}"/>
              </a:ext>
            </a:extLst>
          </p:cNvPr>
          <p:cNvSpPr txBox="1"/>
          <p:nvPr/>
        </p:nvSpPr>
        <p:spPr>
          <a:xfrm>
            <a:off x="6413500" y="1328346"/>
            <a:ext cx="27305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seta curva indica aplicar um movimento para criar um vizinho (uma permutação “pertinho” da atual).</a:t>
            </a:r>
          </a:p>
          <a:p>
            <a:r>
              <a:rPr lang="pt-BR" dirty="0" err="1"/>
              <a:t>Insertion</a:t>
            </a:r>
            <a:r>
              <a:rPr lang="pt-BR" dirty="0"/>
              <a:t> (inserção) – tirar um módulo de uma posição e inserir em outra. Exemplo coerente com a seta: mover o primeiro módulo 2 para o final .</a:t>
            </a:r>
          </a:p>
          <a:p>
            <a:r>
              <a:rPr lang="pt-BR" dirty="0"/>
              <a:t>Swap (troca) – trocar as posições de dois módulos. Exemplo: trocar o primeiro 2 com o último 1 → vizinho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1790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92F10-9F9F-4F7C-9B18-491A89372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8F5288A-1052-4BFD-9C16-E0572A8A8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26" y="1853364"/>
            <a:ext cx="3514725" cy="7143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D383DEE-03B5-4973-A77E-27CAAD389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448" y="2253775"/>
            <a:ext cx="3419475" cy="332422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53036AA-3349-494B-8E77-871C07477D1F}"/>
              </a:ext>
            </a:extLst>
          </p:cNvPr>
          <p:cNvSpPr txBox="1"/>
          <p:nvPr/>
        </p:nvSpPr>
        <p:spPr>
          <a:xfrm>
            <a:off x="1067720" y="2880140"/>
            <a:ext cx="2793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Solução Inicial: 10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CAEE6F7-7E83-4FE2-B1DB-6D50E848DE9A}"/>
              </a:ext>
            </a:extLst>
          </p:cNvPr>
          <p:cNvSpPr txBox="1"/>
          <p:nvPr/>
        </p:nvSpPr>
        <p:spPr>
          <a:xfrm>
            <a:off x="5484375" y="5578000"/>
            <a:ext cx="23076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Estrutura Tabu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A7E6A81-E1A9-993E-E438-243A2C59ACE7}"/>
              </a:ext>
            </a:extLst>
          </p:cNvPr>
          <p:cNvSpPr txBox="1"/>
          <p:nvPr/>
        </p:nvSpPr>
        <p:spPr>
          <a:xfrm>
            <a:off x="0" y="3715761"/>
            <a:ext cx="56007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É o “setup” da Busca Tabu com vizinhança de trocas (swap).</a:t>
            </a:r>
          </a:p>
          <a:p>
            <a:r>
              <a:rPr lang="pt-BR" dirty="0"/>
              <a:t>Esquerda: solução inicial [2,5,7,3,4,6,1] com valor 10.</a:t>
            </a:r>
          </a:p>
          <a:p>
            <a:r>
              <a:rPr lang="pt-BR" dirty="0"/>
              <a:t>Direita: estrutura tabu em matriz triangular. As linhas/colunas (1…7) representam posições (ou módulos); cada célula (</a:t>
            </a:r>
            <a:r>
              <a:rPr lang="pt-BR" dirty="0" err="1"/>
              <a:t>i,j</a:t>
            </a:r>
            <a:r>
              <a:rPr lang="pt-BR" dirty="0"/>
              <a:t>) corresponde ao movimento swap(</a:t>
            </a:r>
            <a:r>
              <a:rPr lang="pt-BR" dirty="0" err="1"/>
              <a:t>i,j</a:t>
            </a:r>
            <a:r>
              <a:rPr lang="pt-BR" dirty="0"/>
              <a:t>).</a:t>
            </a:r>
          </a:p>
          <a:p>
            <a:r>
              <a:rPr lang="pt-BR" dirty="0"/>
              <a:t>Quando você faz um swap, marca a célula (</a:t>
            </a:r>
            <a:r>
              <a:rPr lang="pt-BR" dirty="0" err="1"/>
              <a:t>i,j</a:t>
            </a:r>
            <a:r>
              <a:rPr lang="pt-BR" dirty="0"/>
              <a:t>) com um </a:t>
            </a:r>
            <a:r>
              <a:rPr lang="pt-BR" dirty="0" err="1"/>
              <a:t>tenure</a:t>
            </a:r>
            <a:r>
              <a:rPr lang="pt-BR" dirty="0"/>
              <a:t> (nº de iterações restantes). Enquanto não expira, é proibido refazer/“desfazer” esse movimento.</a:t>
            </a:r>
          </a:p>
          <a:p>
            <a:r>
              <a:rPr lang="pt-BR" dirty="0"/>
              <a:t>Se um swap tabu gera uma solução melhor que a melhor global, o critério de aspiração permite usá-lo.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6769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079F4-3EF8-4ABC-AB3A-394FCFF93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B371A02-714B-4BC4-8A7B-5A36D24AC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057" y="2585821"/>
            <a:ext cx="3562350" cy="291465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C9B221C-8FF4-F5E5-DCE8-342BB883F04B}"/>
              </a:ext>
            </a:extLst>
          </p:cNvPr>
          <p:cNvSpPr txBox="1"/>
          <p:nvPr/>
        </p:nvSpPr>
        <p:spPr>
          <a:xfrm>
            <a:off x="538843" y="2334986"/>
            <a:ext cx="498021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Coluna “Swap”: o movimento troca os elementos nas posições indicadas.</a:t>
            </a:r>
            <a:br>
              <a:rPr lang="pt-BR" dirty="0"/>
            </a:br>
            <a:r>
              <a:rPr lang="pt-BR" dirty="0"/>
              <a:t>ex.: swap(5,4) = trocar o que está nas posições 5 e 4 (ou seja, trocar 4↔3), gerando [2,5,7,4,3,6,1].</a:t>
            </a:r>
          </a:p>
          <a:p>
            <a:r>
              <a:rPr lang="pt-BR" dirty="0"/>
              <a:t>Coluna “</a:t>
            </a:r>
            <a:r>
              <a:rPr lang="pt-BR" dirty="0" err="1"/>
              <a:t>Value</a:t>
            </a:r>
            <a:r>
              <a:rPr lang="pt-BR" dirty="0"/>
              <a:t>”: ganho Δ da função-objetivo ao aplicar o swap, em relação ao 10 atual.</a:t>
            </a:r>
          </a:p>
          <a:p>
            <a:r>
              <a:rPr lang="pt-BR" dirty="0"/>
              <a:t>6 → novo valor = 10 + 6 = 16</a:t>
            </a:r>
          </a:p>
          <a:p>
            <a:r>
              <a:rPr lang="pt-BR" dirty="0"/>
              <a:t>4 → novo valor = 14</a:t>
            </a:r>
          </a:p>
          <a:p>
            <a:r>
              <a:rPr lang="pt-BR" dirty="0"/>
              <a:t>2 → 12</a:t>
            </a:r>
          </a:p>
          <a:p>
            <a:r>
              <a:rPr lang="pt-BR" dirty="0"/>
              <a:t>0 → 10 (não muda)</a:t>
            </a:r>
          </a:p>
          <a:p>
            <a:r>
              <a:rPr lang="pt-BR" dirty="0"/>
              <a:t>−1 → 9 (piora)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B1EA263-5446-E799-6293-D4AF247D4EAA}"/>
              </a:ext>
            </a:extLst>
          </p:cNvPr>
          <p:cNvSpPr txBox="1"/>
          <p:nvPr/>
        </p:nvSpPr>
        <p:spPr>
          <a:xfrm>
            <a:off x="1231900" y="1625600"/>
            <a:ext cx="414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ordene por “</a:t>
            </a:r>
            <a:r>
              <a:rPr lang="pt-BR" dirty="0" err="1"/>
              <a:t>Value</a:t>
            </a:r>
            <a:r>
              <a:rPr lang="pt-BR" dirty="0"/>
              <a:t>” e escolha o melhor admissível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0216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8196B46E-AE0F-4A85-935A-8C8080B78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7" y="1747837"/>
            <a:ext cx="7286625" cy="336232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2716665-057A-4E37-B10B-DBEB236DF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F41B772-0551-4528-9452-3B760999F81B}"/>
              </a:ext>
            </a:extLst>
          </p:cNvPr>
          <p:cNvSpPr txBox="1"/>
          <p:nvPr/>
        </p:nvSpPr>
        <p:spPr>
          <a:xfrm>
            <a:off x="1056903" y="2825719"/>
            <a:ext cx="267904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400" dirty="0"/>
              <a:t>Solução Atual: 16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6F8E74B-D788-43FB-A031-A30F88C9BC9E}"/>
              </a:ext>
            </a:extLst>
          </p:cNvPr>
          <p:cNvSpPr/>
          <p:nvPr/>
        </p:nvSpPr>
        <p:spPr>
          <a:xfrm>
            <a:off x="6602680" y="3586348"/>
            <a:ext cx="498763" cy="4987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F927CF1-B6F2-5D7A-AF1B-FA90930D780E}"/>
              </a:ext>
            </a:extLst>
          </p:cNvPr>
          <p:cNvSpPr txBox="1"/>
          <p:nvPr/>
        </p:nvSpPr>
        <p:spPr>
          <a:xfrm>
            <a:off x="214681" y="3428999"/>
            <a:ext cx="55003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Escolhemos o melhor movimento da tabela anterior: swap(5,4), aqui o “5” e o “4” são módulos, não posições. Aplicando o swap na ordem [2, 5, 7, 3, 4, 6, 1] → vira [2, 4, 7, 3, 5, 6, 1]. O valor sobe de 10 para 16 (ganho +6), então essa é a solução atual (e possivelmente o </a:t>
            </a:r>
            <a:r>
              <a:rPr lang="pt-BR" dirty="0" err="1"/>
              <a:t>best-so-far</a:t>
            </a:r>
            <a:r>
              <a:rPr lang="pt-BR" dirty="0"/>
              <a:t>). Na matriz da direita, colocamos “3” na célula (4,5): é o </a:t>
            </a:r>
            <a:r>
              <a:rPr lang="pt-BR" dirty="0" err="1"/>
              <a:t>tenure</a:t>
            </a:r>
            <a:r>
              <a:rPr lang="pt-BR" dirty="0"/>
              <a:t> tabu. Isso proíbe, por 3 iterações, refazer / desfazer esse par de troca (4↔5). A cada iteração o número decrementa; quando zera, o movimento volta a ser permitido (salvo aspiração).</a:t>
            </a:r>
          </a:p>
        </p:txBody>
      </p:sp>
    </p:spTree>
    <p:extLst>
      <p:ext uri="{BB962C8B-B14F-4D97-AF65-F5344CB8AC3E}">
        <p14:creationId xmlns:p14="http://schemas.microsoft.com/office/powerpoint/2010/main" val="3478435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D6837-9448-4B4B-8AC3-9E79AA6C8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D518C59-47A1-4B5D-9B53-8D795E8A5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00" y="1995487"/>
            <a:ext cx="3581400" cy="286702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121935E-C98C-7A25-8003-6591E7906502}"/>
              </a:ext>
            </a:extLst>
          </p:cNvPr>
          <p:cNvSpPr txBox="1"/>
          <p:nvPr/>
        </p:nvSpPr>
        <p:spPr>
          <a:xfrm>
            <a:off x="736600" y="5130800"/>
            <a:ext cx="6756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esse quadro é a lista de movimentos candidatos na 2ª iteração, agora partindo da solução atual [2, 4, 7, 3, 5, 6, 1] com valor 16.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5532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4A9456C-8FA8-47EC-8AB3-4B1B481FE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1762125"/>
            <a:ext cx="7143750" cy="33337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2716665-057A-4E37-B10B-DBEB236DF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F41B772-0551-4528-9452-3B760999F81B}"/>
              </a:ext>
            </a:extLst>
          </p:cNvPr>
          <p:cNvSpPr txBox="1"/>
          <p:nvPr/>
        </p:nvSpPr>
        <p:spPr>
          <a:xfrm>
            <a:off x="1056903" y="2825719"/>
            <a:ext cx="267904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400" dirty="0"/>
              <a:t>Solução Atual: 18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0066BDF-DEC8-413B-BF85-AA3465DB882A}"/>
              </a:ext>
            </a:extLst>
          </p:cNvPr>
          <p:cNvSpPr/>
          <p:nvPr/>
        </p:nvSpPr>
        <p:spPr>
          <a:xfrm>
            <a:off x="5688281" y="2208810"/>
            <a:ext cx="498763" cy="4987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7A8AE100-B9FE-4551-BE8A-491F0E0FDA03}"/>
              </a:ext>
            </a:extLst>
          </p:cNvPr>
          <p:cNvSpPr/>
          <p:nvPr/>
        </p:nvSpPr>
        <p:spPr>
          <a:xfrm>
            <a:off x="6602680" y="3586348"/>
            <a:ext cx="498763" cy="4987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8CD7B0-59A9-62B5-7444-87678A0B640E}"/>
              </a:ext>
            </a:extLst>
          </p:cNvPr>
          <p:cNvSpPr txBox="1"/>
          <p:nvPr/>
        </p:nvSpPr>
        <p:spPr>
          <a:xfrm>
            <a:off x="317500" y="3441680"/>
            <a:ext cx="5461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Depois de aplicar swap(3,1) na solução anterior, a ordem vira [2, 4, 7, 1, 5, 6, 3] e o valor sobe para 18 (solução atual/</a:t>
            </a:r>
            <a:r>
              <a:rPr lang="pt-BR" dirty="0" err="1"/>
              <a:t>best-so-far</a:t>
            </a:r>
            <a:r>
              <a:rPr lang="pt-BR" dirty="0"/>
              <a:t>).</a:t>
            </a:r>
          </a:p>
          <a:p>
            <a:r>
              <a:rPr lang="pt-BR" dirty="0"/>
              <a:t>Na matriz tabu, marcamos o par (1,3) com 3 → esse movimento (e seu inverso) fica proibido por 3 iterações.</a:t>
            </a:r>
          </a:p>
          <a:p>
            <a:r>
              <a:rPr lang="pt-BR" dirty="0"/>
              <a:t>O tabu antigo (4,5), criado na 1ª iteração, decrementa para 2 (ainda proibido por 2 iterações).</a:t>
            </a:r>
          </a:p>
          <a:p>
            <a:r>
              <a:rPr lang="pt-BR" dirty="0"/>
              <a:t>Próximo passo: gerar vizinhos e escolher o melhor admissível (evitando pares tabu), a menos que um movimento tabu satisfaça aspiração (melhora o melhor global).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7562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716665-057A-4E37-B10B-DBEB236DF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7855F25-C504-4AE9-9E32-254D35A1C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094" y="2716665"/>
            <a:ext cx="3667125" cy="282892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7D6BA26-6D2E-6999-397B-DA30B088B82C}"/>
              </a:ext>
            </a:extLst>
          </p:cNvPr>
          <p:cNvSpPr txBox="1"/>
          <p:nvPr/>
        </p:nvSpPr>
        <p:spPr>
          <a:xfrm>
            <a:off x="195943" y="1861457"/>
            <a:ext cx="418011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 = tabu no momento (porque já mexemos nesses pares recentemente):</a:t>
            </a:r>
            <a:br>
              <a:rPr lang="pt-BR" dirty="0"/>
            </a:br>
            <a:r>
              <a:rPr lang="pt-BR" dirty="0"/>
              <a:t>swap(1,3) → −2 (tabu) e swap(4,5) → −7 (tabu).</a:t>
            </a:r>
            <a:br>
              <a:rPr lang="pt-BR" dirty="0"/>
            </a:br>
            <a:r>
              <a:rPr lang="pt-BR" dirty="0"/>
              <a:t>Como ambos pioram o melhor global (18), não passam por aspiração.</a:t>
            </a:r>
          </a:p>
          <a:p>
            <a:r>
              <a:rPr lang="pt-BR" dirty="0"/>
              <a:t>Os admissíveis (não-tabu) são:</a:t>
            </a:r>
          </a:p>
          <a:p>
            <a:pPr lvl="1"/>
            <a:r>
              <a:rPr lang="pt-BR" dirty="0"/>
              <a:t>swap(2,4) → −4</a:t>
            </a:r>
          </a:p>
          <a:p>
            <a:pPr lvl="1"/>
            <a:r>
              <a:rPr lang="pt-BR" dirty="0"/>
              <a:t>swap(7,6) → −6</a:t>
            </a:r>
          </a:p>
          <a:p>
            <a:pPr lvl="1"/>
            <a:r>
              <a:rPr lang="pt-BR" dirty="0"/>
              <a:t>swap(5,3) → −9</a:t>
            </a:r>
          </a:p>
          <a:p>
            <a:r>
              <a:rPr lang="pt-BR" dirty="0"/>
              <a:t>Como não há movimento melhorador, a Busca Tabu segue mesmo assim e escolhe o menos pior admissível (*)(2,4)</a:t>
            </a:r>
            <a:br>
              <a:rPr lang="pt-BR" dirty="0"/>
            </a:br>
            <a:r>
              <a:rPr lang="pt-BR" dirty="0"/>
              <a:t>Aplicando em [2,4,7,1,5,6,3]→ [4,2,7,1,5,6,3], e o valor cai para 14 (18 − 4).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0665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997CD-B26C-4022-98E3-FEEC5CF2F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0769551-1AD6-47C2-A911-E7B415906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752600"/>
            <a:ext cx="7143750" cy="33528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0228885-E01F-4846-980C-7C8733678D3F}"/>
              </a:ext>
            </a:extLst>
          </p:cNvPr>
          <p:cNvSpPr txBox="1"/>
          <p:nvPr/>
        </p:nvSpPr>
        <p:spPr>
          <a:xfrm>
            <a:off x="1056903" y="2825719"/>
            <a:ext cx="267904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400" dirty="0"/>
              <a:t>Solução Atual: 14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2648F946-FECD-42B3-A0E0-491A120BE713}"/>
              </a:ext>
            </a:extLst>
          </p:cNvPr>
          <p:cNvSpPr/>
          <p:nvPr/>
        </p:nvSpPr>
        <p:spPr>
          <a:xfrm>
            <a:off x="5688281" y="2208810"/>
            <a:ext cx="498763" cy="4987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9B87E82-1759-40BD-8777-AD15B006D7E7}"/>
              </a:ext>
            </a:extLst>
          </p:cNvPr>
          <p:cNvSpPr/>
          <p:nvPr/>
        </p:nvSpPr>
        <p:spPr>
          <a:xfrm>
            <a:off x="6602680" y="3586348"/>
            <a:ext cx="498763" cy="4987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D88F956-710D-425B-9587-402C5E0C2313}"/>
              </a:ext>
            </a:extLst>
          </p:cNvPr>
          <p:cNvSpPr/>
          <p:nvPr/>
        </p:nvSpPr>
        <p:spPr>
          <a:xfrm>
            <a:off x="6115050" y="2707573"/>
            <a:ext cx="498763" cy="4987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4093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997CD-B26C-4022-98E3-FEEC5CF2F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79C483E-1769-4C47-87F7-0715CB3F6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50" y="1990725"/>
            <a:ext cx="3771900" cy="287655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9D04F24-096A-4F8F-AE15-DBEE4E766DF2}"/>
              </a:ext>
            </a:extLst>
          </p:cNvPr>
          <p:cNvSpPr txBox="1"/>
          <p:nvPr/>
        </p:nvSpPr>
        <p:spPr>
          <a:xfrm>
            <a:off x="5203825" y="5258456"/>
            <a:ext cx="32226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solidFill>
                  <a:srgbClr val="FF0000"/>
                </a:solidFill>
              </a:rPr>
              <a:t>Critério de Aspiração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04939CA3-C74A-41D8-96A8-C5860D638D66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6222670" y="2945081"/>
            <a:ext cx="592462" cy="23133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FDD91632-84ED-6361-6E4D-ACA710CB68DA}"/>
              </a:ext>
            </a:extLst>
          </p:cNvPr>
          <p:cNvSpPr txBox="1"/>
          <p:nvPr/>
        </p:nvSpPr>
        <p:spPr>
          <a:xfrm>
            <a:off x="80968" y="1489730"/>
            <a:ext cx="260508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Estamos na solução atual [4,2,7,1,5,6,3], valor 14.</a:t>
            </a:r>
          </a:p>
          <a:p>
            <a:r>
              <a:rPr lang="pt-BR" dirty="0"/>
              <a:t>A tabela lista swaps (por módulos) e o </a:t>
            </a:r>
            <a:r>
              <a:rPr lang="pt-BR" dirty="0" err="1"/>
              <a:t>ΔValue</a:t>
            </a:r>
            <a:r>
              <a:rPr lang="pt-BR" dirty="0"/>
              <a:t> que cada um traria.</a:t>
            </a:r>
          </a:p>
          <a:p>
            <a:r>
              <a:rPr lang="pt-BR" dirty="0"/>
              <a:t>T = movimento tabu no momento. Repare que swap(4,5) está tabu e teria +6 → novo valor seria 20 (14 + 6).</a:t>
            </a:r>
          </a:p>
          <a:p>
            <a:r>
              <a:rPr lang="pt-BR" dirty="0"/>
              <a:t>Como 20 &gt; </a:t>
            </a:r>
            <a:r>
              <a:rPr lang="pt-BR" dirty="0" err="1"/>
              <a:t>best-so-far</a:t>
            </a:r>
            <a:r>
              <a:rPr lang="pt-BR" dirty="0"/>
              <a:t> = 18, a aspiração libera o tabu (por isso o T*).</a:t>
            </a:r>
          </a:p>
          <a:p>
            <a:r>
              <a:rPr lang="pt-BR" dirty="0"/>
              <a:t>Então a escolha correta é swap(4,5) mesmo sendo tabu.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176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997CD-B26C-4022-98E3-FEEC5CF2F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72F239D-864D-4F8A-A82F-69D1A325A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7" y="1762125"/>
            <a:ext cx="7172325" cy="333375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6F0AEFE-9E34-4CB4-AFC5-F736484F0C24}"/>
              </a:ext>
            </a:extLst>
          </p:cNvPr>
          <p:cNvSpPr txBox="1"/>
          <p:nvPr/>
        </p:nvSpPr>
        <p:spPr>
          <a:xfrm>
            <a:off x="1056903" y="2825719"/>
            <a:ext cx="267904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400" dirty="0"/>
              <a:t>Solução Atual: 20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874F4B4-2D57-7214-73DD-80BC38E95CDD}"/>
              </a:ext>
            </a:extLst>
          </p:cNvPr>
          <p:cNvSpPr txBox="1"/>
          <p:nvPr/>
        </p:nvSpPr>
        <p:spPr>
          <a:xfrm>
            <a:off x="215900" y="3429000"/>
            <a:ext cx="5486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Depois de aplicar a aspiração e fazer swap(4,5), a sequência ficou [5, 2, 7, 1, 4, 6, 3] e o valor subiu para 20 (novo </a:t>
            </a:r>
            <a:r>
              <a:rPr lang="pt-BR" i="1" dirty="0" err="1"/>
              <a:t>best-so-far</a:t>
            </a:r>
            <a:r>
              <a:rPr lang="pt-BR" dirty="0"/>
              <a:t>).</a:t>
            </a:r>
          </a:p>
          <a:p>
            <a:r>
              <a:rPr lang="pt-BR" dirty="0"/>
              <a:t>A matriz à direita é a lista tabu com o tempo restante (</a:t>
            </a:r>
            <a:r>
              <a:rPr lang="pt-BR" dirty="0" err="1"/>
              <a:t>tenure</a:t>
            </a:r>
            <a:r>
              <a:rPr lang="pt-BR" dirty="0"/>
              <a:t>) de cada par trocado:</a:t>
            </a:r>
          </a:p>
          <a:p>
            <a:r>
              <a:rPr lang="pt-BR" dirty="0"/>
              <a:t>(4,5) = 3 → o movimento recém-feito entra tabu por 3 iterações.</a:t>
            </a:r>
          </a:p>
          <a:p>
            <a:r>
              <a:rPr lang="pt-BR" dirty="0"/>
              <a:t>(2,4) = 2 → herdado da iteração anterior, decrementou.</a:t>
            </a:r>
          </a:p>
          <a:p>
            <a:r>
              <a:rPr lang="pt-BR" dirty="0"/>
              <a:t>(1,3) = 1 → também decrementou.</a:t>
            </a:r>
          </a:p>
          <a:p>
            <a:r>
              <a:rPr lang="pt-BR" dirty="0"/>
              <a:t>Enquanto esses contadores não zerarem, não podemos refazer/desfazer esses pares, a menos que o movimento tabu melhore o </a:t>
            </a:r>
            <a:r>
              <a:rPr lang="pt-BR" dirty="0" err="1"/>
              <a:t>best-so-far</a:t>
            </a:r>
            <a:r>
              <a:rPr lang="pt-BR" dirty="0"/>
              <a:t> (critério de aspiração).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3500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997CD-B26C-4022-98E3-FEEC5CF2F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AD040EB-99A3-4349-9C3E-BE4E4F888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225" y="495785"/>
            <a:ext cx="7724775" cy="41529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6FE997F-1999-478A-827C-0687508D7CB5}"/>
              </a:ext>
            </a:extLst>
          </p:cNvPr>
          <p:cNvSpPr txBox="1"/>
          <p:nvPr/>
        </p:nvSpPr>
        <p:spPr>
          <a:xfrm>
            <a:off x="6133862" y="5774223"/>
            <a:ext cx="267904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400" dirty="0"/>
              <a:t>Solução Atual: 12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0523BEF-E0CE-4409-B2BD-7A1E2DA62CE4}"/>
              </a:ext>
            </a:extLst>
          </p:cNvPr>
          <p:cNvSpPr txBox="1"/>
          <p:nvPr/>
        </p:nvSpPr>
        <p:spPr>
          <a:xfrm>
            <a:off x="6476545" y="5258394"/>
            <a:ext cx="1753507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2400" dirty="0"/>
              <a:t>26ª Iteração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5155A5-8867-DFAE-3FB8-F72F22968748}"/>
              </a:ext>
            </a:extLst>
          </p:cNvPr>
          <p:cNvSpPr txBox="1"/>
          <p:nvPr/>
        </p:nvSpPr>
        <p:spPr>
          <a:xfrm>
            <a:off x="0" y="1971029"/>
            <a:ext cx="5511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Solução atual: [1, 3, 6, 2, 7, 5, 4] com valor 12 (o algoritmo já andou bastante e pode estar explorando para sair de um vale).</a:t>
            </a:r>
          </a:p>
          <a:p>
            <a:r>
              <a:rPr lang="pt-BR" dirty="0"/>
              <a:t>Matriz (triangular): cada célula (</a:t>
            </a:r>
            <a:r>
              <a:rPr lang="pt-BR" dirty="0" err="1"/>
              <a:t>i,j</a:t>
            </a:r>
            <a:r>
              <a:rPr lang="pt-BR" dirty="0"/>
              <a:t>) representa o movimento swap(</a:t>
            </a:r>
            <a:r>
              <a:rPr lang="pt-BR" dirty="0" err="1"/>
              <a:t>i,j</a:t>
            </a:r>
            <a:r>
              <a:rPr lang="pt-BR" dirty="0"/>
              <a:t>) (trocar os módulos </a:t>
            </a:r>
            <a:r>
              <a:rPr lang="pt-BR" i="1" dirty="0"/>
              <a:t>i</a:t>
            </a:r>
            <a:r>
              <a:rPr lang="pt-BR" dirty="0"/>
              <a:t> e </a:t>
            </a:r>
            <a:r>
              <a:rPr lang="pt-BR" i="1" dirty="0"/>
              <a:t>j</a:t>
            </a:r>
            <a:r>
              <a:rPr lang="pt-BR" dirty="0"/>
              <a:t>).</a:t>
            </a:r>
          </a:p>
          <a:p>
            <a:r>
              <a:rPr lang="pt-BR" dirty="0"/>
              <a:t>“Frequency” (eixos de baixo/valores nas células): números dentro das células contam quantas vezes aquele swap foi aceito até agora.</a:t>
            </a:r>
            <a:br>
              <a:rPr lang="pt-BR" dirty="0"/>
            </a:br>
            <a:r>
              <a:rPr lang="pt-BR" dirty="0"/>
              <a:t>→ Servem para diversificação: movimentos muito usados podem receber penalidade (evitar repetir caminhos); raros ganham bônus para explorar regiões novas.</a:t>
            </a:r>
          </a:p>
          <a:p>
            <a:r>
              <a:rPr lang="pt-BR" dirty="0"/>
              <a:t>“</a:t>
            </a:r>
            <a:r>
              <a:rPr lang="pt-BR" dirty="0" err="1"/>
              <a:t>Recency</a:t>
            </a:r>
            <a:r>
              <a:rPr lang="pt-BR" dirty="0"/>
              <a:t>” (lado direito/sombreados): indica quão recente foi o uso do movimento (ou o tempo restante de tabu).</a:t>
            </a:r>
            <a:br>
              <a:rPr lang="pt-BR" dirty="0"/>
            </a:br>
            <a:r>
              <a:rPr lang="pt-BR" dirty="0"/>
              <a:t>→ Células sombreadas/indicadas estão tabu por algumas iterações para evitar ciclos; quando o contador zera, voltam a ser permitidas.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8217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997CD-B26C-4022-98E3-FEEC5CF2F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AD040EB-99A3-4349-9C3E-BE4E4F888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2" y="1841768"/>
            <a:ext cx="7724775" cy="41529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6FE997F-1999-478A-827C-0687508D7CB5}"/>
              </a:ext>
            </a:extLst>
          </p:cNvPr>
          <p:cNvSpPr txBox="1"/>
          <p:nvPr/>
        </p:nvSpPr>
        <p:spPr>
          <a:xfrm>
            <a:off x="709612" y="2967335"/>
            <a:ext cx="267904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400" dirty="0"/>
              <a:t>Solução Atual: 12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0523BEF-E0CE-4409-B2BD-7A1E2DA62CE4}"/>
              </a:ext>
            </a:extLst>
          </p:cNvPr>
          <p:cNvSpPr txBox="1"/>
          <p:nvPr/>
        </p:nvSpPr>
        <p:spPr>
          <a:xfrm>
            <a:off x="3695245" y="1480085"/>
            <a:ext cx="1753507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2400" dirty="0"/>
              <a:t>26ª Iteração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E69F8BC-57FC-4ECC-8EA3-88391A194603}"/>
              </a:ext>
            </a:extLst>
          </p:cNvPr>
          <p:cNvSpPr txBox="1"/>
          <p:nvPr/>
        </p:nvSpPr>
        <p:spPr>
          <a:xfrm>
            <a:off x="380010" y="4495602"/>
            <a:ext cx="372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0000"/>
                </a:solidFill>
              </a:rPr>
              <a:t>Memória de longo prazo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1608AFB-98C9-42D5-BB1B-629FAB6A10DB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108862" y="4757212"/>
            <a:ext cx="1460665" cy="10270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4499CF5-23A4-436E-B4DF-A274F3B20F49}"/>
              </a:ext>
            </a:extLst>
          </p:cNvPr>
          <p:cNvSpPr txBox="1"/>
          <p:nvPr/>
        </p:nvSpPr>
        <p:spPr>
          <a:xfrm>
            <a:off x="7080599" y="5856392"/>
            <a:ext cx="21256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rgbClr val="FF0000"/>
                </a:solidFill>
              </a:rPr>
              <a:t>Memória de </a:t>
            </a:r>
          </a:p>
          <a:p>
            <a:pPr algn="ctr"/>
            <a:r>
              <a:rPr lang="pt-BR" sz="2800" dirty="0">
                <a:solidFill>
                  <a:srgbClr val="FF0000"/>
                </a:solidFill>
              </a:rPr>
              <a:t>Curto prazo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2DD47CE5-DD02-42D0-9A1E-F36BFB1CD464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8143441" y="4297518"/>
            <a:ext cx="0" cy="155887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792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9230DE-9FA9-E8EC-2557-5467FB5B2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pic>
        <p:nvPicPr>
          <p:cNvPr id="6" name="Imagem 5" descr="Diagrama&#10;&#10;Descrição gerada automaticamente">
            <a:extLst>
              <a:ext uri="{FF2B5EF4-FFF2-40B4-BE49-F238E27FC236}">
                <a16:creationId xmlns:a16="http://schemas.microsoft.com/office/drawing/2014/main" id="{D96E8168-F20D-9414-AFC2-2A1C86863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1" y="1254913"/>
            <a:ext cx="6460250" cy="566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250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72A163-6D44-4E45-3A1E-475047523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B2EEDE1-66E8-5C9D-3C0E-E902A2079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977" y="2021774"/>
            <a:ext cx="3692046" cy="370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276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4D171-8D3C-9ECE-D073-A3ED88478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F60A22-B289-6B4E-57D3-3834B5EFD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u="none" dirty="0"/>
              <a:t>Objetivo: posicionar as 8 rainhas de forma que nenhuma ataque outra</a:t>
            </a:r>
          </a:p>
          <a:p>
            <a:pPr marL="0" indent="0" algn="just">
              <a:buNone/>
            </a:pPr>
            <a:endParaRPr lang="pt-BR" u="none" dirty="0"/>
          </a:p>
          <a:p>
            <a:pPr marL="0" indent="0" algn="just">
              <a:buNone/>
            </a:pPr>
            <a:r>
              <a:rPr lang="pt-BR" u="none" dirty="0"/>
              <a:t>Heurística: número de ataques entre pares de rainhas</a:t>
            </a:r>
          </a:p>
          <a:p>
            <a:pPr marL="0" indent="0" algn="just">
              <a:buNone/>
            </a:pPr>
            <a:endParaRPr lang="pt-BR" u="none" dirty="0"/>
          </a:p>
          <a:p>
            <a:pPr marL="0" indent="0" algn="just">
              <a:buNone/>
            </a:pPr>
            <a:r>
              <a:rPr lang="pt-BR" u="none" dirty="0"/>
              <a:t>Objetivo final: número de ataques = 0</a:t>
            </a:r>
          </a:p>
          <a:p>
            <a:pPr marL="0" indent="0" algn="just">
              <a:buNone/>
            </a:pPr>
            <a:endParaRPr lang="pt-BR" u="none" dirty="0"/>
          </a:p>
          <a:p>
            <a:pPr marL="0" indent="0" algn="just">
              <a:buNone/>
            </a:pPr>
            <a:r>
              <a:rPr lang="pt-BR" u="none" dirty="0"/>
              <a:t>Exploração do espaço de busca dá-se pela mudança de posição de cada uma das rainhas.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4839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9AD9C6-35D6-D53B-BEC6-90C1FC854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83042C1-DE48-06EA-562E-6C7E9C6EE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469" y="1710048"/>
            <a:ext cx="4243062" cy="425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834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84C6F-A991-C941-8CA8-7F7B879F4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9240-C1E6-30DC-78EA-1ED777A29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u="none" dirty="0"/>
              <a:t>Solução inicial: cada rainha é posta em uma coluna diferente</a:t>
            </a:r>
          </a:p>
          <a:p>
            <a:pPr marL="0" indent="0" algn="just">
              <a:buNone/>
            </a:pPr>
            <a:endParaRPr lang="pt-BR" u="none" dirty="0"/>
          </a:p>
          <a:p>
            <a:pPr marL="0" indent="0" algn="just">
              <a:buNone/>
            </a:pPr>
            <a:r>
              <a:rPr lang="pt-BR" u="none" dirty="0"/>
              <a:t>Ao longo da execução uma rainha não muda de coluna, apenas de linha</a:t>
            </a:r>
          </a:p>
          <a:p>
            <a:pPr marL="0" indent="0" algn="just">
              <a:buNone/>
            </a:pPr>
            <a:endParaRPr lang="pt-BR" u="none" dirty="0"/>
          </a:p>
          <a:p>
            <a:pPr marL="0" indent="0" algn="just">
              <a:buNone/>
            </a:pPr>
            <a:r>
              <a:rPr lang="pt-BR" u="none" dirty="0"/>
              <a:t>Para cada iteração é permitido então, a cada rainha, sete possíveis movimentos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52330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34AA0-277A-A821-103C-C07E5F9E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2380D-55CB-F6AD-88F7-BBA03B8E7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u="none" dirty="0"/>
              <a:t>Simplificando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DF2CDCE-EED4-938C-6B8E-7746E312B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769" y="2829719"/>
            <a:ext cx="2390775" cy="234315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752487A-2701-7426-8C4E-5A7831BD5CC2}"/>
              </a:ext>
            </a:extLst>
          </p:cNvPr>
          <p:cNvSpPr txBox="1"/>
          <p:nvPr/>
        </p:nvSpPr>
        <p:spPr>
          <a:xfrm>
            <a:off x="628650" y="2612571"/>
            <a:ext cx="54959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Regras: colocar 1 rainha por coluna, sem ataques em linhas nem diagonais.</a:t>
            </a:r>
          </a:p>
          <a:p>
            <a:endParaRPr lang="pt-BR" dirty="0"/>
          </a:p>
          <a:p>
            <a:r>
              <a:rPr lang="pt-BR" dirty="0"/>
              <a:t>Função-objetivo: número de pares em ataque (queremos 0). No tabuleiro mostrado há ataques porque temos duas rainhas na mesma linha (linha 2) e duas na mesma linha (linha 4), além de diagonais.</a:t>
            </a:r>
          </a:p>
          <a:p>
            <a:endParaRPr lang="pt-BR" dirty="0"/>
          </a:p>
          <a:p>
            <a:r>
              <a:rPr lang="pt-BR" dirty="0"/>
              <a:t>Vizinhança (movimento): escolher uma coluna e mover a sua rainha para outra linha. Isso gera os vizinhos que a Busca Tabu avalia; o movimento feito entra na lista tabu por algumas iterações para evitar desfazer imediatamente.</a:t>
            </a:r>
          </a:p>
        </p:txBody>
      </p:sp>
    </p:spTree>
    <p:extLst>
      <p:ext uri="{BB962C8B-B14F-4D97-AF65-F5344CB8AC3E}">
        <p14:creationId xmlns:p14="http://schemas.microsoft.com/office/powerpoint/2010/main" val="264852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34AA0-277A-A821-103C-C07E5F9E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2380D-55CB-F6AD-88F7-BBA03B8E7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u="none" dirty="0"/>
              <a:t>Simplificando</a:t>
            </a:r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endParaRPr lang="pt-BR" u="none" dirty="0"/>
          </a:p>
          <a:p>
            <a:r>
              <a:rPr lang="pt-BR" u="none" dirty="0"/>
              <a:t>Vamos usar uma lista tabu de tamanho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DF2CDCE-EED4-938C-6B8E-7746E312B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612" y="2589933"/>
            <a:ext cx="2390775" cy="23431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0EFB2E9-7B7A-B002-201F-B7351239BD3C}"/>
              </a:ext>
            </a:extLst>
          </p:cNvPr>
          <p:cNvSpPr txBox="1"/>
          <p:nvPr/>
        </p:nvSpPr>
        <p:spPr>
          <a:xfrm>
            <a:off x="3586348" y="4770193"/>
            <a:ext cx="2181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1    2     3    4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A224F98-6587-9C40-47F1-0090E1E88BFC}"/>
              </a:ext>
            </a:extLst>
          </p:cNvPr>
          <p:cNvSpPr txBox="1"/>
          <p:nvPr/>
        </p:nvSpPr>
        <p:spPr>
          <a:xfrm rot="5400000">
            <a:off x="2309450" y="3499898"/>
            <a:ext cx="2203039" cy="52322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pt-BR" sz="2800" dirty="0"/>
              <a:t>1    2     3    4</a:t>
            </a:r>
          </a:p>
        </p:txBody>
      </p:sp>
    </p:spTree>
    <p:extLst>
      <p:ext uri="{BB962C8B-B14F-4D97-AF65-F5344CB8AC3E}">
        <p14:creationId xmlns:p14="http://schemas.microsoft.com/office/powerpoint/2010/main" val="1148094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34AA0-277A-A821-103C-C07E5F9E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2380D-55CB-F6AD-88F7-BBA03B8E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0" y="1635125"/>
            <a:ext cx="3943350" cy="4351338"/>
          </a:xfrm>
        </p:spPr>
        <p:txBody>
          <a:bodyPr>
            <a:normAutofit fontScale="92500"/>
          </a:bodyPr>
          <a:lstStyle/>
          <a:p>
            <a:pPr algn="ctr"/>
            <a:r>
              <a:rPr lang="pt-BR" u="none" dirty="0"/>
              <a:t>Calculando a solução</a:t>
            </a:r>
          </a:p>
          <a:p>
            <a:pPr algn="ctr"/>
            <a:endParaRPr lang="pt-BR" u="none" dirty="0"/>
          </a:p>
          <a:p>
            <a:pPr algn="ctr"/>
            <a:r>
              <a:rPr lang="pt-BR" u="none" dirty="0"/>
              <a:t>R1 </a:t>
            </a:r>
            <a:r>
              <a:rPr lang="pt-BR" u="none" dirty="0">
                <a:sym typeface="Wingdings" panose="05000000000000000000" pitchFamily="2" charset="2"/>
              </a:rPr>
              <a:t> R4</a:t>
            </a:r>
          </a:p>
          <a:p>
            <a:pPr algn="ctr"/>
            <a:r>
              <a:rPr lang="pt-BR" u="none" dirty="0">
                <a:sym typeface="Wingdings" panose="05000000000000000000" pitchFamily="2" charset="2"/>
              </a:rPr>
              <a:t>R1  R2</a:t>
            </a:r>
          </a:p>
          <a:p>
            <a:pPr algn="ctr"/>
            <a:r>
              <a:rPr lang="pt-BR" u="none" dirty="0">
                <a:sym typeface="Wingdings" panose="05000000000000000000" pitchFamily="2" charset="2"/>
              </a:rPr>
              <a:t>R2  R3</a:t>
            </a:r>
          </a:p>
          <a:p>
            <a:pPr algn="ctr"/>
            <a:r>
              <a:rPr lang="pt-BR" u="none" dirty="0">
                <a:sym typeface="Wingdings" panose="05000000000000000000" pitchFamily="2" charset="2"/>
              </a:rPr>
              <a:t>R2  R4</a:t>
            </a:r>
          </a:p>
          <a:p>
            <a:pPr algn="ctr"/>
            <a:endParaRPr lang="pt-BR" u="none" dirty="0">
              <a:sym typeface="Wingdings" panose="05000000000000000000" pitchFamily="2" charset="2"/>
            </a:endParaRPr>
          </a:p>
          <a:p>
            <a:pPr algn="ctr"/>
            <a:r>
              <a:rPr lang="pt-BR" u="none" dirty="0">
                <a:sym typeface="Wingdings" panose="05000000000000000000" pitchFamily="2" charset="2"/>
              </a:rPr>
              <a:t>Solução Inicial = 4 ataques</a:t>
            </a:r>
          </a:p>
          <a:p>
            <a:pPr algn="ctr"/>
            <a:r>
              <a:rPr lang="pt-BR" u="none" dirty="0">
                <a:sym typeface="Wingdings" panose="05000000000000000000" pitchFamily="2" charset="2"/>
              </a:rPr>
              <a:t>Melhor = 4</a:t>
            </a:r>
            <a:endParaRPr lang="pt-BR" u="none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343143E-7BC6-1EE8-7DB4-B31CAE477600}"/>
              </a:ext>
            </a:extLst>
          </p:cNvPr>
          <p:cNvGrpSpPr/>
          <p:nvPr/>
        </p:nvGrpSpPr>
        <p:grpSpPr>
          <a:xfrm>
            <a:off x="6525973" y="2192354"/>
            <a:ext cx="2618027" cy="2703480"/>
            <a:chOff x="3149360" y="2589933"/>
            <a:chExt cx="2618027" cy="270348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DF2CDCE-EED4-938C-6B8E-7746E312B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6612" y="2589933"/>
              <a:ext cx="2390775" cy="2343150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B0EFB2E9-7B7A-B002-201F-B7351239BD3C}"/>
                </a:ext>
              </a:extLst>
            </p:cNvPr>
            <p:cNvSpPr txBox="1"/>
            <p:nvPr/>
          </p:nvSpPr>
          <p:spPr>
            <a:xfrm>
              <a:off x="3586348" y="4770193"/>
              <a:ext cx="2181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/>
                <a:t>1    2     3    4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A224F98-6587-9C40-47F1-0090E1E88BFC}"/>
                </a:ext>
              </a:extLst>
            </p:cNvPr>
            <p:cNvSpPr txBox="1"/>
            <p:nvPr/>
          </p:nvSpPr>
          <p:spPr>
            <a:xfrm rot="5400000">
              <a:off x="2309450" y="3499898"/>
              <a:ext cx="2203039" cy="523220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pt-BR" sz="2800" dirty="0"/>
                <a:t>1    2     3    4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E39ECE55-C63B-3832-9803-B08157DA1350}"/>
              </a:ext>
            </a:extLst>
          </p:cNvPr>
          <p:cNvSpPr txBox="1"/>
          <p:nvPr/>
        </p:nvSpPr>
        <p:spPr>
          <a:xfrm>
            <a:off x="0" y="1536700"/>
            <a:ext cx="3810000" cy="5194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tabuleiro à direita é a configuração atual; o texto “Solução Inicial = 4 ataques” diz que, nesse arranjo, existem 4 conflitos.</a:t>
            </a:r>
          </a:p>
          <a:p>
            <a:r>
              <a:rPr lang="pt-BR" dirty="0"/>
              <a:t>A lista de setas (“R1 → R4, R1 → R2, R2 → R3, R2 → R4”) está enumerando vizinhos:</a:t>
            </a:r>
          </a:p>
          <a:p>
            <a:r>
              <a:rPr lang="pt-BR" dirty="0"/>
              <a:t>R1 = rainha da coluna 1; movê-la para a linha 4 (ou para a 2).</a:t>
            </a:r>
          </a:p>
          <a:p>
            <a:r>
              <a:rPr lang="pt-BR" dirty="0"/>
              <a:t>R2 = rainha da coluna 2; movê-la para a linha 3 (ou para a 4).</a:t>
            </a:r>
          </a:p>
          <a:p>
            <a:r>
              <a:rPr lang="pt-BR" dirty="0"/>
              <a:t>(Faria o mesmo para as colunas 3 e 4.)</a:t>
            </a:r>
          </a:p>
          <a:p>
            <a:r>
              <a:rPr lang="pt-BR" dirty="0"/>
              <a:t>Para cada candidato, recalcula-se quantos ataques haveria. O “Melhor = 4” indica que nenhum movimento melhora (o melhor vizinho ainda tem 4 conflitos).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3997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34AA0-277A-A821-103C-C07E5F9E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2380D-55CB-F6AD-88F7-BBA03B8E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/>
          <a:lstStyle/>
          <a:p>
            <a:pPr algn="ctr"/>
            <a:r>
              <a:rPr lang="pt-BR" u="none" dirty="0"/>
              <a:t>Definindo a vizinhança</a:t>
            </a:r>
          </a:p>
          <a:p>
            <a:pPr algn="ctr"/>
            <a:endParaRPr lang="pt-BR" u="none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u="none" dirty="0">
                <a:sym typeface="Wingdings" panose="05000000000000000000" pitchFamily="2" charset="2"/>
              </a:rPr>
              <a:t>Cada rainha pode se mover para 3 posições diferentes</a:t>
            </a:r>
          </a:p>
          <a:p>
            <a:pPr algn="just"/>
            <a:endParaRPr lang="pt-BR" sz="2400" u="none" dirty="0">
              <a:sym typeface="Wingdings" panose="05000000000000000000" pitchFamily="2" charset="2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u="none" dirty="0">
                <a:sym typeface="Wingdings" panose="05000000000000000000" pitchFamily="2" charset="2"/>
              </a:rPr>
              <a:t>Assim, cada solução tem 12 vizinhos</a:t>
            </a:r>
          </a:p>
          <a:p>
            <a:pPr algn="just"/>
            <a:endParaRPr lang="pt-BR" u="none" dirty="0">
              <a:sym typeface="Wingdings" panose="05000000000000000000" pitchFamily="2" charset="2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343143E-7BC6-1EE8-7DB4-B31CAE477600}"/>
              </a:ext>
            </a:extLst>
          </p:cNvPr>
          <p:cNvGrpSpPr/>
          <p:nvPr/>
        </p:nvGrpSpPr>
        <p:grpSpPr>
          <a:xfrm>
            <a:off x="5678805" y="2649554"/>
            <a:ext cx="2618027" cy="2703480"/>
            <a:chOff x="3149360" y="2589933"/>
            <a:chExt cx="2618027" cy="270348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DF2CDCE-EED4-938C-6B8E-7746E312B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6612" y="2589933"/>
              <a:ext cx="2390775" cy="2343150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B0EFB2E9-7B7A-B002-201F-B7351239BD3C}"/>
                </a:ext>
              </a:extLst>
            </p:cNvPr>
            <p:cNvSpPr txBox="1"/>
            <p:nvPr/>
          </p:nvSpPr>
          <p:spPr>
            <a:xfrm>
              <a:off x="3586348" y="4770193"/>
              <a:ext cx="2181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/>
                <a:t>1    2     3    4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A224F98-6587-9C40-47F1-0090E1E88BFC}"/>
                </a:ext>
              </a:extLst>
            </p:cNvPr>
            <p:cNvSpPr txBox="1"/>
            <p:nvPr/>
          </p:nvSpPr>
          <p:spPr>
            <a:xfrm rot="5400000">
              <a:off x="2309450" y="3499898"/>
              <a:ext cx="2203039" cy="523220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pt-BR" sz="2800" dirty="0"/>
                <a:t>1    2     3    4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1211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34AA0-277A-A821-103C-C07E5F9E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2380D-55CB-F6AD-88F7-BBA03B8E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/>
          <a:lstStyle/>
          <a:p>
            <a:pPr algn="ctr"/>
            <a:r>
              <a:rPr lang="pt-BR" u="none" dirty="0"/>
              <a:t>Definindo a vizinhança</a:t>
            </a:r>
          </a:p>
          <a:p>
            <a:pPr algn="ctr"/>
            <a:endParaRPr lang="pt-BR" u="none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u="none" dirty="0">
                <a:sym typeface="Wingdings" panose="05000000000000000000" pitchFamily="2" charset="2"/>
              </a:rPr>
              <a:t>Cada rainha pode se mover para 3 posições diferentes</a:t>
            </a:r>
          </a:p>
          <a:p>
            <a:pPr algn="just"/>
            <a:endParaRPr lang="pt-BR" sz="2400" u="none" dirty="0">
              <a:sym typeface="Wingdings" panose="05000000000000000000" pitchFamily="2" charset="2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u="none" dirty="0">
                <a:sym typeface="Wingdings" panose="05000000000000000000" pitchFamily="2" charset="2"/>
              </a:rPr>
              <a:t>Assim, cada solução tem 12 vizinhos</a:t>
            </a:r>
          </a:p>
          <a:p>
            <a:pPr algn="just"/>
            <a:endParaRPr lang="pt-BR" u="none" dirty="0">
              <a:sym typeface="Wingdings" panose="05000000000000000000" pitchFamily="2" charset="2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343143E-7BC6-1EE8-7DB4-B31CAE477600}"/>
              </a:ext>
            </a:extLst>
          </p:cNvPr>
          <p:cNvGrpSpPr/>
          <p:nvPr/>
        </p:nvGrpSpPr>
        <p:grpSpPr>
          <a:xfrm>
            <a:off x="5678805" y="2649554"/>
            <a:ext cx="2618027" cy="2703480"/>
            <a:chOff x="3149360" y="2589933"/>
            <a:chExt cx="2618027" cy="270348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DF2CDCE-EED4-938C-6B8E-7746E312B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6612" y="2589933"/>
              <a:ext cx="2390775" cy="2343150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B0EFB2E9-7B7A-B002-201F-B7351239BD3C}"/>
                </a:ext>
              </a:extLst>
            </p:cNvPr>
            <p:cNvSpPr txBox="1"/>
            <p:nvPr/>
          </p:nvSpPr>
          <p:spPr>
            <a:xfrm>
              <a:off x="3586348" y="4770193"/>
              <a:ext cx="2181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/>
                <a:t>1    2     3    4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A224F98-6587-9C40-47F1-0090E1E88BFC}"/>
                </a:ext>
              </a:extLst>
            </p:cNvPr>
            <p:cNvSpPr txBox="1"/>
            <p:nvPr/>
          </p:nvSpPr>
          <p:spPr>
            <a:xfrm rot="5400000">
              <a:off x="2309450" y="3499898"/>
              <a:ext cx="2203039" cy="523220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pt-BR" sz="2800" dirty="0"/>
                <a:t>1    2     3    4</a:t>
              </a:r>
            </a:p>
          </p:txBody>
        </p:sp>
      </p:grpSp>
      <p:sp>
        <p:nvSpPr>
          <p:cNvPr id="9" name="Explosão: 14 Pontos 8">
            <a:extLst>
              <a:ext uri="{FF2B5EF4-FFF2-40B4-BE49-F238E27FC236}">
                <a16:creationId xmlns:a16="http://schemas.microsoft.com/office/drawing/2014/main" id="{BA4A97F2-0BCA-2756-BCCD-43AB426C2227}"/>
              </a:ext>
            </a:extLst>
          </p:cNvPr>
          <p:cNvSpPr/>
          <p:nvPr/>
        </p:nvSpPr>
        <p:spPr>
          <a:xfrm>
            <a:off x="1037173" y="1852825"/>
            <a:ext cx="7612083" cy="4001867"/>
          </a:xfrm>
          <a:prstGeom prst="irregularSeal2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D7AF081-00F6-2C0B-3A84-801CEBDAEA3F}"/>
              </a:ext>
            </a:extLst>
          </p:cNvPr>
          <p:cNvSpPr txBox="1"/>
          <p:nvPr/>
        </p:nvSpPr>
        <p:spPr>
          <a:xfrm rot="20677382">
            <a:off x="2706536" y="2994744"/>
            <a:ext cx="37309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rgbClr val="FFFF00"/>
                </a:solidFill>
              </a:rPr>
              <a:t>Importante!</a:t>
            </a:r>
          </a:p>
          <a:p>
            <a:pPr algn="ctr"/>
            <a:endParaRPr lang="pt-BR" sz="2000" b="1" dirty="0">
              <a:solidFill>
                <a:srgbClr val="FFFF00"/>
              </a:solidFill>
            </a:endParaRPr>
          </a:p>
          <a:p>
            <a:pPr algn="ctr"/>
            <a:r>
              <a:rPr lang="pt-BR" sz="2000" b="1" dirty="0">
                <a:solidFill>
                  <a:srgbClr val="FFFF00"/>
                </a:solidFill>
              </a:rPr>
              <a:t>Os vizinhos da solução atual são aqueles obtidos a partir de um único movimento!</a:t>
            </a:r>
          </a:p>
        </p:txBody>
      </p:sp>
    </p:spTree>
    <p:extLst>
      <p:ext uri="{BB962C8B-B14F-4D97-AF65-F5344CB8AC3E}">
        <p14:creationId xmlns:p14="http://schemas.microsoft.com/office/powerpoint/2010/main" val="32638918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34AA0-277A-A821-103C-C07E5F9E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2380D-55CB-F6AD-88F7-BBA03B8E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pt-BR" u="none" dirty="0">
                <a:sym typeface="Wingdings" panose="05000000000000000000" pitchFamily="2" charset="2"/>
              </a:rPr>
              <a:t>R1 ir para (1,1)</a:t>
            </a:r>
          </a:p>
          <a:p>
            <a:pPr algn="ctr"/>
            <a:r>
              <a:rPr lang="pt-BR" u="none" dirty="0">
                <a:sym typeface="Wingdings" panose="05000000000000000000" pitchFamily="2" charset="2"/>
              </a:rPr>
              <a:t>R1 ir para (3,1)</a:t>
            </a:r>
          </a:p>
          <a:p>
            <a:pPr algn="ctr"/>
            <a:r>
              <a:rPr lang="pt-BR" u="none" dirty="0">
                <a:sym typeface="Wingdings" panose="05000000000000000000" pitchFamily="2" charset="2"/>
              </a:rPr>
              <a:t>R1 ir para (4,1)</a:t>
            </a:r>
          </a:p>
          <a:p>
            <a:pPr algn="ctr"/>
            <a:r>
              <a:rPr lang="pt-BR" u="none" dirty="0">
                <a:sym typeface="Wingdings" panose="05000000000000000000" pitchFamily="2" charset="2"/>
              </a:rPr>
              <a:t>R2 ir para (1,2)</a:t>
            </a:r>
          </a:p>
          <a:p>
            <a:pPr algn="ctr"/>
            <a:r>
              <a:rPr lang="pt-BR" u="none" dirty="0">
                <a:sym typeface="Wingdings" panose="05000000000000000000" pitchFamily="2" charset="2"/>
              </a:rPr>
              <a:t>R2 ir para (2,2)</a:t>
            </a:r>
          </a:p>
          <a:p>
            <a:pPr algn="ctr"/>
            <a:r>
              <a:rPr lang="pt-BR" u="none" dirty="0">
                <a:sym typeface="Wingdings" panose="05000000000000000000" pitchFamily="2" charset="2"/>
              </a:rPr>
              <a:t>R2 ir para (3,2)</a:t>
            </a:r>
          </a:p>
          <a:p>
            <a:pPr algn="ctr"/>
            <a:r>
              <a:rPr lang="pt-BR" u="none" dirty="0">
                <a:sym typeface="Wingdings" panose="05000000000000000000" pitchFamily="2" charset="2"/>
              </a:rPr>
              <a:t>R3 ir para (1,3)</a:t>
            </a:r>
          </a:p>
          <a:p>
            <a:pPr algn="ctr"/>
            <a:r>
              <a:rPr lang="pt-BR" u="none" dirty="0">
                <a:sym typeface="Wingdings" panose="05000000000000000000" pitchFamily="2" charset="2"/>
              </a:rPr>
              <a:t>R3 ir para (2,3)</a:t>
            </a:r>
          </a:p>
          <a:p>
            <a:pPr algn="ctr"/>
            <a:r>
              <a:rPr lang="pt-BR" u="none" dirty="0">
                <a:sym typeface="Wingdings" panose="05000000000000000000" pitchFamily="2" charset="2"/>
              </a:rPr>
              <a:t>R3 ir para (3,3)</a:t>
            </a:r>
          </a:p>
          <a:p>
            <a:pPr algn="ctr"/>
            <a:r>
              <a:rPr lang="pt-BR" u="none" dirty="0">
                <a:sym typeface="Wingdings" panose="05000000000000000000" pitchFamily="2" charset="2"/>
              </a:rPr>
              <a:t>R4 ir para (1,4)</a:t>
            </a:r>
          </a:p>
          <a:p>
            <a:pPr algn="ctr"/>
            <a:r>
              <a:rPr lang="pt-BR" u="none" dirty="0">
                <a:sym typeface="Wingdings" panose="05000000000000000000" pitchFamily="2" charset="2"/>
              </a:rPr>
              <a:t>R4 ir para (3,4)</a:t>
            </a:r>
          </a:p>
          <a:p>
            <a:pPr algn="ctr"/>
            <a:r>
              <a:rPr lang="pt-BR" u="none" dirty="0">
                <a:sym typeface="Wingdings" panose="05000000000000000000" pitchFamily="2" charset="2"/>
              </a:rPr>
              <a:t>R4 ir para (4,4)</a:t>
            </a:r>
          </a:p>
          <a:p>
            <a:pPr algn="ctr"/>
            <a:endParaRPr lang="pt-BR" u="none" dirty="0">
              <a:sym typeface="Wingdings" panose="05000000000000000000" pitchFamily="2" charset="2"/>
            </a:endParaRPr>
          </a:p>
          <a:p>
            <a:pPr algn="ctr"/>
            <a:endParaRPr lang="pt-BR" u="none" dirty="0">
              <a:sym typeface="Wingdings" panose="05000000000000000000" pitchFamily="2" charset="2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343143E-7BC6-1EE8-7DB4-B31CAE477600}"/>
              </a:ext>
            </a:extLst>
          </p:cNvPr>
          <p:cNvGrpSpPr/>
          <p:nvPr/>
        </p:nvGrpSpPr>
        <p:grpSpPr>
          <a:xfrm>
            <a:off x="5678805" y="2649554"/>
            <a:ext cx="2618027" cy="2703480"/>
            <a:chOff x="3149360" y="2589933"/>
            <a:chExt cx="2618027" cy="270348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DF2CDCE-EED4-938C-6B8E-7746E312B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6612" y="2589933"/>
              <a:ext cx="2390775" cy="2343150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B0EFB2E9-7B7A-B002-201F-B7351239BD3C}"/>
                </a:ext>
              </a:extLst>
            </p:cNvPr>
            <p:cNvSpPr txBox="1"/>
            <p:nvPr/>
          </p:nvSpPr>
          <p:spPr>
            <a:xfrm>
              <a:off x="3586348" y="4770193"/>
              <a:ext cx="2181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/>
                <a:t>1    2     3    4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A224F98-6587-9C40-47F1-0090E1E88BFC}"/>
                </a:ext>
              </a:extLst>
            </p:cNvPr>
            <p:cNvSpPr txBox="1"/>
            <p:nvPr/>
          </p:nvSpPr>
          <p:spPr>
            <a:xfrm rot="5400000">
              <a:off x="2309450" y="3499898"/>
              <a:ext cx="2203039" cy="523220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pt-BR" sz="2800" dirty="0"/>
                <a:t>1    2     3    4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36492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34AA0-277A-A821-103C-C07E5F9E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2380D-55CB-F6AD-88F7-BBA03B8E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>
            <a:normAutofit fontScale="77500" lnSpcReduction="20000"/>
          </a:bodyPr>
          <a:lstStyle/>
          <a:p>
            <a:r>
              <a:rPr lang="pt-BR" u="none" dirty="0">
                <a:sym typeface="Wingdings" panose="05000000000000000000" pitchFamily="2" charset="2"/>
              </a:rPr>
              <a:t>R1 ir para (1,1)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(3,1)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(4,1)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(1,2)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(2,2)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(3,2)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(1,3)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(2,3)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(3,3)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(1,4)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(3,4)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(4,4)</a:t>
            </a:r>
          </a:p>
          <a:p>
            <a:endParaRPr lang="pt-BR" u="none" dirty="0">
              <a:sym typeface="Wingdings" panose="05000000000000000000" pitchFamily="2" charset="2"/>
            </a:endParaRPr>
          </a:p>
          <a:p>
            <a:endParaRPr lang="pt-BR" u="none" dirty="0">
              <a:sym typeface="Wingdings" panose="05000000000000000000" pitchFamily="2" charset="2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343143E-7BC6-1EE8-7DB4-B31CAE477600}"/>
              </a:ext>
            </a:extLst>
          </p:cNvPr>
          <p:cNvGrpSpPr/>
          <p:nvPr/>
        </p:nvGrpSpPr>
        <p:grpSpPr>
          <a:xfrm>
            <a:off x="5678805" y="2649554"/>
            <a:ext cx="2618027" cy="2703480"/>
            <a:chOff x="3149360" y="2589933"/>
            <a:chExt cx="2618027" cy="270348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DF2CDCE-EED4-938C-6B8E-7746E312B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6612" y="2589933"/>
              <a:ext cx="2390775" cy="2343150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B0EFB2E9-7B7A-B002-201F-B7351239BD3C}"/>
                </a:ext>
              </a:extLst>
            </p:cNvPr>
            <p:cNvSpPr txBox="1"/>
            <p:nvPr/>
          </p:nvSpPr>
          <p:spPr>
            <a:xfrm>
              <a:off x="3586348" y="4770193"/>
              <a:ext cx="2181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/>
                <a:t>1    2     3    4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A224F98-6587-9C40-47F1-0090E1E88BFC}"/>
                </a:ext>
              </a:extLst>
            </p:cNvPr>
            <p:cNvSpPr txBox="1"/>
            <p:nvPr/>
          </p:nvSpPr>
          <p:spPr>
            <a:xfrm rot="5400000">
              <a:off x="2309450" y="3499898"/>
              <a:ext cx="2203039" cy="523220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pt-BR" sz="2800" dirty="0"/>
                <a:t>1    2     3    4</a:t>
              </a:r>
            </a:p>
          </p:txBody>
        </p:sp>
      </p:grpSp>
      <p:sp>
        <p:nvSpPr>
          <p:cNvPr id="9" name="Sinal de Multiplicação 8">
            <a:extLst>
              <a:ext uri="{FF2B5EF4-FFF2-40B4-BE49-F238E27FC236}">
                <a16:creationId xmlns:a16="http://schemas.microsoft.com/office/drawing/2014/main" id="{7F23D34C-48F7-D58B-2040-CFA86E338710}"/>
              </a:ext>
            </a:extLst>
          </p:cNvPr>
          <p:cNvSpPr/>
          <p:nvPr/>
        </p:nvSpPr>
        <p:spPr>
          <a:xfrm>
            <a:off x="5976039" y="2695859"/>
            <a:ext cx="614346" cy="614346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69800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34AA0-277A-A821-103C-C07E5F9E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2380D-55CB-F6AD-88F7-BBA03B8E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>
            <a:normAutofit fontScale="77500" lnSpcReduction="20000"/>
          </a:bodyPr>
          <a:lstStyle/>
          <a:p>
            <a:r>
              <a:rPr lang="pt-BR" u="none" dirty="0">
                <a:sym typeface="Wingdings" panose="05000000000000000000" pitchFamily="2" charset="2"/>
              </a:rPr>
              <a:t>R1 ir para (1,1)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(3,1)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(4,1)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(1,2)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(2,2)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(3,2)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(1,3)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(2,3)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(3,3)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(1,4)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(3,4)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(4,4)</a:t>
            </a:r>
          </a:p>
          <a:p>
            <a:endParaRPr lang="pt-BR" u="none" dirty="0">
              <a:sym typeface="Wingdings" panose="05000000000000000000" pitchFamily="2" charset="2"/>
            </a:endParaRPr>
          </a:p>
          <a:p>
            <a:endParaRPr lang="pt-BR" u="none" dirty="0">
              <a:sym typeface="Wingdings" panose="05000000000000000000" pitchFamily="2" charset="2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343143E-7BC6-1EE8-7DB4-B31CAE477600}"/>
              </a:ext>
            </a:extLst>
          </p:cNvPr>
          <p:cNvGrpSpPr/>
          <p:nvPr/>
        </p:nvGrpSpPr>
        <p:grpSpPr>
          <a:xfrm>
            <a:off x="5678805" y="2649554"/>
            <a:ext cx="2618027" cy="2703480"/>
            <a:chOff x="3149360" y="2589933"/>
            <a:chExt cx="2618027" cy="270348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DF2CDCE-EED4-938C-6B8E-7746E312B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6612" y="2589933"/>
              <a:ext cx="2390775" cy="2343150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B0EFB2E9-7B7A-B002-201F-B7351239BD3C}"/>
                </a:ext>
              </a:extLst>
            </p:cNvPr>
            <p:cNvSpPr txBox="1"/>
            <p:nvPr/>
          </p:nvSpPr>
          <p:spPr>
            <a:xfrm>
              <a:off x="3586348" y="4770193"/>
              <a:ext cx="2181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/>
                <a:t>1    2     3    4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A224F98-6587-9C40-47F1-0090E1E88BFC}"/>
                </a:ext>
              </a:extLst>
            </p:cNvPr>
            <p:cNvSpPr txBox="1"/>
            <p:nvPr/>
          </p:nvSpPr>
          <p:spPr>
            <a:xfrm rot="5400000">
              <a:off x="2309450" y="3499898"/>
              <a:ext cx="2203039" cy="523220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pt-BR" sz="2800" dirty="0"/>
                <a:t>1    2     3    4</a:t>
              </a:r>
            </a:p>
          </p:txBody>
        </p:sp>
      </p:grpSp>
      <p:sp>
        <p:nvSpPr>
          <p:cNvPr id="9" name="Sinal de Multiplicação 8">
            <a:extLst>
              <a:ext uri="{FF2B5EF4-FFF2-40B4-BE49-F238E27FC236}">
                <a16:creationId xmlns:a16="http://schemas.microsoft.com/office/drawing/2014/main" id="{7F23D34C-48F7-D58B-2040-CFA86E338710}"/>
              </a:ext>
            </a:extLst>
          </p:cNvPr>
          <p:cNvSpPr/>
          <p:nvPr/>
        </p:nvSpPr>
        <p:spPr>
          <a:xfrm>
            <a:off x="5976039" y="3782040"/>
            <a:ext cx="614346" cy="614346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06441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34AA0-277A-A821-103C-C07E5F9E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2380D-55CB-F6AD-88F7-BBA03B8E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>
            <a:normAutofit fontScale="77500" lnSpcReduction="20000"/>
          </a:bodyPr>
          <a:lstStyle/>
          <a:p>
            <a:r>
              <a:rPr lang="pt-BR" u="none" dirty="0">
                <a:sym typeface="Wingdings" panose="05000000000000000000" pitchFamily="2" charset="2"/>
              </a:rPr>
              <a:t>R1 ir para (1,1)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(3,1)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(4,1)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(1,2)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(2,2)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(3,2)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(1,3)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(2,3)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(3,3)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(1,4)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(3,4)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(4,4)</a:t>
            </a:r>
          </a:p>
          <a:p>
            <a:endParaRPr lang="pt-BR" u="none" dirty="0">
              <a:sym typeface="Wingdings" panose="05000000000000000000" pitchFamily="2" charset="2"/>
            </a:endParaRPr>
          </a:p>
          <a:p>
            <a:endParaRPr lang="pt-BR" u="none" dirty="0">
              <a:sym typeface="Wingdings" panose="05000000000000000000" pitchFamily="2" charset="2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343143E-7BC6-1EE8-7DB4-B31CAE477600}"/>
              </a:ext>
            </a:extLst>
          </p:cNvPr>
          <p:cNvGrpSpPr/>
          <p:nvPr/>
        </p:nvGrpSpPr>
        <p:grpSpPr>
          <a:xfrm>
            <a:off x="5678805" y="2649554"/>
            <a:ext cx="2618027" cy="2703480"/>
            <a:chOff x="3149360" y="2589933"/>
            <a:chExt cx="2618027" cy="270348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DF2CDCE-EED4-938C-6B8E-7746E312B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6612" y="2589933"/>
              <a:ext cx="2390775" cy="2343150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B0EFB2E9-7B7A-B002-201F-B7351239BD3C}"/>
                </a:ext>
              </a:extLst>
            </p:cNvPr>
            <p:cNvSpPr txBox="1"/>
            <p:nvPr/>
          </p:nvSpPr>
          <p:spPr>
            <a:xfrm>
              <a:off x="3586348" y="4770193"/>
              <a:ext cx="2181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/>
                <a:t>1    2     3    4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A224F98-6587-9C40-47F1-0090E1E88BFC}"/>
                </a:ext>
              </a:extLst>
            </p:cNvPr>
            <p:cNvSpPr txBox="1"/>
            <p:nvPr/>
          </p:nvSpPr>
          <p:spPr>
            <a:xfrm rot="5400000">
              <a:off x="2309450" y="3499898"/>
              <a:ext cx="2203039" cy="523220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pt-BR" sz="2800" dirty="0"/>
                <a:t>1    2     3    4</a:t>
              </a:r>
            </a:p>
          </p:txBody>
        </p:sp>
      </p:grpSp>
      <p:sp>
        <p:nvSpPr>
          <p:cNvPr id="9" name="Sinal de Multiplicação 8">
            <a:extLst>
              <a:ext uri="{FF2B5EF4-FFF2-40B4-BE49-F238E27FC236}">
                <a16:creationId xmlns:a16="http://schemas.microsoft.com/office/drawing/2014/main" id="{7F23D34C-48F7-D58B-2040-CFA86E338710}"/>
              </a:ext>
            </a:extLst>
          </p:cNvPr>
          <p:cNvSpPr/>
          <p:nvPr/>
        </p:nvSpPr>
        <p:spPr>
          <a:xfrm>
            <a:off x="5976039" y="4340180"/>
            <a:ext cx="614346" cy="614346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29807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34AA0-277A-A821-103C-C07E5F9E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2380D-55CB-F6AD-88F7-BBA03B8E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>
            <a:normAutofit fontScale="77500" lnSpcReduction="20000"/>
          </a:bodyPr>
          <a:lstStyle/>
          <a:p>
            <a:r>
              <a:rPr lang="pt-BR" u="none" dirty="0">
                <a:sym typeface="Wingdings" panose="05000000000000000000" pitchFamily="2" charset="2"/>
              </a:rPr>
              <a:t>R1 ir para (1,1)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(3,1)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(4,1)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(1,2)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(2,2)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(3,2)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(1,3)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(2,3)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(3,3)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(1,4)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(3,4)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(4,4)</a:t>
            </a:r>
          </a:p>
          <a:p>
            <a:endParaRPr lang="pt-BR" u="none" dirty="0">
              <a:sym typeface="Wingdings" panose="05000000000000000000" pitchFamily="2" charset="2"/>
            </a:endParaRPr>
          </a:p>
          <a:p>
            <a:endParaRPr lang="pt-BR" u="none" dirty="0">
              <a:sym typeface="Wingdings" panose="05000000000000000000" pitchFamily="2" charset="2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343143E-7BC6-1EE8-7DB4-B31CAE477600}"/>
              </a:ext>
            </a:extLst>
          </p:cNvPr>
          <p:cNvGrpSpPr/>
          <p:nvPr/>
        </p:nvGrpSpPr>
        <p:grpSpPr>
          <a:xfrm>
            <a:off x="5678805" y="2649554"/>
            <a:ext cx="2618027" cy="2703480"/>
            <a:chOff x="3149360" y="2589933"/>
            <a:chExt cx="2618027" cy="270348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DF2CDCE-EED4-938C-6B8E-7746E312B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6612" y="2589933"/>
              <a:ext cx="2390775" cy="2343150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B0EFB2E9-7B7A-B002-201F-B7351239BD3C}"/>
                </a:ext>
              </a:extLst>
            </p:cNvPr>
            <p:cNvSpPr txBox="1"/>
            <p:nvPr/>
          </p:nvSpPr>
          <p:spPr>
            <a:xfrm>
              <a:off x="3586348" y="4770193"/>
              <a:ext cx="2181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/>
                <a:t>1    2     3    4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A224F98-6587-9C40-47F1-0090E1E88BFC}"/>
                </a:ext>
              </a:extLst>
            </p:cNvPr>
            <p:cNvSpPr txBox="1"/>
            <p:nvPr/>
          </p:nvSpPr>
          <p:spPr>
            <a:xfrm rot="5400000">
              <a:off x="2309450" y="3499898"/>
              <a:ext cx="2203039" cy="523220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pt-BR" sz="2800" dirty="0"/>
                <a:t>1    2     3    4</a:t>
              </a:r>
            </a:p>
          </p:txBody>
        </p:sp>
      </p:grpSp>
      <p:sp>
        <p:nvSpPr>
          <p:cNvPr id="9" name="Sinal de Multiplicação 8">
            <a:extLst>
              <a:ext uri="{FF2B5EF4-FFF2-40B4-BE49-F238E27FC236}">
                <a16:creationId xmlns:a16="http://schemas.microsoft.com/office/drawing/2014/main" id="{7F23D34C-48F7-D58B-2040-CFA86E338710}"/>
              </a:ext>
            </a:extLst>
          </p:cNvPr>
          <p:cNvSpPr/>
          <p:nvPr/>
        </p:nvSpPr>
        <p:spPr>
          <a:xfrm>
            <a:off x="6523820" y="2695859"/>
            <a:ext cx="614346" cy="614346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01885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34AA0-277A-A821-103C-C07E5F9E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2380D-55CB-F6AD-88F7-BBA03B8E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>
            <a:normAutofit fontScale="77500" lnSpcReduction="20000"/>
          </a:bodyPr>
          <a:lstStyle/>
          <a:p>
            <a:r>
              <a:rPr lang="pt-BR" u="none" dirty="0">
                <a:sym typeface="Wingdings" panose="05000000000000000000" pitchFamily="2" charset="2"/>
              </a:rPr>
              <a:t>R1 ir para (1,1)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(3,1)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(4,1)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(1,2)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(2,2)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(3,2)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(1,3)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(2,3)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(3,3)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(1,4)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(3,4)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(4,4)</a:t>
            </a:r>
          </a:p>
          <a:p>
            <a:endParaRPr lang="pt-BR" u="none" dirty="0">
              <a:sym typeface="Wingdings" panose="05000000000000000000" pitchFamily="2" charset="2"/>
            </a:endParaRPr>
          </a:p>
          <a:p>
            <a:endParaRPr lang="pt-BR" u="none" dirty="0">
              <a:sym typeface="Wingdings" panose="05000000000000000000" pitchFamily="2" charset="2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343143E-7BC6-1EE8-7DB4-B31CAE477600}"/>
              </a:ext>
            </a:extLst>
          </p:cNvPr>
          <p:cNvGrpSpPr/>
          <p:nvPr/>
        </p:nvGrpSpPr>
        <p:grpSpPr>
          <a:xfrm>
            <a:off x="5678805" y="2649554"/>
            <a:ext cx="2618027" cy="2703480"/>
            <a:chOff x="3149360" y="2589933"/>
            <a:chExt cx="2618027" cy="270348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DF2CDCE-EED4-938C-6B8E-7746E312B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6612" y="2589933"/>
              <a:ext cx="2390775" cy="2343150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B0EFB2E9-7B7A-B002-201F-B7351239BD3C}"/>
                </a:ext>
              </a:extLst>
            </p:cNvPr>
            <p:cNvSpPr txBox="1"/>
            <p:nvPr/>
          </p:nvSpPr>
          <p:spPr>
            <a:xfrm>
              <a:off x="3586348" y="4770193"/>
              <a:ext cx="2181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/>
                <a:t>1    2     3    4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A224F98-6587-9C40-47F1-0090E1E88BFC}"/>
                </a:ext>
              </a:extLst>
            </p:cNvPr>
            <p:cNvSpPr txBox="1"/>
            <p:nvPr/>
          </p:nvSpPr>
          <p:spPr>
            <a:xfrm rot="5400000">
              <a:off x="2309450" y="3499898"/>
              <a:ext cx="2203039" cy="523220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pt-BR" sz="2800" dirty="0"/>
                <a:t>1    2     3    4</a:t>
              </a:r>
            </a:p>
          </p:txBody>
        </p:sp>
      </p:grpSp>
      <p:sp>
        <p:nvSpPr>
          <p:cNvPr id="9" name="Sinal de Multiplicação 8">
            <a:extLst>
              <a:ext uri="{FF2B5EF4-FFF2-40B4-BE49-F238E27FC236}">
                <a16:creationId xmlns:a16="http://schemas.microsoft.com/office/drawing/2014/main" id="{7F23D34C-48F7-D58B-2040-CFA86E338710}"/>
              </a:ext>
            </a:extLst>
          </p:cNvPr>
          <p:cNvSpPr/>
          <p:nvPr/>
        </p:nvSpPr>
        <p:spPr>
          <a:xfrm>
            <a:off x="6523820" y="3242126"/>
            <a:ext cx="614346" cy="614346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70728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34AA0-277A-A821-103C-C07E5F9E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2380D-55CB-F6AD-88F7-BBA03B8E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>
            <a:normAutofit fontScale="77500" lnSpcReduction="20000"/>
          </a:bodyPr>
          <a:lstStyle/>
          <a:p>
            <a:r>
              <a:rPr lang="pt-BR" u="none" dirty="0">
                <a:sym typeface="Wingdings" panose="05000000000000000000" pitchFamily="2" charset="2"/>
              </a:rPr>
              <a:t>R1 ir para (1,1)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(3,1)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(4,1)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(1,2)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(2,2)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(3,2)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(1,3)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(2,3)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(3,3)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(1,4)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(3,4)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(4,4)</a:t>
            </a:r>
          </a:p>
          <a:p>
            <a:endParaRPr lang="pt-BR" u="none" dirty="0">
              <a:sym typeface="Wingdings" panose="05000000000000000000" pitchFamily="2" charset="2"/>
            </a:endParaRPr>
          </a:p>
          <a:p>
            <a:endParaRPr lang="pt-BR" u="none" dirty="0">
              <a:sym typeface="Wingdings" panose="05000000000000000000" pitchFamily="2" charset="2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343143E-7BC6-1EE8-7DB4-B31CAE477600}"/>
              </a:ext>
            </a:extLst>
          </p:cNvPr>
          <p:cNvGrpSpPr/>
          <p:nvPr/>
        </p:nvGrpSpPr>
        <p:grpSpPr>
          <a:xfrm>
            <a:off x="5678805" y="2649554"/>
            <a:ext cx="2618027" cy="2703480"/>
            <a:chOff x="3149360" y="2589933"/>
            <a:chExt cx="2618027" cy="270348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DF2CDCE-EED4-938C-6B8E-7746E312B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6612" y="2589933"/>
              <a:ext cx="2390775" cy="2343150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B0EFB2E9-7B7A-B002-201F-B7351239BD3C}"/>
                </a:ext>
              </a:extLst>
            </p:cNvPr>
            <p:cNvSpPr txBox="1"/>
            <p:nvPr/>
          </p:nvSpPr>
          <p:spPr>
            <a:xfrm>
              <a:off x="3586348" y="4770193"/>
              <a:ext cx="2181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/>
                <a:t>1    2     3    4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A224F98-6587-9C40-47F1-0090E1E88BFC}"/>
                </a:ext>
              </a:extLst>
            </p:cNvPr>
            <p:cNvSpPr txBox="1"/>
            <p:nvPr/>
          </p:nvSpPr>
          <p:spPr>
            <a:xfrm rot="5400000">
              <a:off x="2309450" y="3499898"/>
              <a:ext cx="2203039" cy="523220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pt-BR" sz="2800" dirty="0"/>
                <a:t>1    2     3    4</a:t>
              </a:r>
            </a:p>
          </p:txBody>
        </p:sp>
      </p:grpSp>
      <p:sp>
        <p:nvSpPr>
          <p:cNvPr id="9" name="Sinal de Multiplicação 8">
            <a:extLst>
              <a:ext uri="{FF2B5EF4-FFF2-40B4-BE49-F238E27FC236}">
                <a16:creationId xmlns:a16="http://schemas.microsoft.com/office/drawing/2014/main" id="{7F23D34C-48F7-D58B-2040-CFA86E338710}"/>
              </a:ext>
            </a:extLst>
          </p:cNvPr>
          <p:cNvSpPr/>
          <p:nvPr/>
        </p:nvSpPr>
        <p:spPr>
          <a:xfrm>
            <a:off x="6523820" y="3776512"/>
            <a:ext cx="614346" cy="614346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702960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34AA0-277A-A821-103C-C07E5F9E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2380D-55CB-F6AD-88F7-BBA03B8E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>
            <a:normAutofit fontScale="77500" lnSpcReduction="20000"/>
          </a:bodyPr>
          <a:lstStyle/>
          <a:p>
            <a:r>
              <a:rPr lang="pt-BR" u="none" dirty="0">
                <a:sym typeface="Wingdings" panose="05000000000000000000" pitchFamily="2" charset="2"/>
              </a:rPr>
              <a:t>R1 ir para (1,1)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(3,1)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(4,1)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(1,2)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(2,2)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(3,2)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(1,3)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(2,3)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(3,3)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(1,4)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(3,4)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(4,4)</a:t>
            </a:r>
          </a:p>
          <a:p>
            <a:endParaRPr lang="pt-BR" u="none" dirty="0">
              <a:sym typeface="Wingdings" panose="05000000000000000000" pitchFamily="2" charset="2"/>
            </a:endParaRPr>
          </a:p>
          <a:p>
            <a:endParaRPr lang="pt-BR" u="none" dirty="0">
              <a:sym typeface="Wingdings" panose="05000000000000000000" pitchFamily="2" charset="2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343143E-7BC6-1EE8-7DB4-B31CAE477600}"/>
              </a:ext>
            </a:extLst>
          </p:cNvPr>
          <p:cNvGrpSpPr/>
          <p:nvPr/>
        </p:nvGrpSpPr>
        <p:grpSpPr>
          <a:xfrm>
            <a:off x="5678805" y="2649554"/>
            <a:ext cx="2618027" cy="2703480"/>
            <a:chOff x="3149360" y="2589933"/>
            <a:chExt cx="2618027" cy="270348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DF2CDCE-EED4-938C-6B8E-7746E312B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6612" y="2589933"/>
              <a:ext cx="2390775" cy="2343150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B0EFB2E9-7B7A-B002-201F-B7351239BD3C}"/>
                </a:ext>
              </a:extLst>
            </p:cNvPr>
            <p:cNvSpPr txBox="1"/>
            <p:nvPr/>
          </p:nvSpPr>
          <p:spPr>
            <a:xfrm>
              <a:off x="3586348" y="4770193"/>
              <a:ext cx="2181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/>
                <a:t>1    2     3    4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A224F98-6587-9C40-47F1-0090E1E88BFC}"/>
                </a:ext>
              </a:extLst>
            </p:cNvPr>
            <p:cNvSpPr txBox="1"/>
            <p:nvPr/>
          </p:nvSpPr>
          <p:spPr>
            <a:xfrm rot="5400000">
              <a:off x="2309450" y="3499898"/>
              <a:ext cx="2203039" cy="523220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pt-BR" sz="2800" dirty="0"/>
                <a:t>1    2     3    4</a:t>
              </a:r>
            </a:p>
          </p:txBody>
        </p:sp>
      </p:grpSp>
      <p:sp>
        <p:nvSpPr>
          <p:cNvPr id="9" name="Sinal de Multiplicação 8">
            <a:extLst>
              <a:ext uri="{FF2B5EF4-FFF2-40B4-BE49-F238E27FC236}">
                <a16:creationId xmlns:a16="http://schemas.microsoft.com/office/drawing/2014/main" id="{7F23D34C-48F7-D58B-2040-CFA86E338710}"/>
              </a:ext>
            </a:extLst>
          </p:cNvPr>
          <p:cNvSpPr/>
          <p:nvPr/>
        </p:nvSpPr>
        <p:spPr>
          <a:xfrm>
            <a:off x="7053944" y="2693396"/>
            <a:ext cx="614346" cy="614346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6181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34AA0-277A-A821-103C-C07E5F9E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2380D-55CB-F6AD-88F7-BBA03B8E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>
            <a:normAutofit fontScale="77500" lnSpcReduction="20000"/>
          </a:bodyPr>
          <a:lstStyle/>
          <a:p>
            <a:r>
              <a:rPr lang="pt-BR" u="none" dirty="0">
                <a:sym typeface="Wingdings" panose="05000000000000000000" pitchFamily="2" charset="2"/>
              </a:rPr>
              <a:t>R1 ir para (1,1)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(3,1)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(4,1)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(1,2)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(2,2)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(3,2)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(1,3)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(2,3)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(3,3)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(1,4)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(3,4)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(4,4)</a:t>
            </a:r>
          </a:p>
          <a:p>
            <a:endParaRPr lang="pt-BR" u="none" dirty="0">
              <a:sym typeface="Wingdings" panose="05000000000000000000" pitchFamily="2" charset="2"/>
            </a:endParaRPr>
          </a:p>
          <a:p>
            <a:endParaRPr lang="pt-BR" u="none" dirty="0">
              <a:sym typeface="Wingdings" panose="05000000000000000000" pitchFamily="2" charset="2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343143E-7BC6-1EE8-7DB4-B31CAE477600}"/>
              </a:ext>
            </a:extLst>
          </p:cNvPr>
          <p:cNvGrpSpPr/>
          <p:nvPr/>
        </p:nvGrpSpPr>
        <p:grpSpPr>
          <a:xfrm>
            <a:off x="5678805" y="2649554"/>
            <a:ext cx="2618027" cy="2703480"/>
            <a:chOff x="3149360" y="2589933"/>
            <a:chExt cx="2618027" cy="270348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DF2CDCE-EED4-938C-6B8E-7746E312B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6612" y="2589933"/>
              <a:ext cx="2390775" cy="2343150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B0EFB2E9-7B7A-B002-201F-B7351239BD3C}"/>
                </a:ext>
              </a:extLst>
            </p:cNvPr>
            <p:cNvSpPr txBox="1"/>
            <p:nvPr/>
          </p:nvSpPr>
          <p:spPr>
            <a:xfrm>
              <a:off x="3586348" y="4770193"/>
              <a:ext cx="2181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/>
                <a:t>1    2     3    4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A224F98-6587-9C40-47F1-0090E1E88BFC}"/>
                </a:ext>
              </a:extLst>
            </p:cNvPr>
            <p:cNvSpPr txBox="1"/>
            <p:nvPr/>
          </p:nvSpPr>
          <p:spPr>
            <a:xfrm rot="5400000">
              <a:off x="2309450" y="3499898"/>
              <a:ext cx="2203039" cy="523220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pt-BR" sz="2800" dirty="0"/>
                <a:t>1    2     3    4</a:t>
              </a:r>
            </a:p>
          </p:txBody>
        </p:sp>
      </p:grpSp>
      <p:sp>
        <p:nvSpPr>
          <p:cNvPr id="9" name="Sinal de Multiplicação 8">
            <a:extLst>
              <a:ext uri="{FF2B5EF4-FFF2-40B4-BE49-F238E27FC236}">
                <a16:creationId xmlns:a16="http://schemas.microsoft.com/office/drawing/2014/main" id="{7F23D34C-48F7-D58B-2040-CFA86E338710}"/>
              </a:ext>
            </a:extLst>
          </p:cNvPr>
          <p:cNvSpPr/>
          <p:nvPr/>
        </p:nvSpPr>
        <p:spPr>
          <a:xfrm>
            <a:off x="7053944" y="3239662"/>
            <a:ext cx="614346" cy="614346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95646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34AA0-277A-A821-103C-C07E5F9E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2380D-55CB-F6AD-88F7-BBA03B8E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>
            <a:normAutofit fontScale="77500" lnSpcReduction="20000"/>
          </a:bodyPr>
          <a:lstStyle/>
          <a:p>
            <a:r>
              <a:rPr lang="pt-BR" u="none" dirty="0">
                <a:sym typeface="Wingdings" panose="05000000000000000000" pitchFamily="2" charset="2"/>
              </a:rPr>
              <a:t>R1 ir para (1,1)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(3,1)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(4,1)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(1,2)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(2,2)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(3,2)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(1,3)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(2,3)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(3,3)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(1,4)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(3,4)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(4,4)</a:t>
            </a:r>
          </a:p>
          <a:p>
            <a:endParaRPr lang="pt-BR" u="none" dirty="0">
              <a:sym typeface="Wingdings" panose="05000000000000000000" pitchFamily="2" charset="2"/>
            </a:endParaRPr>
          </a:p>
          <a:p>
            <a:endParaRPr lang="pt-BR" u="none" dirty="0">
              <a:sym typeface="Wingdings" panose="05000000000000000000" pitchFamily="2" charset="2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343143E-7BC6-1EE8-7DB4-B31CAE477600}"/>
              </a:ext>
            </a:extLst>
          </p:cNvPr>
          <p:cNvGrpSpPr/>
          <p:nvPr/>
        </p:nvGrpSpPr>
        <p:grpSpPr>
          <a:xfrm>
            <a:off x="5678805" y="2649554"/>
            <a:ext cx="2618027" cy="2703480"/>
            <a:chOff x="3149360" y="2589933"/>
            <a:chExt cx="2618027" cy="270348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DF2CDCE-EED4-938C-6B8E-7746E312B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6612" y="2589933"/>
              <a:ext cx="2390775" cy="2343150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B0EFB2E9-7B7A-B002-201F-B7351239BD3C}"/>
                </a:ext>
              </a:extLst>
            </p:cNvPr>
            <p:cNvSpPr txBox="1"/>
            <p:nvPr/>
          </p:nvSpPr>
          <p:spPr>
            <a:xfrm>
              <a:off x="3586348" y="4770193"/>
              <a:ext cx="2181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/>
                <a:t>1    2     3    4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A224F98-6587-9C40-47F1-0090E1E88BFC}"/>
                </a:ext>
              </a:extLst>
            </p:cNvPr>
            <p:cNvSpPr txBox="1"/>
            <p:nvPr/>
          </p:nvSpPr>
          <p:spPr>
            <a:xfrm rot="5400000">
              <a:off x="2309450" y="3499898"/>
              <a:ext cx="2203039" cy="523220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pt-BR" sz="2800" dirty="0"/>
                <a:t>1    2     3    4</a:t>
              </a:r>
            </a:p>
          </p:txBody>
        </p:sp>
      </p:grpSp>
      <p:sp>
        <p:nvSpPr>
          <p:cNvPr id="9" name="Sinal de Multiplicação 8">
            <a:extLst>
              <a:ext uri="{FF2B5EF4-FFF2-40B4-BE49-F238E27FC236}">
                <a16:creationId xmlns:a16="http://schemas.microsoft.com/office/drawing/2014/main" id="{7F23D34C-48F7-D58B-2040-CFA86E338710}"/>
              </a:ext>
            </a:extLst>
          </p:cNvPr>
          <p:cNvSpPr/>
          <p:nvPr/>
        </p:nvSpPr>
        <p:spPr>
          <a:xfrm>
            <a:off x="7053944" y="3774050"/>
            <a:ext cx="614346" cy="614346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1673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34AA0-277A-A821-103C-C07E5F9E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2380D-55CB-F6AD-88F7-BBA03B8E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>
            <a:normAutofit fontScale="77500" lnSpcReduction="20000"/>
          </a:bodyPr>
          <a:lstStyle/>
          <a:p>
            <a:r>
              <a:rPr lang="pt-BR" u="none" dirty="0">
                <a:sym typeface="Wingdings" panose="05000000000000000000" pitchFamily="2" charset="2"/>
              </a:rPr>
              <a:t>R1 ir para (1,1)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(3,1)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(4,1)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(1,2)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(2,2)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(3,2)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(1,3)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(2,3)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(3,3)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(1,4)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(3,4)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(4,4)</a:t>
            </a:r>
          </a:p>
          <a:p>
            <a:endParaRPr lang="pt-BR" u="none" dirty="0">
              <a:sym typeface="Wingdings" panose="05000000000000000000" pitchFamily="2" charset="2"/>
            </a:endParaRPr>
          </a:p>
          <a:p>
            <a:endParaRPr lang="pt-BR" u="none" dirty="0">
              <a:sym typeface="Wingdings" panose="05000000000000000000" pitchFamily="2" charset="2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343143E-7BC6-1EE8-7DB4-B31CAE477600}"/>
              </a:ext>
            </a:extLst>
          </p:cNvPr>
          <p:cNvGrpSpPr/>
          <p:nvPr/>
        </p:nvGrpSpPr>
        <p:grpSpPr>
          <a:xfrm>
            <a:off x="5678805" y="2649554"/>
            <a:ext cx="2618027" cy="2703480"/>
            <a:chOff x="3149360" y="2589933"/>
            <a:chExt cx="2618027" cy="270348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DF2CDCE-EED4-938C-6B8E-7746E312B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6612" y="2589933"/>
              <a:ext cx="2390775" cy="2343150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B0EFB2E9-7B7A-B002-201F-B7351239BD3C}"/>
                </a:ext>
              </a:extLst>
            </p:cNvPr>
            <p:cNvSpPr txBox="1"/>
            <p:nvPr/>
          </p:nvSpPr>
          <p:spPr>
            <a:xfrm>
              <a:off x="3586348" y="4770193"/>
              <a:ext cx="2181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/>
                <a:t>1    2     3    4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A224F98-6587-9C40-47F1-0090E1E88BFC}"/>
                </a:ext>
              </a:extLst>
            </p:cNvPr>
            <p:cNvSpPr txBox="1"/>
            <p:nvPr/>
          </p:nvSpPr>
          <p:spPr>
            <a:xfrm rot="5400000">
              <a:off x="2309450" y="3499898"/>
              <a:ext cx="2203039" cy="523220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pt-BR" sz="2800" dirty="0"/>
                <a:t>1    2     3    4</a:t>
              </a:r>
            </a:p>
          </p:txBody>
        </p:sp>
      </p:grpSp>
      <p:sp>
        <p:nvSpPr>
          <p:cNvPr id="9" name="Sinal de Multiplicação 8">
            <a:extLst>
              <a:ext uri="{FF2B5EF4-FFF2-40B4-BE49-F238E27FC236}">
                <a16:creationId xmlns:a16="http://schemas.microsoft.com/office/drawing/2014/main" id="{7F23D34C-48F7-D58B-2040-CFA86E338710}"/>
              </a:ext>
            </a:extLst>
          </p:cNvPr>
          <p:cNvSpPr/>
          <p:nvPr/>
        </p:nvSpPr>
        <p:spPr>
          <a:xfrm>
            <a:off x="7619207" y="2695859"/>
            <a:ext cx="614346" cy="614346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48605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34AA0-277A-A821-103C-C07E5F9E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2380D-55CB-F6AD-88F7-BBA03B8E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>
            <a:normAutofit fontScale="77500" lnSpcReduction="20000"/>
          </a:bodyPr>
          <a:lstStyle/>
          <a:p>
            <a:r>
              <a:rPr lang="pt-BR" u="none" dirty="0">
                <a:sym typeface="Wingdings" panose="05000000000000000000" pitchFamily="2" charset="2"/>
              </a:rPr>
              <a:t>R1 ir para (1,1)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(3,1)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(4,1)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(1,2)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(2,2)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(3,2)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(1,3)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(2,3)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(3,3)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(1,4)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(3,4)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(4,4)</a:t>
            </a:r>
          </a:p>
          <a:p>
            <a:endParaRPr lang="pt-BR" u="none" dirty="0">
              <a:sym typeface="Wingdings" panose="05000000000000000000" pitchFamily="2" charset="2"/>
            </a:endParaRPr>
          </a:p>
          <a:p>
            <a:endParaRPr lang="pt-BR" u="none" dirty="0">
              <a:sym typeface="Wingdings" panose="05000000000000000000" pitchFamily="2" charset="2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343143E-7BC6-1EE8-7DB4-B31CAE477600}"/>
              </a:ext>
            </a:extLst>
          </p:cNvPr>
          <p:cNvGrpSpPr/>
          <p:nvPr/>
        </p:nvGrpSpPr>
        <p:grpSpPr>
          <a:xfrm>
            <a:off x="5678805" y="2649554"/>
            <a:ext cx="2618027" cy="2703480"/>
            <a:chOff x="3149360" y="2589933"/>
            <a:chExt cx="2618027" cy="270348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DF2CDCE-EED4-938C-6B8E-7746E312B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6612" y="2589933"/>
              <a:ext cx="2390775" cy="2343150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B0EFB2E9-7B7A-B002-201F-B7351239BD3C}"/>
                </a:ext>
              </a:extLst>
            </p:cNvPr>
            <p:cNvSpPr txBox="1"/>
            <p:nvPr/>
          </p:nvSpPr>
          <p:spPr>
            <a:xfrm>
              <a:off x="3586348" y="4770193"/>
              <a:ext cx="2181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/>
                <a:t>1    2     3    4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A224F98-6587-9C40-47F1-0090E1E88BFC}"/>
                </a:ext>
              </a:extLst>
            </p:cNvPr>
            <p:cNvSpPr txBox="1"/>
            <p:nvPr/>
          </p:nvSpPr>
          <p:spPr>
            <a:xfrm rot="5400000">
              <a:off x="2309450" y="3499898"/>
              <a:ext cx="2203039" cy="523220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pt-BR" sz="2800" dirty="0"/>
                <a:t>1    2     3    4</a:t>
              </a:r>
            </a:p>
          </p:txBody>
        </p:sp>
      </p:grpSp>
      <p:sp>
        <p:nvSpPr>
          <p:cNvPr id="9" name="Sinal de Multiplicação 8">
            <a:extLst>
              <a:ext uri="{FF2B5EF4-FFF2-40B4-BE49-F238E27FC236}">
                <a16:creationId xmlns:a16="http://schemas.microsoft.com/office/drawing/2014/main" id="{7F23D34C-48F7-D58B-2040-CFA86E338710}"/>
              </a:ext>
            </a:extLst>
          </p:cNvPr>
          <p:cNvSpPr/>
          <p:nvPr/>
        </p:nvSpPr>
        <p:spPr>
          <a:xfrm>
            <a:off x="7619207" y="3788386"/>
            <a:ext cx="614346" cy="614346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643617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34AA0-277A-A821-103C-C07E5F9E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2380D-55CB-F6AD-88F7-BBA03B8E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>
            <a:normAutofit fontScale="77500" lnSpcReduction="20000"/>
          </a:bodyPr>
          <a:lstStyle/>
          <a:p>
            <a:r>
              <a:rPr lang="pt-BR" u="none" dirty="0">
                <a:sym typeface="Wingdings" panose="05000000000000000000" pitchFamily="2" charset="2"/>
              </a:rPr>
              <a:t>R1 ir para (1,1)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(3,1)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(4,1)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(1,2)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(2,2)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(3,2)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(1,3)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(2,3)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(3,3)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(1,4)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(3,4)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(4,4) = 4 ataques</a:t>
            </a:r>
          </a:p>
          <a:p>
            <a:endParaRPr lang="pt-BR" u="none" dirty="0">
              <a:sym typeface="Wingdings" panose="05000000000000000000" pitchFamily="2" charset="2"/>
            </a:endParaRPr>
          </a:p>
          <a:p>
            <a:endParaRPr lang="pt-BR" u="none" dirty="0">
              <a:sym typeface="Wingdings" panose="05000000000000000000" pitchFamily="2" charset="2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343143E-7BC6-1EE8-7DB4-B31CAE477600}"/>
              </a:ext>
            </a:extLst>
          </p:cNvPr>
          <p:cNvGrpSpPr/>
          <p:nvPr/>
        </p:nvGrpSpPr>
        <p:grpSpPr>
          <a:xfrm>
            <a:off x="5678805" y="2649554"/>
            <a:ext cx="2618027" cy="2703480"/>
            <a:chOff x="3149360" y="2589933"/>
            <a:chExt cx="2618027" cy="270348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DF2CDCE-EED4-938C-6B8E-7746E312B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6612" y="2589933"/>
              <a:ext cx="2390775" cy="2343150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B0EFB2E9-7B7A-B002-201F-B7351239BD3C}"/>
                </a:ext>
              </a:extLst>
            </p:cNvPr>
            <p:cNvSpPr txBox="1"/>
            <p:nvPr/>
          </p:nvSpPr>
          <p:spPr>
            <a:xfrm>
              <a:off x="3586348" y="4770193"/>
              <a:ext cx="2181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/>
                <a:t>1    2     3    4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A224F98-6587-9C40-47F1-0090E1E88BFC}"/>
                </a:ext>
              </a:extLst>
            </p:cNvPr>
            <p:cNvSpPr txBox="1"/>
            <p:nvPr/>
          </p:nvSpPr>
          <p:spPr>
            <a:xfrm rot="5400000">
              <a:off x="2309450" y="3499898"/>
              <a:ext cx="2203039" cy="523220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pt-BR" sz="2800" dirty="0"/>
                <a:t>1    2     3    4</a:t>
              </a:r>
            </a:p>
          </p:txBody>
        </p:sp>
      </p:grpSp>
      <p:sp>
        <p:nvSpPr>
          <p:cNvPr id="9" name="Sinal de Multiplicação 8">
            <a:extLst>
              <a:ext uri="{FF2B5EF4-FFF2-40B4-BE49-F238E27FC236}">
                <a16:creationId xmlns:a16="http://schemas.microsoft.com/office/drawing/2014/main" id="{7F23D34C-48F7-D58B-2040-CFA86E338710}"/>
              </a:ext>
            </a:extLst>
          </p:cNvPr>
          <p:cNvSpPr/>
          <p:nvPr/>
        </p:nvSpPr>
        <p:spPr>
          <a:xfrm>
            <a:off x="7619207" y="4334653"/>
            <a:ext cx="614346" cy="614346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41517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34AA0-277A-A821-103C-C07E5F9E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2380D-55CB-F6AD-88F7-BBA03B8E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>
            <a:normAutofit fontScale="77500" lnSpcReduction="20000"/>
          </a:bodyPr>
          <a:lstStyle/>
          <a:p>
            <a:r>
              <a:rPr lang="pt-BR" u="none" dirty="0">
                <a:sym typeface="Wingdings" panose="05000000000000000000" pitchFamily="2" charset="2"/>
              </a:rPr>
              <a:t>R1 ir para (1,1)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(3,1)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(4,1)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(1,2)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(2,2)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(3,2)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(1,3)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(2,3)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(3,3)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(1,4)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(3,4)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(4,4) = 4 ataques</a:t>
            </a:r>
          </a:p>
          <a:p>
            <a:endParaRPr lang="pt-BR" u="none" dirty="0">
              <a:sym typeface="Wingdings" panose="05000000000000000000" pitchFamily="2" charset="2"/>
            </a:endParaRPr>
          </a:p>
          <a:p>
            <a:endParaRPr lang="pt-BR" u="none" dirty="0">
              <a:sym typeface="Wingdings" panose="05000000000000000000" pitchFamily="2" charset="2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343143E-7BC6-1EE8-7DB4-B31CAE477600}"/>
              </a:ext>
            </a:extLst>
          </p:cNvPr>
          <p:cNvGrpSpPr/>
          <p:nvPr/>
        </p:nvGrpSpPr>
        <p:grpSpPr>
          <a:xfrm>
            <a:off x="5678805" y="2649554"/>
            <a:ext cx="2618027" cy="2703480"/>
            <a:chOff x="3149360" y="2589933"/>
            <a:chExt cx="2618027" cy="270348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DF2CDCE-EED4-938C-6B8E-7746E312B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6612" y="2589933"/>
              <a:ext cx="2390775" cy="2343150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B0EFB2E9-7B7A-B002-201F-B7351239BD3C}"/>
                </a:ext>
              </a:extLst>
            </p:cNvPr>
            <p:cNvSpPr txBox="1"/>
            <p:nvPr/>
          </p:nvSpPr>
          <p:spPr>
            <a:xfrm>
              <a:off x="3586348" y="4770193"/>
              <a:ext cx="2181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/>
                <a:t>1    2     3    4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A224F98-6587-9C40-47F1-0090E1E88BFC}"/>
                </a:ext>
              </a:extLst>
            </p:cNvPr>
            <p:cNvSpPr txBox="1"/>
            <p:nvPr/>
          </p:nvSpPr>
          <p:spPr>
            <a:xfrm rot="5400000">
              <a:off x="2309450" y="3499898"/>
              <a:ext cx="2203039" cy="523220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pt-BR" sz="2800" dirty="0"/>
                <a:t>1    2     3    4</a:t>
              </a:r>
            </a:p>
          </p:txBody>
        </p:sp>
      </p:grpSp>
      <p:sp>
        <p:nvSpPr>
          <p:cNvPr id="9" name="Sinal de Multiplicação 8">
            <a:extLst>
              <a:ext uri="{FF2B5EF4-FFF2-40B4-BE49-F238E27FC236}">
                <a16:creationId xmlns:a16="http://schemas.microsoft.com/office/drawing/2014/main" id="{7F23D34C-48F7-D58B-2040-CFA86E338710}"/>
              </a:ext>
            </a:extLst>
          </p:cNvPr>
          <p:cNvSpPr/>
          <p:nvPr/>
        </p:nvSpPr>
        <p:spPr>
          <a:xfrm>
            <a:off x="5976039" y="2695859"/>
            <a:ext cx="614346" cy="614346"/>
          </a:xfrm>
          <a:prstGeom prst="mathMultiply">
            <a:avLst/>
          </a:prstGeom>
          <a:solidFill>
            <a:srgbClr val="00B050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B11C9D7-7F02-73EE-4068-4BF64D1ADB19}"/>
              </a:ext>
            </a:extLst>
          </p:cNvPr>
          <p:cNvSpPr/>
          <p:nvPr/>
        </p:nvSpPr>
        <p:spPr>
          <a:xfrm>
            <a:off x="486887" y="1762115"/>
            <a:ext cx="3491345" cy="37131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6148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B660EC-E8A3-2A40-3C4D-08DBDAD9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6DCA275D-F64F-CC79-CB5B-706881CD96E4}"/>
              </a:ext>
            </a:extLst>
          </p:cNvPr>
          <p:cNvSpPr txBox="1">
            <a:spLocks/>
          </p:cNvSpPr>
          <p:nvPr/>
        </p:nvSpPr>
        <p:spPr>
          <a:xfrm>
            <a:off x="320634" y="1825625"/>
            <a:ext cx="517764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u="none" dirty="0">
                <a:sym typeface="Wingdings" panose="05000000000000000000" pitchFamily="2" charset="2"/>
              </a:rPr>
              <a:t>Essa é então a solução atual S</a:t>
            </a:r>
            <a:r>
              <a:rPr lang="pt-BR" u="none" baseline="-25000" dirty="0">
                <a:sym typeface="Wingdings" panose="05000000000000000000" pitchFamily="2" charset="2"/>
              </a:rPr>
              <a:t>1</a:t>
            </a:r>
            <a:r>
              <a:rPr lang="pt-BR" u="none" dirty="0">
                <a:sym typeface="Wingdings" panose="05000000000000000000" pitchFamily="2" charset="2"/>
              </a:rPr>
              <a:t> = 2</a:t>
            </a:r>
          </a:p>
          <a:p>
            <a:pPr algn="just"/>
            <a:endParaRPr lang="pt-BR" u="none" dirty="0">
              <a:sym typeface="Wingdings" panose="05000000000000000000" pitchFamily="2" charset="2"/>
            </a:endParaRPr>
          </a:p>
          <a:p>
            <a:pPr algn="just"/>
            <a:r>
              <a:rPr lang="pt-BR" u="none" dirty="0">
                <a:sym typeface="Wingdings" panose="05000000000000000000" pitchFamily="2" charset="2"/>
              </a:rPr>
              <a:t>Como o valor obtido é menor que a melhor solução, Melhor = 2</a:t>
            </a:r>
          </a:p>
          <a:p>
            <a:pPr algn="just"/>
            <a:endParaRPr lang="pt-BR" u="none" dirty="0">
              <a:sym typeface="Wingdings" panose="05000000000000000000" pitchFamily="2" charset="2"/>
            </a:endParaRPr>
          </a:p>
          <a:p>
            <a:pPr algn="just"/>
            <a:r>
              <a:rPr lang="pt-BR" u="none" dirty="0">
                <a:sym typeface="Wingdings" panose="05000000000000000000" pitchFamily="2" charset="2"/>
              </a:rPr>
              <a:t>Nesse momento, a rainha R1 é colocada na lista tabu e não pode se movimentar na próxima iteração</a:t>
            </a:r>
          </a:p>
          <a:p>
            <a:pPr algn="just"/>
            <a:endParaRPr lang="pt-BR" u="none" dirty="0">
              <a:sym typeface="Wingdings" panose="05000000000000000000" pitchFamily="2" charset="2"/>
            </a:endParaRPr>
          </a:p>
          <a:p>
            <a:pPr algn="just"/>
            <a:endParaRPr lang="pt-BR" u="none" dirty="0">
              <a:sym typeface="Wingdings" panose="05000000000000000000" pitchFamily="2" charset="2"/>
            </a:endParaRPr>
          </a:p>
          <a:p>
            <a:pPr algn="just"/>
            <a:endParaRPr lang="pt-BR" u="none" dirty="0">
              <a:sym typeface="Wingdings" panose="05000000000000000000" pitchFamily="2" charset="2"/>
            </a:endParaRPr>
          </a:p>
          <a:p>
            <a:pPr algn="just"/>
            <a:endParaRPr lang="pt-BR" u="none" dirty="0">
              <a:sym typeface="Wingdings" panose="05000000000000000000" pitchFamily="2" charset="2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D9C897C-E37A-A192-C4FD-2F9807FF0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050" y="2460955"/>
            <a:ext cx="278130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506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B660EC-E8A3-2A40-3C4D-08DBDAD9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D9C897C-E37A-A192-C4FD-2F9807FF0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050" y="2460955"/>
            <a:ext cx="2781300" cy="2867025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F7A031-E0E6-C57B-29C1-D6474F03C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>
            <a:normAutofit fontScale="92500"/>
          </a:bodyPr>
          <a:lstStyle/>
          <a:p>
            <a:r>
              <a:rPr lang="pt-BR" u="none" dirty="0">
                <a:sym typeface="Wingdings" panose="05000000000000000000" pitchFamily="2" charset="2"/>
              </a:rPr>
              <a:t>R2 ir para (1,2) = 1 ataque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(2,2)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(3,2) = 1 ataque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(1,3)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(2,3)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(3,3)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(1,4)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(3,4)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(4,4) = 4 ataques</a:t>
            </a:r>
          </a:p>
          <a:p>
            <a:endParaRPr lang="pt-BR" u="none" dirty="0">
              <a:sym typeface="Wingdings" panose="05000000000000000000" pitchFamily="2" charset="2"/>
            </a:endParaRPr>
          </a:p>
          <a:p>
            <a:endParaRPr lang="pt-BR" u="none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3905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B660EC-E8A3-2A40-3C4D-08DBDAD9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D9C897C-E37A-A192-C4FD-2F9807FF0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050" y="2460955"/>
            <a:ext cx="2781300" cy="2867025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F7A031-E0E6-C57B-29C1-D6474F03C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>
            <a:normAutofit fontScale="92500"/>
          </a:bodyPr>
          <a:lstStyle/>
          <a:p>
            <a:r>
              <a:rPr lang="pt-BR" u="none" dirty="0">
                <a:sym typeface="Wingdings" panose="05000000000000000000" pitchFamily="2" charset="2"/>
              </a:rPr>
              <a:t>R2 ir para (1,2) = 1 ataque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(2,2)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R2 ir para (3,2) = 1 ataque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(1,3)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(2,3)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(3,3)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(1,4)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(3,4) = 2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(4,4) = 4 ataques</a:t>
            </a:r>
          </a:p>
          <a:p>
            <a:endParaRPr lang="pt-BR" u="none" dirty="0">
              <a:sym typeface="Wingdings" panose="05000000000000000000" pitchFamily="2" charset="2"/>
            </a:endParaRPr>
          </a:p>
          <a:p>
            <a:endParaRPr lang="pt-BR" u="none" dirty="0">
              <a:sym typeface="Wingdings" panose="05000000000000000000" pitchFamily="2" charset="2"/>
            </a:endParaRPr>
          </a:p>
        </p:txBody>
      </p:sp>
      <p:sp>
        <p:nvSpPr>
          <p:cNvPr id="5" name="Sinal de Multiplicação 4">
            <a:extLst>
              <a:ext uri="{FF2B5EF4-FFF2-40B4-BE49-F238E27FC236}">
                <a16:creationId xmlns:a16="http://schemas.microsoft.com/office/drawing/2014/main" id="{72400FB8-3B7B-97B9-91FF-F06842EAB9E6}"/>
              </a:ext>
            </a:extLst>
          </p:cNvPr>
          <p:cNvSpPr/>
          <p:nvPr/>
        </p:nvSpPr>
        <p:spPr>
          <a:xfrm>
            <a:off x="6734402" y="2505856"/>
            <a:ext cx="614346" cy="614346"/>
          </a:xfrm>
          <a:prstGeom prst="mathMultiply">
            <a:avLst/>
          </a:prstGeom>
          <a:solidFill>
            <a:srgbClr val="00B050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7344ADD-7C9B-59F5-A360-4B35E2DDE18D}"/>
              </a:ext>
            </a:extLst>
          </p:cNvPr>
          <p:cNvSpPr/>
          <p:nvPr/>
        </p:nvSpPr>
        <p:spPr>
          <a:xfrm>
            <a:off x="628650" y="1825625"/>
            <a:ext cx="3753345" cy="442562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14734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B660EC-E8A3-2A40-3C4D-08DBDAD9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6DCA275D-F64F-CC79-CB5B-706881CD96E4}"/>
              </a:ext>
            </a:extLst>
          </p:cNvPr>
          <p:cNvSpPr txBox="1">
            <a:spLocks/>
          </p:cNvSpPr>
          <p:nvPr/>
        </p:nvSpPr>
        <p:spPr>
          <a:xfrm>
            <a:off x="320634" y="1825625"/>
            <a:ext cx="517764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u="none" dirty="0">
                <a:sym typeface="Wingdings" panose="05000000000000000000" pitchFamily="2" charset="2"/>
              </a:rPr>
              <a:t>Essa é então a solução atual S</a:t>
            </a:r>
            <a:r>
              <a:rPr lang="pt-BR" u="none" baseline="-25000" dirty="0">
                <a:sym typeface="Wingdings" panose="05000000000000000000" pitchFamily="2" charset="2"/>
              </a:rPr>
              <a:t>2</a:t>
            </a:r>
            <a:r>
              <a:rPr lang="pt-BR" u="none" dirty="0">
                <a:sym typeface="Wingdings" panose="05000000000000000000" pitchFamily="2" charset="2"/>
              </a:rPr>
              <a:t> = 1</a:t>
            </a:r>
          </a:p>
          <a:p>
            <a:pPr algn="just"/>
            <a:endParaRPr lang="pt-BR" u="none" dirty="0">
              <a:sym typeface="Wingdings" panose="05000000000000000000" pitchFamily="2" charset="2"/>
            </a:endParaRPr>
          </a:p>
          <a:p>
            <a:pPr algn="just"/>
            <a:r>
              <a:rPr lang="pt-BR" u="none" dirty="0">
                <a:sym typeface="Wingdings" panose="05000000000000000000" pitchFamily="2" charset="2"/>
              </a:rPr>
              <a:t>Como o valor obtido é menor que a melhor solução, Melhor = 1</a:t>
            </a:r>
          </a:p>
          <a:p>
            <a:pPr algn="just"/>
            <a:endParaRPr lang="pt-BR" u="none" dirty="0">
              <a:sym typeface="Wingdings" panose="05000000000000000000" pitchFamily="2" charset="2"/>
            </a:endParaRPr>
          </a:p>
          <a:p>
            <a:pPr algn="just"/>
            <a:r>
              <a:rPr lang="pt-BR" u="none" dirty="0">
                <a:sym typeface="Wingdings" panose="05000000000000000000" pitchFamily="2" charset="2"/>
              </a:rPr>
              <a:t>Nesse momento, a rainha R1 tirada da lista tabu e a rainha R2 toma seu lugar na lista</a:t>
            </a:r>
          </a:p>
          <a:p>
            <a:pPr algn="just"/>
            <a:endParaRPr lang="pt-BR" u="none" dirty="0">
              <a:sym typeface="Wingdings" panose="05000000000000000000" pitchFamily="2" charset="2"/>
            </a:endParaRPr>
          </a:p>
          <a:p>
            <a:pPr algn="just"/>
            <a:endParaRPr lang="pt-BR" u="none" dirty="0">
              <a:sym typeface="Wingdings" panose="05000000000000000000" pitchFamily="2" charset="2"/>
            </a:endParaRPr>
          </a:p>
          <a:p>
            <a:pPr algn="just"/>
            <a:endParaRPr lang="pt-BR" u="none" dirty="0">
              <a:sym typeface="Wingdings" panose="05000000000000000000" pitchFamily="2" charset="2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84BD72A-88F6-DF72-EB50-E45208D30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800" y="2462400"/>
            <a:ext cx="278130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5177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B660EC-E8A3-2A40-3C4D-08DBDAD9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84BD72A-88F6-DF72-EB50-E45208D30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800" y="2462400"/>
            <a:ext cx="2781300" cy="2867025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C8AB75-9B77-86F5-F38F-C462619E9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>
            <a:normAutofit fontScale="92500"/>
          </a:bodyPr>
          <a:lstStyle/>
          <a:p>
            <a:r>
              <a:rPr lang="pt-BR" u="none" dirty="0">
                <a:sym typeface="Wingdings" panose="05000000000000000000" pitchFamily="2" charset="2"/>
              </a:rPr>
              <a:t>R1 ir para (2,1)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(3,1) = 0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(4,1) = 1 ataque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(1,3)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(2,3)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(3,3)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(1,4)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(3,4)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(4,4) = 3 ataques</a:t>
            </a:r>
          </a:p>
          <a:p>
            <a:endParaRPr lang="pt-BR" u="none" dirty="0">
              <a:sym typeface="Wingdings" panose="05000000000000000000" pitchFamily="2" charset="2"/>
            </a:endParaRPr>
          </a:p>
          <a:p>
            <a:endParaRPr lang="pt-BR" u="none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931523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B660EC-E8A3-2A40-3C4D-08DBDAD9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84BD72A-88F6-DF72-EB50-E45208D30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800" y="2462400"/>
            <a:ext cx="2781300" cy="2867025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C8AB75-9B77-86F5-F38F-C462619E9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>
            <a:normAutofit fontScale="92500"/>
          </a:bodyPr>
          <a:lstStyle/>
          <a:p>
            <a:r>
              <a:rPr lang="pt-BR" u="none" dirty="0">
                <a:sym typeface="Wingdings" panose="05000000000000000000" pitchFamily="2" charset="2"/>
              </a:rPr>
              <a:t>R1 ir para (2,1)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(3,1) = 0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R1 ir para (4,1) = 1 ataque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(1,3) = 4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(2,3)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R3 ir para (3,3)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(1,4)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(3,4) = 3 ataques</a:t>
            </a:r>
          </a:p>
          <a:p>
            <a:r>
              <a:rPr lang="pt-BR" u="none" dirty="0">
                <a:sym typeface="Wingdings" panose="05000000000000000000" pitchFamily="2" charset="2"/>
              </a:rPr>
              <a:t>R4 ir para (4,4) = 3 ataques</a:t>
            </a:r>
          </a:p>
          <a:p>
            <a:endParaRPr lang="pt-BR" u="none" dirty="0">
              <a:sym typeface="Wingdings" panose="05000000000000000000" pitchFamily="2" charset="2"/>
            </a:endParaRPr>
          </a:p>
          <a:p>
            <a:endParaRPr lang="pt-BR" u="none" dirty="0">
              <a:sym typeface="Wingdings" panose="05000000000000000000" pitchFamily="2" charset="2"/>
            </a:endParaRPr>
          </a:p>
        </p:txBody>
      </p:sp>
      <p:sp>
        <p:nvSpPr>
          <p:cNvPr id="5" name="Sinal de Multiplicação 4">
            <a:extLst>
              <a:ext uri="{FF2B5EF4-FFF2-40B4-BE49-F238E27FC236}">
                <a16:creationId xmlns:a16="http://schemas.microsoft.com/office/drawing/2014/main" id="{CE8C47E1-203A-4EB9-FF9E-DEAC56341FDC}"/>
              </a:ext>
            </a:extLst>
          </p:cNvPr>
          <p:cNvSpPr/>
          <p:nvPr/>
        </p:nvSpPr>
        <p:spPr>
          <a:xfrm>
            <a:off x="6188134" y="3598383"/>
            <a:ext cx="614346" cy="614346"/>
          </a:xfrm>
          <a:prstGeom prst="mathMultiply">
            <a:avLst/>
          </a:prstGeom>
          <a:solidFill>
            <a:srgbClr val="00B050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5ECFEE0-6021-86A2-C9C2-CF9960A7B0D4}"/>
              </a:ext>
            </a:extLst>
          </p:cNvPr>
          <p:cNvSpPr/>
          <p:nvPr/>
        </p:nvSpPr>
        <p:spPr>
          <a:xfrm>
            <a:off x="628650" y="2300639"/>
            <a:ext cx="3753345" cy="442562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551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BD81E2-DFD2-F7D8-195D-AB7B8EDA2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das 8 Rainhas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57BECE7-FCF3-B8DF-78AC-1D1F24896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2518002"/>
            <a:ext cx="2781300" cy="286702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DF5C38C-5598-780D-0C68-BDDC26171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941" y="4491847"/>
            <a:ext cx="915143" cy="89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777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4278EC-97D0-FD30-76A5-A27818AA8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D28ED0-C238-2C6B-5623-2095D935E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3149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61F951-DDB5-8B73-2618-F7001B3B3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Problema da Mochila Binária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0DDD7FA-99CF-0174-247C-70B1FBD527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Objetivo</a:t>
                </a:r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pt-BR" sz="2400" b="0" i="0" u="none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 b="0" i="0" u="none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pt-BR" sz="2400" b="0" i="1" u="none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400" b="0" i="1" u="none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pt-BR" sz="2400" b="0" i="1" u="none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pt-BR" sz="2400" b="0" i="1" u="none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b="0" i="1" u="none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BR" sz="2400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u="none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pt-BR" sz="2400" b="0" i="1" u="none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2400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u="none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pt-BR" sz="2400" b="0" i="1" u="none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pt-BR" sz="2400" u="none" dirty="0"/>
              </a:p>
              <a:p>
                <a:r>
                  <a:rPr lang="pt-BR" sz="2400" dirty="0"/>
                  <a:t>Restrição de Capacidade</a:t>
                </a:r>
              </a:p>
              <a:p>
                <a:endParaRPr lang="pt-BR" sz="2400" dirty="0"/>
              </a:p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u="none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BR" sz="2400" b="0" i="1" u="none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400" b="0" i="1" u="none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sz="2400" b="0" i="1" u="none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u="none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400" i="1" u="none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i="1" u="non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 u="none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pt-BR" sz="2400" i="1" u="none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pt-BR" sz="240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pt-BR" sz="2400" u="none" dirty="0"/>
              </a:p>
              <a:p>
                <a:r>
                  <a:rPr lang="pt-BR" sz="2400" dirty="0"/>
                  <a:t>Restrição de tipo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u="none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pt-BR" sz="2400" b="0" i="1" u="none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240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</m:e>
                        <m:sub>
                          <m:r>
                            <a:rPr lang="pt-BR" sz="2400" b="0" i="1" u="non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=1..</m:t>
                      </m:r>
                      <m:r>
                        <a:rPr lang="pt-BR" sz="2400" b="0" i="1" u="none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pt-BR" sz="2400" u="none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0DDD7FA-99CF-0174-247C-70B1FBD527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 descr="Desenho de uma bolsa&#10;&#10;Descrição gerada automaticamente com confiança baixa">
            <a:extLst>
              <a:ext uri="{FF2B5EF4-FFF2-40B4-BE49-F238E27FC236}">
                <a16:creationId xmlns:a16="http://schemas.microsoft.com/office/drawing/2014/main" id="{03DB3CE9-48A4-F570-7B93-AD259D702B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9716" y="3809010"/>
            <a:ext cx="1655634" cy="21049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C34DF796-9AC1-BC5C-E33E-F4DE3D9351E7}"/>
                  </a:ext>
                </a:extLst>
              </p:cNvPr>
              <p:cNvSpPr txBox="1"/>
              <p:nvPr/>
            </p:nvSpPr>
            <p:spPr>
              <a:xfrm>
                <a:off x="6237514" y="2155371"/>
                <a:ext cx="2906486" cy="945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maximizar o valor total</a:t>
                </a:r>
              </a:p>
              <a:p>
                <a:r>
                  <a:rPr lang="pt-BR" dirty="0"/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dirty="0"/>
                  <a:t>é o valor/lucro do item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C34DF796-9AC1-BC5C-E33E-F4DE3D935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514" y="2155371"/>
                <a:ext cx="2906486" cy="945643"/>
              </a:xfrm>
              <a:prstGeom prst="rect">
                <a:avLst/>
              </a:prstGeom>
              <a:blipFill>
                <a:blip r:embed="rId4"/>
                <a:stretch>
                  <a:fillRect l="-1677" t="-3871" b="-96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CDB11238-554D-6B46-638B-A198817FD7DC}"/>
                  </a:ext>
                </a:extLst>
              </p:cNvPr>
              <p:cNvSpPr txBox="1"/>
              <p:nvPr/>
            </p:nvSpPr>
            <p:spPr>
              <a:xfrm>
                <a:off x="391886" y="6042278"/>
                <a:ext cx="5192485" cy="945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Decisão: para cada item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pt-BR" dirty="0"/>
                  <a:t>, escolha pegar (1) ou não pegar (0)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CDB11238-554D-6B46-638B-A198817FD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6" y="6042278"/>
                <a:ext cx="5192485" cy="945643"/>
              </a:xfrm>
              <a:prstGeom prst="rect">
                <a:avLst/>
              </a:prstGeom>
              <a:blipFill>
                <a:blip r:embed="rId5"/>
                <a:stretch>
                  <a:fillRect l="-939" t="-32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674E9D4-67E2-ECCD-B516-E8B7217A7201}"/>
                  </a:ext>
                </a:extLst>
              </p:cNvPr>
              <p:cNvSpPr txBox="1"/>
              <p:nvPr/>
            </p:nvSpPr>
            <p:spPr>
              <a:xfrm>
                <a:off x="212270" y="3809010"/>
                <a:ext cx="3502479" cy="1222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Restrição de capacidade: o peso total não pode passar de </a:t>
                </a:r>
                <a14:m>
                  <m:oMath xmlns:m="http://schemas.openxmlformats.org/officeDocument/2006/math">
                    <m:r>
                      <a:rPr lang="pt-BR" b="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pt-BR" b="0" i="0" smtClean="0"/>
                      <m:t>Onde</m:t>
                    </m:r>
                    <m:r>
                      <m:rPr>
                        <m:nor/>
                      </m:rPr>
                      <a:rPr lang="pt-BR" i="0"/>
                      <m:t> </m:t>
                    </m:r>
                    <m:sSub>
                      <m:sSub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nor/>
                      </m:rPr>
                      <a:rPr lang="ar-AE" i="0"/>
                      <m:t>= </m:t>
                    </m:r>
                    <m:r>
                      <m:rPr>
                        <m:nor/>
                      </m:rPr>
                      <a:rPr lang="pt-BR" i="0"/>
                      <m:t>peso do item </m:t>
                    </m:r>
                    <m:r>
                      <a:rPr lang="pt-BR" b="0" i="1"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nor/>
                      </m:rPr>
                      <a:rPr lang="pt-BR" i="0"/>
                      <m:t>, </m:t>
                    </m:r>
                    <m:r>
                      <a:rPr lang="pt-BR" b="0" i="1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nor/>
                      </m:rPr>
                      <a:rPr lang="pt-BR" i="0"/>
                      <m:t>= capacidade da mochila.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674E9D4-67E2-ECCD-B516-E8B7217A7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270" y="3809010"/>
                <a:ext cx="3502479" cy="1222642"/>
              </a:xfrm>
              <a:prstGeom prst="rect">
                <a:avLst/>
              </a:prstGeom>
              <a:blipFill>
                <a:blip r:embed="rId6"/>
                <a:stretch>
                  <a:fillRect l="-1568" t="-3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36619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spaço Reservado para Conteúdo 2">
                <a:extLst>
                  <a:ext uri="{FF2B5EF4-FFF2-40B4-BE49-F238E27FC236}">
                    <a16:creationId xmlns:a16="http://schemas.microsoft.com/office/drawing/2014/main" id="{9E820FF5-687D-2E3A-268B-C739EA0C2F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endParaRPr lang="pt-BR" u="none" dirty="0"/>
              </a:p>
              <a:p>
                <a:pPr marL="0" indent="0" algn="just">
                  <a:buNone/>
                </a:pPr>
                <a:endParaRPr lang="pt-BR" u="none" dirty="0"/>
              </a:p>
              <a:p>
                <a:pPr marL="0" indent="0" algn="ctr">
                  <a:buNone/>
                </a:pPr>
                <a:r>
                  <a:rPr lang="pt-BR" sz="2400" u="none" dirty="0"/>
                  <a:t>Capacidade da Mochila, </a:t>
                </a:r>
                <a14:m>
                  <m:oMath xmlns:m="http://schemas.openxmlformats.org/officeDocument/2006/math">
                    <m:r>
                      <a:rPr lang="pt-BR" sz="2400" i="1" u="none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400" i="1" u="none" dirty="0" smtClean="0">
                        <a:latin typeface="Cambria Math" panose="02040503050406030204" pitchFamily="18" charset="0"/>
                      </a:rPr>
                      <m:t>=33</m:t>
                    </m:r>
                  </m:oMath>
                </a14:m>
                <a:endParaRPr lang="pt-BR" sz="2400" u="none" dirty="0"/>
              </a:p>
              <a:p>
                <a:pPr marL="0" indent="0" algn="just">
                  <a:buNone/>
                </a:pPr>
                <a:endParaRPr lang="pt-BR" u="none" dirty="0"/>
              </a:p>
              <a:p>
                <a:pPr marL="0" indent="0" algn="just">
                  <a:buNone/>
                </a:pPr>
                <a:endParaRPr lang="pt-BR" u="none" dirty="0"/>
              </a:p>
              <a:p>
                <a:pPr marL="0" indent="0" algn="just">
                  <a:buNone/>
                </a:pPr>
                <a:endParaRPr lang="pt-BR" u="none" dirty="0"/>
              </a:p>
              <a:p>
                <a:pPr marL="0" indent="0" algn="just">
                  <a:buNone/>
                </a:pPr>
                <a:r>
                  <a:rPr lang="pt-BR" u="none" dirty="0"/>
                  <a:t>Uma solução vizinha à s será qualquer sequência s com um bit modificado, formando assim um conjunto s’ composto por n elementos.</a:t>
                </a:r>
              </a:p>
            </p:txBody>
          </p:sp>
        </mc:Choice>
        <mc:Fallback xmlns="">
          <p:sp>
            <p:nvSpPr>
              <p:cNvPr id="13" name="Espaço Reservado para Conteúdo 2">
                <a:extLst>
                  <a:ext uri="{FF2B5EF4-FFF2-40B4-BE49-F238E27FC236}">
                    <a16:creationId xmlns:a16="http://schemas.microsoft.com/office/drawing/2014/main" id="{9E820FF5-687D-2E3A-268B-C739EA0C2F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546" r="-1623" b="-18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ítulo 1">
            <a:extLst>
              <a:ext uri="{FF2B5EF4-FFF2-40B4-BE49-F238E27FC236}">
                <a16:creationId xmlns:a16="http://schemas.microsoft.com/office/drawing/2014/main" id="{6161F951-DDB5-8B73-2618-F7001B3B3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BT aplicada ao Problema da Mochila Binária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74E45886-6221-919A-632E-A95A74F719A9}"/>
                  </a:ext>
                </a:extLst>
              </p:cNvPr>
              <p:cNvSpPr txBox="1"/>
              <p:nvPr/>
            </p:nvSpPr>
            <p:spPr>
              <a:xfrm>
                <a:off x="2407723" y="3601156"/>
                <a:ext cx="4325586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500" i="1" u="none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2500" b="0" i="1" u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500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500" b="0" i="1" u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500" b="0" i="1" u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pt-BR" sz="2500" b="0" i="1" u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500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pt-BR" sz="2500" b="0" i="1" u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500" b="0" i="1" u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pt-BR" sz="2500" b="0" i="1" u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2500" b="0" i="1" u="none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,..,</m:t>
                        </m:r>
                        <m:sSub>
                          <m:sSubPr>
                            <m:ctrlPr>
                              <a:rPr lang="pt-BR" sz="2500" b="0" i="1" u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500" b="0" i="1" u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pt-BR" sz="2500" b="0" i="1" u="non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1800" u="none" dirty="0"/>
                  <a:t> em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pt-BR" sz="1800" u="none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74E45886-6221-919A-632E-A95A74F71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723" y="3601156"/>
                <a:ext cx="4325586" cy="468205"/>
              </a:xfrm>
              <a:prstGeom prst="rect">
                <a:avLst/>
              </a:prstGeom>
              <a:blipFill>
                <a:blip r:embed="rId3"/>
                <a:stretch>
                  <a:fillRect b="-155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8D45891B-AAD9-B6D7-9A85-A2C08B01B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075" y="1967412"/>
            <a:ext cx="5657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7376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spaço Reservado para Conteúdo 2">
                <a:extLst>
                  <a:ext uri="{FF2B5EF4-FFF2-40B4-BE49-F238E27FC236}">
                    <a16:creationId xmlns:a16="http://schemas.microsoft.com/office/drawing/2014/main" id="{9E820FF5-687D-2E3A-268B-C739EA0C2F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 algn="just">
                  <a:buNone/>
                </a:pPr>
                <a:endParaRPr lang="pt-BR" u="none" dirty="0"/>
              </a:p>
              <a:p>
                <a:pPr marL="0" indent="0" algn="just">
                  <a:buNone/>
                </a:pPr>
                <a:endParaRPr lang="pt-BR" u="none" dirty="0"/>
              </a:p>
              <a:p>
                <a:pPr marL="0" indent="0" algn="just">
                  <a:buNone/>
                </a:pPr>
                <a:endParaRPr lang="pt-BR" u="none" dirty="0"/>
              </a:p>
              <a:p>
                <a:pPr marL="0" indent="0" algn="just">
                  <a:buNone/>
                </a:pPr>
                <a:endParaRPr lang="pt-BR" u="none" dirty="0"/>
              </a:p>
              <a:p>
                <a:pPr marL="0" indent="0" algn="just">
                  <a:buNone/>
                </a:pPr>
                <a:r>
                  <a:rPr lang="pt-BR" u="none" dirty="0"/>
                  <a:t>Vamos considerar a solução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0" i="1" u="none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u="none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pt-BR" b="0" i="1" u="none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pt-BR" u="none" dirty="0"/>
                  <a:t> a seguir:</a:t>
                </a:r>
              </a:p>
              <a:p>
                <a:pPr marL="0" indent="0" algn="just">
                  <a:buNone/>
                </a:pPr>
                <a:endParaRPr lang="pt-BR" u="none" dirty="0"/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pt-BR" i="1" u="none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u="none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pt-BR" i="1" u="none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pt-BR" i="1" u="none" dirty="0" smtClean="0">
                        <a:latin typeface="Cambria Math" panose="02040503050406030204" pitchFamily="18" charset="0"/>
                      </a:rPr>
                      <m:t>= (1, 0, 0, 1, 0, 1, 1, 0)</m:t>
                    </m:r>
                  </m:oMath>
                </a14:m>
                <a:r>
                  <a:rPr lang="pt-BR" u="none" dirty="0"/>
                  <a:t> | itens 1,4,6,7 escolhidos</a:t>
                </a:r>
              </a:p>
              <a:p>
                <a:pPr marL="0" indent="0" algn="just">
                  <a:buNone/>
                </a:pPr>
                <a:endParaRPr lang="pt-BR" i="1" u="none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i="1" u="none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i="1" u="none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pt-BR" b="0" i="1" u="none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u="none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pt-BR" b="0" i="1" u="none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pt-BR" i="1" u="none" dirty="0" smtClean="0">
                          <a:latin typeface="Cambria Math" panose="02040503050406030204" pitchFamily="18" charset="0"/>
                        </a:rPr>
                        <m:t>)=19</m:t>
                      </m:r>
                    </m:oMath>
                  </m:oMathPara>
                </a14:m>
                <a:endParaRPr lang="pt-BR" u="none" dirty="0"/>
              </a:p>
              <a:p>
                <a:pPr algn="just"/>
                <a:endParaRPr lang="pt-BR" i="1" u="none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pt-BR" i="1" u="none" dirty="0" smtClean="0">
                          <a:latin typeface="Cambria Math" panose="02040503050406030204" pitchFamily="18" charset="0"/>
                        </a:rPr>
                        <m:t>𝑝𝑒𝑠𝑜</m:t>
                      </m:r>
                      <m:r>
                        <a:rPr lang="pt-BR" i="1" u="none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pt-BR" i="1" u="none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 u="none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pt-BR" i="1" u="none" dirty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pt-BR" i="1" u="none" dirty="0" smtClean="0">
                          <a:latin typeface="Cambria Math" panose="02040503050406030204" pitchFamily="18" charset="0"/>
                        </a:rPr>
                        <m:t>)=32</m:t>
                      </m:r>
                    </m:oMath>
                  </m:oMathPara>
                </a14:m>
                <a:endParaRPr lang="pt-BR" u="none" dirty="0"/>
              </a:p>
              <a:p>
                <a:pPr marL="0" indent="0" algn="just">
                  <a:buNone/>
                </a:pPr>
                <a:endParaRPr lang="pt-BR" u="none" dirty="0"/>
              </a:p>
              <a:p>
                <a:pPr marL="0" indent="0" algn="just">
                  <a:buNone/>
                </a:pPr>
                <a:r>
                  <a:rPr lang="pt-BR" u="none" dirty="0"/>
                  <a:t>Para encontrarmos um vizinho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0" i="1" u="none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u="none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pt-BR" b="0" i="1" u="none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pt-BR" u="none" dirty="0"/>
                  <a:t> pode-se inverter qualquer um dos bits que compõe a solução. Nesse caso, |V| = 8</a:t>
                </a:r>
              </a:p>
            </p:txBody>
          </p:sp>
        </mc:Choice>
        <mc:Fallback xmlns="">
          <p:sp>
            <p:nvSpPr>
              <p:cNvPr id="13" name="Espaço Reservado para Conteúdo 2">
                <a:extLst>
                  <a:ext uri="{FF2B5EF4-FFF2-40B4-BE49-F238E27FC236}">
                    <a16:creationId xmlns:a16="http://schemas.microsoft.com/office/drawing/2014/main" id="{9E820FF5-687D-2E3A-268B-C739EA0C2F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618" r="-69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ítulo 1">
            <a:extLst>
              <a:ext uri="{FF2B5EF4-FFF2-40B4-BE49-F238E27FC236}">
                <a16:creationId xmlns:a16="http://schemas.microsoft.com/office/drawing/2014/main" id="{6161F951-DDB5-8B73-2618-F7001B3B3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BT aplicada ao Problema da Mochila Binária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A3DFCB0-45C4-46F3-A05E-B202DA19E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075" y="1967412"/>
            <a:ext cx="5657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0916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61F951-DDB5-8B73-2618-F7001B3B3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BT aplicada ao Problema da Mochila Binária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4F160A9E-15AF-8F4F-11B5-624F38CEEC1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2882106"/>
          <a:ext cx="6858000" cy="223837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11116302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1721383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7040459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1310815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3987757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2992249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4563738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61541297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5294098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721798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69196547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2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41578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5275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Vizinhança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Peso(s')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f(s')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25312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61569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27003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73445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96662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1934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62355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0739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21028"/>
                  </a:ext>
                </a:extLst>
              </a:tr>
            </a:tbl>
          </a:graphicData>
        </a:graphic>
      </p:graphicFrame>
      <p:sp>
        <p:nvSpPr>
          <p:cNvPr id="8" name="Seta: para a Esquerda 7">
            <a:extLst>
              <a:ext uri="{FF2B5EF4-FFF2-40B4-BE49-F238E27FC236}">
                <a16:creationId xmlns:a16="http://schemas.microsoft.com/office/drawing/2014/main" id="{1DBBC93D-98DE-1226-42B8-3BDDEDD8ECB7}"/>
              </a:ext>
            </a:extLst>
          </p:cNvPr>
          <p:cNvSpPr/>
          <p:nvPr/>
        </p:nvSpPr>
        <p:spPr>
          <a:xfrm>
            <a:off x="8072994" y="3542679"/>
            <a:ext cx="415636" cy="17813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0B43C6-185F-2B75-8B6F-A6A54C99D3F9}"/>
              </a:ext>
            </a:extLst>
          </p:cNvPr>
          <p:cNvSpPr txBox="1"/>
          <p:nvPr/>
        </p:nvSpPr>
        <p:spPr>
          <a:xfrm>
            <a:off x="3483980" y="5578997"/>
            <a:ext cx="202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F(s’) = retorno</a:t>
            </a:r>
          </a:p>
        </p:txBody>
      </p:sp>
    </p:spTree>
    <p:extLst>
      <p:ext uri="{BB962C8B-B14F-4D97-AF65-F5344CB8AC3E}">
        <p14:creationId xmlns:p14="http://schemas.microsoft.com/office/powerpoint/2010/main" val="36973153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F14E0-4076-4455-BF9A-08F16377F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BT aplicada ao Problema da Mochila Binária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A6D2FE-F7A3-4F74-BB52-B7E5B32A6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600" u="none" dirty="0"/>
              <a:t>A solução inicial representa um ótimo local, uma vez que seu benefício mostrou-se maior que todos os seus vizinhos</a:t>
            </a:r>
          </a:p>
          <a:p>
            <a:pPr algn="just"/>
            <a:endParaRPr lang="pt-BR" sz="2600" u="none" dirty="0"/>
          </a:p>
          <a:p>
            <a:pPr algn="just"/>
            <a:r>
              <a:rPr lang="pt-BR" sz="2600" u="none" dirty="0"/>
              <a:t>A Busca Tabu, no entanto, aceita escolhas de não-melhora como estratégia para tentar encontrar uma solução ótima global</a:t>
            </a:r>
          </a:p>
          <a:p>
            <a:pPr algn="just"/>
            <a:endParaRPr lang="pt-BR" sz="2600" u="none" dirty="0"/>
          </a:p>
          <a:p>
            <a:pPr algn="just"/>
            <a:endParaRPr lang="pt-BR" sz="2600" u="none" dirty="0"/>
          </a:p>
        </p:txBody>
      </p:sp>
    </p:spTree>
    <p:extLst>
      <p:ext uri="{BB962C8B-B14F-4D97-AF65-F5344CB8AC3E}">
        <p14:creationId xmlns:p14="http://schemas.microsoft.com/office/powerpoint/2010/main" val="15195310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49CA2-CDE0-76F0-FE7E-B27E462FF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BT aplicada ao Problema da Mochila Binária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96D0DD-DCF2-B6F1-8C5A-DD7C4BD19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620692"/>
          </a:xfrm>
        </p:spPr>
        <p:txBody>
          <a:bodyPr/>
          <a:lstStyle/>
          <a:p>
            <a:r>
              <a:rPr lang="pt-BR" dirty="0"/>
              <a:t>Lista Tabu T</a:t>
            </a:r>
          </a:p>
        </p:txBody>
      </p:sp>
      <p:graphicFrame>
        <p:nvGraphicFramePr>
          <p:cNvPr id="18" name="Objeto 17">
            <a:extLst>
              <a:ext uri="{FF2B5EF4-FFF2-40B4-BE49-F238E27FC236}">
                <a16:creationId xmlns:a16="http://schemas.microsoft.com/office/drawing/2014/main" id="{3D5A1D1D-57FB-1CA2-0DB7-69A361B1B3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9125002"/>
              </p:ext>
            </p:extLst>
          </p:nvPr>
        </p:nvGraphicFramePr>
        <p:xfrm>
          <a:off x="1138238" y="2723283"/>
          <a:ext cx="6867525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867633" imgH="247535" progId="Excel.Sheet.12">
                  <p:embed/>
                </p:oleObj>
              </mc:Choice>
              <mc:Fallback>
                <p:oleObj name="Worksheet" r:id="rId2" imgW="6867633" imgH="247535" progId="Excel.Sheet.12">
                  <p:embed/>
                  <p:pic>
                    <p:nvPicPr>
                      <p:cNvPr id="18" name="Objeto 17">
                        <a:extLst>
                          <a:ext uri="{FF2B5EF4-FFF2-40B4-BE49-F238E27FC236}">
                            <a16:creationId xmlns:a16="http://schemas.microsoft.com/office/drawing/2014/main" id="{3D5A1D1D-57FB-1CA2-0DB7-69A361B1B3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38238" y="2723283"/>
                        <a:ext cx="6867525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4E934D99-BBF4-4123-BF4D-D6EA33222518}"/>
              </a:ext>
            </a:extLst>
          </p:cNvPr>
          <p:cNvCxnSpPr/>
          <p:nvPr/>
        </p:nvCxnSpPr>
        <p:spPr>
          <a:xfrm>
            <a:off x="760021" y="2723283"/>
            <a:ext cx="0" cy="2430608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159C0F8-F50E-7404-7081-91C675187FAE}"/>
              </a:ext>
            </a:extLst>
          </p:cNvPr>
          <p:cNvSpPr txBox="1"/>
          <p:nvPr/>
        </p:nvSpPr>
        <p:spPr>
          <a:xfrm>
            <a:off x="249382" y="4294310"/>
            <a:ext cx="13392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T elementos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BD8E848-6CA8-CA2B-E11F-FEB187335408}"/>
              </a:ext>
            </a:extLst>
          </p:cNvPr>
          <p:cNvSpPr txBox="1"/>
          <p:nvPr/>
        </p:nvSpPr>
        <p:spPr>
          <a:xfrm>
            <a:off x="1693585" y="3647979"/>
            <a:ext cx="63121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Quando a tabela alcançar o tamanho T, a solução mais antiga será substituída pela mais recente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Quanto maior for |T| mais longa é a proibição de volta a uma solução já visitada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Quanto menor for |T| menor a restrição de revisita</a:t>
            </a:r>
          </a:p>
        </p:txBody>
      </p:sp>
    </p:spTree>
    <p:extLst>
      <p:ext uri="{BB962C8B-B14F-4D97-AF65-F5344CB8AC3E}">
        <p14:creationId xmlns:p14="http://schemas.microsoft.com/office/powerpoint/2010/main" val="39511608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49CA2-CDE0-76F0-FE7E-B27E462FF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BT aplicada ao Problema da Mochila Binária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96D0DD-DCF2-B6F1-8C5A-DD7C4BD19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620692"/>
          </a:xfrm>
        </p:spPr>
        <p:txBody>
          <a:bodyPr/>
          <a:lstStyle/>
          <a:p>
            <a:r>
              <a:rPr lang="pt-BR" dirty="0"/>
              <a:t>Lista Tabu T</a:t>
            </a:r>
          </a:p>
        </p:txBody>
      </p:sp>
      <p:graphicFrame>
        <p:nvGraphicFramePr>
          <p:cNvPr id="18" name="Objeto 17">
            <a:extLst>
              <a:ext uri="{FF2B5EF4-FFF2-40B4-BE49-F238E27FC236}">
                <a16:creationId xmlns:a16="http://schemas.microsoft.com/office/drawing/2014/main" id="{3D5A1D1D-57FB-1CA2-0DB7-69A361B1B3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38238" y="2723283"/>
          <a:ext cx="6867525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867633" imgH="247535" progId="Excel.Sheet.12">
                  <p:embed/>
                </p:oleObj>
              </mc:Choice>
              <mc:Fallback>
                <p:oleObj name="Worksheet" r:id="rId2" imgW="6867633" imgH="247535" progId="Excel.Sheet.12">
                  <p:embed/>
                  <p:pic>
                    <p:nvPicPr>
                      <p:cNvPr id="18" name="Objeto 17">
                        <a:extLst>
                          <a:ext uri="{FF2B5EF4-FFF2-40B4-BE49-F238E27FC236}">
                            <a16:creationId xmlns:a16="http://schemas.microsoft.com/office/drawing/2014/main" id="{3D5A1D1D-57FB-1CA2-0DB7-69A361B1B3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38238" y="2723283"/>
                        <a:ext cx="6867525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B09FF8DA-6A15-8F3A-872B-C875B749FB55}"/>
              </a:ext>
            </a:extLst>
          </p:cNvPr>
          <p:cNvSpPr txBox="1"/>
          <p:nvPr/>
        </p:nvSpPr>
        <p:spPr>
          <a:xfrm>
            <a:off x="1138239" y="4263242"/>
            <a:ext cx="68675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Ao invés de armazenar a solução inteira, pode-se armazenar apenas a alteração que leva à solução tabu. Nesse caso, as inversões binárias...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ST = {&lt;1&gt;, &lt; &gt;} </a:t>
            </a:r>
            <a:r>
              <a:rPr lang="pt-BR" dirty="0">
                <a:sym typeface="Wingdings" panose="05000000000000000000" pitchFamily="2" charset="2"/>
              </a:rPr>
              <a:t> considerando |T| = 2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33104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7318C-6205-8CBB-5EDA-3641F2A8E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BT aplicada ao Problema da Mochila Binária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DA022C0-9FB8-B14E-DE76-5052F99BC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129307"/>
              </p:ext>
            </p:extLst>
          </p:nvPr>
        </p:nvGraphicFramePr>
        <p:xfrm>
          <a:off x="1143000" y="2886869"/>
          <a:ext cx="6858000" cy="222885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9994877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460690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67807549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67375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41440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535029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858063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4800288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1517995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6555378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3454384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2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4946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10926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Vizinhança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Peso(s')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f(s')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0626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49736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75967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76956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1991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09539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20847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27625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805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7709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7318C-6205-8CBB-5EDA-3641F2A8E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BT aplicada ao Problema da Mochila Binária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DA022C0-9FB8-B14E-DE76-5052F99BC574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2886869"/>
          <a:ext cx="6858000" cy="222885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9994877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460690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67807549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67375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241440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535029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858063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4800288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1517995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6555378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3454384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2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4946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10926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Vizinhança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Peso(s')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f(s')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0626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49736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75967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76956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1991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09539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20847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27625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805040"/>
                  </a:ext>
                </a:extLst>
              </a:tr>
            </a:tbl>
          </a:graphicData>
        </a:graphic>
      </p:graphicFrame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C00E4DE9-36F3-A527-154E-823651CD7CFA}"/>
              </a:ext>
            </a:extLst>
          </p:cNvPr>
          <p:cNvSpPr/>
          <p:nvPr/>
        </p:nvSpPr>
        <p:spPr>
          <a:xfrm>
            <a:off x="8072994" y="4136447"/>
            <a:ext cx="415636" cy="17813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3113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49CA2-CDE0-76F0-FE7E-B27E462FF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BT aplicada ao Problema da Mochila Binária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96D0DD-DCF2-B6F1-8C5A-DD7C4BD19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620692"/>
          </a:xfrm>
        </p:spPr>
        <p:txBody>
          <a:bodyPr/>
          <a:lstStyle/>
          <a:p>
            <a:r>
              <a:rPr lang="pt-BR" dirty="0"/>
              <a:t>Lista Tabu T</a:t>
            </a:r>
          </a:p>
        </p:txBody>
      </p: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45A849E8-70C2-DCE2-0296-DEA708AE4E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072464"/>
              </p:ext>
            </p:extLst>
          </p:nvPr>
        </p:nvGraphicFramePr>
        <p:xfrm>
          <a:off x="1138237" y="2724316"/>
          <a:ext cx="6867525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867633" imgH="247535" progId="Excel.Sheet.12">
                  <p:embed/>
                </p:oleObj>
              </mc:Choice>
              <mc:Fallback>
                <p:oleObj name="Worksheet" r:id="rId2" imgW="6867633" imgH="247535" progId="Excel.Sheet.12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id="{45A849E8-70C2-DCE2-0296-DEA708AE4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38237" y="2724316"/>
                        <a:ext cx="6867525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CB99AAD9-DCAA-04A5-4789-8A774FE4E3B0}"/>
              </a:ext>
            </a:extLst>
          </p:cNvPr>
          <p:cNvSpPr txBox="1"/>
          <p:nvPr/>
        </p:nvSpPr>
        <p:spPr>
          <a:xfrm>
            <a:off x="1138239" y="4263242"/>
            <a:ext cx="68675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Nesse momento a segunda solução é adicionada à lista tabu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ST = {&lt;1&gt;, &lt;4&gt;}</a:t>
            </a:r>
          </a:p>
        </p:txBody>
      </p: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29FB5AEC-F74C-7F03-8377-520CB3E60E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877022"/>
              </p:ext>
            </p:extLst>
          </p:nvPr>
        </p:nvGraphicFramePr>
        <p:xfrm>
          <a:off x="1138238" y="3305175"/>
          <a:ext cx="6867525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867633" imgH="247535" progId="Excel.Sheet.12">
                  <p:embed/>
                </p:oleObj>
              </mc:Choice>
              <mc:Fallback>
                <p:oleObj name="Worksheet" r:id="rId4" imgW="6867633" imgH="247535" progId="Excel.Sheet.12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29FB5AEC-F74C-7F03-8377-520CB3E60E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38238" y="3305175"/>
                        <a:ext cx="6867525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51037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7318C-6205-8CBB-5EDA-3641F2A8E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BT aplicada ao Problema da Mochila Binária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EDDDC362-53C5-B6E2-26DA-2FF3F93B4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283060"/>
              </p:ext>
            </p:extLst>
          </p:nvPr>
        </p:nvGraphicFramePr>
        <p:xfrm>
          <a:off x="1143000" y="2886869"/>
          <a:ext cx="6858000" cy="222885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324013044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5848647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61757066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744721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501337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0428626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6656546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7896395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791069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915024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05339946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2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3547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5415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Vizinhança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Peso(s')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f(s')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13808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16946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60849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67601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9963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97264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5798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80967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323670"/>
                  </a:ext>
                </a:extLst>
              </a:tr>
            </a:tbl>
          </a:graphicData>
        </a:graphic>
      </p:graphicFrame>
      <p:sp>
        <p:nvSpPr>
          <p:cNvPr id="9" name="Seta: para a Esquerda 8">
            <a:extLst>
              <a:ext uri="{FF2B5EF4-FFF2-40B4-BE49-F238E27FC236}">
                <a16:creationId xmlns:a16="http://schemas.microsoft.com/office/drawing/2014/main" id="{1C6E0C65-6CC1-2FD9-6F30-8201B2E045E7}"/>
              </a:ext>
            </a:extLst>
          </p:cNvPr>
          <p:cNvSpPr/>
          <p:nvPr/>
        </p:nvSpPr>
        <p:spPr>
          <a:xfrm>
            <a:off x="8072994" y="4920221"/>
            <a:ext cx="415636" cy="17813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26715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49CA2-CDE0-76F0-FE7E-B27E462FF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BT aplicada ao Problema da Mochila Binária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96D0DD-DCF2-B6F1-8C5A-DD7C4BD19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620692"/>
          </a:xfrm>
        </p:spPr>
        <p:txBody>
          <a:bodyPr/>
          <a:lstStyle/>
          <a:p>
            <a:r>
              <a:rPr lang="pt-BR" dirty="0"/>
              <a:t>Lista Tabu T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B99AAD9-DCAA-04A5-4789-8A774FE4E3B0}"/>
              </a:ext>
            </a:extLst>
          </p:cNvPr>
          <p:cNvSpPr txBox="1"/>
          <p:nvPr/>
        </p:nvSpPr>
        <p:spPr>
          <a:xfrm>
            <a:off x="1138239" y="4263242"/>
            <a:ext cx="68675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Nesse momento o primeiro bit deixa de ser tabu e o oitavo bit é adicionado à lista tabu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ST = {&lt;4&gt;, &lt;8&gt;}</a:t>
            </a:r>
          </a:p>
        </p:txBody>
      </p: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29FB5AEC-F74C-7F03-8377-520CB3E60E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7949905"/>
              </p:ext>
            </p:extLst>
          </p:nvPr>
        </p:nvGraphicFramePr>
        <p:xfrm>
          <a:off x="1138239" y="2713882"/>
          <a:ext cx="6867525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867633" imgH="247535" progId="Excel.Sheet.12">
                  <p:embed/>
                </p:oleObj>
              </mc:Choice>
              <mc:Fallback>
                <p:oleObj name="Worksheet" r:id="rId2" imgW="6867633" imgH="247535" progId="Excel.Sheet.12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29FB5AEC-F74C-7F03-8377-520CB3E60E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38239" y="2713882"/>
                        <a:ext cx="6867525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0A5D2CF6-A529-001A-8A04-2FCBE9C24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475" y="3300412"/>
            <a:ext cx="687705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3674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7318C-6205-8CBB-5EDA-3641F2A8E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BT aplicada ao Problema da Mochila Binária</a:t>
            </a:r>
          </a:p>
        </p:txBody>
      </p:sp>
      <p:sp>
        <p:nvSpPr>
          <p:cNvPr id="9" name="Seta: para a Esquerda 8">
            <a:extLst>
              <a:ext uri="{FF2B5EF4-FFF2-40B4-BE49-F238E27FC236}">
                <a16:creationId xmlns:a16="http://schemas.microsoft.com/office/drawing/2014/main" id="{1C6E0C65-6CC1-2FD9-6F30-8201B2E045E7}"/>
              </a:ext>
            </a:extLst>
          </p:cNvPr>
          <p:cNvSpPr/>
          <p:nvPr/>
        </p:nvSpPr>
        <p:spPr>
          <a:xfrm>
            <a:off x="8072994" y="4552088"/>
            <a:ext cx="415636" cy="17813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12AD8DE-897A-5AC7-E98F-69C449CCC590}"/>
              </a:ext>
            </a:extLst>
          </p:cNvPr>
          <p:cNvSpPr txBox="1"/>
          <p:nvPr/>
        </p:nvSpPr>
        <p:spPr>
          <a:xfrm>
            <a:off x="1143000" y="5366703"/>
            <a:ext cx="4649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/>
              <a:t>ST = {&lt;8&gt;, &lt;6&gt;}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6CE55A3-574D-D295-7184-F9F4CE146FBD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2886869"/>
          <a:ext cx="6858000" cy="222885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3385285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8901569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886320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7400583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038629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4415608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9638064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541671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5558762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264870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17376287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2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8604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9135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Vizinhança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Peso(s')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f(s')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7082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41655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62073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3567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26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63043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268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5987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017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04649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7318C-6205-8CBB-5EDA-3641F2A8E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BT aplicada ao Problema da Mochila Binária</a:t>
            </a:r>
          </a:p>
        </p:txBody>
      </p:sp>
      <p:sp>
        <p:nvSpPr>
          <p:cNvPr id="9" name="Seta: para a Esquerda 8">
            <a:extLst>
              <a:ext uri="{FF2B5EF4-FFF2-40B4-BE49-F238E27FC236}">
                <a16:creationId xmlns:a16="http://schemas.microsoft.com/office/drawing/2014/main" id="{1C6E0C65-6CC1-2FD9-6F30-8201B2E045E7}"/>
              </a:ext>
            </a:extLst>
          </p:cNvPr>
          <p:cNvSpPr/>
          <p:nvPr/>
        </p:nvSpPr>
        <p:spPr>
          <a:xfrm>
            <a:off x="8072994" y="4326455"/>
            <a:ext cx="415636" cy="17813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12AD8DE-897A-5AC7-E98F-69C449CCC590}"/>
              </a:ext>
            </a:extLst>
          </p:cNvPr>
          <p:cNvSpPr txBox="1"/>
          <p:nvPr/>
        </p:nvSpPr>
        <p:spPr>
          <a:xfrm>
            <a:off x="1143000" y="5366703"/>
            <a:ext cx="4649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/>
              <a:t>ST = {&lt;6&gt;, &lt;5&gt;}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80EDFB49-20A9-6F1C-A247-053F50D06336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2886869"/>
          <a:ext cx="6858000" cy="222885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7679274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0304887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1532672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4127192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2640158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2848634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6721922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1478329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2748433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832189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71786919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2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697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05404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Vizinhança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Peso(s')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f(s')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8342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35401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91078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5805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7536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53376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3686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61256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3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1391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7318C-6205-8CBB-5EDA-3641F2A8E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BT aplicada ao Problema da Mochila Binária</a:t>
            </a:r>
          </a:p>
        </p:txBody>
      </p:sp>
      <p:sp>
        <p:nvSpPr>
          <p:cNvPr id="9" name="Seta: para a Esquerda 8">
            <a:extLst>
              <a:ext uri="{FF2B5EF4-FFF2-40B4-BE49-F238E27FC236}">
                <a16:creationId xmlns:a16="http://schemas.microsoft.com/office/drawing/2014/main" id="{1C6E0C65-6CC1-2FD9-6F30-8201B2E045E7}"/>
              </a:ext>
            </a:extLst>
          </p:cNvPr>
          <p:cNvSpPr/>
          <p:nvPr/>
        </p:nvSpPr>
        <p:spPr>
          <a:xfrm>
            <a:off x="8072994" y="3530811"/>
            <a:ext cx="415636" cy="17813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12AD8DE-897A-5AC7-E98F-69C449CCC590}"/>
              </a:ext>
            </a:extLst>
          </p:cNvPr>
          <p:cNvSpPr txBox="1"/>
          <p:nvPr/>
        </p:nvSpPr>
        <p:spPr>
          <a:xfrm>
            <a:off x="1143000" y="5366703"/>
            <a:ext cx="4649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/>
              <a:t>ST = {&lt;5&gt;, &lt;1&gt;}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4033D43D-0CB1-B6E5-81DA-D417CE72F2B5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2886869"/>
          <a:ext cx="6858000" cy="222885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416305438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2749651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309462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008649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6765131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4499636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6178466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4183576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5374248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5420874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23867831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2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8453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94654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Vizinhança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Peso(s')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f(s')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84792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28319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6015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72507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2397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41652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4672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4701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34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21234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7318C-6205-8CBB-5EDA-3641F2A8E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BT aplicada ao Problema da Mochila Binária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EC16585-902E-E6AD-D97A-48A870B21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212" y="2089748"/>
            <a:ext cx="574357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7395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7318C-6205-8CBB-5EDA-3641F2A8E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BT aplicada ao Problema da Mochila Binária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233FCC6-3E6C-A48D-38F5-F802EA4C7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312" y="2080262"/>
            <a:ext cx="5667375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432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BC63-7D3C-88EB-14F4-CDD2FB587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FF1B8B2-9ACD-D005-63AF-C02C764838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u="none" dirty="0"/>
                  <a:t>Capacidade </a:t>
                </a:r>
                <a14:m>
                  <m:oMath xmlns:m="http://schemas.openxmlformats.org/officeDocument/2006/math">
                    <m:r>
                      <a:rPr lang="pt-BR" b="0" i="1" u="none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b="0" u="none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u="none">
                        <a:latin typeface="Cambria Math" panose="02040503050406030204" pitchFamily="18" charset="0"/>
                      </a:rPr>
                      <m:t>10</m:t>
                    </m:r>
                    <m:r>
                      <a:rPr lang="pt-BR" b="0" i="1" u="none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pt-BR" b="0" i="1" u="none" smtClean="0">
                        <a:latin typeface="Cambria Math" panose="02040503050406030204" pitchFamily="18" charset="0"/>
                      </a:rPr>
                      <m:t>𝑝𝑒𝑠𝑜</m:t>
                    </m:r>
                    <m:r>
                      <a:rPr lang="pt-BR" b="0" i="1" u="none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u="none" dirty="0"/>
                  <a:t>. Valor é livre.</a:t>
                </a:r>
              </a:p>
              <a:p>
                <a:r>
                  <a:rPr lang="pt-BR" u="none" dirty="0"/>
                  <a:t>Escolha itens para maximizar o valor.</a:t>
                </a:r>
              </a:p>
              <a:p>
                <a:r>
                  <a:rPr lang="pt-BR" u="none" dirty="0"/>
                  <a:t>Item 1 — peso 2, valor 3</a:t>
                </a:r>
              </a:p>
              <a:p>
                <a:r>
                  <a:rPr lang="pt-BR" u="none" dirty="0"/>
                  <a:t>Item 2 — peso 3, valor 4</a:t>
                </a:r>
              </a:p>
              <a:p>
                <a:r>
                  <a:rPr lang="pt-BR" u="none" dirty="0"/>
                  <a:t>Item 3 — peso 4, valor 5</a:t>
                </a:r>
              </a:p>
              <a:p>
                <a:r>
                  <a:rPr lang="pt-BR" u="none" dirty="0"/>
                  <a:t>Item 4 — peso 5, valor 8</a:t>
                </a:r>
              </a:p>
              <a:p>
                <a:r>
                  <a:rPr lang="pt-BR" u="none" dirty="0"/>
                  <a:t>Item 5 — peso 9, valor 10</a:t>
                </a:r>
              </a:p>
              <a:p>
                <a:r>
                  <a:rPr lang="pt-BR" u="none" dirty="0"/>
                  <a:t>Listar combinações que caibam e achar a de maior valor; escrever também o vetor binário </a:t>
                </a:r>
                <a14:m>
                  <m:oMath xmlns:m="http://schemas.openxmlformats.org/officeDocument/2006/math">
                    <m:r>
                      <a:rPr lang="pt-BR" b="0" i="1" u="none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pt-BR" u="none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FF1B8B2-9ACD-D005-63AF-C02C764838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46" t="-30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48925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3D11A-0BE0-D785-0F29-057D10FB2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C389E5-6D55-6E9D-311F-2AE009195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68788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11B94-7BA6-36B7-4328-820FED1C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Problema do Caixeiro Viajante TSP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60B1E8E-54C9-ACF8-8AA4-0A0E9B561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767" y="2203677"/>
            <a:ext cx="5562466" cy="323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5308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8DA32-51AD-2AC5-A170-7890988ED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Problema do Caixeiro Viajante TSP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C7372EE-A380-9A4E-7689-20B0CA358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990" y="2616219"/>
            <a:ext cx="6394020" cy="202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522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77E763-0B17-41A5-B8C5-5ADD2C39F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Problema da Designação Generalizada - PDG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3DF8E9-2ABC-4B81-8AC5-DD07A4731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pt-BR" dirty="0"/>
              <a:t>Problema: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u="none" dirty="0"/>
              <a:t>Um conjunto de atividades deve ser realizada por um grupo de agentes.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u="none" dirty="0"/>
              <a:t>Todas as atividades devem ser realizadas de forma a minimizar o custo de realização das mesmas (Função Objetivo)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u="none" dirty="0"/>
              <a:t>Assim, cada tarefa tem um determinado custo de execução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u="none" dirty="0"/>
              <a:t>Além do custo de execução, cada tarefa tem uma quantidade de recurso atrelada à sua execução (limitado pelas capacidades/disponibilidades dos agentes)</a:t>
            </a:r>
          </a:p>
        </p:txBody>
      </p:sp>
    </p:spTree>
    <p:extLst>
      <p:ext uri="{BB962C8B-B14F-4D97-AF65-F5344CB8AC3E}">
        <p14:creationId xmlns:p14="http://schemas.microsoft.com/office/powerpoint/2010/main" val="175956443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B4C85-2609-4A2B-A9AA-1C2E9EAC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Problema da Designação Generalizada - PDG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E494C0B-0951-4463-B085-18CEF211C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862" y="2376917"/>
            <a:ext cx="6010275" cy="1838325"/>
          </a:xfrm>
          <a:prstGeom prst="rect">
            <a:avLst/>
          </a:prstGeom>
        </p:spPr>
      </p:pic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066860A-44F4-4E6D-B8C8-5EC9F563F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algn="just"/>
            <a:r>
              <a:rPr lang="pt-BR" sz="2600" dirty="0"/>
              <a:t>Custos para execução de cada atividade por cada agente</a:t>
            </a:r>
            <a:endParaRPr lang="pt-BR" sz="2600" u="none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0829496-E9A3-A62B-F88D-DE55022B27B6}"/>
              </a:ext>
            </a:extLst>
          </p:cNvPr>
          <p:cNvSpPr txBox="1"/>
          <p:nvPr/>
        </p:nvSpPr>
        <p:spPr>
          <a:xfrm>
            <a:off x="324465" y="4454013"/>
            <a:ext cx="85835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A tabela mostra o custo que cada agente teria para executar cada tarefa.</a:t>
            </a:r>
          </a:p>
          <a:p>
            <a:r>
              <a:rPr lang="pt-BR"/>
              <a:t>Linhas: representam os agentes (A1, A2, A3).</a:t>
            </a:r>
          </a:p>
          <a:p>
            <a:r>
              <a:rPr lang="pt-BR"/>
              <a:t>Colunas: representam as tarefas (T1 até T8).</a:t>
            </a:r>
          </a:p>
          <a:p>
            <a:r>
              <a:rPr lang="pt-BR"/>
              <a:t>Cada número indica o custo associado.</a:t>
            </a:r>
          </a:p>
          <a:p>
            <a:r>
              <a:rPr lang="pt-BR"/>
              <a:t>O desafio do PDG é encontrar uma forma de distribuir todas as tarefas entre os agentes, respeitando restrições (como limite de recursos) e alcançando o menor custo total possível.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11923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B4C85-2609-4A2B-A9AA-1C2E9EAC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Problema da Designação Generalizada - PDG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45AE52E-A497-4DFB-B2C2-C570E099F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37" y="2937600"/>
            <a:ext cx="5953125" cy="1800225"/>
          </a:xfrm>
          <a:prstGeom prst="rect">
            <a:avLst/>
          </a:prstGeom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9FFB86AB-EC15-4391-8879-537B4FB58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 algn="just"/>
            <a:r>
              <a:rPr lang="pt-BR" sz="2400" dirty="0"/>
              <a:t>Quantidade de recurso usado por cada agente para realizar as tarefas</a:t>
            </a:r>
            <a:endParaRPr lang="pt-BR" sz="2400" u="none" dirty="0"/>
          </a:p>
        </p:txBody>
      </p:sp>
    </p:spTree>
    <p:extLst>
      <p:ext uri="{BB962C8B-B14F-4D97-AF65-F5344CB8AC3E}">
        <p14:creationId xmlns:p14="http://schemas.microsoft.com/office/powerpoint/2010/main" val="20170818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B4C85-2609-4A2B-A9AA-1C2E9EAC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Problema da Designação Generalizada - PDG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9FFB86AB-EC15-4391-8879-537B4FB589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pt-BR" sz="2400" dirty="0"/>
                  <a:t>Quantidade de recurso disponível por cada agente</a:t>
                </a:r>
              </a:p>
              <a:p>
                <a:pPr algn="just"/>
                <a:endParaRPr lang="pt-BR" sz="2400" u="none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pt-BR" sz="2400" i="1" u="none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400" i="1" u="none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400" i="1" u="none" dirty="0" smtClean="0">
                          <a:latin typeface="Cambria Math" panose="02040503050406030204" pitchFamily="18" charset="0"/>
                        </a:rPr>
                        <m:t> = 30</m:t>
                      </m:r>
                    </m:oMath>
                  </m:oMathPara>
                </a14:m>
                <a:endParaRPr lang="pt-BR" sz="2400" u="none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pt-BR" sz="2400" i="1" u="none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400" i="1" u="none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400" i="1" u="none" dirty="0" smtClean="0">
                          <a:latin typeface="Cambria Math" panose="02040503050406030204" pitchFamily="18" charset="0"/>
                        </a:rPr>
                        <m:t> = 25</m:t>
                      </m:r>
                    </m:oMath>
                  </m:oMathPara>
                </a14:m>
                <a:endParaRPr lang="pt-BR" sz="2400" u="none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pt-BR" sz="2400" i="1" u="none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400" i="1" u="none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2400" i="1" u="none" dirty="0" smtClean="0">
                          <a:latin typeface="Cambria Math" panose="02040503050406030204" pitchFamily="18" charset="0"/>
                        </a:rPr>
                        <m:t> = 35</m:t>
                      </m:r>
                    </m:oMath>
                  </m:oMathPara>
                </a14:m>
                <a:endParaRPr lang="pt-BR" sz="2400" u="none" dirty="0"/>
              </a:p>
              <a:p>
                <a:pPr algn="just"/>
                <a:endParaRPr lang="pt-BR" sz="2400" u="none" dirty="0"/>
              </a:p>
            </p:txBody>
          </p:sp>
        </mc:Choice>
        <mc:Fallback xmlns=""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9FFB86AB-EC15-4391-8879-537B4FB589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31191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358C22-E839-47F6-984B-FD90C5B70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PDG – Abordagem Construtiva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88EB0A3-816D-4F8A-8A68-203653BD6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2152650"/>
            <a:ext cx="824865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7743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CF2AD2-4D22-4E77-9F5C-AECC2BF0E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PDG – Abordagem Construtiva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58AF994-A5B4-482C-9F53-7D2880800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" y="2181225"/>
            <a:ext cx="8248650" cy="249555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8DE7BFA-354A-5D49-50F5-8A8BD692281B}"/>
              </a:ext>
            </a:extLst>
          </p:cNvPr>
          <p:cNvSpPr txBox="1"/>
          <p:nvPr/>
        </p:nvSpPr>
        <p:spPr>
          <a:xfrm>
            <a:off x="103239" y="4807974"/>
            <a:ext cx="87015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As colunas de T3 aparecem com *, pois já foram atribuídas no Passo 1.</a:t>
            </a:r>
          </a:p>
          <a:p>
            <a:r>
              <a:rPr lang="pt-BR" dirty="0"/>
              <a:t>Arrependimento: Quando designamos uma tarefa a um agente, ela consome uma certa quantidade de recurso desse agente.</a:t>
            </a:r>
          </a:p>
          <a:p>
            <a:r>
              <a:rPr lang="pt-BR" dirty="0"/>
              <a:t>Mas, se tivéssemos escolhido outro agente para a mesma tarefa, o consumo poderia ter sido menor. O arrependimento mede exatamente essa diferença: é o “custo extra” em termos de recursos por não ter feito a escolha mais econômica.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02089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PDG – Abordagem Construtiva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36CC545-E5A8-4F07-BB22-F96108EAB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2176462"/>
            <a:ext cx="8267700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55280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PDG – Abordagem Construtiva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A7995B-82D3-4702-B2FB-71C06D6E4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2152650"/>
            <a:ext cx="840105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28512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PDG – Abordagem Construtiva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8095FA2-26EC-45D7-B47F-1AF599339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2152650"/>
            <a:ext cx="84201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27995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PDG – Abordagem Construtiva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0C01147-4360-45FD-A9B4-A2A2E16DA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2166937"/>
            <a:ext cx="8334375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38138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PDG – Abordagem Construtiva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EDADC02-AECD-45D4-8E8D-44AFD18E8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2133600"/>
            <a:ext cx="82677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34005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PDG – Abordagem Construtiva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28B32BC-D6D2-4822-8E24-8C1BAA997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" y="2152650"/>
            <a:ext cx="8258175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5976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PDG – Abordagem Construtiva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F974623-41A6-4067-ABF5-C1DB1C66F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7" y="2324100"/>
            <a:ext cx="728662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40750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PDG – Abordagem Construtiva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AA97801C-4D53-47EC-B3A4-F3C158564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62" y="1878012"/>
            <a:ext cx="6010275" cy="1838325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0BD46E09-7969-4701-A53B-391511B80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137" y="4136231"/>
            <a:ext cx="5953125" cy="180022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AF8387F-553B-51E0-28CA-A11501D0F173}"/>
              </a:ext>
            </a:extLst>
          </p:cNvPr>
          <p:cNvSpPr txBox="1"/>
          <p:nvPr/>
        </p:nvSpPr>
        <p:spPr>
          <a:xfrm>
            <a:off x="2488557" y="1400537"/>
            <a:ext cx="1354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Custos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282047C-3D26-225D-634E-6C6CE482AB4E}"/>
              </a:ext>
            </a:extLst>
          </p:cNvPr>
          <p:cNvSpPr txBox="1"/>
          <p:nvPr/>
        </p:nvSpPr>
        <p:spPr>
          <a:xfrm>
            <a:off x="2640957" y="3672952"/>
            <a:ext cx="2694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Consumo de recursos</a:t>
            </a:r>
          </a:p>
        </p:txBody>
      </p:sp>
    </p:spTree>
    <p:extLst>
      <p:ext uri="{BB962C8B-B14F-4D97-AF65-F5344CB8AC3E}">
        <p14:creationId xmlns:p14="http://schemas.microsoft.com/office/powerpoint/2010/main" val="110628458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PDG – Abordagem Construtiva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D1AA595-6337-46F3-93BD-809FD6B38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862" y="1878012"/>
            <a:ext cx="6010275" cy="183832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999EC0F-59E4-4ECC-9398-C05FCED90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137" y="4136231"/>
            <a:ext cx="5953125" cy="1800225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20E8B9F-D9A0-47ED-AFB0-A01DC501B5A3}"/>
              </a:ext>
            </a:extLst>
          </p:cNvPr>
          <p:cNvSpPr/>
          <p:nvPr/>
        </p:nvSpPr>
        <p:spPr>
          <a:xfrm>
            <a:off x="4664682" y="2703616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04E02EA-E1BF-41D7-B9DF-F88041B4C3CA}"/>
              </a:ext>
            </a:extLst>
          </p:cNvPr>
          <p:cNvSpPr/>
          <p:nvPr/>
        </p:nvSpPr>
        <p:spPr>
          <a:xfrm>
            <a:off x="5245553" y="2703615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B86221C-348D-45B0-A57C-E7CF7EAD40C5}"/>
              </a:ext>
            </a:extLst>
          </p:cNvPr>
          <p:cNvSpPr/>
          <p:nvPr/>
        </p:nvSpPr>
        <p:spPr>
          <a:xfrm>
            <a:off x="3490386" y="3000498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9E33DB4-6562-4364-9F1E-5A11E3F74578}"/>
              </a:ext>
            </a:extLst>
          </p:cNvPr>
          <p:cNvSpPr/>
          <p:nvPr/>
        </p:nvSpPr>
        <p:spPr>
          <a:xfrm>
            <a:off x="5842936" y="2994560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9AF312A-FEB0-49EE-B8E1-953E0930A252}"/>
              </a:ext>
            </a:extLst>
          </p:cNvPr>
          <p:cNvSpPr/>
          <p:nvPr/>
        </p:nvSpPr>
        <p:spPr>
          <a:xfrm>
            <a:off x="6436361" y="2994560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9C1FFE9-D830-4D1F-81F3-D15B15603282}"/>
              </a:ext>
            </a:extLst>
          </p:cNvPr>
          <p:cNvSpPr/>
          <p:nvPr/>
        </p:nvSpPr>
        <p:spPr>
          <a:xfrm>
            <a:off x="7018624" y="3280557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29C1AB0C-46EC-4401-9E7B-28A74C80BC31}"/>
              </a:ext>
            </a:extLst>
          </p:cNvPr>
          <p:cNvSpPr/>
          <p:nvPr/>
        </p:nvSpPr>
        <p:spPr>
          <a:xfrm>
            <a:off x="2908836" y="3268681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6EA8773-C968-46DF-AC59-ED49FA11EC73}"/>
              </a:ext>
            </a:extLst>
          </p:cNvPr>
          <p:cNvSpPr/>
          <p:nvPr/>
        </p:nvSpPr>
        <p:spPr>
          <a:xfrm>
            <a:off x="4071257" y="2703616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5F23CC8-E820-424C-8392-F4CA53057748}"/>
              </a:ext>
            </a:extLst>
          </p:cNvPr>
          <p:cNvSpPr/>
          <p:nvPr/>
        </p:nvSpPr>
        <p:spPr>
          <a:xfrm>
            <a:off x="4664682" y="4934814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504358D-42EA-4109-8A22-F565B9029ED8}"/>
              </a:ext>
            </a:extLst>
          </p:cNvPr>
          <p:cNvSpPr/>
          <p:nvPr/>
        </p:nvSpPr>
        <p:spPr>
          <a:xfrm>
            <a:off x="5245553" y="4934813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EA99D7E-6200-412F-8F8F-98B54439B3C3}"/>
              </a:ext>
            </a:extLst>
          </p:cNvPr>
          <p:cNvSpPr/>
          <p:nvPr/>
        </p:nvSpPr>
        <p:spPr>
          <a:xfrm>
            <a:off x="3490386" y="5231696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CC0AA9F8-5E51-408C-8169-358E4F768418}"/>
              </a:ext>
            </a:extLst>
          </p:cNvPr>
          <p:cNvSpPr/>
          <p:nvPr/>
        </p:nvSpPr>
        <p:spPr>
          <a:xfrm>
            <a:off x="5842936" y="5225758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9578A812-0E63-4628-9A01-D316AC97DC78}"/>
              </a:ext>
            </a:extLst>
          </p:cNvPr>
          <p:cNvSpPr/>
          <p:nvPr/>
        </p:nvSpPr>
        <p:spPr>
          <a:xfrm>
            <a:off x="6436361" y="5225758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56C01735-2A12-49DE-A564-139462B1B895}"/>
              </a:ext>
            </a:extLst>
          </p:cNvPr>
          <p:cNvSpPr/>
          <p:nvPr/>
        </p:nvSpPr>
        <p:spPr>
          <a:xfrm>
            <a:off x="7018624" y="5511755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EC51D71-09B7-452B-9884-C3229C7AAA6F}"/>
              </a:ext>
            </a:extLst>
          </p:cNvPr>
          <p:cNvSpPr/>
          <p:nvPr/>
        </p:nvSpPr>
        <p:spPr>
          <a:xfrm>
            <a:off x="2908836" y="5499879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D96F0892-31DB-4843-B91A-74D2880185B9}"/>
              </a:ext>
            </a:extLst>
          </p:cNvPr>
          <p:cNvSpPr/>
          <p:nvPr/>
        </p:nvSpPr>
        <p:spPr>
          <a:xfrm>
            <a:off x="4071257" y="4934814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579269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PDG – Abordagem Construtiva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6C372DE-88C1-4B79-A8D9-A1781E57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12" y="2319337"/>
            <a:ext cx="7267575" cy="221932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811C14C-90FE-7B2A-0071-59FCFD59C8F5}"/>
              </a:ext>
            </a:extLst>
          </p:cNvPr>
          <p:cNvSpPr txBox="1"/>
          <p:nvPr/>
        </p:nvSpPr>
        <p:spPr>
          <a:xfrm>
            <a:off x="553079" y="5043341"/>
            <a:ext cx="8037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Esta solução inicial difere da anterior. No entanto, ela está sendo usada como base</a:t>
            </a:r>
          </a:p>
          <a:p>
            <a:pPr algn="ctr"/>
            <a:r>
              <a:rPr lang="pt-BR" b="1" dirty="0">
                <a:solidFill>
                  <a:srgbClr val="FF0000"/>
                </a:solidFill>
              </a:rPr>
              <a:t>pois permite uma melhor percepção da evolução do algoritmo</a:t>
            </a:r>
          </a:p>
        </p:txBody>
      </p:sp>
    </p:spTree>
    <p:extLst>
      <p:ext uri="{BB962C8B-B14F-4D97-AF65-F5344CB8AC3E}">
        <p14:creationId xmlns:p14="http://schemas.microsoft.com/office/powerpoint/2010/main" val="99914057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PDG – Abordagem Construtiva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57194D9-C9B2-44CB-8CDA-CEA248C8C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62" y="1878012"/>
            <a:ext cx="6010275" cy="183832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B1DE548-77D2-4880-AC8B-F72643D99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137" y="4136231"/>
            <a:ext cx="5953125" cy="1800225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0802F0D-C288-48B1-A016-719875E82599}"/>
              </a:ext>
            </a:extLst>
          </p:cNvPr>
          <p:cNvSpPr/>
          <p:nvPr/>
        </p:nvSpPr>
        <p:spPr>
          <a:xfrm>
            <a:off x="5245553" y="2994560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9297F7A-8D81-4EB0-A594-17C90A8AABA5}"/>
              </a:ext>
            </a:extLst>
          </p:cNvPr>
          <p:cNvSpPr/>
          <p:nvPr/>
        </p:nvSpPr>
        <p:spPr>
          <a:xfrm>
            <a:off x="7006749" y="2695646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5657D29-8B6E-49DB-AA31-1BE3DA91986F}"/>
              </a:ext>
            </a:extLst>
          </p:cNvPr>
          <p:cNvSpPr/>
          <p:nvPr/>
        </p:nvSpPr>
        <p:spPr>
          <a:xfrm>
            <a:off x="3490386" y="3000498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E9B2F23-EDE5-48DA-B5EE-9A974400FE5B}"/>
              </a:ext>
            </a:extLst>
          </p:cNvPr>
          <p:cNvSpPr/>
          <p:nvPr/>
        </p:nvSpPr>
        <p:spPr>
          <a:xfrm>
            <a:off x="5842936" y="2994560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A1438CF-4B9E-4E51-A71B-DB8A7666E4D7}"/>
              </a:ext>
            </a:extLst>
          </p:cNvPr>
          <p:cNvSpPr/>
          <p:nvPr/>
        </p:nvSpPr>
        <p:spPr>
          <a:xfrm>
            <a:off x="4675457" y="3270660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CE6FB6C-A8EC-4F86-AB4F-19CF1AFC21F7}"/>
              </a:ext>
            </a:extLst>
          </p:cNvPr>
          <p:cNvSpPr/>
          <p:nvPr/>
        </p:nvSpPr>
        <p:spPr>
          <a:xfrm>
            <a:off x="6436361" y="3268681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89432AB-90A3-426D-9AEC-A03A982BB45D}"/>
              </a:ext>
            </a:extLst>
          </p:cNvPr>
          <p:cNvSpPr/>
          <p:nvPr/>
        </p:nvSpPr>
        <p:spPr>
          <a:xfrm>
            <a:off x="2908836" y="3268681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6E4BA32-CFED-4DAD-808E-987D17071497}"/>
              </a:ext>
            </a:extLst>
          </p:cNvPr>
          <p:cNvSpPr/>
          <p:nvPr/>
        </p:nvSpPr>
        <p:spPr>
          <a:xfrm>
            <a:off x="4071257" y="2703616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EDCA1CEC-F3F8-4C13-9F87-EF640B117EB3}"/>
              </a:ext>
            </a:extLst>
          </p:cNvPr>
          <p:cNvSpPr/>
          <p:nvPr/>
        </p:nvSpPr>
        <p:spPr>
          <a:xfrm>
            <a:off x="5269239" y="5228515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8FC22C7F-7EB2-4B2F-BF0B-8F56DA72E6B2}"/>
              </a:ext>
            </a:extLst>
          </p:cNvPr>
          <p:cNvSpPr/>
          <p:nvPr/>
        </p:nvSpPr>
        <p:spPr>
          <a:xfrm>
            <a:off x="7030435" y="4929601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C8572A08-7DBA-4A66-A75E-540ECA6EA193}"/>
              </a:ext>
            </a:extLst>
          </p:cNvPr>
          <p:cNvSpPr/>
          <p:nvPr/>
        </p:nvSpPr>
        <p:spPr>
          <a:xfrm>
            <a:off x="3514072" y="5234453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82093A5-A3BF-43B3-A148-2E6FA19C4369}"/>
              </a:ext>
            </a:extLst>
          </p:cNvPr>
          <p:cNvSpPr/>
          <p:nvPr/>
        </p:nvSpPr>
        <p:spPr>
          <a:xfrm>
            <a:off x="5866622" y="5228515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AB3C4C40-A75C-4908-903C-77E0EF155E6E}"/>
              </a:ext>
            </a:extLst>
          </p:cNvPr>
          <p:cNvSpPr/>
          <p:nvPr/>
        </p:nvSpPr>
        <p:spPr>
          <a:xfrm>
            <a:off x="4699143" y="5504615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C08D129D-109A-4063-932E-A15289C58E28}"/>
              </a:ext>
            </a:extLst>
          </p:cNvPr>
          <p:cNvSpPr/>
          <p:nvPr/>
        </p:nvSpPr>
        <p:spPr>
          <a:xfrm>
            <a:off x="6460047" y="5502636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8AA95B1D-5BBE-4939-B4C0-ED5BB0DBA028}"/>
              </a:ext>
            </a:extLst>
          </p:cNvPr>
          <p:cNvSpPr/>
          <p:nvPr/>
        </p:nvSpPr>
        <p:spPr>
          <a:xfrm>
            <a:off x="2932522" y="5502636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0F55F45C-73F9-4CD0-BF5D-9322EFB5A1A0}"/>
              </a:ext>
            </a:extLst>
          </p:cNvPr>
          <p:cNvSpPr/>
          <p:nvPr/>
        </p:nvSpPr>
        <p:spPr>
          <a:xfrm>
            <a:off x="4094943" y="4937571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12650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A2FC2CA4-29A2-456B-93EA-7C444ABC0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365" y="2275630"/>
            <a:ext cx="1153370" cy="1153370"/>
          </a:xfrm>
          <a:prstGeom prst="rect">
            <a:avLst/>
          </a:prstGeom>
        </p:spPr>
      </p:pic>
      <p:sp>
        <p:nvSpPr>
          <p:cNvPr id="17" name="Espaço Reservado para Conteúdo 2">
            <a:extLst>
              <a:ext uri="{FF2B5EF4-FFF2-40B4-BE49-F238E27FC236}">
                <a16:creationId xmlns:a16="http://schemas.microsoft.com/office/drawing/2014/main" id="{D92C84B2-CBDA-4151-99B7-D178602AE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 fontScale="92500" lnSpcReduction="10000"/>
          </a:bodyPr>
          <a:lstStyle/>
          <a:p>
            <a:pPr algn="just" defTabSz="874713">
              <a:tabLst>
                <a:tab pos="4749800" algn="l"/>
                <a:tab pos="6638925" algn="l"/>
                <a:tab pos="6721475" algn="l"/>
              </a:tabLst>
            </a:pPr>
            <a:r>
              <a:rPr lang="pt-BR" sz="2600" u="none" dirty="0"/>
              <a:t>Movimentação (perturbação) para definir a vizinhança é do tipo inserção: uma tarefa j de um agente r é atribuída a outro agente s</a:t>
            </a:r>
          </a:p>
          <a:p>
            <a:pPr algn="just"/>
            <a:endParaRPr lang="pt-BR" sz="2600" u="none" dirty="0"/>
          </a:p>
          <a:p>
            <a:pPr algn="just"/>
            <a:endParaRPr lang="pt-BR" sz="2600" u="none" dirty="0"/>
          </a:p>
          <a:p>
            <a:pPr algn="just"/>
            <a:r>
              <a:rPr lang="pt-BR" sz="2600" u="none" dirty="0"/>
              <a:t>Duração tabu: 3 iterações (a tarefa j atribuída ao agente s deve permanecer com ele por três iterações)</a:t>
            </a:r>
          </a:p>
          <a:p>
            <a:pPr algn="just"/>
            <a:endParaRPr lang="pt-BR" sz="2600" u="none" dirty="0"/>
          </a:p>
          <a:p>
            <a:pPr algn="just"/>
            <a:r>
              <a:rPr lang="pt-BR" sz="2600" u="none" dirty="0"/>
              <a:t>Ao realizar a movimentação um vizinho pode ser uma solução factível (a capacidade de nenhum vizinho é excedida) ou infactível (pelo menos um vizinho tem sua capacidade excedida)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PDG – Busca Tabu</a:t>
            </a:r>
          </a:p>
        </p:txBody>
      </p:sp>
    </p:spTree>
    <p:extLst>
      <p:ext uri="{BB962C8B-B14F-4D97-AF65-F5344CB8AC3E}">
        <p14:creationId xmlns:p14="http://schemas.microsoft.com/office/powerpoint/2010/main" val="298007250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ço Reservado para Conteúdo 2">
            <a:extLst>
              <a:ext uri="{FF2B5EF4-FFF2-40B4-BE49-F238E27FC236}">
                <a16:creationId xmlns:a16="http://schemas.microsoft.com/office/drawing/2014/main" id="{D92C84B2-CBDA-4151-99B7-D178602AE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 lnSpcReduction="10000"/>
          </a:bodyPr>
          <a:lstStyle/>
          <a:p>
            <a:pPr algn="just" defTabSz="874713">
              <a:tabLst>
                <a:tab pos="4749800" algn="l"/>
                <a:tab pos="6638925" algn="l"/>
                <a:tab pos="6721475" algn="l"/>
              </a:tabLst>
            </a:pPr>
            <a:r>
              <a:rPr lang="pt-BR" sz="2600" b="1" dirty="0"/>
              <a:t>Penalização</a:t>
            </a:r>
          </a:p>
          <a:p>
            <a:pPr algn="just" defTabSz="874713">
              <a:tabLst>
                <a:tab pos="4749800" algn="l"/>
                <a:tab pos="6638925" algn="l"/>
                <a:tab pos="6721475" algn="l"/>
              </a:tabLst>
            </a:pPr>
            <a:r>
              <a:rPr lang="pt-BR" sz="2600" u="none" dirty="0"/>
              <a:t>Ao impedir que soluções infactíveis sejam avaliadas o conjunto de possibilidades pode diminuir consideravelmente. Uma estratégia para permitir tais soluções é a penalidade.</a:t>
            </a:r>
          </a:p>
          <a:p>
            <a:pPr algn="just" defTabSz="874713">
              <a:tabLst>
                <a:tab pos="4749800" algn="l"/>
                <a:tab pos="6638925" algn="l"/>
                <a:tab pos="6721475" algn="l"/>
              </a:tabLst>
            </a:pPr>
            <a:endParaRPr lang="pt-BR" sz="2600" u="none" dirty="0"/>
          </a:p>
          <a:p>
            <a:pPr algn="just" defTabSz="874713">
              <a:tabLst>
                <a:tab pos="4749800" algn="l"/>
                <a:tab pos="6638925" algn="l"/>
                <a:tab pos="6721475" algn="l"/>
              </a:tabLst>
            </a:pPr>
            <a:r>
              <a:rPr lang="pt-BR" sz="2600" u="none" dirty="0"/>
              <a:t>A penalização é realizada pela multiplicação da quantidade total que excede a capacidade dos agentes por um parâmetro positivo P.  Assim, esse valor é adicionado à função objetivo da solução de forma a penalizá-la por não cumprir as.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PDG – Busca Tabu</a:t>
            </a:r>
          </a:p>
        </p:txBody>
      </p:sp>
    </p:spTree>
    <p:extLst>
      <p:ext uri="{BB962C8B-B14F-4D97-AF65-F5344CB8AC3E}">
        <p14:creationId xmlns:p14="http://schemas.microsoft.com/office/powerpoint/2010/main" val="289008379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ço Reservado para Conteúdo 2">
            <a:extLst>
              <a:ext uri="{FF2B5EF4-FFF2-40B4-BE49-F238E27FC236}">
                <a16:creationId xmlns:a16="http://schemas.microsoft.com/office/drawing/2014/main" id="{D92C84B2-CBDA-4151-99B7-D178602AE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algn="just" defTabSz="874713">
              <a:tabLst>
                <a:tab pos="4749800" algn="l"/>
                <a:tab pos="6638925" algn="l"/>
                <a:tab pos="6721475" algn="l"/>
              </a:tabLst>
            </a:pPr>
            <a:r>
              <a:rPr lang="pt-BR" sz="2600" b="1" dirty="0"/>
              <a:t>Penalização</a:t>
            </a:r>
          </a:p>
          <a:p>
            <a:pPr algn="just" defTabSz="874713">
              <a:tabLst>
                <a:tab pos="4749800" algn="l"/>
                <a:tab pos="6638925" algn="l"/>
                <a:tab pos="6721475" algn="l"/>
              </a:tabLst>
            </a:pPr>
            <a:endParaRPr lang="pt-BR" sz="2600" u="none" dirty="0"/>
          </a:p>
          <a:p>
            <a:pPr algn="just" defTabSz="874713">
              <a:tabLst>
                <a:tab pos="4749800" algn="l"/>
                <a:tab pos="6638925" algn="l"/>
                <a:tab pos="6721475" algn="l"/>
              </a:tabLst>
            </a:pPr>
            <a:r>
              <a:rPr lang="pt-BR" sz="2600" u="none" dirty="0"/>
              <a:t>Valores muito alto para P fazem com que a busca priorize movimentos de baixa ou nenhuma infactibilidade.</a:t>
            </a:r>
          </a:p>
          <a:p>
            <a:pPr algn="just" defTabSz="874713">
              <a:tabLst>
                <a:tab pos="4749800" algn="l"/>
                <a:tab pos="6638925" algn="l"/>
                <a:tab pos="6721475" algn="l"/>
              </a:tabLst>
            </a:pPr>
            <a:endParaRPr lang="pt-BR" sz="2600" u="none" dirty="0"/>
          </a:p>
          <a:p>
            <a:pPr algn="just" defTabSz="874713">
              <a:tabLst>
                <a:tab pos="4749800" algn="l"/>
                <a:tab pos="6638925" algn="l"/>
                <a:tab pos="6721475" algn="l"/>
              </a:tabLst>
            </a:pPr>
            <a:r>
              <a:rPr lang="pt-BR" sz="2600" u="none" dirty="0"/>
              <a:t>Valores muito baixos podem levar a um conjunto grande de soluções infactíveis.</a:t>
            </a:r>
          </a:p>
          <a:p>
            <a:pPr algn="just" defTabSz="874713">
              <a:tabLst>
                <a:tab pos="4749800" algn="l"/>
                <a:tab pos="6638925" algn="l"/>
                <a:tab pos="6721475" algn="l"/>
              </a:tabLst>
            </a:pPr>
            <a:endParaRPr lang="pt-BR" sz="2600" u="none" dirty="0"/>
          </a:p>
          <a:p>
            <a:pPr algn="just" defTabSz="874713">
              <a:tabLst>
                <a:tab pos="4749800" algn="l"/>
                <a:tab pos="6638925" algn="l"/>
                <a:tab pos="6721475" algn="l"/>
              </a:tabLst>
            </a:pPr>
            <a:r>
              <a:rPr lang="pt-BR" sz="2600" u="none" dirty="0"/>
              <a:t>Nesse exemplo será adotado um P=2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PDG – Busca Tabu</a:t>
            </a:r>
          </a:p>
        </p:txBody>
      </p:sp>
    </p:spTree>
    <p:extLst>
      <p:ext uri="{BB962C8B-B14F-4D97-AF65-F5344CB8AC3E}">
        <p14:creationId xmlns:p14="http://schemas.microsoft.com/office/powerpoint/2010/main" val="254203652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PDG – Busca Tabu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80D55AA-E081-4719-8D5F-E0C1B542B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45637"/>
            <a:ext cx="9144000" cy="196672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C92E08E-1EB6-7EE2-5B82-46D2E8BC0783}"/>
              </a:ext>
            </a:extLst>
          </p:cNvPr>
          <p:cNvSpPr txBox="1"/>
          <p:nvPr/>
        </p:nvSpPr>
        <p:spPr>
          <a:xfrm>
            <a:off x="162232" y="4412363"/>
            <a:ext cx="87457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Cada agente (A1, A2, A3) tem suas tarefas atribuídas, os custos calculados e a capacidade utilizada.</a:t>
            </a:r>
          </a:p>
          <a:p>
            <a:r>
              <a:rPr lang="pt-BR" dirty="0"/>
              <a:t>O custo total inicial é 258, sem excesso de recursos.</a:t>
            </a:r>
          </a:p>
          <a:p>
            <a:r>
              <a:rPr lang="pt-BR" dirty="0"/>
              <a:t>A tabela da direita (“Cap. </a:t>
            </a:r>
            <a:r>
              <a:rPr lang="pt-BR" dirty="0" err="1"/>
              <a:t>disp</a:t>
            </a:r>
            <a:r>
              <a:rPr lang="pt-BR" dirty="0"/>
              <a:t>. após movimento”) indica como ficaria a disponibilidade de recursos se cada tarefa fosse movida para outro agente.</a:t>
            </a:r>
          </a:p>
          <a:p>
            <a:r>
              <a:rPr lang="pt-BR" dirty="0"/>
              <a:t>Os valores negativos mostram que a mudança causaria estouro de capacidade, logo seriam movimentos inviáveis, a menos que a busca tabu permita pela regra de aspiração.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062708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PDG – Busca Tabu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80D55AA-E081-4719-8D5F-E0C1B542B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5637"/>
            <a:ext cx="9144000" cy="196672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81BE6BC-A5C0-4C1B-BED8-639C63C269F0}"/>
              </a:ext>
            </a:extLst>
          </p:cNvPr>
          <p:cNvSpPr txBox="1"/>
          <p:nvPr/>
        </p:nvSpPr>
        <p:spPr>
          <a:xfrm>
            <a:off x="285008" y="4738025"/>
            <a:ext cx="85383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Para calcular as soluções vizinhas e selecionar a melhor solução, o custo do movimento de inserção é calculado somando a variação do custo de alocação (custo final – custo inicial) ao custo da infactibilidade (valor de infactibilidade * P)</a:t>
            </a:r>
          </a:p>
        </p:txBody>
      </p:sp>
    </p:spTree>
    <p:extLst>
      <p:ext uri="{BB962C8B-B14F-4D97-AF65-F5344CB8AC3E}">
        <p14:creationId xmlns:p14="http://schemas.microsoft.com/office/powerpoint/2010/main" val="88886233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PDG – Busca Tabu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E852CB8-A8EB-4FFB-A248-6F9F10288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587" y="1590177"/>
            <a:ext cx="4314825" cy="18669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BE28E2C-E585-4A9D-B343-B39C8DDE1999}"/>
              </a:ext>
            </a:extLst>
          </p:cNvPr>
          <p:cNvSpPr txBox="1"/>
          <p:nvPr/>
        </p:nvSpPr>
        <p:spPr>
          <a:xfrm>
            <a:off x="302821" y="3970930"/>
            <a:ext cx="85383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Por exemplo, para avaliar a atribuição da Tarefa T</a:t>
            </a:r>
            <a:r>
              <a:rPr lang="pt-BR" baseline="-25000" dirty="0"/>
              <a:t>4</a:t>
            </a:r>
            <a:r>
              <a:rPr lang="pt-BR" dirty="0"/>
              <a:t> (que está com o agente A</a:t>
            </a:r>
            <a:r>
              <a:rPr lang="pt-BR" baseline="-25000" dirty="0"/>
              <a:t>3</a:t>
            </a:r>
            <a:r>
              <a:rPr lang="pt-BR" dirty="0"/>
              <a:t>) para o agente A</a:t>
            </a:r>
            <a:r>
              <a:rPr lang="pt-BR" baseline="-25000" dirty="0"/>
              <a:t>1</a:t>
            </a:r>
          </a:p>
          <a:p>
            <a:pPr algn="just"/>
            <a:endParaRPr lang="pt-BR" dirty="0"/>
          </a:p>
          <a:p>
            <a:pPr algn="ctr"/>
            <a:r>
              <a:rPr lang="pt-BR" dirty="0"/>
              <a:t>Custo Final – Custo Inicial + (Infactibilidade * P)</a:t>
            </a:r>
          </a:p>
          <a:p>
            <a:pPr algn="ctr"/>
            <a:r>
              <a:rPr lang="pt-BR" dirty="0"/>
              <a:t>Custo A</a:t>
            </a:r>
            <a:r>
              <a:rPr lang="pt-BR" baseline="-25000" dirty="0"/>
              <a:t>1</a:t>
            </a:r>
            <a:r>
              <a:rPr lang="pt-BR" dirty="0"/>
              <a:t>T</a:t>
            </a:r>
            <a:r>
              <a:rPr lang="pt-BR" baseline="-25000" dirty="0"/>
              <a:t>4</a:t>
            </a:r>
            <a:r>
              <a:rPr lang="pt-BR" dirty="0"/>
              <a:t> – Custo A</a:t>
            </a:r>
            <a:r>
              <a:rPr lang="pt-BR" baseline="-25000" dirty="0"/>
              <a:t>3</a:t>
            </a:r>
            <a:r>
              <a:rPr lang="pt-BR" dirty="0"/>
              <a:t>T</a:t>
            </a:r>
            <a:r>
              <a:rPr lang="pt-BR" baseline="-25000" dirty="0"/>
              <a:t>4</a:t>
            </a:r>
            <a:r>
              <a:rPr lang="pt-BR" dirty="0"/>
              <a:t> + ((Demanda A</a:t>
            </a:r>
            <a:r>
              <a:rPr lang="pt-BR" baseline="-25000" dirty="0"/>
              <a:t>1</a:t>
            </a:r>
            <a:r>
              <a:rPr lang="pt-BR" dirty="0"/>
              <a:t>T</a:t>
            </a:r>
            <a:r>
              <a:rPr lang="pt-BR" baseline="-25000" dirty="0"/>
              <a:t>4</a:t>
            </a:r>
            <a:r>
              <a:rPr lang="pt-BR" dirty="0"/>
              <a:t> – Disponibilidade de A</a:t>
            </a:r>
            <a:r>
              <a:rPr lang="pt-BR" baseline="-25000" dirty="0"/>
              <a:t>1</a:t>
            </a:r>
            <a:r>
              <a:rPr lang="pt-BR" dirty="0"/>
              <a:t>) *2)</a:t>
            </a:r>
          </a:p>
          <a:p>
            <a:pPr algn="ctr"/>
            <a:r>
              <a:rPr lang="pt-BR" dirty="0"/>
              <a:t>34 – 40 + ((3-2)*2) = -4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289610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PDG – Busca Tabu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29684CC-7C51-4D07-96DD-B3CFD88FA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3755"/>
            <a:ext cx="9144000" cy="190672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5F55846-ECFA-96E2-FAE9-8627D24552B4}"/>
              </a:ext>
            </a:extLst>
          </p:cNvPr>
          <p:cNvSpPr txBox="1"/>
          <p:nvPr/>
        </p:nvSpPr>
        <p:spPr>
          <a:xfrm>
            <a:off x="0" y="3320482"/>
            <a:ext cx="89522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Na solução inicial o custo total era 258.</a:t>
            </a:r>
          </a:p>
          <a:p>
            <a:r>
              <a:rPr lang="pt-BR" dirty="0"/>
              <a:t>Após os movimentos da Busca Tabu, o custo de alocação caiu para 228.</a:t>
            </a:r>
          </a:p>
          <a:p>
            <a:r>
              <a:rPr lang="pt-BR" dirty="0"/>
              <a:t>Porém, houve excesso de recursos (12 unidades no A3), o que gera uma penalidade de 24.</a:t>
            </a:r>
          </a:p>
          <a:p>
            <a:r>
              <a:rPr lang="pt-BR" dirty="0"/>
              <a:t>Assim, o custo total ajustado ficou em 252.</a:t>
            </a:r>
          </a:p>
          <a:p>
            <a:r>
              <a:rPr lang="pt-BR" dirty="0"/>
              <a:t>A Busca Tabu conseguiu reduzir o custo de execução (de 258 → 228).</a:t>
            </a:r>
          </a:p>
          <a:p>
            <a:r>
              <a:rPr lang="pt-BR" dirty="0"/>
              <a:t>Porém, devido à </a:t>
            </a:r>
            <a:r>
              <a:rPr lang="pt-BR" dirty="0" err="1"/>
              <a:t>infactibilidade</a:t>
            </a:r>
            <a:r>
              <a:rPr lang="pt-BR" dirty="0"/>
              <a:t> (excesso de recursos no A3), o custo ajustado sobe para 252.</a:t>
            </a:r>
          </a:p>
          <a:p>
            <a:r>
              <a:rPr lang="pt-BR" dirty="0"/>
              <a:t>Ainda assim, a solução é melhor que a inicial (258), mostrando como a Busca Tabu encontra alternativas que exploram além do ótimo local, mesmo aceitando violações temporárias das restrições.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699551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PDG – Busca Tabu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FA793A-AB95-4296-BCBF-8E91E8770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487" y="2524125"/>
            <a:ext cx="4391025" cy="1809750"/>
          </a:xfrm>
          <a:prstGeom prst="rect">
            <a:avLst/>
          </a:prstGeom>
        </p:spPr>
      </p:pic>
      <p:sp>
        <p:nvSpPr>
          <p:cNvPr id="3" name="Símbolo de &quot;Não Permitido&quot; 2">
            <a:extLst>
              <a:ext uri="{FF2B5EF4-FFF2-40B4-BE49-F238E27FC236}">
                <a16:creationId xmlns:a16="http://schemas.microsoft.com/office/drawing/2014/main" id="{16500141-D0BD-40EA-8D81-8E5494F78328}"/>
              </a:ext>
            </a:extLst>
          </p:cNvPr>
          <p:cNvSpPr>
            <a:spLocks noChangeAspect="1"/>
          </p:cNvSpPr>
          <p:nvPr/>
        </p:nvSpPr>
        <p:spPr>
          <a:xfrm>
            <a:off x="3776354" y="3937887"/>
            <a:ext cx="288000" cy="288000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9452C99-C89F-0365-F444-DD7DEFFADDFB}"/>
              </a:ext>
            </a:extLst>
          </p:cNvPr>
          <p:cNvSpPr txBox="1"/>
          <p:nvPr/>
        </p:nvSpPr>
        <p:spPr>
          <a:xfrm>
            <a:off x="442452" y="4439265"/>
            <a:ext cx="84655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Cada célula indica o impacto de mover uma tarefa para um determinado agente.</a:t>
            </a:r>
          </a:p>
          <a:p>
            <a:r>
              <a:rPr lang="pt-BR" dirty="0"/>
              <a:t>Valores positivos → aumentam o custo.</a:t>
            </a:r>
          </a:p>
          <a:p>
            <a:r>
              <a:rPr lang="pt-BR" dirty="0"/>
              <a:t>Valores negativos → representam melhoria (redução de custo).</a:t>
            </a:r>
          </a:p>
          <a:p>
            <a:r>
              <a:rPr lang="pt-BR" dirty="0"/>
              <a:t>O símbolo 🚫 indica que esse movimento está proibido pela lista Tabu (movimento recente ou revertido, que não pode ser refeito por algumas iterações).</a:t>
            </a:r>
          </a:p>
          <a:p>
            <a:r>
              <a:rPr lang="pt-BR" dirty="0"/>
              <a:t>Se a T2 for movida para o agente A1, o custo aumenta em +21.</a:t>
            </a:r>
          </a:p>
          <a:p>
            <a:r>
              <a:rPr lang="pt-BR" dirty="0"/>
              <a:t>Se a T4 for movida para o agente A1, há uma redução de -8.</a:t>
            </a:r>
          </a:p>
          <a:p>
            <a:r>
              <a:rPr lang="pt-BR" dirty="0"/>
              <a:t>Se a T7 for movida para o agente A2, o custo cairia em -22 (ótima melhoria).</a:t>
            </a:r>
          </a:p>
        </p:txBody>
      </p:sp>
    </p:spTree>
    <p:extLst>
      <p:ext uri="{BB962C8B-B14F-4D97-AF65-F5344CB8AC3E}">
        <p14:creationId xmlns:p14="http://schemas.microsoft.com/office/powerpoint/2010/main" val="25727655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PDG – Busca Tabu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C87A2AD-A401-4A3E-91C5-B1C20D9FF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41144"/>
            <a:ext cx="9144000" cy="197571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7D8DFE3-D231-2A87-9012-298ACCF4B55F}"/>
              </a:ext>
            </a:extLst>
          </p:cNvPr>
          <p:cNvSpPr txBox="1"/>
          <p:nvPr/>
        </p:nvSpPr>
        <p:spPr>
          <a:xfrm>
            <a:off x="370390" y="4525701"/>
            <a:ext cx="8229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A1 ficou com as tarefas T3 e T8, custo total = 70.</a:t>
            </a:r>
          </a:p>
          <a:p>
            <a:r>
              <a:rPr lang="pt-BR" dirty="0"/>
              <a:t>A2 ficou com as tarefas T5, T6 e T7, custo total = 88.</a:t>
            </a:r>
          </a:p>
          <a:p>
            <a:r>
              <a:rPr lang="pt-BR" dirty="0"/>
              <a:t>A3 ficou com as tarefas T1, T2 e T4, custo total = 72.</a:t>
            </a:r>
          </a:p>
          <a:p>
            <a:r>
              <a:rPr lang="pt-BR" dirty="0"/>
              <a:t>Todos os agentes respeitam suas capacidades (não há excesso).</a:t>
            </a:r>
          </a:p>
          <a:p>
            <a:r>
              <a:rPr lang="pt-BR" dirty="0"/>
              <a:t>O custo total dessa nova solução é 230, uma melhora em relação à solução inicial (que era 258).Além disso, diferente da solução anterior (252), aqui não há excesso de capacidade, ou seja, é uma solução viável e mais barata.</a:t>
            </a:r>
          </a:p>
        </p:txBody>
      </p:sp>
    </p:spTree>
    <p:extLst>
      <p:ext uri="{BB962C8B-B14F-4D97-AF65-F5344CB8AC3E}">
        <p14:creationId xmlns:p14="http://schemas.microsoft.com/office/powerpoint/2010/main" val="336128521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PDG – Busca Tabu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8DC9C84-F4C8-4F09-B642-CEA8A40BA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0" y="2514600"/>
            <a:ext cx="4305300" cy="1828800"/>
          </a:xfrm>
          <a:prstGeom prst="rect">
            <a:avLst/>
          </a:prstGeom>
        </p:spPr>
      </p:pic>
      <p:sp>
        <p:nvSpPr>
          <p:cNvPr id="6" name="Símbolo de &quot;Não Permitido&quot; 5">
            <a:extLst>
              <a:ext uri="{FF2B5EF4-FFF2-40B4-BE49-F238E27FC236}">
                <a16:creationId xmlns:a16="http://schemas.microsoft.com/office/drawing/2014/main" id="{FB3DA80A-70E0-44FF-BDF8-EA9892C5B0E7}"/>
              </a:ext>
            </a:extLst>
          </p:cNvPr>
          <p:cNvSpPr>
            <a:spLocks noChangeAspect="1"/>
          </p:cNvSpPr>
          <p:nvPr/>
        </p:nvSpPr>
        <p:spPr>
          <a:xfrm>
            <a:off x="3847604" y="3937887"/>
            <a:ext cx="288000" cy="288000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Símbolo de &quot;Não Permitido&quot; 6">
            <a:extLst>
              <a:ext uri="{FF2B5EF4-FFF2-40B4-BE49-F238E27FC236}">
                <a16:creationId xmlns:a16="http://schemas.microsoft.com/office/drawing/2014/main" id="{C28C7CB4-7567-4E60-A912-F042A275DF4B}"/>
              </a:ext>
            </a:extLst>
          </p:cNvPr>
          <p:cNvSpPr>
            <a:spLocks noChangeAspect="1"/>
          </p:cNvSpPr>
          <p:nvPr/>
        </p:nvSpPr>
        <p:spPr>
          <a:xfrm>
            <a:off x="5853793" y="3673637"/>
            <a:ext cx="288000" cy="288000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13281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PDG – Busca Tabu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B382D7A-6A86-48B6-8ED0-51B0AE8B6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8691"/>
            <a:ext cx="9144000" cy="208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67559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PDG – Busca Tabu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C80C771-6368-4C83-A63E-A8BAB8A12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112" y="2514600"/>
            <a:ext cx="4295775" cy="1828800"/>
          </a:xfrm>
          <a:prstGeom prst="rect">
            <a:avLst/>
          </a:prstGeom>
        </p:spPr>
      </p:pic>
      <p:sp>
        <p:nvSpPr>
          <p:cNvPr id="6" name="Símbolo de &quot;Não Permitido&quot; 5">
            <a:extLst>
              <a:ext uri="{FF2B5EF4-FFF2-40B4-BE49-F238E27FC236}">
                <a16:creationId xmlns:a16="http://schemas.microsoft.com/office/drawing/2014/main" id="{86B90302-0DE9-4ABD-9531-3E34BF0D7497}"/>
              </a:ext>
            </a:extLst>
          </p:cNvPr>
          <p:cNvSpPr>
            <a:spLocks noChangeAspect="1"/>
          </p:cNvSpPr>
          <p:nvPr/>
        </p:nvSpPr>
        <p:spPr>
          <a:xfrm>
            <a:off x="3847604" y="3937887"/>
            <a:ext cx="288000" cy="288000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Símbolo de &quot;Não Permitido&quot; 6">
            <a:extLst>
              <a:ext uri="{FF2B5EF4-FFF2-40B4-BE49-F238E27FC236}">
                <a16:creationId xmlns:a16="http://schemas.microsoft.com/office/drawing/2014/main" id="{6FDDF1AB-D15F-45D6-A113-54059FFD3DF7}"/>
              </a:ext>
            </a:extLst>
          </p:cNvPr>
          <p:cNvSpPr>
            <a:spLocks noChangeAspect="1"/>
          </p:cNvSpPr>
          <p:nvPr/>
        </p:nvSpPr>
        <p:spPr>
          <a:xfrm>
            <a:off x="5889418" y="3673637"/>
            <a:ext cx="288000" cy="288000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Símbolo de &quot;Não Permitido&quot; 7">
            <a:extLst>
              <a:ext uri="{FF2B5EF4-FFF2-40B4-BE49-F238E27FC236}">
                <a16:creationId xmlns:a16="http://schemas.microsoft.com/office/drawing/2014/main" id="{96C91CB5-45DC-4FA7-A34D-5F45BDDB173D}"/>
              </a:ext>
            </a:extLst>
          </p:cNvPr>
          <p:cNvSpPr>
            <a:spLocks noChangeAspect="1"/>
          </p:cNvSpPr>
          <p:nvPr/>
        </p:nvSpPr>
        <p:spPr>
          <a:xfrm>
            <a:off x="4657699" y="3385637"/>
            <a:ext cx="288000" cy="288000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28356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PDG – Busca Tabu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FCAF679-7BA4-4D20-84FC-E1B5344EC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4065"/>
            <a:ext cx="9144000" cy="188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90766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PDG – Busca Tabu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F4D5B5D-06E9-44C1-ACDB-695794F2C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050" y="2528887"/>
            <a:ext cx="4533900" cy="1800225"/>
          </a:xfrm>
          <a:prstGeom prst="rect">
            <a:avLst/>
          </a:prstGeom>
        </p:spPr>
      </p:pic>
      <p:sp>
        <p:nvSpPr>
          <p:cNvPr id="6" name="Símbolo de &quot;Não Permitido&quot; 5">
            <a:extLst>
              <a:ext uri="{FF2B5EF4-FFF2-40B4-BE49-F238E27FC236}">
                <a16:creationId xmlns:a16="http://schemas.microsoft.com/office/drawing/2014/main" id="{FB8DB796-E24D-4496-82A5-166D23291C2F}"/>
              </a:ext>
            </a:extLst>
          </p:cNvPr>
          <p:cNvSpPr>
            <a:spLocks noChangeAspect="1"/>
          </p:cNvSpPr>
          <p:nvPr/>
        </p:nvSpPr>
        <p:spPr>
          <a:xfrm>
            <a:off x="6340434" y="3673637"/>
            <a:ext cx="288000" cy="288000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Símbolo de &quot;Não Permitido&quot; 6">
            <a:extLst>
              <a:ext uri="{FF2B5EF4-FFF2-40B4-BE49-F238E27FC236}">
                <a16:creationId xmlns:a16="http://schemas.microsoft.com/office/drawing/2014/main" id="{2EDF38A5-2187-4094-A21C-5DB3660B78A1}"/>
              </a:ext>
            </a:extLst>
          </p:cNvPr>
          <p:cNvSpPr>
            <a:spLocks noChangeAspect="1"/>
          </p:cNvSpPr>
          <p:nvPr/>
        </p:nvSpPr>
        <p:spPr>
          <a:xfrm>
            <a:off x="5901293" y="3673637"/>
            <a:ext cx="288000" cy="288000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Símbolo de &quot;Não Permitido&quot; 7">
            <a:extLst>
              <a:ext uri="{FF2B5EF4-FFF2-40B4-BE49-F238E27FC236}">
                <a16:creationId xmlns:a16="http://schemas.microsoft.com/office/drawing/2014/main" id="{06D7636C-59EB-4846-AA5F-66DC6040542B}"/>
              </a:ext>
            </a:extLst>
          </p:cNvPr>
          <p:cNvSpPr>
            <a:spLocks noChangeAspect="1"/>
          </p:cNvSpPr>
          <p:nvPr/>
        </p:nvSpPr>
        <p:spPr>
          <a:xfrm>
            <a:off x="4586449" y="3385637"/>
            <a:ext cx="288000" cy="288000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CA272CE-95CE-40EE-BBD3-247A3BD364B5}"/>
              </a:ext>
            </a:extLst>
          </p:cNvPr>
          <p:cNvSpPr txBox="1"/>
          <p:nvPr/>
        </p:nvSpPr>
        <p:spPr>
          <a:xfrm>
            <a:off x="6045293" y="1905277"/>
            <a:ext cx="2175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Critério de Aspiração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38905FA6-58BC-4A4B-A69C-0FB1E937CC27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6189293" y="2274609"/>
            <a:ext cx="943990" cy="11110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FC2B53A8-F8A6-BC02-DD53-5FADE302B731}"/>
              </a:ext>
            </a:extLst>
          </p:cNvPr>
          <p:cNvSpPr txBox="1"/>
          <p:nvPr/>
        </p:nvSpPr>
        <p:spPr>
          <a:xfrm>
            <a:off x="368710" y="4719484"/>
            <a:ext cx="83328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movimento de atribuir a tarefa T7 ao agente A1 teria uma melhoria de –55 no custo, mas está tabu.</a:t>
            </a:r>
          </a:p>
          <a:p>
            <a:r>
              <a:rPr lang="pt-BR" dirty="0"/>
              <a:t>O Critério de Aspiração permite ignorar a restrição tabu quando um movimento tabu leva a uma solução melhor que a melhor encontrada até o momento. Ou seja, mesmo que a regra normal proibisse o movimento, ele pode ser aceito porque garante um grande ganho global.</a:t>
            </a:r>
          </a:p>
        </p:txBody>
      </p:sp>
    </p:spTree>
    <p:extLst>
      <p:ext uri="{BB962C8B-B14F-4D97-AF65-F5344CB8AC3E}">
        <p14:creationId xmlns:p14="http://schemas.microsoft.com/office/powerpoint/2010/main" val="70485549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PDG – Busca Tabu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B732D21-F268-4744-83D2-A816306A3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45365"/>
            <a:ext cx="9144000" cy="1967269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8C6AEE2-486A-167A-5245-07A818615B41}"/>
              </a:ext>
            </a:extLst>
          </p:cNvPr>
          <p:cNvSpPr txBox="1"/>
          <p:nvPr/>
        </p:nvSpPr>
        <p:spPr>
          <a:xfrm>
            <a:off x="103239" y="4557252"/>
            <a:ext cx="88932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custo total agora é 166, bem menor que a solução inicial de 258.</a:t>
            </a:r>
          </a:p>
          <a:p>
            <a:r>
              <a:rPr lang="pt-BR" dirty="0"/>
              <a:t>Não há excesso de recursos em nenhum agente (todos respeitam os limites).</a:t>
            </a:r>
          </a:p>
          <a:p>
            <a:r>
              <a:rPr lang="pt-BR" dirty="0"/>
              <a:t>a Busca Tabu, ao longo das iterações, conseguiu redistribuir melhor as tarefas.</a:t>
            </a:r>
          </a:p>
          <a:p>
            <a:r>
              <a:rPr lang="pt-BR" dirty="0"/>
              <a:t>A solução é viável (sem exceder capacidade) e muito mais barata (redução de 258 → 166, ou seja, 92 unidades a menos).</a:t>
            </a:r>
          </a:p>
          <a:p>
            <a:r>
              <a:rPr lang="pt-BR" dirty="0"/>
              <a:t>Isso comprova o poder da Busca Tabu em escapar de soluções locais ruins e encontrar alocações globais melhores.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845195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FE7F-CCA4-4D17-9E53-A0072FA7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PDG – Busca Tabu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78B16D4-7D8C-446D-B8AC-12F110DA4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62" y="1878012"/>
            <a:ext cx="6010275" cy="183832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07AC495-B375-434F-B7E8-DD69D6270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137" y="4136231"/>
            <a:ext cx="5953125" cy="1800225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F710C7B-3E9F-43D5-B9C1-A7720A85734B}"/>
              </a:ext>
            </a:extLst>
          </p:cNvPr>
          <p:cNvSpPr/>
          <p:nvPr/>
        </p:nvSpPr>
        <p:spPr>
          <a:xfrm>
            <a:off x="5245553" y="2994560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676E501-2D69-42D6-83CB-38ACD50951BB}"/>
              </a:ext>
            </a:extLst>
          </p:cNvPr>
          <p:cNvSpPr/>
          <p:nvPr/>
        </p:nvSpPr>
        <p:spPr>
          <a:xfrm>
            <a:off x="7030435" y="2994560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B301C3C-D129-4637-8734-423167BE313C}"/>
              </a:ext>
            </a:extLst>
          </p:cNvPr>
          <p:cNvSpPr/>
          <p:nvPr/>
        </p:nvSpPr>
        <p:spPr>
          <a:xfrm>
            <a:off x="3501739" y="3270659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62FF2B4-72C1-47D1-9C07-EE4652F60D02}"/>
              </a:ext>
            </a:extLst>
          </p:cNvPr>
          <p:cNvSpPr/>
          <p:nvPr/>
        </p:nvSpPr>
        <p:spPr>
          <a:xfrm>
            <a:off x="5842936" y="2994560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F1B3734-1657-4CAA-B125-241B163F20B7}"/>
              </a:ext>
            </a:extLst>
          </p:cNvPr>
          <p:cNvSpPr/>
          <p:nvPr/>
        </p:nvSpPr>
        <p:spPr>
          <a:xfrm>
            <a:off x="4652128" y="2706583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22D4CA-3F45-46D6-982F-D19B37132FDF}"/>
              </a:ext>
            </a:extLst>
          </p:cNvPr>
          <p:cNvSpPr/>
          <p:nvPr/>
        </p:nvSpPr>
        <p:spPr>
          <a:xfrm>
            <a:off x="6437532" y="2695646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9C29D80-889E-4DA2-ACF3-0EA1AA251877}"/>
              </a:ext>
            </a:extLst>
          </p:cNvPr>
          <p:cNvSpPr/>
          <p:nvPr/>
        </p:nvSpPr>
        <p:spPr>
          <a:xfrm>
            <a:off x="2908836" y="3268681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7C77A33-55CC-427E-85B4-F1DAE7AF4245}"/>
              </a:ext>
            </a:extLst>
          </p:cNvPr>
          <p:cNvSpPr/>
          <p:nvPr/>
        </p:nvSpPr>
        <p:spPr>
          <a:xfrm>
            <a:off x="4071257" y="2703616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03815DE-D3D0-4C4E-97F6-C8AD85412674}"/>
              </a:ext>
            </a:extLst>
          </p:cNvPr>
          <p:cNvSpPr/>
          <p:nvPr/>
        </p:nvSpPr>
        <p:spPr>
          <a:xfrm>
            <a:off x="5267822" y="5226538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FC11CBD5-8A43-4C02-94CC-A4CBF4530D0A}"/>
              </a:ext>
            </a:extLst>
          </p:cNvPr>
          <p:cNvSpPr/>
          <p:nvPr/>
        </p:nvSpPr>
        <p:spPr>
          <a:xfrm>
            <a:off x="7052704" y="5226538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F2FD22DA-87DE-47B7-BD06-E7F2D3EC9FCF}"/>
              </a:ext>
            </a:extLst>
          </p:cNvPr>
          <p:cNvSpPr/>
          <p:nvPr/>
        </p:nvSpPr>
        <p:spPr>
          <a:xfrm>
            <a:off x="3524008" y="5502637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2A4CB74-4BAF-40D8-B951-BE2880C53A60}"/>
              </a:ext>
            </a:extLst>
          </p:cNvPr>
          <p:cNvSpPr/>
          <p:nvPr/>
        </p:nvSpPr>
        <p:spPr>
          <a:xfrm>
            <a:off x="5865205" y="5226538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EE168628-EAD3-4F50-ADB5-62F6C60E44AA}"/>
              </a:ext>
            </a:extLst>
          </p:cNvPr>
          <p:cNvSpPr/>
          <p:nvPr/>
        </p:nvSpPr>
        <p:spPr>
          <a:xfrm>
            <a:off x="4674397" y="4938561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07FB6DBF-8D66-4EE7-9BCF-25AE96C8B020}"/>
              </a:ext>
            </a:extLst>
          </p:cNvPr>
          <p:cNvSpPr/>
          <p:nvPr/>
        </p:nvSpPr>
        <p:spPr>
          <a:xfrm>
            <a:off x="6459801" y="4927624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4EE6D62E-4FDD-4BA0-BF64-CA60E774C62A}"/>
              </a:ext>
            </a:extLst>
          </p:cNvPr>
          <p:cNvSpPr/>
          <p:nvPr/>
        </p:nvSpPr>
        <p:spPr>
          <a:xfrm>
            <a:off x="2931105" y="5500659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9BE48803-B036-4DD6-9DAB-47D5C9F2F840}"/>
              </a:ext>
            </a:extLst>
          </p:cNvPr>
          <p:cNvSpPr/>
          <p:nvPr/>
        </p:nvSpPr>
        <p:spPr>
          <a:xfrm>
            <a:off x="4093526" y="4935594"/>
            <a:ext cx="368135" cy="368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101546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000472-CC12-CCC0-765B-49317F1FD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Machine Learning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1A3E16-1C00-2040-1844-15CFD5BAF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u="none" dirty="0"/>
              <a:t>Pode ser usado para a calibração de hiperparâmetros em modelos </a:t>
            </a:r>
            <a:r>
              <a:rPr lang="pt-BR" u="none"/>
              <a:t>de Aprendizagem de Máquina</a:t>
            </a:r>
            <a:endParaRPr lang="pt-BR" u="none" dirty="0"/>
          </a:p>
          <a:p>
            <a:pPr algn="just"/>
            <a:endParaRPr lang="pt-BR" u="none" dirty="0"/>
          </a:p>
          <a:p>
            <a:pPr algn="just"/>
            <a:r>
              <a:rPr lang="pt-BR" u="none" dirty="0"/>
              <a:t>Por exemplo, o classificador KNN (K </a:t>
            </a:r>
            <a:r>
              <a:rPr lang="pt-BR" u="none" dirty="0" err="1"/>
              <a:t>Nearest</a:t>
            </a:r>
            <a:r>
              <a:rPr lang="pt-BR" u="none" dirty="0"/>
              <a:t> </a:t>
            </a:r>
            <a:r>
              <a:rPr lang="pt-BR" u="none" dirty="0" err="1"/>
              <a:t>Neighbors</a:t>
            </a:r>
            <a:r>
              <a:rPr lang="pt-BR" u="none" dirty="0"/>
              <a:t>) emprega dois hiperparâmetros:</a:t>
            </a:r>
          </a:p>
          <a:p>
            <a:pPr algn="just"/>
            <a:endParaRPr lang="pt-BR" u="none" dirty="0"/>
          </a:p>
          <a:p>
            <a:pPr algn="just"/>
            <a:r>
              <a:rPr lang="pt-BR" u="none" dirty="0"/>
              <a:t>K </a:t>
            </a:r>
            <a:r>
              <a:rPr lang="pt-BR" u="none" dirty="0">
                <a:sym typeface="Wingdings" panose="05000000000000000000" pitchFamily="2" charset="2"/>
              </a:rPr>
              <a:t> número de vizinhos</a:t>
            </a:r>
          </a:p>
          <a:p>
            <a:pPr algn="just"/>
            <a:r>
              <a:rPr lang="pt-BR" u="none" dirty="0" err="1">
                <a:sym typeface="Wingdings" panose="05000000000000000000" pitchFamily="2" charset="2"/>
              </a:rPr>
              <a:t>Weights</a:t>
            </a:r>
            <a:r>
              <a:rPr lang="pt-BR" u="none" dirty="0">
                <a:sym typeface="Wingdings" panose="05000000000000000000" pitchFamily="2" charset="2"/>
              </a:rPr>
              <a:t>  ponderação dos vizinhos</a:t>
            </a:r>
            <a:endParaRPr lang="pt-BR" u="none" dirty="0"/>
          </a:p>
        </p:txBody>
      </p:sp>
    </p:spTree>
    <p:extLst>
      <p:ext uri="{BB962C8B-B14F-4D97-AF65-F5344CB8AC3E}">
        <p14:creationId xmlns:p14="http://schemas.microsoft.com/office/powerpoint/2010/main" val="381626448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24855-6DDB-4F9D-A8A0-921A7912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88C19F-F650-45C9-BD74-76A9FBE6E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u="none" dirty="0"/>
              <a:t>RAPIDMINER. </a:t>
            </a:r>
            <a:r>
              <a:rPr lang="en-US" sz="2000" u="none" dirty="0"/>
              <a:t>Multi-Objective Feature Selection Part 1: The Basics. Disponível em </a:t>
            </a:r>
            <a:r>
              <a:rPr lang="pt-BR" sz="2000" u="none" dirty="0">
                <a:hlinkClick r:id="rId2"/>
              </a:rPr>
              <a:t>https://community.rapidminer.com/discussion/45775/multi-objective-feature-selection-part-1-the-basics</a:t>
            </a:r>
            <a:r>
              <a:rPr lang="pt-BR" sz="2000" u="none" dirty="0"/>
              <a:t>. Acesso em 18/10/24.</a:t>
            </a:r>
          </a:p>
          <a:p>
            <a:pPr algn="just"/>
            <a:endParaRPr lang="pt-BR" sz="2000" u="none" dirty="0"/>
          </a:p>
          <a:p>
            <a:pPr algn="just"/>
            <a:r>
              <a:rPr lang="en-US" sz="2000" u="none" dirty="0"/>
              <a:t>GLOVER, F.; LAGUNA, M. (1997). Tabu Search Background. In: Tabu Search. Springer, Boston, MA. </a:t>
            </a:r>
            <a:r>
              <a:rPr lang="en-US" sz="2000" u="none" dirty="0">
                <a:hlinkClick r:id="rId3"/>
              </a:rPr>
              <a:t>https://doi.org/10.1007/978-1-4615-6089-0_1</a:t>
            </a:r>
            <a:endParaRPr lang="en-US" sz="2000" u="none" dirty="0"/>
          </a:p>
          <a:p>
            <a:pPr algn="just"/>
            <a:endParaRPr lang="pt-BR" sz="2000" u="none" dirty="0"/>
          </a:p>
          <a:p>
            <a:pPr algn="just"/>
            <a:endParaRPr lang="pt-BR" sz="2000" u="none" dirty="0"/>
          </a:p>
          <a:p>
            <a:pPr algn="just"/>
            <a:endParaRPr lang="pt-BR" sz="2000" u="none" dirty="0"/>
          </a:p>
          <a:p>
            <a:pPr algn="just"/>
            <a:endParaRPr lang="pt-BR" sz="2000" u="none" dirty="0"/>
          </a:p>
        </p:txBody>
      </p:sp>
    </p:spTree>
    <p:extLst>
      <p:ext uri="{BB962C8B-B14F-4D97-AF65-F5344CB8AC3E}">
        <p14:creationId xmlns:p14="http://schemas.microsoft.com/office/powerpoint/2010/main" val="24531437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EB8D299CD1DAE4D9305D8EAE7F0A000" ma:contentTypeVersion="3" ma:contentTypeDescription="Crie um novo documento." ma:contentTypeScope="" ma:versionID="0d447589f79d1efb351422d2b65b39e9">
  <xsd:schema xmlns:xsd="http://www.w3.org/2001/XMLSchema" xmlns:xs="http://www.w3.org/2001/XMLSchema" xmlns:p="http://schemas.microsoft.com/office/2006/metadata/properties" xmlns:ns2="4c79e324-12e2-4fd5-8ce7-78a0fe476cfa" targetNamespace="http://schemas.microsoft.com/office/2006/metadata/properties" ma:root="true" ma:fieldsID="add556f28c95cf5ad6719a1c46c4ad42" ns2:_="">
    <xsd:import namespace="4c79e324-12e2-4fd5-8ce7-78a0fe476c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79e324-12e2-4fd5-8ce7-78a0fe476c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D942A5F-0DE5-4186-8B2A-3B8043CB1BFE}"/>
</file>

<file path=customXml/itemProps2.xml><?xml version="1.0" encoding="utf-8"?>
<ds:datastoreItem xmlns:ds="http://schemas.openxmlformats.org/officeDocument/2006/customXml" ds:itemID="{7F82D29F-3BF0-43DF-B491-54AA244EF4C6}"/>
</file>

<file path=customXml/itemProps3.xml><?xml version="1.0" encoding="utf-8"?>
<ds:datastoreItem xmlns:ds="http://schemas.openxmlformats.org/officeDocument/2006/customXml" ds:itemID="{A4E2EF1A-A98C-4239-A07C-F0ED24E425D7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3468</TotalTime>
  <Words>8250</Words>
  <Application>Microsoft Office PowerPoint</Application>
  <PresentationFormat>Apresentação na tela (4:3)</PresentationFormat>
  <Paragraphs>1593</Paragraphs>
  <Slides>106</Slides>
  <Notes>23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106</vt:i4>
      </vt:variant>
    </vt:vector>
  </HeadingPairs>
  <TitlesOfParts>
    <vt:vector size="113" baseType="lpstr">
      <vt:lpstr>Arial</vt:lpstr>
      <vt:lpstr>Calibri</vt:lpstr>
      <vt:lpstr>Calibri Light</vt:lpstr>
      <vt:lpstr>Cambria Math</vt:lpstr>
      <vt:lpstr>Wingdings</vt:lpstr>
      <vt:lpstr>Tema do Office</vt:lpstr>
      <vt:lpstr>Worksheet</vt:lpstr>
      <vt:lpstr>Apresentação do PowerPoint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Problema das 8 Rainhas</vt:lpstr>
      <vt:lpstr>Apresentação do PowerPoint</vt:lpstr>
      <vt:lpstr>Problema da Mochila Binária</vt:lpstr>
      <vt:lpstr>BT aplicada ao Problema da Mochila Binária</vt:lpstr>
      <vt:lpstr>BT aplicada ao Problema da Mochila Binária</vt:lpstr>
      <vt:lpstr>BT aplicada ao Problema da Mochila Binária</vt:lpstr>
      <vt:lpstr>BT aplicada ao Problema da Mochila Binária</vt:lpstr>
      <vt:lpstr>BT aplicada ao Problema da Mochila Binária</vt:lpstr>
      <vt:lpstr>BT aplicada ao Problema da Mochila Binária</vt:lpstr>
      <vt:lpstr>BT aplicada ao Problema da Mochila Binária</vt:lpstr>
      <vt:lpstr>BT aplicada ao Problema da Mochila Binária</vt:lpstr>
      <vt:lpstr>BT aplicada ao Problema da Mochila Binária</vt:lpstr>
      <vt:lpstr>BT aplicada ao Problema da Mochila Binária</vt:lpstr>
      <vt:lpstr>BT aplicada ao Problema da Mochila Binária</vt:lpstr>
      <vt:lpstr>BT aplicada ao Problema da Mochila Binária</vt:lpstr>
      <vt:lpstr>BT aplicada ao Problema da Mochila Binária</vt:lpstr>
      <vt:lpstr>BT aplicada ao Problema da Mochila Binária</vt:lpstr>
      <vt:lpstr>BT aplicada ao Problema da Mochila Binária</vt:lpstr>
      <vt:lpstr>BT aplicada ao Problema da Mochila Binária</vt:lpstr>
      <vt:lpstr>Exercício</vt:lpstr>
      <vt:lpstr>Apresentação do PowerPoint</vt:lpstr>
      <vt:lpstr>Problema do Caixeiro Viajante TSP</vt:lpstr>
      <vt:lpstr>Problema do Caixeiro Viajante TSP</vt:lpstr>
      <vt:lpstr>Problema da Designação Generalizada - PDG</vt:lpstr>
      <vt:lpstr>Problema da Designação Generalizada - PDG</vt:lpstr>
      <vt:lpstr>Problema da Designação Generalizada - PDG</vt:lpstr>
      <vt:lpstr>Problema da Designação Generalizada - PDG</vt:lpstr>
      <vt:lpstr>PDG – Abordagem Construtiva</vt:lpstr>
      <vt:lpstr>PDG – Abordagem Construtiva</vt:lpstr>
      <vt:lpstr>PDG – Abordagem Construtiva</vt:lpstr>
      <vt:lpstr>PDG – Abordagem Construtiva</vt:lpstr>
      <vt:lpstr>PDG – Abordagem Construtiva</vt:lpstr>
      <vt:lpstr>PDG – Abordagem Construtiva</vt:lpstr>
      <vt:lpstr>PDG – Abordagem Construtiva</vt:lpstr>
      <vt:lpstr>PDG – Abordagem Construtiva</vt:lpstr>
      <vt:lpstr>PDG – Abordagem Construtiva</vt:lpstr>
      <vt:lpstr>PDG – Abordagem Construtiva</vt:lpstr>
      <vt:lpstr>PDG – Abordagem Construtiva</vt:lpstr>
      <vt:lpstr>PDG – Abordagem Construtiva</vt:lpstr>
      <vt:lpstr>PDG – Abordagem Construtiva</vt:lpstr>
      <vt:lpstr>PDG – Busca Tabu</vt:lpstr>
      <vt:lpstr>PDG – Busca Tabu</vt:lpstr>
      <vt:lpstr>PDG – Busca Tabu</vt:lpstr>
      <vt:lpstr>PDG – Busca Tabu</vt:lpstr>
      <vt:lpstr>PDG – Busca Tabu</vt:lpstr>
      <vt:lpstr>PDG – Busca Tabu</vt:lpstr>
      <vt:lpstr>PDG – Busca Tabu</vt:lpstr>
      <vt:lpstr>PDG – Busca Tabu</vt:lpstr>
      <vt:lpstr>PDG – Busca Tabu</vt:lpstr>
      <vt:lpstr>PDG – Busca Tabu</vt:lpstr>
      <vt:lpstr>PDG – Busca Tabu</vt:lpstr>
      <vt:lpstr>PDG – Busca Tabu</vt:lpstr>
      <vt:lpstr>PDG – Busca Tabu</vt:lpstr>
      <vt:lpstr>PDG – Busca Tabu</vt:lpstr>
      <vt:lpstr>PDG – Busca Tabu</vt:lpstr>
      <vt:lpstr>PDG – Busca Tabu</vt:lpstr>
      <vt:lpstr>Machine Learning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Abrun</dc:creator>
  <cp:lastModifiedBy>matheus raffael simon</cp:lastModifiedBy>
  <cp:revision>512</cp:revision>
  <dcterms:created xsi:type="dcterms:W3CDTF">2018-02-28T17:45:29Z</dcterms:created>
  <dcterms:modified xsi:type="dcterms:W3CDTF">2026-08-25T01:08:15Z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0x010100EEB8D299CD1DAE4D9305D8EAE7F0A000</vt:lpwstr>
  </property>
</Properties>
</file>