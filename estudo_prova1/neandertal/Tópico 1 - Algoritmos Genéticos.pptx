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72"/>
  </p:notesMasterIdLst>
  <p:sldIdLst>
    <p:sldId id="256" r:id="rId2"/>
    <p:sldId id="284" r:id="rId3"/>
    <p:sldId id="285" r:id="rId4"/>
    <p:sldId id="260" r:id="rId5"/>
    <p:sldId id="290" r:id="rId6"/>
    <p:sldId id="291" r:id="rId7"/>
    <p:sldId id="263" r:id="rId8"/>
    <p:sldId id="286" r:id="rId9"/>
    <p:sldId id="264" r:id="rId10"/>
    <p:sldId id="261" r:id="rId11"/>
    <p:sldId id="265" r:id="rId12"/>
    <p:sldId id="287" r:id="rId13"/>
    <p:sldId id="288" r:id="rId14"/>
    <p:sldId id="268" r:id="rId15"/>
    <p:sldId id="289" r:id="rId16"/>
    <p:sldId id="337" r:id="rId17"/>
    <p:sldId id="270" r:id="rId18"/>
    <p:sldId id="318" r:id="rId19"/>
    <p:sldId id="271" r:id="rId20"/>
    <p:sldId id="272" r:id="rId21"/>
    <p:sldId id="273" r:id="rId22"/>
    <p:sldId id="319" r:id="rId23"/>
    <p:sldId id="320" r:id="rId24"/>
    <p:sldId id="321" r:id="rId25"/>
    <p:sldId id="322" r:id="rId26"/>
    <p:sldId id="326" r:id="rId27"/>
    <p:sldId id="327" r:id="rId28"/>
    <p:sldId id="328" r:id="rId29"/>
    <p:sldId id="323" r:id="rId30"/>
    <p:sldId id="329" r:id="rId31"/>
    <p:sldId id="330" r:id="rId32"/>
    <p:sldId id="324" r:id="rId33"/>
    <p:sldId id="342" r:id="rId34"/>
    <p:sldId id="293" r:id="rId35"/>
    <p:sldId id="343" r:id="rId36"/>
    <p:sldId id="338" r:id="rId37"/>
    <p:sldId id="292" r:id="rId38"/>
    <p:sldId id="294" r:id="rId39"/>
    <p:sldId id="295" r:id="rId40"/>
    <p:sldId id="296" r:id="rId41"/>
    <p:sldId id="297" r:id="rId42"/>
    <p:sldId id="298" r:id="rId43"/>
    <p:sldId id="299" r:id="rId44"/>
    <p:sldId id="300" r:id="rId45"/>
    <p:sldId id="339" r:id="rId46"/>
    <p:sldId id="341" r:id="rId47"/>
    <p:sldId id="340" r:id="rId48"/>
    <p:sldId id="301" r:id="rId49"/>
    <p:sldId id="302" r:id="rId50"/>
    <p:sldId id="303" r:id="rId51"/>
    <p:sldId id="331" r:id="rId52"/>
    <p:sldId id="304" r:id="rId53"/>
    <p:sldId id="305" r:id="rId54"/>
    <p:sldId id="306" r:id="rId55"/>
    <p:sldId id="333" r:id="rId56"/>
    <p:sldId id="307" r:id="rId57"/>
    <p:sldId id="334" r:id="rId58"/>
    <p:sldId id="335" r:id="rId59"/>
    <p:sldId id="309" r:id="rId60"/>
    <p:sldId id="308" r:id="rId61"/>
    <p:sldId id="310" r:id="rId62"/>
    <p:sldId id="312" r:id="rId63"/>
    <p:sldId id="336" r:id="rId64"/>
    <p:sldId id="311" r:id="rId65"/>
    <p:sldId id="313" r:id="rId66"/>
    <p:sldId id="314" r:id="rId67"/>
    <p:sldId id="315" r:id="rId68"/>
    <p:sldId id="316" r:id="rId69"/>
    <p:sldId id="317" r:id="rId70"/>
    <p:sldId id="282" r:id="rId7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8B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35" autoAdjust="0"/>
  </p:normalViewPr>
  <p:slideViewPr>
    <p:cSldViewPr snapToGrid="0" showGuides="1">
      <p:cViewPr varScale="1">
        <p:scale>
          <a:sx n="75" d="100"/>
          <a:sy n="75" d="100"/>
        </p:scale>
        <p:origin x="1622" y="43"/>
      </p:cViewPr>
      <p:guideLst>
        <p:guide orient="horz" pos="2183"/>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79" Type="http://schemas.openxmlformats.org/officeDocument/2006/relationships/customXml" Target="../customXml/item2.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heus raffael simon" userId="b81fe4e685964744" providerId="LiveId" clId="{2A30EAE0-20CD-46EA-A10B-ED45FE71C15D}"/>
    <pc:docChg chg="undo custSel addSld modSld">
      <pc:chgData name="matheus raffael simon" userId="b81fe4e685964744" providerId="LiveId" clId="{2A30EAE0-20CD-46EA-A10B-ED45FE71C15D}" dt="2026-08-11T01:22:34.891" v="687" actId="478"/>
      <pc:docMkLst>
        <pc:docMk/>
      </pc:docMkLst>
      <pc:sldChg chg="addSp delSp modSp new mod">
        <pc:chgData name="matheus raffael simon" userId="b81fe4e685964744" providerId="LiveId" clId="{2A30EAE0-20CD-46EA-A10B-ED45FE71C15D}" dt="2026-08-11T01:22:34.891" v="687" actId="478"/>
        <pc:sldMkLst>
          <pc:docMk/>
          <pc:sldMk cId="2773668001" sldId="343"/>
        </pc:sldMkLst>
        <pc:spChg chg="del">
          <ac:chgData name="matheus raffael simon" userId="b81fe4e685964744" providerId="LiveId" clId="{2A30EAE0-20CD-46EA-A10B-ED45FE71C15D}" dt="2026-08-11T01:22:20.541" v="683" actId="931"/>
          <ac:spMkLst>
            <pc:docMk/>
            <pc:sldMk cId="2773668001" sldId="343"/>
            <ac:spMk id="3" creationId="{D02FEF60-5168-C8E1-0B95-D4BA37A8E524}"/>
          </ac:spMkLst>
        </pc:spChg>
        <pc:spChg chg="del mod">
          <ac:chgData name="matheus raffael simon" userId="b81fe4e685964744" providerId="LiveId" clId="{2A30EAE0-20CD-46EA-A10B-ED45FE71C15D}" dt="2026-08-11T01:22:34.891" v="687" actId="478"/>
          <ac:spMkLst>
            <pc:docMk/>
            <pc:sldMk cId="2773668001" sldId="343"/>
            <ac:spMk id="4" creationId="{8CE21EE7-A092-6324-DAD9-FAA917CFFC85}"/>
          </ac:spMkLst>
        </pc:spChg>
        <pc:picChg chg="add mod ord">
          <ac:chgData name="matheus raffael simon" userId="b81fe4e685964744" providerId="LiveId" clId="{2A30EAE0-20CD-46EA-A10B-ED45FE71C15D}" dt="2026-08-11T01:22:26.363" v="685" actId="14100"/>
          <ac:picMkLst>
            <pc:docMk/>
            <pc:sldMk cId="2773668001" sldId="343"/>
            <ac:picMk id="6" creationId="{241B12EC-DF3C-2BED-419B-44F54350ADA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EDEED8-6BED-4F13-8C8A-863D4F82DE30}" type="datetimeFigureOut">
              <a:rPr lang="pt-BR" smtClean="0"/>
              <a:t>10/08/2026</a:t>
            </a:fld>
            <a:endParaRPr lang="pt-BR"/>
          </a:p>
        </p:txBody>
      </p:sp>
      <p:sp>
        <p:nvSpPr>
          <p:cNvPr id="4" name="Espaço Reservado para Imagem de Slide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EBCED-39D9-4F30-9C0A-5B616ECD8E7A}" type="slidenum">
              <a:rPr lang="pt-BR" smtClean="0"/>
              <a:t>‹nº›</a:t>
            </a:fld>
            <a:endParaRPr lang="pt-BR"/>
          </a:p>
        </p:txBody>
      </p:sp>
    </p:spTree>
    <p:extLst>
      <p:ext uri="{BB962C8B-B14F-4D97-AF65-F5344CB8AC3E}">
        <p14:creationId xmlns:p14="http://schemas.microsoft.com/office/powerpoint/2010/main" val="1022817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caso das borboletas de Manchester mostra a seleção natural durante a Revolução Industrial. Antes da poluição, as mariposas claras se camuflavam nos troncos cobertos por líquens e sobreviviam mais, enquanto as escuras eram predadas. Com a fuligem escurecendo as árvores, ocorreu o contrário: as escuras passaram a ter vantagem e se multiplicaram. Quando a poluição diminuiu, as claras voltaram a predominar. Esse exemplo evidencia como o ambiente pode determinar quais características são mais favoráveis em uma população.</a:t>
            </a:r>
          </a:p>
        </p:txBody>
      </p:sp>
      <p:sp>
        <p:nvSpPr>
          <p:cNvPr id="4" name="Espaço Reservado para Número de Slide 3"/>
          <p:cNvSpPr>
            <a:spLocks noGrp="1"/>
          </p:cNvSpPr>
          <p:nvPr>
            <p:ph type="sldNum" sz="quarter" idx="5"/>
          </p:nvPr>
        </p:nvSpPr>
        <p:spPr/>
        <p:txBody>
          <a:bodyPr/>
          <a:lstStyle/>
          <a:p>
            <a:fld id="{7A7EBCED-39D9-4F30-9C0A-5B616ECD8E7A}" type="slidenum">
              <a:rPr lang="pt-BR" smtClean="0"/>
              <a:t>8</a:t>
            </a:fld>
            <a:endParaRPr lang="pt-BR"/>
          </a:p>
        </p:txBody>
      </p:sp>
    </p:spTree>
    <p:extLst>
      <p:ext uri="{BB962C8B-B14F-4D97-AF65-F5344CB8AC3E}">
        <p14:creationId xmlns:p14="http://schemas.microsoft.com/office/powerpoint/2010/main" val="3256339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dirty="0"/>
              <a:t>função matemática de duas variáveis (x e y).</a:t>
            </a:r>
          </a:p>
          <a:p>
            <a:r>
              <a:rPr lang="pt-BR" b="0" dirty="0"/>
              <a:t>Vamos considerar essa função complicada de duas variáveis como exemplo. Nosso objetivo será usar Algoritmos Genéticos para explorar os valores possíveis de  x e  y no intervalo [0,25] e encontrar o(s) ponto(s) onde  z tem o melhor valor (máximo ou mínimo).”</a:t>
            </a:r>
          </a:p>
        </p:txBody>
      </p:sp>
      <p:sp>
        <p:nvSpPr>
          <p:cNvPr id="4" name="Espaço Reservado para Número de Slide 3"/>
          <p:cNvSpPr>
            <a:spLocks noGrp="1"/>
          </p:cNvSpPr>
          <p:nvPr>
            <p:ph type="sldNum" sz="quarter" idx="5"/>
          </p:nvPr>
        </p:nvSpPr>
        <p:spPr/>
        <p:txBody>
          <a:bodyPr/>
          <a:lstStyle/>
          <a:p>
            <a:fld id="{7A7EBCED-39D9-4F30-9C0A-5B616ECD8E7A}" type="slidenum">
              <a:rPr lang="pt-BR" smtClean="0"/>
              <a:t>16</a:t>
            </a:fld>
            <a:endParaRPr lang="pt-BR"/>
          </a:p>
        </p:txBody>
      </p:sp>
    </p:spTree>
    <p:extLst>
      <p:ext uri="{BB962C8B-B14F-4D97-AF65-F5344CB8AC3E}">
        <p14:creationId xmlns:p14="http://schemas.microsoft.com/office/powerpoint/2010/main" val="2329310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dirty="0"/>
              <a:t>Se usássemos um método tradicional de busca (baseado em gradiente, por exemplo), poderíamos ficar “presos” em B ou C, sem nunca alcançar A. Os Algoritmos Genéticos são úteis porque, trabalhando com uma população de soluções, conseguem escapar desses pontos ruins e chegar mais perto do ótimo global.</a:t>
            </a:r>
          </a:p>
        </p:txBody>
      </p:sp>
      <p:sp>
        <p:nvSpPr>
          <p:cNvPr id="4" name="Espaço Reservado para Número de Slide 3"/>
          <p:cNvSpPr>
            <a:spLocks noGrp="1"/>
          </p:cNvSpPr>
          <p:nvPr>
            <p:ph type="sldNum" sz="quarter" idx="5"/>
          </p:nvPr>
        </p:nvSpPr>
        <p:spPr/>
        <p:txBody>
          <a:bodyPr/>
          <a:lstStyle/>
          <a:p>
            <a:fld id="{7A7EBCED-39D9-4F30-9C0A-5B616ECD8E7A}" type="slidenum">
              <a:rPr lang="pt-BR" smtClean="0"/>
              <a:t>17</a:t>
            </a:fld>
            <a:endParaRPr lang="pt-BR"/>
          </a:p>
        </p:txBody>
      </p:sp>
    </p:spTree>
    <p:extLst>
      <p:ext uri="{BB962C8B-B14F-4D97-AF65-F5344CB8AC3E}">
        <p14:creationId xmlns:p14="http://schemas.microsoft.com/office/powerpoint/2010/main" val="515890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dirty="0"/>
              <a:t>O Indivíduo 3 (fitness 125) ocupa a maior parte da roleta → 34,72% de chance.</a:t>
            </a:r>
          </a:p>
          <a:p>
            <a:r>
              <a:rPr lang="pt-BR" b="0" dirty="0"/>
              <a:t>O Indivíduo 6 (fitness 9) ocupa uma fatia pequena → 2,5%.</a:t>
            </a:r>
          </a:p>
          <a:p>
            <a:r>
              <a:rPr lang="pt-BR" b="0" dirty="0"/>
              <a:t>Todos têm alguma chance de serem escolhidos, mas os melhores são naturalmente privilegiados.</a:t>
            </a:r>
          </a:p>
          <a:p>
            <a:endParaRPr lang="pt-BR" dirty="0"/>
          </a:p>
        </p:txBody>
      </p:sp>
      <p:sp>
        <p:nvSpPr>
          <p:cNvPr id="4" name="Espaço Reservado para Número de Slide 3"/>
          <p:cNvSpPr>
            <a:spLocks noGrp="1"/>
          </p:cNvSpPr>
          <p:nvPr>
            <p:ph type="sldNum" sz="quarter" idx="5"/>
          </p:nvPr>
        </p:nvSpPr>
        <p:spPr/>
        <p:txBody>
          <a:bodyPr/>
          <a:lstStyle/>
          <a:p>
            <a:fld id="{7A7EBCED-39D9-4F30-9C0A-5B616ECD8E7A}" type="slidenum">
              <a:rPr lang="pt-BR" smtClean="0"/>
              <a:t>49</a:t>
            </a:fld>
            <a:endParaRPr lang="pt-BR"/>
          </a:p>
        </p:txBody>
      </p:sp>
    </p:spTree>
    <p:extLst>
      <p:ext uri="{BB962C8B-B14F-4D97-AF65-F5344CB8AC3E}">
        <p14:creationId xmlns:p14="http://schemas.microsoft.com/office/powerpoint/2010/main" val="4172536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dirty="0"/>
              <a:t>Ranking → distribui chances de forma relativa e controlada (evita que um fitness muito alto domine).</a:t>
            </a:r>
          </a:p>
          <a:p>
            <a:r>
              <a:rPr lang="pt-BR" b="0" dirty="0"/>
              <a:t>Roleta → dá chances diretamente proporcionais ao fitness absoluto (quem é muito bom pode dominar).</a:t>
            </a:r>
          </a:p>
          <a:p>
            <a:endParaRPr lang="pt-BR" dirty="0"/>
          </a:p>
        </p:txBody>
      </p:sp>
      <p:sp>
        <p:nvSpPr>
          <p:cNvPr id="4" name="Espaço Reservado para Número de Slide 3"/>
          <p:cNvSpPr>
            <a:spLocks noGrp="1"/>
          </p:cNvSpPr>
          <p:nvPr>
            <p:ph type="sldNum" sz="quarter" idx="5"/>
          </p:nvPr>
        </p:nvSpPr>
        <p:spPr/>
        <p:txBody>
          <a:bodyPr/>
          <a:lstStyle/>
          <a:p>
            <a:fld id="{7A7EBCED-39D9-4F30-9C0A-5B616ECD8E7A}" type="slidenum">
              <a:rPr lang="pt-BR" smtClean="0"/>
              <a:t>50</a:t>
            </a:fld>
            <a:endParaRPr lang="pt-BR"/>
          </a:p>
        </p:txBody>
      </p:sp>
    </p:spTree>
    <p:extLst>
      <p:ext uri="{BB962C8B-B14F-4D97-AF65-F5344CB8AC3E}">
        <p14:creationId xmlns:p14="http://schemas.microsoft.com/office/powerpoint/2010/main" val="4072985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dirty="0"/>
              <a:t>Depois que dois pais são selecionados, seus cromossomos (cadeias de bits, no caso da representação binária) são combinados.</a:t>
            </a:r>
          </a:p>
          <a:p>
            <a:r>
              <a:rPr lang="pt-BR" b="0" dirty="0"/>
              <a:t>A ideia é trocar partes desses cromossomos para gerar filhos com características herdadas de ambos.</a:t>
            </a:r>
          </a:p>
          <a:p>
            <a:r>
              <a:rPr lang="pt-BR" b="0" dirty="0"/>
              <a:t>Isso aumenta a diversidade e permite explorar novas combinações de soluções.</a:t>
            </a:r>
          </a:p>
          <a:p>
            <a:endParaRPr lang="pt-BR" dirty="0"/>
          </a:p>
        </p:txBody>
      </p:sp>
      <p:sp>
        <p:nvSpPr>
          <p:cNvPr id="4" name="Espaço Reservado para Número de Slide 3"/>
          <p:cNvSpPr>
            <a:spLocks noGrp="1"/>
          </p:cNvSpPr>
          <p:nvPr>
            <p:ph type="sldNum" sz="quarter" idx="5"/>
          </p:nvPr>
        </p:nvSpPr>
        <p:spPr/>
        <p:txBody>
          <a:bodyPr/>
          <a:lstStyle/>
          <a:p>
            <a:fld id="{7A7EBCED-39D9-4F30-9C0A-5B616ECD8E7A}" type="slidenum">
              <a:rPr lang="pt-BR" smtClean="0"/>
              <a:t>52</a:t>
            </a:fld>
            <a:endParaRPr lang="pt-BR"/>
          </a:p>
        </p:txBody>
      </p:sp>
    </p:spTree>
    <p:extLst>
      <p:ext uri="{BB962C8B-B14F-4D97-AF65-F5344CB8AC3E}">
        <p14:creationId xmlns:p14="http://schemas.microsoft.com/office/powerpoint/2010/main" val="2142179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dirty="0"/>
              <a:t>Em vez de definir apenas um ponto de corte, aqui são escolhidos dois pontos dentro do cromossomo.</a:t>
            </a:r>
          </a:p>
          <a:p>
            <a:r>
              <a:rPr lang="pt-BR" b="0" dirty="0"/>
              <a:t>O segmento entre esses dois pontos é trocado entre os pais para formar os filhos.</a:t>
            </a:r>
          </a:p>
          <a:p>
            <a:endParaRPr lang="pt-BR" b="0" dirty="0"/>
          </a:p>
          <a:p>
            <a:r>
              <a:rPr lang="pt-BR" b="0" dirty="0"/>
              <a:t>O cruzamento de dois pontos promove maior mistura de genes do que o cruzamento de um ponto.</a:t>
            </a:r>
          </a:p>
          <a:p>
            <a:r>
              <a:rPr lang="pt-BR" b="0" dirty="0"/>
              <a:t>Pode gerar soluções mais diversas, explorando melhor o espaço de busca.</a:t>
            </a:r>
          </a:p>
          <a:p>
            <a:r>
              <a:rPr lang="pt-BR" b="0" dirty="0"/>
              <a:t>Evita que apenas as extremidades dos cromossomos sejam preservadas.</a:t>
            </a:r>
          </a:p>
          <a:p>
            <a:endParaRPr lang="pt-BR" dirty="0"/>
          </a:p>
        </p:txBody>
      </p:sp>
      <p:sp>
        <p:nvSpPr>
          <p:cNvPr id="4" name="Espaço Reservado para Número de Slide 3"/>
          <p:cNvSpPr>
            <a:spLocks noGrp="1"/>
          </p:cNvSpPr>
          <p:nvPr>
            <p:ph type="sldNum" sz="quarter" idx="5"/>
          </p:nvPr>
        </p:nvSpPr>
        <p:spPr/>
        <p:txBody>
          <a:bodyPr/>
          <a:lstStyle/>
          <a:p>
            <a:fld id="{7A7EBCED-39D9-4F30-9C0A-5B616ECD8E7A}" type="slidenum">
              <a:rPr lang="pt-BR" smtClean="0"/>
              <a:t>53</a:t>
            </a:fld>
            <a:endParaRPr lang="pt-BR"/>
          </a:p>
        </p:txBody>
      </p:sp>
    </p:spTree>
    <p:extLst>
      <p:ext uri="{BB962C8B-B14F-4D97-AF65-F5344CB8AC3E}">
        <p14:creationId xmlns:p14="http://schemas.microsoft.com/office/powerpoint/2010/main" val="1737593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pt-BR"/>
              <a:t>Clique para editar o título Mestre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7" name="Espaço Reservado para Data 6">
            <a:extLst>
              <a:ext uri="{FF2B5EF4-FFF2-40B4-BE49-F238E27FC236}">
                <a16:creationId xmlns:a16="http://schemas.microsoft.com/office/drawing/2014/main" id="{4CEB06C5-9180-47A5-9CD9-3F1B3EC9FBBD}"/>
              </a:ext>
            </a:extLst>
          </p:cNvPr>
          <p:cNvSpPr>
            <a:spLocks noGrp="1"/>
          </p:cNvSpPr>
          <p:nvPr>
            <p:ph type="dt" sz="half" idx="10"/>
          </p:nvPr>
        </p:nvSpPr>
        <p:spPr/>
        <p:txBody>
          <a:bodyPr/>
          <a:lstStyle/>
          <a:p>
            <a:fld id="{A02A5058-1629-497F-973A-88CCD7825720}" type="datetime1">
              <a:rPr lang="pt-BR" smtClean="0"/>
              <a:t>10/08/2026</a:t>
            </a:fld>
            <a:endParaRPr lang="pt-BR"/>
          </a:p>
        </p:txBody>
      </p:sp>
      <p:sp>
        <p:nvSpPr>
          <p:cNvPr id="8" name="Espaço Reservado para Rodapé 7">
            <a:extLst>
              <a:ext uri="{FF2B5EF4-FFF2-40B4-BE49-F238E27FC236}">
                <a16:creationId xmlns:a16="http://schemas.microsoft.com/office/drawing/2014/main" id="{C6515F0A-B9EE-48F0-A501-102F477B62A1}"/>
              </a:ext>
            </a:extLst>
          </p:cNvPr>
          <p:cNvSpPr>
            <a:spLocks noGrp="1"/>
          </p:cNvSpPr>
          <p:nvPr>
            <p:ph type="ftr" sz="quarter" idx="11"/>
          </p:nvPr>
        </p:nvSpPr>
        <p:spPr/>
        <p:txBody>
          <a:bodyPr/>
          <a:lstStyle/>
          <a:p>
            <a:r>
              <a:rPr lang="pt-BR"/>
              <a:t>Otimização Combinatória 2024</a:t>
            </a:r>
            <a:endParaRPr lang="pt-BR" dirty="0"/>
          </a:p>
        </p:txBody>
      </p:sp>
      <p:sp>
        <p:nvSpPr>
          <p:cNvPr id="9" name="Espaço Reservado para Número de Slide 8">
            <a:extLst>
              <a:ext uri="{FF2B5EF4-FFF2-40B4-BE49-F238E27FC236}">
                <a16:creationId xmlns:a16="http://schemas.microsoft.com/office/drawing/2014/main" id="{32321D10-4545-41D6-B331-0EECB55E5422}"/>
              </a:ext>
            </a:extLst>
          </p:cNvPr>
          <p:cNvSpPr>
            <a:spLocks noGrp="1"/>
          </p:cNvSpPr>
          <p:nvPr>
            <p:ph type="sldNum" sz="quarter" idx="12"/>
          </p:nvPr>
        </p:nvSpPr>
        <p:spPr/>
        <p:txBody>
          <a:bodyPr/>
          <a:lstStyle/>
          <a:p>
            <a:fld id="{91C2A521-5815-4629-9305-32B7ECC1C04A}" type="slidenum">
              <a:rPr lang="pt-BR" smtClean="0"/>
              <a:pPr/>
              <a:t>‹nº›</a:t>
            </a:fld>
            <a:endParaRPr lang="pt-BR"/>
          </a:p>
        </p:txBody>
      </p:sp>
    </p:spTree>
    <p:extLst>
      <p:ext uri="{BB962C8B-B14F-4D97-AF65-F5344CB8AC3E}">
        <p14:creationId xmlns:p14="http://schemas.microsoft.com/office/powerpoint/2010/main" val="1687880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a:xfrm>
            <a:off x="1892300" y="285750"/>
            <a:ext cx="6623050" cy="790574"/>
          </a:xfrm>
        </p:spPr>
        <p:txBody>
          <a:bodyPr/>
          <a:lstStyle>
            <a:lvl1pPr algn="ctr">
              <a:defRPr b="1">
                <a:ln>
                  <a:solidFill>
                    <a:schemeClr val="tx1"/>
                  </a:solidFill>
                </a:ln>
                <a:solidFill>
                  <a:schemeClr val="bg1"/>
                </a:solidFill>
                <a:latin typeface="+mn-lt"/>
              </a:defRPr>
            </a:lvl1pPr>
          </a:lstStyle>
          <a:p>
            <a:r>
              <a:rPr lang="pt-BR" dirty="0"/>
              <a:t>Clique para editar o título Mestre</a:t>
            </a:r>
            <a:endParaRPr lang="en-US" dirty="0"/>
          </a:p>
        </p:txBody>
      </p:sp>
      <p:sp>
        <p:nvSpPr>
          <p:cNvPr id="3" name="Content Placeholder 2"/>
          <p:cNvSpPr>
            <a:spLocks noGrp="1"/>
          </p:cNvSpPr>
          <p:nvPr>
            <p:ph idx="1"/>
          </p:nvPr>
        </p:nvSpPr>
        <p:spPr/>
        <p:txBody>
          <a:bodyPr/>
          <a:lstStyle>
            <a:lvl1pPr marL="0" indent="0">
              <a:buNone/>
              <a:defRPr u="sng"/>
            </a:lvl1pPr>
          </a:lstStyle>
          <a:p>
            <a:pPr lvl="0"/>
            <a:r>
              <a:rPr lang="pt-BR" dirty="0"/>
              <a:t>Editar estilos de texto Mestre</a:t>
            </a:r>
          </a:p>
          <a:p>
            <a:pPr lvl="1"/>
            <a:r>
              <a:rPr lang="pt-BR" dirty="0"/>
              <a:t>Segundo nível</a:t>
            </a:r>
          </a:p>
          <a:p>
            <a:pPr lvl="2"/>
            <a:r>
              <a:rPr lang="pt-BR" dirty="0"/>
              <a:t>Terceiro nível</a:t>
            </a:r>
          </a:p>
          <a:p>
            <a:pPr lvl="3"/>
            <a:r>
              <a:rPr lang="pt-BR" dirty="0"/>
              <a:t>Quarto nível</a:t>
            </a:r>
          </a:p>
          <a:p>
            <a:pPr lvl="4"/>
            <a:r>
              <a:rPr lang="pt-BR" dirty="0"/>
              <a:t>Quinto nível</a:t>
            </a:r>
            <a:endParaRPr lang="en-US" dirty="0"/>
          </a:p>
        </p:txBody>
      </p:sp>
      <p:sp>
        <p:nvSpPr>
          <p:cNvPr id="4" name="Date Placeholder 3"/>
          <p:cNvSpPr>
            <a:spLocks noGrp="1"/>
          </p:cNvSpPr>
          <p:nvPr>
            <p:ph type="dt" sz="half" idx="10"/>
          </p:nvPr>
        </p:nvSpPr>
        <p:spPr/>
        <p:txBody>
          <a:bodyPr/>
          <a:lstStyle/>
          <a:p>
            <a:fld id="{3F21B77B-BF4D-47A5-A18D-C995E1FC8CF2}" type="datetime1">
              <a:rPr lang="pt-BR" smtClean="0"/>
              <a:t>10/08/2026</a:t>
            </a:fld>
            <a:endParaRPr lang="pt-BR"/>
          </a:p>
        </p:txBody>
      </p:sp>
      <p:sp>
        <p:nvSpPr>
          <p:cNvPr id="5" name="Footer Placeholder 4"/>
          <p:cNvSpPr>
            <a:spLocks noGrp="1"/>
          </p:cNvSpPr>
          <p:nvPr>
            <p:ph type="ftr" sz="quarter" idx="11"/>
          </p:nvPr>
        </p:nvSpPr>
        <p:spPr/>
        <p:txBody>
          <a:bodyPr/>
          <a:lstStyle/>
          <a:p>
            <a:r>
              <a:rPr lang="pt-BR"/>
              <a:t>Otimização Combinatória 2024</a:t>
            </a:r>
            <a:endParaRPr lang="pt-BR" dirty="0"/>
          </a:p>
        </p:txBody>
      </p:sp>
      <p:sp>
        <p:nvSpPr>
          <p:cNvPr id="6" name="Slide Number Placeholder 5"/>
          <p:cNvSpPr>
            <a:spLocks noGrp="1"/>
          </p:cNvSpPr>
          <p:nvPr>
            <p:ph type="sldNum" sz="quarter" idx="12"/>
          </p:nvPr>
        </p:nvSpPr>
        <p:spPr/>
        <p:txBody>
          <a:bodyPr/>
          <a:lstStyle/>
          <a:p>
            <a:fld id="{91C2A521-5815-4629-9305-32B7ECC1C04A}" type="slidenum">
              <a:rPr lang="pt-BR" smtClean="0"/>
              <a:t>‹nº›</a:t>
            </a:fld>
            <a:endParaRPr lang="pt-BR"/>
          </a:p>
        </p:txBody>
      </p:sp>
    </p:spTree>
    <p:extLst>
      <p:ext uri="{BB962C8B-B14F-4D97-AF65-F5344CB8AC3E}">
        <p14:creationId xmlns:p14="http://schemas.microsoft.com/office/powerpoint/2010/main" val="2241142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pt-BR"/>
              <a:t>Clique para editar o título Mestre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09764BCB-5730-466C-AA66-82EF5156E0B1}" type="datetime1">
              <a:rPr lang="pt-BR" smtClean="0"/>
              <a:t>10/08/2026</a:t>
            </a:fld>
            <a:endParaRPr lang="pt-BR"/>
          </a:p>
        </p:txBody>
      </p:sp>
      <p:sp>
        <p:nvSpPr>
          <p:cNvPr id="5" name="Footer Placeholder 4"/>
          <p:cNvSpPr>
            <a:spLocks noGrp="1"/>
          </p:cNvSpPr>
          <p:nvPr>
            <p:ph type="ftr" sz="quarter" idx="11"/>
          </p:nvPr>
        </p:nvSpPr>
        <p:spPr/>
        <p:txBody>
          <a:bodyPr/>
          <a:lstStyle/>
          <a:p>
            <a:r>
              <a:rPr lang="pt-BR"/>
              <a:t>Otimização Combinatória 2024</a:t>
            </a:r>
            <a:endParaRPr lang="pt-BR" dirty="0"/>
          </a:p>
        </p:txBody>
      </p:sp>
      <p:sp>
        <p:nvSpPr>
          <p:cNvPr id="6" name="Slide Number Placeholder 5"/>
          <p:cNvSpPr>
            <a:spLocks noGrp="1"/>
          </p:cNvSpPr>
          <p:nvPr>
            <p:ph type="sldNum" sz="quarter" idx="12"/>
          </p:nvPr>
        </p:nvSpPr>
        <p:spPr/>
        <p:txBody>
          <a:bodyPr/>
          <a:lstStyle/>
          <a:p>
            <a:fld id="{91C2A521-5815-4629-9305-32B7ECC1C04A}" type="slidenum">
              <a:rPr lang="pt-BR" smtClean="0"/>
              <a:t>‹nº›</a:t>
            </a:fld>
            <a:endParaRPr lang="pt-BR"/>
          </a:p>
        </p:txBody>
      </p:sp>
    </p:spTree>
    <p:extLst>
      <p:ext uri="{BB962C8B-B14F-4D97-AF65-F5344CB8AC3E}">
        <p14:creationId xmlns:p14="http://schemas.microsoft.com/office/powerpoint/2010/main" val="581031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pt-BR"/>
              <a:t>Clique para editar o título Mestre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14A20251-4873-402D-AA8B-B6AABB5E9ED8}" type="datetime1">
              <a:rPr lang="pt-BR" smtClean="0"/>
              <a:t>10/08/2026</a:t>
            </a:fld>
            <a:endParaRPr lang="pt-BR"/>
          </a:p>
        </p:txBody>
      </p:sp>
      <p:sp>
        <p:nvSpPr>
          <p:cNvPr id="6" name="Footer Placeholder 5"/>
          <p:cNvSpPr>
            <a:spLocks noGrp="1"/>
          </p:cNvSpPr>
          <p:nvPr>
            <p:ph type="ftr" sz="quarter" idx="11"/>
          </p:nvPr>
        </p:nvSpPr>
        <p:spPr/>
        <p:txBody>
          <a:bodyPr/>
          <a:lstStyle/>
          <a:p>
            <a:r>
              <a:rPr lang="pt-BR"/>
              <a:t>Otimização Combinatória 2024</a:t>
            </a:r>
          </a:p>
        </p:txBody>
      </p:sp>
      <p:sp>
        <p:nvSpPr>
          <p:cNvPr id="7" name="Slide Number Placeholder 6"/>
          <p:cNvSpPr>
            <a:spLocks noGrp="1"/>
          </p:cNvSpPr>
          <p:nvPr>
            <p:ph type="sldNum" sz="quarter" idx="12"/>
          </p:nvPr>
        </p:nvSpPr>
        <p:spPr/>
        <p:txBody>
          <a:bodyPr/>
          <a:lstStyle/>
          <a:p>
            <a:fld id="{91C2A521-5815-4629-9305-32B7ECC1C04A}" type="slidenum">
              <a:rPr lang="pt-BR" smtClean="0"/>
              <a:t>‹nº›</a:t>
            </a:fld>
            <a:endParaRPr lang="pt-BR"/>
          </a:p>
        </p:txBody>
      </p:sp>
    </p:spTree>
    <p:extLst>
      <p:ext uri="{BB962C8B-B14F-4D97-AF65-F5344CB8AC3E}">
        <p14:creationId xmlns:p14="http://schemas.microsoft.com/office/powerpoint/2010/main" val="2356750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Content Placeholder 3"/>
          <p:cNvSpPr>
            <a:spLocks noGrp="1"/>
          </p:cNvSpPr>
          <p:nvPr>
            <p:ph sz="half" idx="2"/>
          </p:nvPr>
        </p:nvSpPr>
        <p:spPr>
          <a:xfrm>
            <a:off x="629842" y="2505075"/>
            <a:ext cx="3868340"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Content Placeholder 5"/>
          <p:cNvSpPr>
            <a:spLocks noGrp="1"/>
          </p:cNvSpPr>
          <p:nvPr>
            <p:ph sz="quarter" idx="4"/>
          </p:nvPr>
        </p:nvSpPr>
        <p:spPr>
          <a:xfrm>
            <a:off x="4629150" y="2505075"/>
            <a:ext cx="3887391"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9615268E-9A95-4EDA-A33D-EC7154F63DCF}" type="datetime1">
              <a:rPr lang="pt-BR" smtClean="0"/>
              <a:t>10/08/2026</a:t>
            </a:fld>
            <a:endParaRPr lang="pt-BR"/>
          </a:p>
        </p:txBody>
      </p:sp>
      <p:sp>
        <p:nvSpPr>
          <p:cNvPr id="8" name="Footer Placeholder 7"/>
          <p:cNvSpPr>
            <a:spLocks noGrp="1"/>
          </p:cNvSpPr>
          <p:nvPr>
            <p:ph type="ftr" sz="quarter" idx="11"/>
          </p:nvPr>
        </p:nvSpPr>
        <p:spPr/>
        <p:txBody>
          <a:bodyPr/>
          <a:lstStyle/>
          <a:p>
            <a:r>
              <a:rPr lang="pt-BR"/>
              <a:t>Otimização Combinatória 2024</a:t>
            </a:r>
          </a:p>
        </p:txBody>
      </p:sp>
      <p:sp>
        <p:nvSpPr>
          <p:cNvPr id="9" name="Slide Number Placeholder 8"/>
          <p:cNvSpPr>
            <a:spLocks noGrp="1"/>
          </p:cNvSpPr>
          <p:nvPr>
            <p:ph type="sldNum" sz="quarter" idx="12"/>
          </p:nvPr>
        </p:nvSpPr>
        <p:spPr/>
        <p:txBody>
          <a:bodyPr/>
          <a:lstStyle/>
          <a:p>
            <a:fld id="{91C2A521-5815-4629-9305-32B7ECC1C04A}" type="slidenum">
              <a:rPr lang="pt-BR" smtClean="0"/>
              <a:t>‹nº›</a:t>
            </a:fld>
            <a:endParaRPr lang="pt-BR"/>
          </a:p>
        </p:txBody>
      </p:sp>
    </p:spTree>
    <p:extLst>
      <p:ext uri="{BB962C8B-B14F-4D97-AF65-F5344CB8AC3E}">
        <p14:creationId xmlns:p14="http://schemas.microsoft.com/office/powerpoint/2010/main" val="2047520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902B8D30-B572-4C45-B576-36B5C6D4E4ED}" type="datetime1">
              <a:rPr lang="pt-BR" smtClean="0"/>
              <a:t>10/08/2026</a:t>
            </a:fld>
            <a:endParaRPr lang="pt-BR"/>
          </a:p>
        </p:txBody>
      </p:sp>
      <p:sp>
        <p:nvSpPr>
          <p:cNvPr id="4" name="Footer Placeholder 3"/>
          <p:cNvSpPr>
            <a:spLocks noGrp="1"/>
          </p:cNvSpPr>
          <p:nvPr>
            <p:ph type="ftr" sz="quarter" idx="11"/>
          </p:nvPr>
        </p:nvSpPr>
        <p:spPr/>
        <p:txBody>
          <a:bodyPr/>
          <a:lstStyle/>
          <a:p>
            <a:r>
              <a:rPr lang="pt-BR"/>
              <a:t>Otimização Combinatória 2024</a:t>
            </a:r>
          </a:p>
        </p:txBody>
      </p:sp>
      <p:sp>
        <p:nvSpPr>
          <p:cNvPr id="5" name="Slide Number Placeholder 4"/>
          <p:cNvSpPr>
            <a:spLocks noGrp="1"/>
          </p:cNvSpPr>
          <p:nvPr>
            <p:ph type="sldNum" sz="quarter" idx="12"/>
          </p:nvPr>
        </p:nvSpPr>
        <p:spPr/>
        <p:txBody>
          <a:bodyPr/>
          <a:lstStyle/>
          <a:p>
            <a:fld id="{91C2A521-5815-4629-9305-32B7ECC1C04A}" type="slidenum">
              <a:rPr lang="pt-BR" smtClean="0"/>
              <a:t>‹nº›</a:t>
            </a:fld>
            <a:endParaRPr lang="pt-BR"/>
          </a:p>
        </p:txBody>
      </p:sp>
    </p:spTree>
    <p:extLst>
      <p:ext uri="{BB962C8B-B14F-4D97-AF65-F5344CB8AC3E}">
        <p14:creationId xmlns:p14="http://schemas.microsoft.com/office/powerpoint/2010/main" val="2479174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4C922A-27AC-4223-8C0F-3C0BB13EF503}" type="datetime1">
              <a:rPr lang="pt-BR" smtClean="0"/>
              <a:t>10/08/2026</a:t>
            </a:fld>
            <a:endParaRPr lang="pt-BR"/>
          </a:p>
        </p:txBody>
      </p:sp>
      <p:sp>
        <p:nvSpPr>
          <p:cNvPr id="3" name="Footer Placeholder 2"/>
          <p:cNvSpPr>
            <a:spLocks noGrp="1"/>
          </p:cNvSpPr>
          <p:nvPr>
            <p:ph type="ftr" sz="quarter" idx="11"/>
          </p:nvPr>
        </p:nvSpPr>
        <p:spPr/>
        <p:txBody>
          <a:bodyPr/>
          <a:lstStyle/>
          <a:p>
            <a:r>
              <a:rPr lang="pt-BR"/>
              <a:t>Otimização Combinatória 2024</a:t>
            </a:r>
          </a:p>
        </p:txBody>
      </p:sp>
      <p:sp>
        <p:nvSpPr>
          <p:cNvPr id="4" name="Slide Number Placeholder 3"/>
          <p:cNvSpPr>
            <a:spLocks noGrp="1"/>
          </p:cNvSpPr>
          <p:nvPr>
            <p:ph type="sldNum" sz="quarter" idx="12"/>
          </p:nvPr>
        </p:nvSpPr>
        <p:spPr/>
        <p:txBody>
          <a:bodyPr/>
          <a:lstStyle/>
          <a:p>
            <a:fld id="{91C2A521-5815-4629-9305-32B7ECC1C04A}" type="slidenum">
              <a:rPr lang="pt-BR" smtClean="0"/>
              <a:t>‹nº›</a:t>
            </a:fld>
            <a:endParaRPr lang="pt-BR"/>
          </a:p>
        </p:txBody>
      </p:sp>
    </p:spTree>
    <p:extLst>
      <p:ext uri="{BB962C8B-B14F-4D97-AF65-F5344CB8AC3E}">
        <p14:creationId xmlns:p14="http://schemas.microsoft.com/office/powerpoint/2010/main" val="3542859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Date Placeholder 4"/>
          <p:cNvSpPr>
            <a:spLocks noGrp="1"/>
          </p:cNvSpPr>
          <p:nvPr>
            <p:ph type="dt" sz="half" idx="10"/>
          </p:nvPr>
        </p:nvSpPr>
        <p:spPr/>
        <p:txBody>
          <a:bodyPr/>
          <a:lstStyle/>
          <a:p>
            <a:fld id="{714EA26F-457E-4BE9-A908-4744D41A38E0}" type="datetime1">
              <a:rPr lang="pt-BR" smtClean="0"/>
              <a:t>10/08/2026</a:t>
            </a:fld>
            <a:endParaRPr lang="pt-BR"/>
          </a:p>
        </p:txBody>
      </p:sp>
      <p:sp>
        <p:nvSpPr>
          <p:cNvPr id="6" name="Footer Placeholder 5"/>
          <p:cNvSpPr>
            <a:spLocks noGrp="1"/>
          </p:cNvSpPr>
          <p:nvPr>
            <p:ph type="ftr" sz="quarter" idx="11"/>
          </p:nvPr>
        </p:nvSpPr>
        <p:spPr/>
        <p:txBody>
          <a:bodyPr/>
          <a:lstStyle/>
          <a:p>
            <a:r>
              <a:rPr lang="pt-BR"/>
              <a:t>Otimização Combinatória 2024</a:t>
            </a:r>
          </a:p>
        </p:txBody>
      </p:sp>
      <p:sp>
        <p:nvSpPr>
          <p:cNvPr id="7" name="Slide Number Placeholder 6"/>
          <p:cNvSpPr>
            <a:spLocks noGrp="1"/>
          </p:cNvSpPr>
          <p:nvPr>
            <p:ph type="sldNum" sz="quarter" idx="12"/>
          </p:nvPr>
        </p:nvSpPr>
        <p:spPr/>
        <p:txBody>
          <a:bodyPr/>
          <a:lstStyle/>
          <a:p>
            <a:fld id="{91C2A521-5815-4629-9305-32B7ECC1C04A}" type="slidenum">
              <a:rPr lang="pt-BR" smtClean="0"/>
              <a:t>‹nº›</a:t>
            </a:fld>
            <a:endParaRPr lang="pt-BR"/>
          </a:p>
        </p:txBody>
      </p:sp>
    </p:spTree>
    <p:extLst>
      <p:ext uri="{BB962C8B-B14F-4D97-AF65-F5344CB8AC3E}">
        <p14:creationId xmlns:p14="http://schemas.microsoft.com/office/powerpoint/2010/main" val="196294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Date Placeholder 4"/>
          <p:cNvSpPr>
            <a:spLocks noGrp="1"/>
          </p:cNvSpPr>
          <p:nvPr>
            <p:ph type="dt" sz="half" idx="10"/>
          </p:nvPr>
        </p:nvSpPr>
        <p:spPr/>
        <p:txBody>
          <a:bodyPr/>
          <a:lstStyle/>
          <a:p>
            <a:fld id="{412AEC90-F313-4E86-B149-0E14CBEB5AAF}" type="datetime1">
              <a:rPr lang="pt-BR" smtClean="0"/>
              <a:t>10/08/2026</a:t>
            </a:fld>
            <a:endParaRPr lang="pt-BR"/>
          </a:p>
        </p:txBody>
      </p:sp>
      <p:sp>
        <p:nvSpPr>
          <p:cNvPr id="6" name="Footer Placeholder 5"/>
          <p:cNvSpPr>
            <a:spLocks noGrp="1"/>
          </p:cNvSpPr>
          <p:nvPr>
            <p:ph type="ftr" sz="quarter" idx="11"/>
          </p:nvPr>
        </p:nvSpPr>
        <p:spPr/>
        <p:txBody>
          <a:bodyPr/>
          <a:lstStyle/>
          <a:p>
            <a:r>
              <a:rPr lang="pt-BR"/>
              <a:t>Otimização Combinatória 2024</a:t>
            </a:r>
          </a:p>
        </p:txBody>
      </p:sp>
      <p:sp>
        <p:nvSpPr>
          <p:cNvPr id="7" name="Slide Number Placeholder 6"/>
          <p:cNvSpPr>
            <a:spLocks noGrp="1"/>
          </p:cNvSpPr>
          <p:nvPr>
            <p:ph type="sldNum" sz="quarter" idx="12"/>
          </p:nvPr>
        </p:nvSpPr>
        <p:spPr/>
        <p:txBody>
          <a:bodyPr/>
          <a:lstStyle/>
          <a:p>
            <a:fld id="{91C2A521-5815-4629-9305-32B7ECC1C04A}" type="slidenum">
              <a:rPr lang="pt-BR" smtClean="0"/>
              <a:t>‹nº›</a:t>
            </a:fld>
            <a:endParaRPr lang="pt-BR"/>
          </a:p>
        </p:txBody>
      </p:sp>
    </p:spTree>
    <p:extLst>
      <p:ext uri="{BB962C8B-B14F-4D97-AF65-F5344CB8AC3E}">
        <p14:creationId xmlns:p14="http://schemas.microsoft.com/office/powerpoint/2010/main" val="1523165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E8E0931D-C668-4348-ADE3-6E59C4FFF9CD}" type="datetime1">
              <a:rPr lang="pt-BR" smtClean="0"/>
              <a:t>10/08/2026</a:t>
            </a:fld>
            <a:endParaRPr lang="pt-BR"/>
          </a:p>
        </p:txBody>
      </p:sp>
      <p:sp>
        <p:nvSpPr>
          <p:cNvPr id="5" name="Footer Placeholder 4"/>
          <p:cNvSpPr>
            <a:spLocks noGrp="1"/>
          </p:cNvSpPr>
          <p:nvPr>
            <p:ph type="ftr" sz="quarter" idx="11"/>
          </p:nvPr>
        </p:nvSpPr>
        <p:spPr/>
        <p:txBody>
          <a:bodyPr/>
          <a:lstStyle/>
          <a:p>
            <a:r>
              <a:rPr lang="pt-BR"/>
              <a:t>Otimização Combinatória 2024</a:t>
            </a:r>
          </a:p>
        </p:txBody>
      </p:sp>
      <p:sp>
        <p:nvSpPr>
          <p:cNvPr id="6" name="Slide Number Placeholder 5"/>
          <p:cNvSpPr>
            <a:spLocks noGrp="1"/>
          </p:cNvSpPr>
          <p:nvPr>
            <p:ph type="sldNum" sz="quarter" idx="12"/>
          </p:nvPr>
        </p:nvSpPr>
        <p:spPr/>
        <p:txBody>
          <a:bodyPr/>
          <a:lstStyle/>
          <a:p>
            <a:fld id="{91C2A521-5815-4629-9305-32B7ECC1C04A}" type="slidenum">
              <a:rPr lang="pt-BR" smtClean="0"/>
              <a:t>‹nº›</a:t>
            </a:fld>
            <a:endParaRPr lang="pt-BR"/>
          </a:p>
        </p:txBody>
      </p:sp>
    </p:spTree>
    <p:extLst>
      <p:ext uri="{BB962C8B-B14F-4D97-AF65-F5344CB8AC3E}">
        <p14:creationId xmlns:p14="http://schemas.microsoft.com/office/powerpoint/2010/main" val="2419696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32DF596E-CCFB-4432-A8CF-02172E9AB9EB}" type="datetime1">
              <a:rPr lang="pt-BR" smtClean="0"/>
              <a:t>10/08/2026</a:t>
            </a:fld>
            <a:endParaRPr lang="pt-BR"/>
          </a:p>
        </p:txBody>
      </p:sp>
      <p:sp>
        <p:nvSpPr>
          <p:cNvPr id="5" name="Footer Placeholder 4"/>
          <p:cNvSpPr>
            <a:spLocks noGrp="1"/>
          </p:cNvSpPr>
          <p:nvPr>
            <p:ph type="ftr" sz="quarter" idx="11"/>
          </p:nvPr>
        </p:nvSpPr>
        <p:spPr/>
        <p:txBody>
          <a:bodyPr/>
          <a:lstStyle/>
          <a:p>
            <a:r>
              <a:rPr lang="pt-BR"/>
              <a:t>Otimização Combinatória 2024</a:t>
            </a:r>
          </a:p>
        </p:txBody>
      </p:sp>
      <p:sp>
        <p:nvSpPr>
          <p:cNvPr id="6" name="Slide Number Placeholder 5"/>
          <p:cNvSpPr>
            <a:spLocks noGrp="1"/>
          </p:cNvSpPr>
          <p:nvPr>
            <p:ph type="sldNum" sz="quarter" idx="12"/>
          </p:nvPr>
        </p:nvSpPr>
        <p:spPr/>
        <p:txBody>
          <a:bodyPr/>
          <a:lstStyle/>
          <a:p>
            <a:fld id="{91C2A521-5815-4629-9305-32B7ECC1C04A}" type="slidenum">
              <a:rPr lang="pt-BR" smtClean="0"/>
              <a:t>‹nº›</a:t>
            </a:fld>
            <a:endParaRPr lang="pt-BR"/>
          </a:p>
        </p:txBody>
      </p:sp>
    </p:spTree>
    <p:extLst>
      <p:ext uri="{BB962C8B-B14F-4D97-AF65-F5344CB8AC3E}">
        <p14:creationId xmlns:p14="http://schemas.microsoft.com/office/powerpoint/2010/main" val="4227595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C6342A-AD4F-4B4D-A796-E5ACF9C7887A}" type="datetime1">
              <a:rPr lang="pt-BR" smtClean="0"/>
              <a:t>10/08/2026</a:t>
            </a:fld>
            <a:endParaRPr lang="pt-BR"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rgbClr val="298B52"/>
                </a:solidFill>
              </a:defRPr>
            </a:lvl1pPr>
          </a:lstStyle>
          <a:p>
            <a:r>
              <a:rPr lang="pt-BR"/>
              <a:t>Otimização Combinatória 2024</a:t>
            </a:r>
            <a:endParaRPr lang="pt-BR"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rgbClr val="298B52"/>
                </a:solidFill>
              </a:defRPr>
            </a:lvl1pPr>
          </a:lstStyle>
          <a:p>
            <a:fld id="{91C2A521-5815-4629-9305-32B7ECC1C04A}" type="slidenum">
              <a:rPr lang="pt-BR" smtClean="0"/>
              <a:pPr/>
              <a:t>‹nº›</a:t>
            </a:fld>
            <a:endParaRPr lang="pt-BR" dirty="0"/>
          </a:p>
        </p:txBody>
      </p:sp>
      <p:sp>
        <p:nvSpPr>
          <p:cNvPr id="7" name="Retângulo 6">
            <a:extLst>
              <a:ext uri="{FF2B5EF4-FFF2-40B4-BE49-F238E27FC236}">
                <a16:creationId xmlns:a16="http://schemas.microsoft.com/office/drawing/2014/main" id="{0C7EC6E4-B348-4B5B-8517-74C9A11A4025}"/>
              </a:ext>
            </a:extLst>
          </p:cNvPr>
          <p:cNvSpPr/>
          <p:nvPr userDrawn="1"/>
        </p:nvSpPr>
        <p:spPr>
          <a:xfrm>
            <a:off x="1" y="1"/>
            <a:ext cx="9144000" cy="1325563"/>
          </a:xfrm>
          <a:prstGeom prst="rect">
            <a:avLst/>
          </a:prstGeom>
          <a:solidFill>
            <a:srgbClr val="298B52"/>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pic>
        <p:nvPicPr>
          <p:cNvPr id="10" name="Imagem 9" descr="Uma imagem contendo material de papelaria, lápis&#10;&#10;Descrição gerada automaticamente">
            <a:extLst>
              <a:ext uri="{FF2B5EF4-FFF2-40B4-BE49-F238E27FC236}">
                <a16:creationId xmlns:a16="http://schemas.microsoft.com/office/drawing/2014/main" id="{205EF4E5-AF27-42B7-B553-C06E34360BBE}"/>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2532" y="62323"/>
            <a:ext cx="1849066" cy="1325564"/>
          </a:xfrm>
          <a:prstGeom prst="rect">
            <a:avLst/>
          </a:prstGeom>
        </p:spPr>
      </p:pic>
    </p:spTree>
    <p:extLst>
      <p:ext uri="{BB962C8B-B14F-4D97-AF65-F5344CB8AC3E}">
        <p14:creationId xmlns:p14="http://schemas.microsoft.com/office/powerpoint/2010/main" val="5465958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tinyurl.com/4yt9bask"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nationalgeographicbrasil.com/cultura/2018/04/bajaus-primeiros-humanos-genetica-dna-mergulho-pesc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tinyurl.com/4jf7xnj4" TargetMode="Externa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pontobiologia.com.br/como-se-formam-novas-especies/" TargetMode="External"/><Relationship Id="rId2" Type="http://schemas.openxmlformats.org/officeDocument/2006/relationships/hyperlink" Target="https://pt.khanacademy.org/science/biology/her/tree-of-life/a/species-speciat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40843F8C-1F1B-4309-9BB1-ACADCB734F21}"/>
              </a:ext>
            </a:extLst>
          </p:cNvPr>
          <p:cNvSpPr/>
          <p:nvPr/>
        </p:nvSpPr>
        <p:spPr>
          <a:xfrm>
            <a:off x="0" y="1704026"/>
            <a:ext cx="9144000" cy="1485741"/>
          </a:xfrm>
          <a:prstGeom prst="rect">
            <a:avLst/>
          </a:prstGeom>
          <a:solidFill>
            <a:srgbClr val="298B5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ítulo 1">
            <a:extLst>
              <a:ext uri="{FF2B5EF4-FFF2-40B4-BE49-F238E27FC236}">
                <a16:creationId xmlns:a16="http://schemas.microsoft.com/office/drawing/2014/main" id="{7C809DA3-1BE5-4FB3-81F8-9D037262E4F9}"/>
              </a:ext>
            </a:extLst>
          </p:cNvPr>
          <p:cNvSpPr txBox="1">
            <a:spLocks/>
          </p:cNvSpPr>
          <p:nvPr/>
        </p:nvSpPr>
        <p:spPr>
          <a:xfrm>
            <a:off x="1044942" y="2051609"/>
            <a:ext cx="7070725" cy="79057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4500" b="1" dirty="0">
                <a:ln>
                  <a:solidFill>
                    <a:schemeClr val="tx1"/>
                  </a:solidFill>
                </a:ln>
                <a:solidFill>
                  <a:schemeClr val="bg1"/>
                </a:solidFill>
                <a:latin typeface="+mn-lt"/>
              </a:rPr>
              <a:t>Otimização Combinatória</a:t>
            </a:r>
          </a:p>
        </p:txBody>
      </p:sp>
      <p:sp>
        <p:nvSpPr>
          <p:cNvPr id="2" name="Retângulo 1">
            <a:extLst>
              <a:ext uri="{FF2B5EF4-FFF2-40B4-BE49-F238E27FC236}">
                <a16:creationId xmlns:a16="http://schemas.microsoft.com/office/drawing/2014/main" id="{12E217D7-099A-4AE2-9799-FF59C27D7FAB}"/>
              </a:ext>
            </a:extLst>
          </p:cNvPr>
          <p:cNvSpPr/>
          <p:nvPr/>
        </p:nvSpPr>
        <p:spPr>
          <a:xfrm>
            <a:off x="0" y="0"/>
            <a:ext cx="9144000" cy="16636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CaixaDeTexto 3">
            <a:extLst>
              <a:ext uri="{FF2B5EF4-FFF2-40B4-BE49-F238E27FC236}">
                <a16:creationId xmlns:a16="http://schemas.microsoft.com/office/drawing/2014/main" id="{D54B5864-D2FD-4238-B1B5-0AD7B58B48C7}"/>
              </a:ext>
            </a:extLst>
          </p:cNvPr>
          <p:cNvSpPr txBox="1"/>
          <p:nvPr/>
        </p:nvSpPr>
        <p:spPr>
          <a:xfrm>
            <a:off x="3663322" y="5259581"/>
            <a:ext cx="2600264" cy="400110"/>
          </a:xfrm>
          <a:prstGeom prst="rect">
            <a:avLst/>
          </a:prstGeom>
          <a:noFill/>
        </p:spPr>
        <p:txBody>
          <a:bodyPr wrap="none" rtlCol="0">
            <a:spAutoFit/>
          </a:bodyPr>
          <a:lstStyle/>
          <a:p>
            <a:r>
              <a:rPr lang="pt-BR" sz="2000" dirty="0"/>
              <a:t>Matheus Raffael Simon</a:t>
            </a:r>
          </a:p>
        </p:txBody>
      </p:sp>
      <p:sp>
        <p:nvSpPr>
          <p:cNvPr id="7" name="CaixaDeTexto 6">
            <a:extLst>
              <a:ext uri="{FF2B5EF4-FFF2-40B4-BE49-F238E27FC236}">
                <a16:creationId xmlns:a16="http://schemas.microsoft.com/office/drawing/2014/main" id="{580D3277-FFCD-403E-9A91-B6E35EC93598}"/>
              </a:ext>
            </a:extLst>
          </p:cNvPr>
          <p:cNvSpPr txBox="1"/>
          <p:nvPr/>
        </p:nvSpPr>
        <p:spPr>
          <a:xfrm>
            <a:off x="4230613" y="6268308"/>
            <a:ext cx="704039" cy="400110"/>
          </a:xfrm>
          <a:prstGeom prst="rect">
            <a:avLst/>
          </a:prstGeom>
          <a:noFill/>
        </p:spPr>
        <p:txBody>
          <a:bodyPr wrap="none" rtlCol="0">
            <a:spAutoFit/>
          </a:bodyPr>
          <a:lstStyle/>
          <a:p>
            <a:r>
              <a:rPr lang="pt-BR" sz="2000" dirty="0"/>
              <a:t>2025</a:t>
            </a:r>
          </a:p>
        </p:txBody>
      </p:sp>
      <p:sp>
        <p:nvSpPr>
          <p:cNvPr id="8" name="Título 1">
            <a:extLst>
              <a:ext uri="{FF2B5EF4-FFF2-40B4-BE49-F238E27FC236}">
                <a16:creationId xmlns:a16="http://schemas.microsoft.com/office/drawing/2014/main" id="{58556100-2B4A-4B9C-ABE2-3313DAA2EA03}"/>
              </a:ext>
            </a:extLst>
          </p:cNvPr>
          <p:cNvSpPr txBox="1">
            <a:spLocks/>
          </p:cNvSpPr>
          <p:nvPr/>
        </p:nvSpPr>
        <p:spPr>
          <a:xfrm>
            <a:off x="1044942" y="3184635"/>
            <a:ext cx="7070725" cy="79057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sz="3500" b="1" dirty="0">
                <a:ln w="12700">
                  <a:solidFill>
                    <a:schemeClr val="tx1"/>
                  </a:solidFill>
                </a:ln>
                <a:solidFill>
                  <a:srgbClr val="298B52"/>
                </a:solidFill>
                <a:latin typeface="+mn-lt"/>
              </a:rPr>
              <a:t>Algoritmos Genéticos</a:t>
            </a:r>
          </a:p>
        </p:txBody>
      </p:sp>
    </p:spTree>
    <p:extLst>
      <p:ext uri="{BB962C8B-B14F-4D97-AF65-F5344CB8AC3E}">
        <p14:creationId xmlns:p14="http://schemas.microsoft.com/office/powerpoint/2010/main" val="623811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DB4C85-2609-4A2B-A9AA-1C2E9EAC4FD3}"/>
              </a:ext>
            </a:extLst>
          </p:cNvPr>
          <p:cNvSpPr>
            <a:spLocks noGrp="1"/>
          </p:cNvSpPr>
          <p:nvPr>
            <p:ph type="title"/>
          </p:nvPr>
        </p:nvSpPr>
        <p:spPr/>
        <p:txBody>
          <a:bodyPr>
            <a:normAutofit/>
          </a:bodyPr>
          <a:lstStyle/>
          <a:p>
            <a:r>
              <a:rPr lang="pt-BR" dirty="0"/>
              <a:t>Introdução</a:t>
            </a:r>
          </a:p>
        </p:txBody>
      </p:sp>
      <p:sp>
        <p:nvSpPr>
          <p:cNvPr id="3" name="Espaço Reservado para Conteúdo 2">
            <a:extLst>
              <a:ext uri="{FF2B5EF4-FFF2-40B4-BE49-F238E27FC236}">
                <a16:creationId xmlns:a16="http://schemas.microsoft.com/office/drawing/2014/main" id="{298DCC3B-ED7F-4C6E-BD56-F547A1D0AEBE}"/>
              </a:ext>
            </a:extLst>
          </p:cNvPr>
          <p:cNvSpPr>
            <a:spLocks noGrp="1"/>
          </p:cNvSpPr>
          <p:nvPr>
            <p:ph idx="1"/>
          </p:nvPr>
        </p:nvSpPr>
        <p:spPr/>
        <p:txBody>
          <a:bodyPr>
            <a:normAutofit fontScale="85000" lnSpcReduction="10000"/>
          </a:bodyPr>
          <a:lstStyle/>
          <a:p>
            <a:pPr marL="0" indent="0" algn="just">
              <a:buNone/>
            </a:pPr>
            <a:r>
              <a:rPr lang="pt-BR" u="none" dirty="0"/>
              <a:t>	Classe ou família de modelos computacionais inspirados na evolução natural proposta por Charles Darwin</a:t>
            </a:r>
          </a:p>
          <a:p>
            <a:pPr algn="just"/>
            <a:endParaRPr lang="pt-BR" u="none" dirty="0"/>
          </a:p>
          <a:p>
            <a:pPr marL="0" indent="0" algn="just">
              <a:buNone/>
            </a:pPr>
            <a:r>
              <a:rPr lang="en-US" u="none" dirty="0"/>
              <a:t>On the Origin of Species by Means of Natural Selection (1859) A The descent of man, and selection in relation to sex (1871)</a:t>
            </a:r>
          </a:p>
          <a:p>
            <a:pPr algn="just"/>
            <a:endParaRPr lang="en-US" u="none" dirty="0"/>
          </a:p>
          <a:p>
            <a:pPr marL="0" indent="0" algn="just">
              <a:buNone/>
            </a:pPr>
            <a:r>
              <a:rPr lang="pt-BR" u="none" dirty="0"/>
              <a:t>	Os indivíduos mais propensos à sobrevivência são aqueles </a:t>
            </a:r>
            <a:r>
              <a:rPr lang="pt-BR" b="1" u="none" dirty="0"/>
              <a:t>mais adaptados </a:t>
            </a:r>
            <a:r>
              <a:rPr lang="pt-BR" u="none" dirty="0"/>
              <a:t>para enfrentar determinadas condições ambientais. Logo estes indivíduos teriam maior chance de se reproduzir e assim deixar seus descendentes. Assim, com o passar dos anos, as variações favoráveis tendem a permanecer e as desfavoráveis tendem a serem destruídas.</a:t>
            </a:r>
          </a:p>
        </p:txBody>
      </p:sp>
    </p:spTree>
    <p:extLst>
      <p:ext uri="{BB962C8B-B14F-4D97-AF65-F5344CB8AC3E}">
        <p14:creationId xmlns:p14="http://schemas.microsoft.com/office/powerpoint/2010/main" val="2795297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DB4C85-2609-4A2B-A9AA-1C2E9EAC4FD3}"/>
              </a:ext>
            </a:extLst>
          </p:cNvPr>
          <p:cNvSpPr>
            <a:spLocks noGrp="1"/>
          </p:cNvSpPr>
          <p:nvPr>
            <p:ph type="title"/>
          </p:nvPr>
        </p:nvSpPr>
        <p:spPr/>
        <p:txBody>
          <a:bodyPr>
            <a:normAutofit/>
          </a:bodyPr>
          <a:lstStyle/>
          <a:p>
            <a:r>
              <a:rPr lang="pt-BR" dirty="0"/>
              <a:t>Introdução</a:t>
            </a:r>
          </a:p>
        </p:txBody>
      </p:sp>
      <p:pic>
        <p:nvPicPr>
          <p:cNvPr id="5" name="Imagem 4" descr="Diagrama&#10;&#10;Descrição gerada automaticamente">
            <a:extLst>
              <a:ext uri="{FF2B5EF4-FFF2-40B4-BE49-F238E27FC236}">
                <a16:creationId xmlns:a16="http://schemas.microsoft.com/office/drawing/2014/main" id="{097D6C59-49A7-3F7D-3E20-4F1ED90FF8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1432681"/>
            <a:ext cx="4896666" cy="4888046"/>
          </a:xfrm>
          <a:prstGeom prst="rect">
            <a:avLst/>
          </a:prstGeom>
        </p:spPr>
      </p:pic>
      <p:sp>
        <p:nvSpPr>
          <p:cNvPr id="11" name="CaixaDeTexto 10">
            <a:extLst>
              <a:ext uri="{FF2B5EF4-FFF2-40B4-BE49-F238E27FC236}">
                <a16:creationId xmlns:a16="http://schemas.microsoft.com/office/drawing/2014/main" id="{2AFABD61-F1AD-F61E-7A5C-A7A9D0184CCC}"/>
              </a:ext>
            </a:extLst>
          </p:cNvPr>
          <p:cNvSpPr txBox="1"/>
          <p:nvPr/>
        </p:nvSpPr>
        <p:spPr>
          <a:xfrm>
            <a:off x="6530321" y="6094741"/>
            <a:ext cx="2346091" cy="523220"/>
          </a:xfrm>
          <a:prstGeom prst="rect">
            <a:avLst/>
          </a:prstGeom>
          <a:noFill/>
        </p:spPr>
        <p:txBody>
          <a:bodyPr wrap="none" rtlCol="0">
            <a:spAutoFit/>
          </a:bodyPr>
          <a:lstStyle/>
          <a:p>
            <a:r>
              <a:rPr lang="pt-BR" sz="1400" dirty="0"/>
              <a:t>Fonte: CK-12 Foundation</a:t>
            </a:r>
          </a:p>
          <a:p>
            <a:r>
              <a:rPr lang="pt-BR" sz="1400" dirty="0">
                <a:hlinkClick r:id="rId3"/>
              </a:rPr>
              <a:t>https://tinyurl.com/4yt9bask</a:t>
            </a:r>
            <a:r>
              <a:rPr lang="pt-BR" sz="1400" dirty="0"/>
              <a:t> </a:t>
            </a:r>
          </a:p>
        </p:txBody>
      </p:sp>
      <p:sp>
        <p:nvSpPr>
          <p:cNvPr id="3" name="CaixaDeTexto 2">
            <a:extLst>
              <a:ext uri="{FF2B5EF4-FFF2-40B4-BE49-F238E27FC236}">
                <a16:creationId xmlns:a16="http://schemas.microsoft.com/office/drawing/2014/main" id="{C61289D2-A3D6-6005-D0A7-B224C67B536E}"/>
              </a:ext>
            </a:extLst>
          </p:cNvPr>
          <p:cNvSpPr txBox="1"/>
          <p:nvPr/>
        </p:nvSpPr>
        <p:spPr>
          <a:xfrm>
            <a:off x="7212559" y="2245489"/>
            <a:ext cx="1481559" cy="646331"/>
          </a:xfrm>
          <a:prstGeom prst="rect">
            <a:avLst/>
          </a:prstGeom>
          <a:noFill/>
        </p:spPr>
        <p:txBody>
          <a:bodyPr wrap="square" rtlCol="0">
            <a:spAutoFit/>
          </a:bodyPr>
          <a:lstStyle/>
          <a:p>
            <a:r>
              <a:rPr lang="pt-BR" dirty="0"/>
              <a:t>Luta pela sobrevivência </a:t>
            </a:r>
          </a:p>
        </p:txBody>
      </p:sp>
      <p:sp>
        <p:nvSpPr>
          <p:cNvPr id="4" name="CaixaDeTexto 3">
            <a:extLst>
              <a:ext uri="{FF2B5EF4-FFF2-40B4-BE49-F238E27FC236}">
                <a16:creationId xmlns:a16="http://schemas.microsoft.com/office/drawing/2014/main" id="{55A0D04F-3431-08D9-9AA4-987B3F570D7F}"/>
              </a:ext>
            </a:extLst>
          </p:cNvPr>
          <p:cNvSpPr txBox="1"/>
          <p:nvPr/>
        </p:nvSpPr>
        <p:spPr>
          <a:xfrm>
            <a:off x="268545" y="4388735"/>
            <a:ext cx="1845189" cy="923330"/>
          </a:xfrm>
          <a:prstGeom prst="rect">
            <a:avLst/>
          </a:prstGeom>
          <a:noFill/>
        </p:spPr>
        <p:txBody>
          <a:bodyPr wrap="square" rtlCol="0">
            <a:spAutoFit/>
          </a:bodyPr>
          <a:lstStyle/>
          <a:p>
            <a:r>
              <a:rPr lang="pt-BR" dirty="0"/>
              <a:t>Maior condicionamento físico </a:t>
            </a:r>
          </a:p>
        </p:txBody>
      </p:sp>
      <p:sp>
        <p:nvSpPr>
          <p:cNvPr id="7" name="CaixaDeTexto 6">
            <a:extLst>
              <a:ext uri="{FF2B5EF4-FFF2-40B4-BE49-F238E27FC236}">
                <a16:creationId xmlns:a16="http://schemas.microsoft.com/office/drawing/2014/main" id="{7BBB0962-BA2E-A1B8-5BC6-46700191EAA9}"/>
              </a:ext>
            </a:extLst>
          </p:cNvPr>
          <p:cNvSpPr txBox="1"/>
          <p:nvPr/>
        </p:nvSpPr>
        <p:spPr>
          <a:xfrm>
            <a:off x="6848929" y="4531568"/>
            <a:ext cx="1845189" cy="923330"/>
          </a:xfrm>
          <a:prstGeom prst="rect">
            <a:avLst/>
          </a:prstGeom>
          <a:noFill/>
        </p:spPr>
        <p:txBody>
          <a:bodyPr wrap="square" rtlCol="0">
            <a:spAutoFit/>
          </a:bodyPr>
          <a:lstStyle/>
          <a:p>
            <a:r>
              <a:rPr lang="pt-BR" dirty="0"/>
              <a:t>Característica do pescoço longo aumenta</a:t>
            </a:r>
          </a:p>
        </p:txBody>
      </p:sp>
      <p:sp>
        <p:nvSpPr>
          <p:cNvPr id="8" name="CaixaDeTexto 7">
            <a:extLst>
              <a:ext uri="{FF2B5EF4-FFF2-40B4-BE49-F238E27FC236}">
                <a16:creationId xmlns:a16="http://schemas.microsoft.com/office/drawing/2014/main" id="{D2CB70DE-4CCE-4F91-1BD4-98EF6E9DC90B}"/>
              </a:ext>
            </a:extLst>
          </p:cNvPr>
          <p:cNvSpPr txBox="1"/>
          <p:nvPr/>
        </p:nvSpPr>
        <p:spPr>
          <a:xfrm>
            <a:off x="288411" y="2205057"/>
            <a:ext cx="1845189" cy="923330"/>
          </a:xfrm>
          <a:prstGeom prst="rect">
            <a:avLst/>
          </a:prstGeom>
          <a:noFill/>
        </p:spPr>
        <p:txBody>
          <a:bodyPr wrap="square" rtlCol="0">
            <a:spAutoFit/>
          </a:bodyPr>
          <a:lstStyle/>
          <a:p>
            <a:r>
              <a:rPr lang="pt-BR" dirty="0"/>
              <a:t>Variação do tamanho do pescoço</a:t>
            </a:r>
          </a:p>
        </p:txBody>
      </p:sp>
    </p:spTree>
    <p:extLst>
      <p:ext uri="{BB962C8B-B14F-4D97-AF65-F5344CB8AC3E}">
        <p14:creationId xmlns:p14="http://schemas.microsoft.com/office/powerpoint/2010/main" val="1160732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DB4C85-2609-4A2B-A9AA-1C2E9EAC4FD3}"/>
              </a:ext>
            </a:extLst>
          </p:cNvPr>
          <p:cNvSpPr>
            <a:spLocks noGrp="1"/>
          </p:cNvSpPr>
          <p:nvPr>
            <p:ph type="title"/>
          </p:nvPr>
        </p:nvSpPr>
        <p:spPr/>
        <p:txBody>
          <a:bodyPr>
            <a:normAutofit/>
          </a:bodyPr>
          <a:lstStyle/>
          <a:p>
            <a:r>
              <a:rPr lang="pt-BR" dirty="0"/>
              <a:t>Introdução</a:t>
            </a:r>
          </a:p>
        </p:txBody>
      </p:sp>
      <p:sp>
        <p:nvSpPr>
          <p:cNvPr id="3" name="Espaço Reservado para Conteúdo 2">
            <a:extLst>
              <a:ext uri="{FF2B5EF4-FFF2-40B4-BE49-F238E27FC236}">
                <a16:creationId xmlns:a16="http://schemas.microsoft.com/office/drawing/2014/main" id="{298DCC3B-ED7F-4C6E-BD56-F547A1D0AEBE}"/>
              </a:ext>
            </a:extLst>
          </p:cNvPr>
          <p:cNvSpPr>
            <a:spLocks noGrp="1"/>
          </p:cNvSpPr>
          <p:nvPr>
            <p:ph idx="1"/>
          </p:nvPr>
        </p:nvSpPr>
        <p:spPr/>
        <p:txBody>
          <a:bodyPr>
            <a:normAutofit/>
          </a:bodyPr>
          <a:lstStyle/>
          <a:p>
            <a:pPr algn="just"/>
            <a:r>
              <a:rPr lang="pt-BR" u="none" dirty="0"/>
              <a:t>	Segundo DARWIN (1859), a seleção natural é um processo seletivo lento que ocorre ao longo das gerações, através da qual as espécies podem se diversificar*, tornando-se mais adaptadas ao meio em que vivem. A seleção é determinada, em certa parte, pelos fatores ecológicos do ambiente</a:t>
            </a:r>
          </a:p>
          <a:p>
            <a:pPr algn="just"/>
            <a:r>
              <a:rPr lang="pt-BR" u="none" dirty="0"/>
              <a:t>*especiação (</a:t>
            </a:r>
            <a:r>
              <a:rPr lang="pt-BR" u="none" dirty="0" err="1"/>
              <a:t>aloprática</a:t>
            </a:r>
            <a:r>
              <a:rPr lang="pt-BR" u="none" dirty="0"/>
              <a:t>)</a:t>
            </a:r>
          </a:p>
          <a:p>
            <a:pPr algn="just"/>
            <a:r>
              <a:rPr lang="pt-BR" u="none" dirty="0"/>
              <a:t>**Você conseguiria ficar 13 minutos sem respirar ou mergulhar até 600 metros sem equipamento?</a:t>
            </a:r>
          </a:p>
        </p:txBody>
      </p:sp>
      <p:sp>
        <p:nvSpPr>
          <p:cNvPr id="4" name="CaixaDeTexto 3">
            <a:extLst>
              <a:ext uri="{FF2B5EF4-FFF2-40B4-BE49-F238E27FC236}">
                <a16:creationId xmlns:a16="http://schemas.microsoft.com/office/drawing/2014/main" id="{3017F3ED-3CED-07D3-A40C-27F7FD64DC8E}"/>
              </a:ext>
            </a:extLst>
          </p:cNvPr>
          <p:cNvSpPr txBox="1"/>
          <p:nvPr/>
        </p:nvSpPr>
        <p:spPr>
          <a:xfrm>
            <a:off x="416689" y="5787342"/>
            <a:ext cx="8275898" cy="646331"/>
          </a:xfrm>
          <a:prstGeom prst="rect">
            <a:avLst/>
          </a:prstGeom>
          <a:noFill/>
        </p:spPr>
        <p:txBody>
          <a:bodyPr wrap="square" rtlCol="0">
            <a:spAutoFit/>
          </a:bodyPr>
          <a:lstStyle/>
          <a:p>
            <a:r>
              <a:rPr lang="pt-BR" dirty="0"/>
              <a:t>** </a:t>
            </a:r>
            <a:r>
              <a:rPr lang="pt-BR" dirty="0">
                <a:hlinkClick r:id="rId2"/>
              </a:rPr>
              <a:t>https://www.nationalgeographicbrasil.com/cultura/2018/04/bajaus-primeiros-humanos-genetica-dna-mergulho-pesca</a:t>
            </a:r>
            <a:r>
              <a:rPr lang="pt-BR" dirty="0"/>
              <a:t> acesso 08/09/2025</a:t>
            </a:r>
          </a:p>
        </p:txBody>
      </p:sp>
    </p:spTree>
    <p:extLst>
      <p:ext uri="{BB962C8B-B14F-4D97-AF65-F5344CB8AC3E}">
        <p14:creationId xmlns:p14="http://schemas.microsoft.com/office/powerpoint/2010/main" val="3738550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073C8A-30B2-4915-ABBC-BF9938616839}"/>
              </a:ext>
            </a:extLst>
          </p:cNvPr>
          <p:cNvSpPr>
            <a:spLocks noGrp="1"/>
          </p:cNvSpPr>
          <p:nvPr>
            <p:ph type="title"/>
          </p:nvPr>
        </p:nvSpPr>
        <p:spPr/>
        <p:txBody>
          <a:bodyPr/>
          <a:lstStyle/>
          <a:p>
            <a:r>
              <a:rPr lang="pt-BR" dirty="0"/>
              <a:t>Introdução</a:t>
            </a:r>
          </a:p>
        </p:txBody>
      </p:sp>
      <p:pic>
        <p:nvPicPr>
          <p:cNvPr id="6" name="Imagem 5">
            <a:extLst>
              <a:ext uri="{FF2B5EF4-FFF2-40B4-BE49-F238E27FC236}">
                <a16:creationId xmlns:a16="http://schemas.microsoft.com/office/drawing/2014/main" id="{BC3F6726-7E7F-4F91-9F12-89243E28AC44}"/>
              </a:ext>
            </a:extLst>
          </p:cNvPr>
          <p:cNvPicPr>
            <a:picLocks noChangeAspect="1"/>
          </p:cNvPicPr>
          <p:nvPr/>
        </p:nvPicPr>
        <p:blipFill>
          <a:blip r:embed="rId2"/>
          <a:stretch>
            <a:fillRect/>
          </a:stretch>
        </p:blipFill>
        <p:spPr>
          <a:xfrm>
            <a:off x="1706106" y="81023"/>
            <a:ext cx="5078284" cy="6643868"/>
          </a:xfrm>
          <a:prstGeom prst="rect">
            <a:avLst/>
          </a:prstGeom>
        </p:spPr>
      </p:pic>
      <p:sp>
        <p:nvSpPr>
          <p:cNvPr id="7" name="CaixaDeTexto 6">
            <a:extLst>
              <a:ext uri="{FF2B5EF4-FFF2-40B4-BE49-F238E27FC236}">
                <a16:creationId xmlns:a16="http://schemas.microsoft.com/office/drawing/2014/main" id="{88AA02B0-804E-4618-9E2C-561B45972CA9}"/>
              </a:ext>
            </a:extLst>
          </p:cNvPr>
          <p:cNvSpPr txBox="1"/>
          <p:nvPr/>
        </p:nvSpPr>
        <p:spPr>
          <a:xfrm>
            <a:off x="6847521" y="6048574"/>
            <a:ext cx="1667829" cy="307777"/>
          </a:xfrm>
          <a:prstGeom prst="rect">
            <a:avLst/>
          </a:prstGeom>
          <a:noFill/>
        </p:spPr>
        <p:txBody>
          <a:bodyPr wrap="none" rtlCol="0">
            <a:spAutoFit/>
          </a:bodyPr>
          <a:lstStyle/>
          <a:p>
            <a:r>
              <a:rPr lang="pt-BR" sz="1400" dirty="0"/>
              <a:t>Fonte: Nunes (2022)</a:t>
            </a:r>
          </a:p>
        </p:txBody>
      </p:sp>
    </p:spTree>
    <p:extLst>
      <p:ext uri="{BB962C8B-B14F-4D97-AF65-F5344CB8AC3E}">
        <p14:creationId xmlns:p14="http://schemas.microsoft.com/office/powerpoint/2010/main" val="1007775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C7B175-3CCD-4D37-9C3B-8206B1382388}"/>
              </a:ext>
            </a:extLst>
          </p:cNvPr>
          <p:cNvSpPr>
            <a:spLocks noGrp="1"/>
          </p:cNvSpPr>
          <p:nvPr>
            <p:ph type="title"/>
          </p:nvPr>
        </p:nvSpPr>
        <p:spPr/>
        <p:txBody>
          <a:bodyPr/>
          <a:lstStyle/>
          <a:p>
            <a:r>
              <a:rPr lang="pt-BR" dirty="0"/>
              <a:t>Introdução</a:t>
            </a:r>
          </a:p>
        </p:txBody>
      </p:sp>
      <p:sp>
        <p:nvSpPr>
          <p:cNvPr id="3" name="Espaço Reservado para Conteúdo 2">
            <a:extLst>
              <a:ext uri="{FF2B5EF4-FFF2-40B4-BE49-F238E27FC236}">
                <a16:creationId xmlns:a16="http://schemas.microsoft.com/office/drawing/2014/main" id="{456AAD9E-E4F8-455C-82ED-F52A5D3B1F30}"/>
              </a:ext>
            </a:extLst>
          </p:cNvPr>
          <p:cNvSpPr>
            <a:spLocks noGrp="1"/>
          </p:cNvSpPr>
          <p:nvPr>
            <p:ph idx="1"/>
          </p:nvPr>
        </p:nvSpPr>
        <p:spPr/>
        <p:txBody>
          <a:bodyPr/>
          <a:lstStyle/>
          <a:p>
            <a:r>
              <a:rPr lang="pt-BR" u="none" dirty="0"/>
              <a:t>Elefante Africano x Elefante Indiano</a:t>
            </a:r>
          </a:p>
          <a:p>
            <a:pPr lvl="1"/>
            <a:r>
              <a:rPr lang="pt-BR" u="none" dirty="0"/>
              <a:t>Africano: maior, + peso, maior orelha (para resfriar)</a:t>
            </a:r>
          </a:p>
          <a:p>
            <a:pPr lvl="1"/>
            <a:r>
              <a:rPr lang="pt-BR" u="none" dirty="0"/>
              <a:t>Indiano: menor, - pesado, só macho tem presas.</a:t>
            </a:r>
          </a:p>
          <a:p>
            <a:r>
              <a:rPr lang="pt-BR" u="none" dirty="0"/>
              <a:t>Elefante Africano Savana x Elefante Africano Floresta</a:t>
            </a:r>
          </a:p>
          <a:p>
            <a:pPr lvl="1"/>
            <a:r>
              <a:rPr lang="pt-BR" u="none" dirty="0"/>
              <a:t>Savana: Robusto, áreas abertas</a:t>
            </a:r>
          </a:p>
          <a:p>
            <a:pPr lvl="1"/>
            <a:r>
              <a:rPr lang="pt-BR" u="none" dirty="0"/>
              <a:t>Floresta: Menor, ariscos</a:t>
            </a:r>
          </a:p>
          <a:p>
            <a:r>
              <a:rPr lang="pt-BR" u="none" dirty="0"/>
              <a:t> </a:t>
            </a:r>
          </a:p>
        </p:txBody>
      </p:sp>
      <p:pic>
        <p:nvPicPr>
          <p:cNvPr id="8" name="Imagem 7" descr="Esquilo com a boca aberta&#10;&#10;Descrição gerada automaticamente">
            <a:extLst>
              <a:ext uri="{FF2B5EF4-FFF2-40B4-BE49-F238E27FC236}">
                <a16:creationId xmlns:a16="http://schemas.microsoft.com/office/drawing/2014/main" id="{BA79ECC9-6944-4F3A-B4BC-647F301D74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44678"/>
            <a:ext cx="7357118" cy="2413322"/>
          </a:xfrm>
          <a:prstGeom prst="rect">
            <a:avLst/>
          </a:prstGeom>
        </p:spPr>
      </p:pic>
      <p:sp>
        <p:nvSpPr>
          <p:cNvPr id="9" name="CaixaDeTexto 8">
            <a:extLst>
              <a:ext uri="{FF2B5EF4-FFF2-40B4-BE49-F238E27FC236}">
                <a16:creationId xmlns:a16="http://schemas.microsoft.com/office/drawing/2014/main" id="{3C240C04-A547-40B6-94B4-4737DB7BFB8C}"/>
              </a:ext>
            </a:extLst>
          </p:cNvPr>
          <p:cNvSpPr txBox="1"/>
          <p:nvPr/>
        </p:nvSpPr>
        <p:spPr>
          <a:xfrm>
            <a:off x="7374461" y="5497450"/>
            <a:ext cx="1409360" cy="523220"/>
          </a:xfrm>
          <a:prstGeom prst="rect">
            <a:avLst/>
          </a:prstGeom>
          <a:noFill/>
        </p:spPr>
        <p:txBody>
          <a:bodyPr wrap="none" rtlCol="0">
            <a:spAutoFit/>
          </a:bodyPr>
          <a:lstStyle/>
          <a:p>
            <a:r>
              <a:rPr lang="pt-BR" sz="1400" dirty="0"/>
              <a:t>Fonte: Khan</a:t>
            </a:r>
          </a:p>
          <a:p>
            <a:r>
              <a:rPr lang="pt-BR" sz="1400" dirty="0"/>
              <a:t> </a:t>
            </a:r>
            <a:r>
              <a:rPr lang="pt-BR" sz="1400" dirty="0" err="1"/>
              <a:t>Academy</a:t>
            </a:r>
            <a:r>
              <a:rPr lang="pt-BR" sz="1400" dirty="0"/>
              <a:t> (2022)</a:t>
            </a:r>
          </a:p>
        </p:txBody>
      </p:sp>
    </p:spTree>
    <p:extLst>
      <p:ext uri="{BB962C8B-B14F-4D97-AF65-F5344CB8AC3E}">
        <p14:creationId xmlns:p14="http://schemas.microsoft.com/office/powerpoint/2010/main" val="3729066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DB4C85-2609-4A2B-A9AA-1C2E9EAC4FD3}"/>
              </a:ext>
            </a:extLst>
          </p:cNvPr>
          <p:cNvSpPr>
            <a:spLocks noGrp="1"/>
          </p:cNvSpPr>
          <p:nvPr>
            <p:ph type="title"/>
          </p:nvPr>
        </p:nvSpPr>
        <p:spPr/>
        <p:txBody>
          <a:bodyPr>
            <a:normAutofit/>
          </a:bodyPr>
          <a:lstStyle/>
          <a:p>
            <a:r>
              <a:rPr lang="pt-BR" dirty="0"/>
              <a:t>Introdução</a:t>
            </a:r>
          </a:p>
        </p:txBody>
      </p:sp>
      <p:sp>
        <p:nvSpPr>
          <p:cNvPr id="3" name="Espaço Reservado para Conteúdo 2">
            <a:extLst>
              <a:ext uri="{FF2B5EF4-FFF2-40B4-BE49-F238E27FC236}">
                <a16:creationId xmlns:a16="http://schemas.microsoft.com/office/drawing/2014/main" id="{298DCC3B-ED7F-4C6E-BD56-F547A1D0AEBE}"/>
              </a:ext>
            </a:extLst>
          </p:cNvPr>
          <p:cNvSpPr>
            <a:spLocks noGrp="1"/>
          </p:cNvSpPr>
          <p:nvPr>
            <p:ph idx="1"/>
          </p:nvPr>
        </p:nvSpPr>
        <p:spPr/>
        <p:txBody>
          <a:bodyPr>
            <a:normAutofit lnSpcReduction="10000"/>
          </a:bodyPr>
          <a:lstStyle/>
          <a:p>
            <a:pPr algn="just"/>
            <a:r>
              <a:rPr lang="pt-BR" u="none" dirty="0"/>
              <a:t>	Através da seleção natural, a frequência de um </a:t>
            </a:r>
            <a:r>
              <a:rPr lang="pt-BR" b="1" u="none" dirty="0"/>
              <a:t>gene vantajoso</a:t>
            </a:r>
            <a:r>
              <a:rPr lang="pt-BR" u="none" dirty="0"/>
              <a:t>, que apresenta características positivas, aumenta gradativamente na população. </a:t>
            </a:r>
          </a:p>
          <a:p>
            <a:pPr algn="just"/>
            <a:r>
              <a:rPr lang="pt-BR" u="none" dirty="0"/>
              <a:t>	A vantagem conferida pelo gene pode se refletir em diversos fatores que façam com que as espécies que o apresente sejam mais aptas. </a:t>
            </a:r>
          </a:p>
          <a:p>
            <a:pPr algn="just"/>
            <a:r>
              <a:rPr lang="pt-BR" u="none" dirty="0"/>
              <a:t>	Por exemplo, o gene pode refletir em um maior tempo de vida de um elemento, aumentando assim a probabilidade do mesmo de se reproduzir. O gene pode aumentar a sua frequência se ele oferecer ao indivíduo maior capacidade de se proteger</a:t>
            </a:r>
          </a:p>
        </p:txBody>
      </p:sp>
    </p:spTree>
    <p:extLst>
      <p:ext uri="{BB962C8B-B14F-4D97-AF65-F5344CB8AC3E}">
        <p14:creationId xmlns:p14="http://schemas.microsoft.com/office/powerpoint/2010/main" val="547438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DB4C85-2609-4A2B-A9AA-1C2E9EAC4FD3}"/>
              </a:ext>
            </a:extLst>
          </p:cNvPr>
          <p:cNvSpPr>
            <a:spLocks noGrp="1"/>
          </p:cNvSpPr>
          <p:nvPr>
            <p:ph type="title"/>
          </p:nvPr>
        </p:nvSpPr>
        <p:spPr/>
        <p:txBody>
          <a:bodyPr>
            <a:normAutofit/>
          </a:bodyPr>
          <a:lstStyle/>
          <a:p>
            <a:r>
              <a:rPr lang="pt-BR" dirty="0"/>
              <a:t>Introdução</a:t>
            </a:r>
          </a:p>
        </p:txBody>
      </p:sp>
      <p:sp>
        <p:nvSpPr>
          <p:cNvPr id="3" name="Espaço Reservado para Conteúdo 2">
            <a:extLst>
              <a:ext uri="{FF2B5EF4-FFF2-40B4-BE49-F238E27FC236}">
                <a16:creationId xmlns:a16="http://schemas.microsoft.com/office/drawing/2014/main" id="{298DCC3B-ED7F-4C6E-BD56-F547A1D0AEBE}"/>
              </a:ext>
            </a:extLst>
          </p:cNvPr>
          <p:cNvSpPr>
            <a:spLocks noGrp="1"/>
          </p:cNvSpPr>
          <p:nvPr>
            <p:ph idx="1"/>
          </p:nvPr>
        </p:nvSpPr>
        <p:spPr/>
        <p:txBody>
          <a:bodyPr/>
          <a:lstStyle/>
          <a:p>
            <a:r>
              <a:rPr lang="pt-BR" u="none" dirty="0"/>
              <a:t>Caso das borboletas de Manchester</a:t>
            </a:r>
          </a:p>
          <a:p>
            <a:endParaRPr lang="pt-BR" dirty="0"/>
          </a:p>
        </p:txBody>
      </p:sp>
      <p:pic>
        <p:nvPicPr>
          <p:cNvPr id="5" name="Imagem 4" descr="Uma imagem contendo ao ar livre, velho, pedra, em pé&#10;&#10;Descrição gerada automaticamente">
            <a:extLst>
              <a:ext uri="{FF2B5EF4-FFF2-40B4-BE49-F238E27FC236}">
                <a16:creationId xmlns:a16="http://schemas.microsoft.com/office/drawing/2014/main" id="{6A9B37E4-D21F-12EF-D120-53ACB297FA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6237" y="2392540"/>
            <a:ext cx="4925112" cy="2724530"/>
          </a:xfrm>
          <a:prstGeom prst="rect">
            <a:avLst/>
          </a:prstGeom>
        </p:spPr>
      </p:pic>
      <p:pic>
        <p:nvPicPr>
          <p:cNvPr id="8" name="Imagem 7" descr="Urso na floresta&#10;&#10;Descrição gerada automaticamente">
            <a:extLst>
              <a:ext uri="{FF2B5EF4-FFF2-40B4-BE49-F238E27FC236}">
                <a16:creationId xmlns:a16="http://schemas.microsoft.com/office/drawing/2014/main" id="{5F8B9C03-9433-0A8E-7BEF-B3FEDBDF29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360" y="2392540"/>
            <a:ext cx="2451880" cy="3784423"/>
          </a:xfrm>
          <a:prstGeom prst="rect">
            <a:avLst/>
          </a:prstGeom>
        </p:spPr>
      </p:pic>
      <p:sp>
        <p:nvSpPr>
          <p:cNvPr id="10" name="CaixaDeTexto 9">
            <a:extLst>
              <a:ext uri="{FF2B5EF4-FFF2-40B4-BE49-F238E27FC236}">
                <a16:creationId xmlns:a16="http://schemas.microsoft.com/office/drawing/2014/main" id="{158C226F-882A-2F32-478D-60A79E5678E9}"/>
              </a:ext>
            </a:extLst>
          </p:cNvPr>
          <p:cNvSpPr txBox="1"/>
          <p:nvPr/>
        </p:nvSpPr>
        <p:spPr>
          <a:xfrm>
            <a:off x="6438041" y="5683985"/>
            <a:ext cx="2431307" cy="523220"/>
          </a:xfrm>
          <a:prstGeom prst="rect">
            <a:avLst/>
          </a:prstGeom>
          <a:noFill/>
        </p:spPr>
        <p:txBody>
          <a:bodyPr wrap="none" rtlCol="0">
            <a:spAutoFit/>
          </a:bodyPr>
          <a:lstStyle/>
          <a:p>
            <a:r>
              <a:rPr lang="pt-BR" sz="1400" dirty="0"/>
              <a:t>Fonte: </a:t>
            </a:r>
            <a:r>
              <a:rPr lang="pt-BR" sz="1400" dirty="0" err="1"/>
              <a:t>Hensley</a:t>
            </a:r>
            <a:r>
              <a:rPr lang="pt-BR" sz="1400" dirty="0"/>
              <a:t> &amp; James (2022)</a:t>
            </a:r>
          </a:p>
          <a:p>
            <a:r>
              <a:rPr lang="pt-BR" sz="1400" dirty="0">
                <a:hlinkClick r:id="rId5"/>
              </a:rPr>
              <a:t>https://tinyurl.com/4jf7xnj4</a:t>
            </a:r>
            <a:r>
              <a:rPr lang="pt-BR" sz="1400" dirty="0"/>
              <a:t> </a:t>
            </a:r>
          </a:p>
        </p:txBody>
      </p:sp>
    </p:spTree>
    <p:extLst>
      <p:ext uri="{BB962C8B-B14F-4D97-AF65-F5344CB8AC3E}">
        <p14:creationId xmlns:p14="http://schemas.microsoft.com/office/powerpoint/2010/main" val="2056813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DB4C85-2609-4A2B-A9AA-1C2E9EAC4FD3}"/>
              </a:ext>
            </a:extLst>
          </p:cNvPr>
          <p:cNvSpPr>
            <a:spLocks noGrp="1"/>
          </p:cNvSpPr>
          <p:nvPr>
            <p:ph type="title"/>
          </p:nvPr>
        </p:nvSpPr>
        <p:spPr/>
        <p:txBody>
          <a:bodyPr>
            <a:normAutofit/>
          </a:bodyPr>
          <a:lstStyle/>
          <a:p>
            <a:r>
              <a:rPr lang="pt-BR" dirty="0"/>
              <a:t>Introdução</a:t>
            </a:r>
          </a:p>
        </p:txBody>
      </p:sp>
      <p:sp>
        <p:nvSpPr>
          <p:cNvPr id="3" name="Espaço Reservado para Conteúdo 2">
            <a:extLst>
              <a:ext uri="{FF2B5EF4-FFF2-40B4-BE49-F238E27FC236}">
                <a16:creationId xmlns:a16="http://schemas.microsoft.com/office/drawing/2014/main" id="{298DCC3B-ED7F-4C6E-BD56-F547A1D0AEBE}"/>
              </a:ext>
            </a:extLst>
          </p:cNvPr>
          <p:cNvSpPr>
            <a:spLocks noGrp="1"/>
          </p:cNvSpPr>
          <p:nvPr>
            <p:ph idx="1"/>
          </p:nvPr>
        </p:nvSpPr>
        <p:spPr/>
        <p:txBody>
          <a:bodyPr>
            <a:normAutofit/>
          </a:bodyPr>
          <a:lstStyle/>
          <a:p>
            <a:pPr algn="just"/>
            <a:r>
              <a:rPr lang="pt-BR" u="none" dirty="0"/>
              <a:t>De maneira rudimentar, os Algoritmos Genéticos (AGs) são técnicas de busca baseadas nas teorias da evolução, nas quais as variáveis são representadas como genes em um cromossomo. Combinam a sobrevivência dos mais aptos com a troca de informação de uma estrutura, com a seleção natural, cruzamento e mutação dos elementos a fim de encontrar os elementos mais aptos a determinada característica do meio. No caso da computação a melhor ou conjunto de melhores soluções para o problema.</a:t>
            </a:r>
          </a:p>
        </p:txBody>
      </p:sp>
    </p:spTree>
    <p:extLst>
      <p:ext uri="{BB962C8B-B14F-4D97-AF65-F5344CB8AC3E}">
        <p14:creationId xmlns:p14="http://schemas.microsoft.com/office/powerpoint/2010/main" val="3932216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DB4C85-2609-4A2B-A9AA-1C2E9EAC4FD3}"/>
              </a:ext>
            </a:extLst>
          </p:cNvPr>
          <p:cNvSpPr>
            <a:spLocks noGrp="1"/>
          </p:cNvSpPr>
          <p:nvPr>
            <p:ph type="title"/>
          </p:nvPr>
        </p:nvSpPr>
        <p:spPr/>
        <p:txBody>
          <a:bodyPr>
            <a:normAutofit/>
          </a:bodyPr>
          <a:lstStyle/>
          <a:p>
            <a:r>
              <a:rPr lang="pt-BR" dirty="0"/>
              <a:t>Introdução</a:t>
            </a:r>
          </a:p>
        </p:txBody>
      </p:sp>
      <p:sp>
        <p:nvSpPr>
          <p:cNvPr id="3" name="Espaço Reservado para Conteúdo 2">
            <a:extLst>
              <a:ext uri="{FF2B5EF4-FFF2-40B4-BE49-F238E27FC236}">
                <a16:creationId xmlns:a16="http://schemas.microsoft.com/office/drawing/2014/main" id="{298DCC3B-ED7F-4C6E-BD56-F547A1D0AEBE}"/>
              </a:ext>
            </a:extLst>
          </p:cNvPr>
          <p:cNvSpPr>
            <a:spLocks noGrp="1"/>
          </p:cNvSpPr>
          <p:nvPr>
            <p:ph idx="1"/>
          </p:nvPr>
        </p:nvSpPr>
        <p:spPr/>
        <p:txBody>
          <a:bodyPr/>
          <a:lstStyle/>
          <a:p>
            <a:pPr algn="just"/>
            <a:r>
              <a:rPr lang="pt-BR" u="none" dirty="0"/>
              <a:t>Inicialmente propostos por John </a:t>
            </a:r>
            <a:r>
              <a:rPr lang="pt-BR" u="none" dirty="0" err="1"/>
              <a:t>Holland</a:t>
            </a:r>
            <a:r>
              <a:rPr lang="pt-BR" u="none" dirty="0"/>
              <a:t> em 1975 através da obra “</a:t>
            </a:r>
            <a:r>
              <a:rPr lang="en-US" u="none" dirty="0"/>
              <a:t>Adaptation in Natural and Artificial Systems</a:t>
            </a:r>
            <a:r>
              <a:rPr lang="pt-BR" u="none" dirty="0"/>
              <a:t>” e posteriormente difundidos por Goldberg em 1989 na obra “</a:t>
            </a:r>
            <a:r>
              <a:rPr lang="en-US" u="none" dirty="0"/>
              <a:t>Genetic Algorithms in Search, Optimization and Machine Learning</a:t>
            </a:r>
            <a:r>
              <a:rPr lang="pt-BR" u="none" dirty="0"/>
              <a:t>”.</a:t>
            </a:r>
          </a:p>
          <a:p>
            <a:endParaRPr lang="pt-BR" dirty="0"/>
          </a:p>
          <a:p>
            <a:endParaRPr lang="pt-BR" dirty="0"/>
          </a:p>
          <a:p>
            <a:endParaRPr lang="pt-BR" dirty="0"/>
          </a:p>
        </p:txBody>
      </p:sp>
    </p:spTree>
    <p:extLst>
      <p:ext uri="{BB962C8B-B14F-4D97-AF65-F5344CB8AC3E}">
        <p14:creationId xmlns:p14="http://schemas.microsoft.com/office/powerpoint/2010/main" val="2209629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C77EFB-1AD4-4C72-AABF-A9CDE38981C2}"/>
              </a:ext>
            </a:extLst>
          </p:cNvPr>
          <p:cNvSpPr>
            <a:spLocks noGrp="1"/>
          </p:cNvSpPr>
          <p:nvPr>
            <p:ph type="title"/>
          </p:nvPr>
        </p:nvSpPr>
        <p:spPr/>
        <p:txBody>
          <a:bodyPr/>
          <a:lstStyle/>
          <a:p>
            <a:r>
              <a:rPr lang="pt-BR" dirty="0"/>
              <a:t>Introdução</a:t>
            </a:r>
          </a:p>
        </p:txBody>
      </p:sp>
      <p:sp>
        <p:nvSpPr>
          <p:cNvPr id="3" name="Espaço Reservado para Conteúdo 2">
            <a:extLst>
              <a:ext uri="{FF2B5EF4-FFF2-40B4-BE49-F238E27FC236}">
                <a16:creationId xmlns:a16="http://schemas.microsoft.com/office/drawing/2014/main" id="{869D4982-3206-4F14-B3AC-89FE3452DE15}"/>
              </a:ext>
            </a:extLst>
          </p:cNvPr>
          <p:cNvSpPr>
            <a:spLocks noGrp="1"/>
          </p:cNvSpPr>
          <p:nvPr>
            <p:ph idx="1"/>
          </p:nvPr>
        </p:nvSpPr>
        <p:spPr/>
        <p:txBody>
          <a:bodyPr>
            <a:normAutofit lnSpcReduction="10000"/>
          </a:bodyPr>
          <a:lstStyle/>
          <a:p>
            <a:pPr marL="0" indent="0" algn="just">
              <a:buNone/>
            </a:pPr>
            <a:r>
              <a:rPr lang="pt-BR" u="none" dirty="0"/>
              <a:t>As tarefas de busca e otimização geralmente são compostas por três elementos básicos: </a:t>
            </a:r>
          </a:p>
          <a:p>
            <a:pPr marL="514350" indent="-514350" algn="just">
              <a:buAutoNum type="alphaLcParenR"/>
            </a:pPr>
            <a:r>
              <a:rPr lang="pt-BR" u="none" dirty="0"/>
              <a:t>a codificação do problema em questão (geralmente um dos passos mais complexos do processo)</a:t>
            </a:r>
          </a:p>
          <a:p>
            <a:pPr marL="514350" indent="-514350" algn="just">
              <a:buAutoNum type="alphaLcParenR"/>
            </a:pPr>
            <a:r>
              <a:rPr lang="pt-BR" u="none" dirty="0"/>
              <a:t>o espaço de busca, onde são consideradas todas as possibilidades de solução de um determinado problema</a:t>
            </a:r>
          </a:p>
          <a:p>
            <a:pPr marL="514350" indent="-514350" algn="just">
              <a:buAutoNum type="alphaLcParenR"/>
            </a:pPr>
            <a:r>
              <a:rPr lang="pt-BR" u="none" dirty="0"/>
              <a:t>função de avaliação (função fitness), que é uma maneira de avaliar os membros do espaço de busca (varia de acordo com o problema). </a:t>
            </a:r>
          </a:p>
        </p:txBody>
      </p:sp>
    </p:spTree>
    <p:extLst>
      <p:ext uri="{BB962C8B-B14F-4D97-AF65-F5344CB8AC3E}">
        <p14:creationId xmlns:p14="http://schemas.microsoft.com/office/powerpoint/2010/main" val="3136216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4D6297-046A-4041-9291-4FB945A13B4B}"/>
              </a:ext>
            </a:extLst>
          </p:cNvPr>
          <p:cNvSpPr>
            <a:spLocks noGrp="1"/>
          </p:cNvSpPr>
          <p:nvPr>
            <p:ph type="title"/>
          </p:nvPr>
        </p:nvSpPr>
        <p:spPr/>
        <p:txBody>
          <a:bodyPr/>
          <a:lstStyle/>
          <a:p>
            <a:r>
              <a:rPr lang="pt-BR" dirty="0"/>
              <a:t>Introdução</a:t>
            </a:r>
          </a:p>
        </p:txBody>
      </p:sp>
      <p:sp>
        <p:nvSpPr>
          <p:cNvPr id="3" name="Espaço Reservado para Conteúdo 2">
            <a:extLst>
              <a:ext uri="{FF2B5EF4-FFF2-40B4-BE49-F238E27FC236}">
                <a16:creationId xmlns:a16="http://schemas.microsoft.com/office/drawing/2014/main" id="{686A5E93-CB1E-41D0-9B71-57DF7B3318C1}"/>
              </a:ext>
            </a:extLst>
          </p:cNvPr>
          <p:cNvSpPr>
            <a:spLocks noGrp="1"/>
          </p:cNvSpPr>
          <p:nvPr>
            <p:ph idx="1"/>
          </p:nvPr>
        </p:nvSpPr>
        <p:spPr/>
        <p:txBody>
          <a:bodyPr>
            <a:normAutofit/>
          </a:bodyPr>
          <a:lstStyle/>
          <a:p>
            <a:pPr marL="0" indent="0" algn="just">
              <a:buNone/>
            </a:pPr>
            <a:r>
              <a:rPr lang="pt-BR" u="none" dirty="0"/>
              <a:t>As técnicas de busca e otimização tradicionais iniciam-se com um único candidato que, iterativamente, é manipulado utilizando algumas heurísticas (estáticas) diretamente associadas ao problema a ser solucionado. Geralmente, estes processos heurísticos não são algorítmicos e sua simulação em computadores pode ser muito complexa. Apesar destes métodos não serem suficientemente robustos, isto não implica que eles sejam inúteis. Na prática, eles são amplamente utilizados, com sucesso, em inúmeras aplicações. </a:t>
            </a:r>
          </a:p>
        </p:txBody>
      </p:sp>
    </p:spTree>
    <p:extLst>
      <p:ext uri="{BB962C8B-B14F-4D97-AF65-F5344CB8AC3E}">
        <p14:creationId xmlns:p14="http://schemas.microsoft.com/office/powerpoint/2010/main" val="1772793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4D6297-046A-4041-9291-4FB945A13B4B}"/>
              </a:ext>
            </a:extLst>
          </p:cNvPr>
          <p:cNvSpPr>
            <a:spLocks noGrp="1"/>
          </p:cNvSpPr>
          <p:nvPr>
            <p:ph type="title"/>
          </p:nvPr>
        </p:nvSpPr>
        <p:spPr/>
        <p:txBody>
          <a:bodyPr/>
          <a:lstStyle/>
          <a:p>
            <a:r>
              <a:rPr lang="pt-BR" dirty="0"/>
              <a:t>Introdução</a:t>
            </a:r>
          </a:p>
        </p:txBody>
      </p:sp>
      <p:sp>
        <p:nvSpPr>
          <p:cNvPr id="3" name="Espaço Reservado para Conteúdo 2">
            <a:extLst>
              <a:ext uri="{FF2B5EF4-FFF2-40B4-BE49-F238E27FC236}">
                <a16:creationId xmlns:a16="http://schemas.microsoft.com/office/drawing/2014/main" id="{686A5E93-CB1E-41D0-9B71-57DF7B3318C1}"/>
              </a:ext>
            </a:extLst>
          </p:cNvPr>
          <p:cNvSpPr>
            <a:spLocks noGrp="1"/>
          </p:cNvSpPr>
          <p:nvPr>
            <p:ph idx="1"/>
          </p:nvPr>
        </p:nvSpPr>
        <p:spPr/>
        <p:txBody>
          <a:bodyPr>
            <a:normAutofit fontScale="92500" lnSpcReduction="10000"/>
          </a:bodyPr>
          <a:lstStyle/>
          <a:p>
            <a:pPr marL="0" indent="0" algn="just">
              <a:buNone/>
            </a:pPr>
            <a:r>
              <a:rPr lang="pt-BR" u="none" dirty="0"/>
              <a:t>Por outro lado, as técnicas de computação evolucionária operam sobre uma população de candidatos em paralelo. Assim, elas podem fazer a busca em diferentes áreas do espaço de solução, alocando um número de membros apropriado para a busca em várias regiões.</a:t>
            </a:r>
          </a:p>
          <a:p>
            <a:pPr marL="0" indent="0" algn="just">
              <a:buNone/>
            </a:pPr>
            <a:r>
              <a:rPr lang="pt-BR" u="none" dirty="0"/>
              <a:t>Os AGs diferem dos métodos tradicionais de busca e otimização, principalmente em quatro aspectos:</a:t>
            </a:r>
          </a:p>
          <a:p>
            <a:pPr marL="0" indent="0" algn="just">
              <a:buNone/>
            </a:pPr>
            <a:r>
              <a:rPr lang="pt-BR" u="none" dirty="0"/>
              <a:t>• Trabalham com uma codificação do conjunto de parâmetros e não com os próprios parâmetros;</a:t>
            </a:r>
          </a:p>
          <a:p>
            <a:pPr marL="0" indent="0" algn="just">
              <a:buNone/>
            </a:pPr>
            <a:r>
              <a:rPr lang="pt-BR" u="none" dirty="0"/>
              <a:t>• Trabalham com uma população e não com um único ponto;</a:t>
            </a:r>
          </a:p>
        </p:txBody>
      </p:sp>
    </p:spTree>
    <p:extLst>
      <p:ext uri="{BB962C8B-B14F-4D97-AF65-F5344CB8AC3E}">
        <p14:creationId xmlns:p14="http://schemas.microsoft.com/office/powerpoint/2010/main" val="1634380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4D6297-046A-4041-9291-4FB945A13B4B}"/>
              </a:ext>
            </a:extLst>
          </p:cNvPr>
          <p:cNvSpPr>
            <a:spLocks noGrp="1"/>
          </p:cNvSpPr>
          <p:nvPr>
            <p:ph type="title"/>
          </p:nvPr>
        </p:nvSpPr>
        <p:spPr/>
        <p:txBody>
          <a:bodyPr/>
          <a:lstStyle/>
          <a:p>
            <a:r>
              <a:rPr lang="pt-BR" dirty="0"/>
              <a:t>Introdução</a:t>
            </a:r>
          </a:p>
        </p:txBody>
      </p:sp>
      <p:sp>
        <p:nvSpPr>
          <p:cNvPr id="3" name="Espaço Reservado para Conteúdo 2">
            <a:extLst>
              <a:ext uri="{FF2B5EF4-FFF2-40B4-BE49-F238E27FC236}">
                <a16:creationId xmlns:a16="http://schemas.microsoft.com/office/drawing/2014/main" id="{686A5E93-CB1E-41D0-9B71-57DF7B3318C1}"/>
              </a:ext>
            </a:extLst>
          </p:cNvPr>
          <p:cNvSpPr>
            <a:spLocks noGrp="1"/>
          </p:cNvSpPr>
          <p:nvPr>
            <p:ph idx="1"/>
          </p:nvPr>
        </p:nvSpPr>
        <p:spPr/>
        <p:txBody>
          <a:bodyPr>
            <a:normAutofit fontScale="92500" lnSpcReduction="10000"/>
          </a:bodyPr>
          <a:lstStyle/>
          <a:p>
            <a:pPr marL="0" indent="0" algn="just">
              <a:buNone/>
            </a:pPr>
            <a:r>
              <a:rPr lang="pt-BR" u="none" dirty="0"/>
              <a:t>• Utilizam informações de custo ou recompensa e não derivadas ou outro conhecimento auxiliar;</a:t>
            </a:r>
          </a:p>
          <a:p>
            <a:pPr marL="0" indent="0" algn="just">
              <a:buNone/>
            </a:pPr>
            <a:r>
              <a:rPr lang="pt-BR" u="none" dirty="0"/>
              <a:t>• Utilizam regras de transição probabilísticas e não determinísticas.</a:t>
            </a:r>
          </a:p>
          <a:p>
            <a:pPr marL="0" indent="0" algn="just">
              <a:buNone/>
            </a:pPr>
            <a:endParaRPr lang="pt-BR" u="none" dirty="0"/>
          </a:p>
          <a:p>
            <a:pPr marL="0" indent="0" algn="just">
              <a:buNone/>
            </a:pPr>
            <a:r>
              <a:rPr lang="pt-BR" u="none" dirty="0"/>
              <a:t>Eles empregam uma estratégia de busca paralela (onde cada indivíduo de uma população é uma solução potencial) e estruturada, mas aleatória, que é voltada em direção ao reforço da busca de pontos de "alta aptidão", ou seja, pontos nos quais a função a ser minimizada (ou maximizada) tem valores relativamente baixos (ou altos). </a:t>
            </a:r>
          </a:p>
        </p:txBody>
      </p:sp>
    </p:spTree>
    <p:extLst>
      <p:ext uri="{BB962C8B-B14F-4D97-AF65-F5344CB8AC3E}">
        <p14:creationId xmlns:p14="http://schemas.microsoft.com/office/powerpoint/2010/main" val="1845046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17C643-90E5-4353-A59F-1B2FA4A4B3A3}"/>
              </a:ext>
            </a:extLst>
          </p:cNvPr>
          <p:cNvSpPr>
            <a:spLocks noGrp="1"/>
          </p:cNvSpPr>
          <p:nvPr>
            <p:ph type="title"/>
          </p:nvPr>
        </p:nvSpPr>
        <p:spPr/>
        <p:txBody>
          <a:bodyPr/>
          <a:lstStyle/>
          <a:p>
            <a:r>
              <a:rPr lang="pt-BR" dirty="0"/>
              <a:t>Introdução</a:t>
            </a:r>
          </a:p>
        </p:txBody>
      </p:sp>
      <p:sp>
        <p:nvSpPr>
          <p:cNvPr id="3" name="Espaço Reservado para Conteúdo 2">
            <a:extLst>
              <a:ext uri="{FF2B5EF4-FFF2-40B4-BE49-F238E27FC236}">
                <a16:creationId xmlns:a16="http://schemas.microsoft.com/office/drawing/2014/main" id="{F9127A9F-95D5-45A5-A6DF-B5FF2769854F}"/>
              </a:ext>
            </a:extLst>
          </p:cNvPr>
          <p:cNvSpPr>
            <a:spLocks noGrp="1"/>
          </p:cNvSpPr>
          <p:nvPr>
            <p:ph idx="1"/>
          </p:nvPr>
        </p:nvSpPr>
        <p:spPr/>
        <p:txBody>
          <a:bodyPr>
            <a:normAutofit lnSpcReduction="10000"/>
          </a:bodyPr>
          <a:lstStyle/>
          <a:p>
            <a:pPr marL="0" indent="0" algn="just">
              <a:buNone/>
            </a:pPr>
            <a:r>
              <a:rPr lang="pt-BR" u="none" dirty="0"/>
              <a:t>	A vantagem principal dos AGs ao trabalharem com o conceito de população, ao contrário de muitos outros métodos que trabalham com um só ponto, é que eles encontram segurança na quantidade. Tendo uma população de pontos bem adaptados, a possibilidade de alcançar um falso ótimo torna-se menor.</a:t>
            </a:r>
          </a:p>
          <a:p>
            <a:pPr marL="0" indent="0" algn="just">
              <a:buNone/>
            </a:pPr>
            <a:r>
              <a:rPr lang="pt-BR" u="none" dirty="0"/>
              <a:t>	O conceito de máximo local (ou falso ótimo) acontece quando o algoritmo converge para uma solução local e a explora até que encontre seu melhor valor, ignorando, porém o restante do espaço de busca.</a:t>
            </a:r>
          </a:p>
        </p:txBody>
      </p:sp>
    </p:spTree>
    <p:extLst>
      <p:ext uri="{BB962C8B-B14F-4D97-AF65-F5344CB8AC3E}">
        <p14:creationId xmlns:p14="http://schemas.microsoft.com/office/powerpoint/2010/main" val="2093546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Espaço Reservado para Conteúdo 2">
                <a:extLst>
                  <a:ext uri="{FF2B5EF4-FFF2-40B4-BE49-F238E27FC236}">
                    <a16:creationId xmlns:a16="http://schemas.microsoft.com/office/drawing/2014/main" id="{9DE086EF-41B4-49B9-AF32-BAACB8DC5F46}"/>
                  </a:ext>
                </a:extLst>
              </p:cNvPr>
              <p:cNvSpPr txBox="1">
                <a:spLocks/>
              </p:cNvSpPr>
              <p:nvPr/>
            </p:nvSpPr>
            <p:spPr>
              <a:xfrm>
                <a:off x="628650" y="1825625"/>
                <a:ext cx="7886700" cy="435133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u="sng"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u="none" dirty="0"/>
                  <a:t>Vamos considerar a função </a:t>
                </a:r>
                <a14:m>
                  <m:oMath xmlns:m="http://schemas.openxmlformats.org/officeDocument/2006/math">
                    <m:r>
                      <a:rPr lang="pt-BR" i="1" u="none" dirty="0" smtClean="0">
                        <a:latin typeface="Cambria Math" panose="02040503050406030204" pitchFamily="18" charset="0"/>
                      </a:rPr>
                      <m:t>𝑧</m:t>
                    </m:r>
                  </m:oMath>
                </a14:m>
                <a:r>
                  <a:rPr lang="pt-BR" u="none" dirty="0"/>
                  <a:t> a seguir:</a:t>
                </a:r>
              </a:p>
              <a:p>
                <a:pPr algn="just"/>
                <a:endParaRPr lang="pt-BR" u="none" dirty="0"/>
              </a:p>
              <a:p>
                <a:pPr algn="just"/>
                <a:endParaRPr lang="pt-BR" u="none" dirty="0"/>
              </a:p>
              <a:p>
                <a:pPr algn="just"/>
                <a:endParaRPr lang="pt-BR" u="none" dirty="0"/>
              </a:p>
              <a:p>
                <a:pPr algn="just"/>
                <a:endParaRPr lang="pt-BR" u="none" dirty="0"/>
              </a:p>
              <a:p>
                <a:pPr algn="just"/>
                <a:r>
                  <a:rPr lang="pt-BR" u="none" dirty="0"/>
                  <a:t>Em que </a:t>
                </a:r>
                <a14:m>
                  <m:oMath xmlns:m="http://schemas.openxmlformats.org/officeDocument/2006/math">
                    <m:r>
                      <a:rPr lang="pt-BR" sz="2800" b="0" i="1" u="none" smtClean="0">
                        <a:latin typeface="Cambria Math" panose="02040503050406030204" pitchFamily="18" charset="0"/>
                      </a:rPr>
                      <m:t>𝑥</m:t>
                    </m:r>
                    <m:r>
                      <a:rPr lang="pt-BR" sz="2800" b="0" i="1" u="none" smtClean="0">
                        <a:latin typeface="Cambria Math" panose="02040503050406030204" pitchFamily="18" charset="0"/>
                      </a:rPr>
                      <m:t>, </m:t>
                    </m:r>
                    <m:r>
                      <a:rPr lang="pt-BR" sz="2800" b="0" i="1" u="none" smtClean="0">
                        <a:latin typeface="Cambria Math" panose="02040503050406030204" pitchFamily="18" charset="0"/>
                      </a:rPr>
                      <m:t>𝑦</m:t>
                    </m:r>
                    <m:r>
                      <a:rPr lang="pt-BR" sz="2800" b="0" i="1" u="none" smtClean="0">
                        <a:latin typeface="Cambria Math" panose="02040503050406030204" pitchFamily="18" charset="0"/>
                      </a:rPr>
                      <m:t> ∈[0, 25]</m:t>
                    </m:r>
                  </m:oMath>
                </a14:m>
                <a:endParaRPr lang="pt-BR" sz="2800" u="none" dirty="0"/>
              </a:p>
              <a:p>
                <a:pPr algn="just"/>
                <a:endParaRPr lang="pt-BR" u="none" dirty="0"/>
              </a:p>
              <a:p>
                <a:pPr algn="just"/>
                <a:endParaRPr lang="pt-BR" u="none" dirty="0"/>
              </a:p>
            </p:txBody>
          </p:sp>
        </mc:Choice>
        <mc:Fallback xmlns="">
          <p:sp>
            <p:nvSpPr>
              <p:cNvPr id="11" name="Espaço Reservado para Conteúdo 2">
                <a:extLst>
                  <a:ext uri="{FF2B5EF4-FFF2-40B4-BE49-F238E27FC236}">
                    <a16:creationId xmlns:a16="http://schemas.microsoft.com/office/drawing/2014/main" id="{9DE086EF-41B4-49B9-AF32-BAACB8DC5F46}"/>
                  </a:ext>
                </a:extLst>
              </p:cNvPr>
              <p:cNvSpPr txBox="1">
                <a:spLocks noRot="1" noChangeAspect="1" noMove="1" noResize="1" noEditPoints="1" noAdjustHandles="1" noChangeArrowheads="1" noChangeShapeType="1" noTextEdit="1"/>
              </p:cNvSpPr>
              <p:nvPr/>
            </p:nvSpPr>
            <p:spPr>
              <a:xfrm>
                <a:off x="628650" y="1825625"/>
                <a:ext cx="7886700" cy="4351338"/>
              </a:xfrm>
              <a:prstGeom prst="rect">
                <a:avLst/>
              </a:prstGeom>
              <a:blipFill>
                <a:blip r:embed="rId3"/>
                <a:stretch>
                  <a:fillRect l="-1546" t="-2241"/>
                </a:stretch>
              </a:blipFill>
            </p:spPr>
            <p:txBody>
              <a:bodyPr/>
              <a:lstStyle/>
              <a:p>
                <a:r>
                  <a:rPr lang="pt-BR">
                    <a:noFill/>
                  </a:rPr>
                  <a:t> </a:t>
                </a:r>
              </a:p>
            </p:txBody>
          </p:sp>
        </mc:Fallback>
      </mc:AlternateContent>
      <p:sp>
        <p:nvSpPr>
          <p:cNvPr id="2" name="Título 1">
            <a:extLst>
              <a:ext uri="{FF2B5EF4-FFF2-40B4-BE49-F238E27FC236}">
                <a16:creationId xmlns:a16="http://schemas.microsoft.com/office/drawing/2014/main" id="{F3E925DB-0B1F-45F3-1E14-8084C21A1E61}"/>
              </a:ext>
            </a:extLst>
          </p:cNvPr>
          <p:cNvSpPr>
            <a:spLocks noGrp="1"/>
          </p:cNvSpPr>
          <p:nvPr>
            <p:ph type="title"/>
          </p:nvPr>
        </p:nvSpPr>
        <p:spPr/>
        <p:txBody>
          <a:bodyPr/>
          <a:lstStyle/>
          <a:p>
            <a:r>
              <a:rPr lang="pt-BR" dirty="0"/>
              <a:t>Introdução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F6756A54-51C6-1E9B-52B4-A75DF073776D}"/>
                  </a:ext>
                </a:extLst>
              </p:cNvPr>
              <p:cNvSpPr>
                <a:spLocks noGrp="1"/>
              </p:cNvSpPr>
              <p:nvPr>
                <p:ph idx="1"/>
              </p:nvPr>
            </p:nvSpPr>
            <p:spPr>
              <a:xfrm>
                <a:off x="154379" y="2193759"/>
                <a:ext cx="8906494" cy="1748847"/>
              </a:xfrm>
            </p:spPr>
            <p:txBody>
              <a:bodyPr>
                <a:normAutofit/>
              </a:bodyPr>
              <a:lstStyle/>
              <a:p>
                <a:pPr algn="ctr"/>
                <a:endParaRPr lang="pt-BR" sz="2000" b="0" i="1" u="none" dirty="0">
                  <a:latin typeface="Cambria Math" panose="02040503050406030204" pitchFamily="18" charset="0"/>
                </a:endParaRPr>
              </a:p>
              <a:p>
                <a:pPr algn="ctr"/>
                <a:endParaRPr lang="pt-BR" sz="2000" i="1" u="none" dirty="0">
                  <a:latin typeface="Cambria Math" panose="02040503050406030204" pitchFamily="18" charset="0"/>
                </a:endParaRPr>
              </a:p>
              <a:p>
                <a:pPr algn="ctr"/>
                <a14:m>
                  <m:oMath xmlns:m="http://schemas.openxmlformats.org/officeDocument/2006/math">
                    <m:r>
                      <a:rPr lang="pt-BR" sz="2200" b="0" i="1" u="none" smtClean="0">
                        <a:latin typeface="Cambria Math" panose="02040503050406030204" pitchFamily="18" charset="0"/>
                      </a:rPr>
                      <m:t>𝑧</m:t>
                    </m:r>
                    <m:r>
                      <a:rPr lang="pt-BR" sz="2200" b="0" i="1" u="none" smtClean="0">
                        <a:latin typeface="Cambria Math" panose="02040503050406030204" pitchFamily="18" charset="0"/>
                      </a:rPr>
                      <m:t>=</m:t>
                    </m:r>
                    <m:f>
                      <m:fPr>
                        <m:ctrlPr>
                          <a:rPr lang="pt-BR" sz="2200" b="0" i="1" u="none" smtClean="0">
                            <a:latin typeface="Cambria Math" panose="02040503050406030204" pitchFamily="18" charset="0"/>
                          </a:rPr>
                        </m:ctrlPr>
                      </m:fPr>
                      <m:num>
                        <m:r>
                          <a:rPr lang="pt-BR" sz="2200" b="0" i="1" u="none" smtClean="0">
                            <a:latin typeface="Cambria Math" panose="02040503050406030204" pitchFamily="18" charset="0"/>
                          </a:rPr>
                          <m:t>−1</m:t>
                        </m:r>
                      </m:num>
                      <m:den>
                        <m:r>
                          <a:rPr lang="pt-BR" sz="2200" b="0" i="1" u="none" smtClean="0">
                            <a:latin typeface="Cambria Math" panose="02040503050406030204" pitchFamily="18" charset="0"/>
                          </a:rPr>
                          <m:t>30</m:t>
                        </m:r>
                      </m:den>
                    </m:f>
                    <m:func>
                      <m:funcPr>
                        <m:ctrlPr>
                          <a:rPr lang="pt-BR" sz="2200" b="0" i="0" u="none" smtClean="0">
                            <a:latin typeface="Cambria Math" panose="02040503050406030204" pitchFamily="18" charset="0"/>
                          </a:rPr>
                        </m:ctrlPr>
                      </m:funcPr>
                      <m:fName>
                        <m:r>
                          <m:rPr>
                            <m:sty m:val="p"/>
                          </m:rPr>
                          <a:rPr lang="pt-BR" sz="2200" b="0" i="0" u="none" smtClean="0">
                            <a:latin typeface="Cambria Math" panose="02040503050406030204" pitchFamily="18" charset="0"/>
                          </a:rPr>
                          <m:t>exp</m:t>
                        </m:r>
                      </m:fName>
                      <m:e>
                        <m:d>
                          <m:dPr>
                            <m:ctrlPr>
                              <a:rPr lang="pt-BR" sz="2200" b="0" i="1" u="none" smtClean="0">
                                <a:latin typeface="Cambria Math" panose="02040503050406030204" pitchFamily="18" charset="0"/>
                              </a:rPr>
                            </m:ctrlPr>
                          </m:dPr>
                          <m:e>
                            <m:r>
                              <a:rPr lang="pt-BR" sz="2200" b="0" i="1" u="none" smtClean="0">
                                <a:latin typeface="Cambria Math" panose="02040503050406030204" pitchFamily="18" charset="0"/>
                              </a:rPr>
                              <m:t>−1−6</m:t>
                            </m:r>
                            <m:r>
                              <a:rPr lang="pt-BR" sz="2200" b="0" i="1" u="none" smtClean="0">
                                <a:latin typeface="Cambria Math" panose="02040503050406030204" pitchFamily="18" charset="0"/>
                              </a:rPr>
                              <m:t>𝑥</m:t>
                            </m:r>
                            <m:r>
                              <a:rPr lang="pt-BR" sz="2200" b="0" i="1" u="none" smtClean="0">
                                <a:latin typeface="Cambria Math" panose="02040503050406030204" pitchFamily="18" charset="0"/>
                              </a:rPr>
                              <m:t>−9</m:t>
                            </m:r>
                            <m:sSup>
                              <m:sSupPr>
                                <m:ctrlPr>
                                  <a:rPr lang="pt-BR" sz="2200" b="0" i="1" u="none" smtClean="0">
                                    <a:latin typeface="Cambria Math" panose="02040503050406030204" pitchFamily="18" charset="0"/>
                                  </a:rPr>
                                </m:ctrlPr>
                              </m:sSupPr>
                              <m:e>
                                <m:r>
                                  <a:rPr lang="pt-BR" sz="2200" b="0" i="1" u="none" smtClean="0">
                                    <a:latin typeface="Cambria Math" panose="02040503050406030204" pitchFamily="18" charset="0"/>
                                  </a:rPr>
                                  <m:t>𝑥</m:t>
                                </m:r>
                              </m:e>
                              <m:sup>
                                <m:r>
                                  <a:rPr lang="pt-BR" sz="2200" b="0" i="1" u="none" smtClean="0">
                                    <a:latin typeface="Cambria Math" panose="02040503050406030204" pitchFamily="18" charset="0"/>
                                  </a:rPr>
                                  <m:t>2</m:t>
                                </m:r>
                              </m:sup>
                            </m:sSup>
                            <m:r>
                              <a:rPr lang="pt-BR" sz="2000" i="1" u="none">
                                <a:latin typeface="Cambria Math" panose="02040503050406030204" pitchFamily="18" charset="0"/>
                              </a:rPr>
                              <m:t>−9</m:t>
                            </m:r>
                            <m:sSup>
                              <m:sSupPr>
                                <m:ctrlPr>
                                  <a:rPr lang="pt-BR" sz="2000" b="0" i="1" u="none" smtClean="0">
                                    <a:latin typeface="Cambria Math" panose="02040503050406030204" pitchFamily="18" charset="0"/>
                                  </a:rPr>
                                </m:ctrlPr>
                              </m:sSupPr>
                              <m:e>
                                <m:r>
                                  <a:rPr lang="pt-BR" sz="2000" b="0" i="1" u="none" smtClean="0">
                                    <a:latin typeface="Cambria Math" panose="02040503050406030204" pitchFamily="18" charset="0"/>
                                  </a:rPr>
                                  <m:t>𝑦</m:t>
                                </m:r>
                              </m:e>
                              <m:sup>
                                <m:r>
                                  <a:rPr lang="pt-BR" sz="2000" i="1" u="none">
                                    <a:latin typeface="Cambria Math" panose="02040503050406030204" pitchFamily="18" charset="0"/>
                                  </a:rPr>
                                  <m:t>2</m:t>
                                </m:r>
                              </m:sup>
                            </m:sSup>
                          </m:e>
                        </m:d>
                      </m:e>
                    </m:func>
                    <m:r>
                      <a:rPr lang="pt-BR" sz="2000" b="0" i="1" u="none" smtClean="0">
                        <a:latin typeface="Cambria Math" panose="02040503050406030204" pitchFamily="18" charset="0"/>
                      </a:rPr>
                      <m:t>−</m:t>
                    </m:r>
                    <m:d>
                      <m:dPr>
                        <m:ctrlPr>
                          <a:rPr lang="pt-BR" sz="2000" b="0" i="1" u="none" smtClean="0">
                            <a:latin typeface="Cambria Math" panose="02040503050406030204" pitchFamily="18" charset="0"/>
                          </a:rPr>
                        </m:ctrlPr>
                      </m:dPr>
                      <m:e>
                        <m:r>
                          <a:rPr lang="pt-BR" sz="2000" b="0" i="1" u="none" smtClean="0">
                            <a:latin typeface="Cambria Math" panose="02040503050406030204" pitchFamily="18" charset="0"/>
                          </a:rPr>
                          <m:t>0,6</m:t>
                        </m:r>
                        <m:r>
                          <a:rPr lang="pt-BR" sz="2000" b="0" i="1" u="none" smtClean="0">
                            <a:latin typeface="Cambria Math" panose="02040503050406030204" pitchFamily="18" charset="0"/>
                          </a:rPr>
                          <m:t>𝑥</m:t>
                        </m:r>
                        <m:r>
                          <a:rPr lang="pt-BR" sz="2000" b="0" i="1" u="none" smtClean="0">
                            <a:latin typeface="Cambria Math" panose="02040503050406030204" pitchFamily="18" charset="0"/>
                          </a:rPr>
                          <m:t>−27</m:t>
                        </m:r>
                        <m:sSup>
                          <m:sSupPr>
                            <m:ctrlPr>
                              <a:rPr lang="pt-BR" sz="2000" b="0" i="1" u="none" smtClean="0">
                                <a:latin typeface="Cambria Math" panose="02040503050406030204" pitchFamily="18" charset="0"/>
                              </a:rPr>
                            </m:ctrlPr>
                          </m:sSupPr>
                          <m:e>
                            <m:r>
                              <a:rPr lang="pt-BR" sz="2000" b="0" i="1" u="none" smtClean="0">
                                <a:latin typeface="Cambria Math" panose="02040503050406030204" pitchFamily="18" charset="0"/>
                              </a:rPr>
                              <m:t>𝑥</m:t>
                            </m:r>
                          </m:e>
                          <m:sup>
                            <m:r>
                              <a:rPr lang="pt-BR" sz="2000" b="0" i="1" u="none" smtClean="0">
                                <a:latin typeface="Cambria Math" panose="02040503050406030204" pitchFamily="18" charset="0"/>
                              </a:rPr>
                              <m:t>3</m:t>
                            </m:r>
                          </m:sup>
                        </m:sSup>
                        <m:r>
                          <a:rPr lang="pt-BR" sz="2000" b="0" i="1" u="none" smtClean="0">
                            <a:latin typeface="Cambria Math" panose="02040503050406030204" pitchFamily="18" charset="0"/>
                          </a:rPr>
                          <m:t>−243</m:t>
                        </m:r>
                        <m:sSup>
                          <m:sSupPr>
                            <m:ctrlPr>
                              <a:rPr lang="pt-BR" sz="2000" b="0" i="1" u="none" smtClean="0">
                                <a:latin typeface="Cambria Math" panose="02040503050406030204" pitchFamily="18" charset="0"/>
                              </a:rPr>
                            </m:ctrlPr>
                          </m:sSupPr>
                          <m:e>
                            <m:r>
                              <a:rPr lang="pt-BR" sz="2000" b="0" i="1" u="none" smtClean="0">
                                <a:latin typeface="Cambria Math" panose="02040503050406030204" pitchFamily="18" charset="0"/>
                              </a:rPr>
                              <m:t>𝑦</m:t>
                            </m:r>
                          </m:e>
                          <m:sup>
                            <m:r>
                              <a:rPr lang="pt-BR" sz="2000" b="0" i="1" u="none" smtClean="0">
                                <a:latin typeface="Cambria Math" panose="02040503050406030204" pitchFamily="18" charset="0"/>
                              </a:rPr>
                              <m:t>5</m:t>
                            </m:r>
                          </m:sup>
                        </m:sSup>
                      </m:e>
                    </m:d>
                    <m:func>
                      <m:funcPr>
                        <m:ctrlPr>
                          <a:rPr lang="pt-BR" sz="2000" b="0" i="0" u="none" smtClean="0">
                            <a:latin typeface="Cambria Math" panose="02040503050406030204" pitchFamily="18" charset="0"/>
                          </a:rPr>
                        </m:ctrlPr>
                      </m:funcPr>
                      <m:fName>
                        <m:r>
                          <m:rPr>
                            <m:sty m:val="p"/>
                          </m:rPr>
                          <a:rPr lang="pt-BR" sz="2000" b="0" i="0" u="none" smtClean="0">
                            <a:latin typeface="Cambria Math" panose="02040503050406030204" pitchFamily="18" charset="0"/>
                          </a:rPr>
                          <m:t>exp</m:t>
                        </m:r>
                      </m:fName>
                      <m:e>
                        <m:d>
                          <m:dPr>
                            <m:ctrlPr>
                              <a:rPr lang="pt-BR" sz="2000" i="1" u="none">
                                <a:latin typeface="Cambria Math" panose="02040503050406030204" pitchFamily="18" charset="0"/>
                              </a:rPr>
                            </m:ctrlPr>
                          </m:dPr>
                          <m:e>
                            <m:r>
                              <a:rPr lang="pt-BR" sz="2000" i="1" u="none">
                                <a:latin typeface="Cambria Math" panose="02040503050406030204" pitchFamily="18" charset="0"/>
                              </a:rPr>
                              <m:t>−9</m:t>
                            </m:r>
                            <m:sSup>
                              <m:sSupPr>
                                <m:ctrlPr>
                                  <a:rPr lang="pt-BR" sz="2000" i="1" u="none">
                                    <a:latin typeface="Cambria Math" panose="02040503050406030204" pitchFamily="18" charset="0"/>
                                  </a:rPr>
                                </m:ctrlPr>
                              </m:sSupPr>
                              <m:e>
                                <m:r>
                                  <a:rPr lang="pt-BR" sz="2000" i="1" u="none">
                                    <a:latin typeface="Cambria Math" panose="02040503050406030204" pitchFamily="18" charset="0"/>
                                  </a:rPr>
                                  <m:t>𝑥</m:t>
                                </m:r>
                              </m:e>
                              <m:sup>
                                <m:r>
                                  <a:rPr lang="pt-BR" sz="2000" i="1" u="none">
                                    <a:latin typeface="Cambria Math" panose="02040503050406030204" pitchFamily="18" charset="0"/>
                                  </a:rPr>
                                  <m:t>2</m:t>
                                </m:r>
                              </m:sup>
                            </m:sSup>
                            <m:r>
                              <a:rPr lang="pt-BR" sz="1800" i="1" u="none">
                                <a:latin typeface="Cambria Math" panose="02040503050406030204" pitchFamily="18" charset="0"/>
                              </a:rPr>
                              <m:t>−9</m:t>
                            </m:r>
                            <m:sSup>
                              <m:sSupPr>
                                <m:ctrlPr>
                                  <a:rPr lang="pt-BR" sz="1800" i="1" u="none">
                                    <a:latin typeface="Cambria Math" panose="02040503050406030204" pitchFamily="18" charset="0"/>
                                  </a:rPr>
                                </m:ctrlPr>
                              </m:sSupPr>
                              <m:e>
                                <m:r>
                                  <a:rPr lang="pt-BR" sz="1800" i="1" u="none">
                                    <a:latin typeface="Cambria Math" panose="02040503050406030204" pitchFamily="18" charset="0"/>
                                  </a:rPr>
                                  <m:t>𝑦</m:t>
                                </m:r>
                              </m:e>
                              <m:sup>
                                <m:r>
                                  <a:rPr lang="pt-BR" sz="1800" i="1" u="none">
                                    <a:latin typeface="Cambria Math" panose="02040503050406030204" pitchFamily="18" charset="0"/>
                                  </a:rPr>
                                  <m:t>2</m:t>
                                </m:r>
                              </m:sup>
                            </m:sSup>
                          </m:e>
                        </m:d>
                      </m:e>
                    </m:func>
                    <m:r>
                      <a:rPr lang="pt-BR" sz="1800" b="0" i="1" u="none" smtClean="0">
                        <a:latin typeface="Cambria Math" panose="02040503050406030204" pitchFamily="18" charset="0"/>
                      </a:rPr>
                      <m:t>+</m:t>
                    </m:r>
                    <m:d>
                      <m:dPr>
                        <m:ctrlPr>
                          <a:rPr lang="pt-BR" sz="1800" b="0" i="1" u="none" smtClean="0">
                            <a:latin typeface="Cambria Math" panose="02040503050406030204" pitchFamily="18" charset="0"/>
                          </a:rPr>
                        </m:ctrlPr>
                      </m:dPr>
                      <m:e>
                        <m:r>
                          <a:rPr lang="pt-BR" sz="1800" b="0" i="1" u="none" smtClean="0">
                            <a:latin typeface="Cambria Math" panose="02040503050406030204" pitchFamily="18" charset="0"/>
                          </a:rPr>
                          <m:t>0,3−1,8</m:t>
                        </m:r>
                        <m:r>
                          <a:rPr lang="pt-BR" sz="1800" b="0" i="1" u="none" smtClean="0">
                            <a:latin typeface="Cambria Math" panose="02040503050406030204" pitchFamily="18" charset="0"/>
                          </a:rPr>
                          <m:t>𝑥</m:t>
                        </m:r>
                        <m:r>
                          <a:rPr lang="pt-BR" sz="1800" b="0" i="1" u="none" smtClean="0">
                            <a:latin typeface="Cambria Math" panose="02040503050406030204" pitchFamily="18" charset="0"/>
                          </a:rPr>
                          <m:t>+2,7</m:t>
                        </m:r>
                        <m:sSup>
                          <m:sSupPr>
                            <m:ctrlPr>
                              <a:rPr lang="pt-BR" sz="1800" b="0" i="1" u="none" smtClean="0">
                                <a:latin typeface="Cambria Math" panose="02040503050406030204" pitchFamily="18" charset="0"/>
                              </a:rPr>
                            </m:ctrlPr>
                          </m:sSupPr>
                          <m:e>
                            <m:r>
                              <a:rPr lang="pt-BR" sz="1800" b="0" i="1" u="none" smtClean="0">
                                <a:latin typeface="Cambria Math" panose="02040503050406030204" pitchFamily="18" charset="0"/>
                              </a:rPr>
                              <m:t>𝑥</m:t>
                            </m:r>
                          </m:e>
                          <m:sup>
                            <m:r>
                              <a:rPr lang="pt-BR" sz="1800" b="0" i="1" u="none" smtClean="0">
                                <a:latin typeface="Cambria Math" panose="02040503050406030204" pitchFamily="18" charset="0"/>
                              </a:rPr>
                              <m:t>2</m:t>
                            </m:r>
                          </m:sup>
                        </m:sSup>
                      </m:e>
                    </m:d>
                    <m:r>
                      <m:rPr>
                        <m:sty m:val="p"/>
                      </m:rPr>
                      <a:rPr lang="pt-BR" sz="1800" b="0" i="0" u="none" smtClean="0">
                        <a:latin typeface="Cambria Math" panose="02040503050406030204" pitchFamily="18" charset="0"/>
                      </a:rPr>
                      <m:t>exp</m:t>
                    </m:r>
                    <m:r>
                      <a:rPr lang="pt-BR" sz="1800" b="0" i="1" u="none" smtClean="0">
                        <a:latin typeface="Cambria Math" panose="02040503050406030204" pitchFamily="18" charset="0"/>
                      </a:rPr>
                      <m:t>⁡(−1−6</m:t>
                    </m:r>
                    <m:r>
                      <a:rPr lang="pt-BR" sz="1800" b="0" i="1" u="none" smtClean="0">
                        <a:latin typeface="Cambria Math" panose="02040503050406030204" pitchFamily="18" charset="0"/>
                      </a:rPr>
                      <m:t>𝑦</m:t>
                    </m:r>
                    <m:r>
                      <a:rPr lang="pt-BR" sz="2000" i="1" u="none">
                        <a:latin typeface="Cambria Math" panose="02040503050406030204" pitchFamily="18" charset="0"/>
                      </a:rPr>
                      <m:t>−9</m:t>
                    </m:r>
                    <m:sSup>
                      <m:sSupPr>
                        <m:ctrlPr>
                          <a:rPr lang="pt-BR" sz="2000" i="1" u="none">
                            <a:latin typeface="Cambria Math" panose="02040503050406030204" pitchFamily="18" charset="0"/>
                          </a:rPr>
                        </m:ctrlPr>
                      </m:sSupPr>
                      <m:e>
                        <m:r>
                          <a:rPr lang="pt-BR" sz="2000" i="1" u="none">
                            <a:latin typeface="Cambria Math" panose="02040503050406030204" pitchFamily="18" charset="0"/>
                          </a:rPr>
                          <m:t>𝑥</m:t>
                        </m:r>
                      </m:e>
                      <m:sup>
                        <m:r>
                          <a:rPr lang="pt-BR" sz="2000" i="1" u="none">
                            <a:latin typeface="Cambria Math" panose="02040503050406030204" pitchFamily="18" charset="0"/>
                          </a:rPr>
                          <m:t>2</m:t>
                        </m:r>
                      </m:sup>
                    </m:sSup>
                    <m:r>
                      <a:rPr lang="pt-BR" sz="1800" i="1" u="none">
                        <a:latin typeface="Cambria Math" panose="02040503050406030204" pitchFamily="18" charset="0"/>
                      </a:rPr>
                      <m:t>−9</m:t>
                    </m:r>
                    <m:sSup>
                      <m:sSupPr>
                        <m:ctrlPr>
                          <a:rPr lang="pt-BR" sz="1800" i="1" u="none">
                            <a:latin typeface="Cambria Math" panose="02040503050406030204" pitchFamily="18" charset="0"/>
                          </a:rPr>
                        </m:ctrlPr>
                      </m:sSupPr>
                      <m:e>
                        <m:r>
                          <a:rPr lang="pt-BR" sz="1800" i="1" u="none">
                            <a:latin typeface="Cambria Math" panose="02040503050406030204" pitchFamily="18" charset="0"/>
                          </a:rPr>
                          <m:t>𝑦</m:t>
                        </m:r>
                      </m:e>
                      <m:sup>
                        <m:r>
                          <a:rPr lang="pt-BR" sz="1800" i="1" u="none">
                            <a:latin typeface="Cambria Math" panose="02040503050406030204" pitchFamily="18" charset="0"/>
                          </a:rPr>
                          <m:t>2</m:t>
                        </m:r>
                      </m:sup>
                    </m:sSup>
                  </m:oMath>
                </a14:m>
                <a:r>
                  <a:rPr lang="pt-BR" sz="2000" u="none" dirty="0"/>
                  <a:t>)</a:t>
                </a:r>
              </a:p>
              <a:p>
                <a:endParaRPr lang="pt-BR" sz="2000" u="none" dirty="0"/>
              </a:p>
            </p:txBody>
          </p:sp>
        </mc:Choice>
        <mc:Fallback xmlns="">
          <p:sp>
            <p:nvSpPr>
              <p:cNvPr id="3" name="Espaço Reservado para Conteúdo 2">
                <a:extLst>
                  <a:ext uri="{FF2B5EF4-FFF2-40B4-BE49-F238E27FC236}">
                    <a16:creationId xmlns:a16="http://schemas.microsoft.com/office/drawing/2014/main" id="{F6756A54-51C6-1E9B-52B4-A75DF073776D}"/>
                  </a:ext>
                </a:extLst>
              </p:cNvPr>
              <p:cNvSpPr>
                <a:spLocks noGrp="1" noRot="1" noChangeAspect="1" noMove="1" noResize="1" noEditPoints="1" noAdjustHandles="1" noChangeArrowheads="1" noChangeShapeType="1" noTextEdit="1"/>
              </p:cNvSpPr>
              <p:nvPr>
                <p:ph idx="1"/>
              </p:nvPr>
            </p:nvSpPr>
            <p:spPr>
              <a:xfrm>
                <a:off x="154379" y="2193759"/>
                <a:ext cx="8906494" cy="1748847"/>
              </a:xfrm>
              <a:blipFill>
                <a:blip r:embed="rId4"/>
                <a:stretch>
                  <a:fillRect b="-35889"/>
                </a:stretch>
              </a:blipFill>
            </p:spPr>
            <p:txBody>
              <a:bodyPr/>
              <a:lstStyle/>
              <a:p>
                <a:r>
                  <a:rPr lang="pt-BR">
                    <a:noFill/>
                  </a:rPr>
                  <a:t> </a:t>
                </a:r>
              </a:p>
            </p:txBody>
          </p:sp>
        </mc:Fallback>
      </mc:AlternateContent>
      <p:sp>
        <p:nvSpPr>
          <p:cNvPr id="5" name="CaixaDeTexto 4">
            <a:extLst>
              <a:ext uri="{FF2B5EF4-FFF2-40B4-BE49-F238E27FC236}">
                <a16:creationId xmlns:a16="http://schemas.microsoft.com/office/drawing/2014/main" id="{2EB62E84-8404-A4E5-2046-2AC2219C1B4E}"/>
              </a:ext>
            </a:extLst>
          </p:cNvPr>
          <p:cNvSpPr txBox="1"/>
          <p:nvPr/>
        </p:nvSpPr>
        <p:spPr>
          <a:xfrm>
            <a:off x="4810328" y="4001294"/>
            <a:ext cx="3977783" cy="2031325"/>
          </a:xfrm>
          <a:prstGeom prst="rect">
            <a:avLst/>
          </a:prstGeom>
          <a:noFill/>
        </p:spPr>
        <p:txBody>
          <a:bodyPr wrap="square" rtlCol="0">
            <a:spAutoFit/>
          </a:bodyPr>
          <a:lstStyle/>
          <a:p>
            <a:r>
              <a:rPr lang="pt-BR" dirty="0"/>
              <a:t>-O resultado é z, que depende de duas variáveis: x e y.</a:t>
            </a:r>
          </a:p>
          <a:p>
            <a:r>
              <a:rPr lang="pt-BR" dirty="0"/>
              <a:t>-A função mistura termos polinomiais (como x</a:t>
            </a:r>
            <a:r>
              <a:rPr lang="pt-BR" baseline="30000" dirty="0"/>
              <a:t>3</a:t>
            </a:r>
            <a:r>
              <a:rPr lang="pt-BR" dirty="0"/>
              <a:t>, y</a:t>
            </a:r>
            <a:r>
              <a:rPr lang="pt-BR" baseline="30000" dirty="0"/>
              <a:t>5</a:t>
            </a:r>
            <a:r>
              <a:rPr lang="pt-BR" dirty="0"/>
              <a:t>) e exponenciais (funções do tipo e</a:t>
            </a:r>
            <a:r>
              <a:rPr lang="pt-BR" baseline="30000" dirty="0"/>
              <a:t>...</a:t>
            </a:r>
            <a:r>
              <a:rPr lang="pt-BR" dirty="0"/>
              <a:t>), o que a torna não linear e complexa.</a:t>
            </a:r>
          </a:p>
          <a:p>
            <a:r>
              <a:rPr lang="pt-BR" dirty="0"/>
              <a:t>-O domínio definido é:</a:t>
            </a:r>
          </a:p>
        </p:txBody>
      </p:sp>
      <p:sp>
        <p:nvSpPr>
          <p:cNvPr id="7" name="CaixaDeTexto 6">
            <a:extLst>
              <a:ext uri="{FF2B5EF4-FFF2-40B4-BE49-F238E27FC236}">
                <a16:creationId xmlns:a16="http://schemas.microsoft.com/office/drawing/2014/main" id="{27AFA2B9-E246-2E72-4DF9-2B25939A648F}"/>
              </a:ext>
            </a:extLst>
          </p:cNvPr>
          <p:cNvSpPr txBox="1"/>
          <p:nvPr/>
        </p:nvSpPr>
        <p:spPr>
          <a:xfrm>
            <a:off x="428263" y="5440101"/>
            <a:ext cx="4016415" cy="646331"/>
          </a:xfrm>
          <a:prstGeom prst="rect">
            <a:avLst/>
          </a:prstGeom>
          <a:noFill/>
        </p:spPr>
        <p:txBody>
          <a:bodyPr wrap="square" rtlCol="0">
            <a:spAutoFit/>
          </a:bodyPr>
          <a:lstStyle/>
          <a:p>
            <a:r>
              <a:rPr lang="pt-BR" dirty="0"/>
              <a:t>ou seja, tanto x quanto y só podem assumir valores dentro desse intervalo.</a:t>
            </a:r>
          </a:p>
        </p:txBody>
      </p:sp>
    </p:spTree>
    <p:extLst>
      <p:ext uri="{BB962C8B-B14F-4D97-AF65-F5344CB8AC3E}">
        <p14:creationId xmlns:p14="http://schemas.microsoft.com/office/powerpoint/2010/main" val="2507691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45CC92-05D2-4A7D-A3E1-69C4FF3CFE36}"/>
              </a:ext>
            </a:extLst>
          </p:cNvPr>
          <p:cNvSpPr>
            <a:spLocks noGrp="1"/>
          </p:cNvSpPr>
          <p:nvPr>
            <p:ph type="title"/>
          </p:nvPr>
        </p:nvSpPr>
        <p:spPr/>
        <p:txBody>
          <a:bodyPr/>
          <a:lstStyle/>
          <a:p>
            <a:r>
              <a:rPr lang="pt-BR" dirty="0"/>
              <a:t>Introdução</a:t>
            </a:r>
          </a:p>
        </p:txBody>
      </p:sp>
      <p:pic>
        <p:nvPicPr>
          <p:cNvPr id="4" name="Imagem 3" descr="Gráfico, Gráfico de superfície&#10;&#10;Descrição gerada automaticamente">
            <a:extLst>
              <a:ext uri="{FF2B5EF4-FFF2-40B4-BE49-F238E27FC236}">
                <a16:creationId xmlns:a16="http://schemas.microsoft.com/office/drawing/2014/main" id="{9970EC18-CCD9-A0FD-234E-5C857CBF06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4856" y="1387202"/>
            <a:ext cx="5819144" cy="4364358"/>
          </a:xfrm>
          <a:prstGeom prst="rect">
            <a:avLst/>
          </a:prstGeom>
        </p:spPr>
      </p:pic>
      <p:sp>
        <p:nvSpPr>
          <p:cNvPr id="3" name="CaixaDeTexto 2">
            <a:extLst>
              <a:ext uri="{FF2B5EF4-FFF2-40B4-BE49-F238E27FC236}">
                <a16:creationId xmlns:a16="http://schemas.microsoft.com/office/drawing/2014/main" id="{6ED75F41-CFCD-4610-69F9-1DC062675908}"/>
              </a:ext>
            </a:extLst>
          </p:cNvPr>
          <p:cNvSpPr txBox="1"/>
          <p:nvPr/>
        </p:nvSpPr>
        <p:spPr>
          <a:xfrm>
            <a:off x="347241" y="1703932"/>
            <a:ext cx="1524456" cy="369332"/>
          </a:xfrm>
          <a:prstGeom prst="rect">
            <a:avLst/>
          </a:prstGeom>
          <a:noFill/>
        </p:spPr>
        <p:txBody>
          <a:bodyPr wrap="none" rtlCol="0">
            <a:spAutoFit/>
          </a:bodyPr>
          <a:lstStyle/>
          <a:p>
            <a:r>
              <a:rPr lang="pt-BR" dirty="0"/>
              <a:t>Função z(</a:t>
            </a:r>
            <a:r>
              <a:rPr lang="pt-BR" dirty="0" err="1"/>
              <a:t>x,y</a:t>
            </a:r>
            <a:r>
              <a:rPr lang="pt-BR" dirty="0"/>
              <a:t>): </a:t>
            </a:r>
          </a:p>
        </p:txBody>
      </p:sp>
      <p:sp>
        <p:nvSpPr>
          <p:cNvPr id="5" name="CaixaDeTexto 4">
            <a:extLst>
              <a:ext uri="{FF2B5EF4-FFF2-40B4-BE49-F238E27FC236}">
                <a16:creationId xmlns:a16="http://schemas.microsoft.com/office/drawing/2014/main" id="{107B477A-CEDF-A5AE-5869-292667487D6D}"/>
              </a:ext>
            </a:extLst>
          </p:cNvPr>
          <p:cNvSpPr txBox="1"/>
          <p:nvPr/>
        </p:nvSpPr>
        <p:spPr>
          <a:xfrm>
            <a:off x="81023" y="2487499"/>
            <a:ext cx="3530278" cy="1754326"/>
          </a:xfrm>
          <a:prstGeom prst="rect">
            <a:avLst/>
          </a:prstGeom>
          <a:noFill/>
        </p:spPr>
        <p:txBody>
          <a:bodyPr wrap="square" rtlCol="0">
            <a:spAutoFit/>
          </a:bodyPr>
          <a:lstStyle/>
          <a:p>
            <a:r>
              <a:rPr lang="pt-BR" dirty="0"/>
              <a:t>O eixo vertical (z) mostra o valor da função, que é o que queremos otimizar.</a:t>
            </a:r>
          </a:p>
          <a:p>
            <a:r>
              <a:rPr lang="pt-BR" dirty="0"/>
              <a:t>Os eixos horizontais (x e y) representam os parâmetros da função.</a:t>
            </a:r>
          </a:p>
        </p:txBody>
      </p:sp>
      <p:sp>
        <p:nvSpPr>
          <p:cNvPr id="8" name="CaixaDeTexto 7">
            <a:extLst>
              <a:ext uri="{FF2B5EF4-FFF2-40B4-BE49-F238E27FC236}">
                <a16:creationId xmlns:a16="http://schemas.microsoft.com/office/drawing/2014/main" id="{82B4065F-45B8-BA42-32AF-98BF7D5CDDB8}"/>
              </a:ext>
            </a:extLst>
          </p:cNvPr>
          <p:cNvSpPr txBox="1"/>
          <p:nvPr/>
        </p:nvSpPr>
        <p:spPr>
          <a:xfrm>
            <a:off x="81023" y="5459223"/>
            <a:ext cx="8434327" cy="1200329"/>
          </a:xfrm>
          <a:prstGeom prst="rect">
            <a:avLst/>
          </a:prstGeom>
          <a:noFill/>
        </p:spPr>
        <p:txBody>
          <a:bodyPr wrap="square" rtlCol="0">
            <a:spAutoFit/>
          </a:bodyPr>
          <a:lstStyle/>
          <a:p>
            <a:r>
              <a:rPr lang="pt-BR" dirty="0"/>
              <a:t>A → representa um máximo local (um pico alto, mas não necessariamente o maior de todos).</a:t>
            </a:r>
          </a:p>
          <a:p>
            <a:r>
              <a:rPr lang="pt-BR" dirty="0"/>
              <a:t>B → representa outro máximo local, menor que A.</a:t>
            </a:r>
          </a:p>
          <a:p>
            <a:r>
              <a:rPr lang="pt-BR" dirty="0"/>
              <a:t>C → representa um mínimo local (um vale da função).</a:t>
            </a:r>
          </a:p>
        </p:txBody>
      </p:sp>
    </p:spTree>
    <p:extLst>
      <p:ext uri="{BB962C8B-B14F-4D97-AF65-F5344CB8AC3E}">
        <p14:creationId xmlns:p14="http://schemas.microsoft.com/office/powerpoint/2010/main" val="812467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45CC92-05D2-4A7D-A3E1-69C4FF3CFE36}"/>
              </a:ext>
            </a:extLst>
          </p:cNvPr>
          <p:cNvSpPr>
            <a:spLocks noGrp="1"/>
          </p:cNvSpPr>
          <p:nvPr>
            <p:ph type="title"/>
          </p:nvPr>
        </p:nvSpPr>
        <p:spPr/>
        <p:txBody>
          <a:bodyPr/>
          <a:lstStyle/>
          <a:p>
            <a:r>
              <a:rPr lang="pt-BR" dirty="0"/>
              <a:t>Introdução</a:t>
            </a:r>
          </a:p>
        </p:txBody>
      </p:sp>
      <p:pic>
        <p:nvPicPr>
          <p:cNvPr id="4" name="Imagem 3" descr="Gráfico, Gráfico de superfície&#10;&#10;Descrição gerada automaticamente">
            <a:extLst>
              <a:ext uri="{FF2B5EF4-FFF2-40B4-BE49-F238E27FC236}">
                <a16:creationId xmlns:a16="http://schemas.microsoft.com/office/drawing/2014/main" id="{9970EC18-CCD9-A0FD-234E-5C857CBF06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2137" y="1478631"/>
            <a:ext cx="5819144" cy="4364358"/>
          </a:xfrm>
          <a:prstGeom prst="rect">
            <a:avLst/>
          </a:prstGeom>
        </p:spPr>
      </p:pic>
      <p:sp>
        <p:nvSpPr>
          <p:cNvPr id="3" name="CaixaDeTexto 2">
            <a:extLst>
              <a:ext uri="{FF2B5EF4-FFF2-40B4-BE49-F238E27FC236}">
                <a16:creationId xmlns:a16="http://schemas.microsoft.com/office/drawing/2014/main" id="{1B2FFEB1-AF39-74F9-9ECA-ACA649D59C20}"/>
              </a:ext>
            </a:extLst>
          </p:cNvPr>
          <p:cNvSpPr txBox="1"/>
          <p:nvPr/>
        </p:nvSpPr>
        <p:spPr>
          <a:xfrm>
            <a:off x="7432420" y="5473657"/>
            <a:ext cx="1191801" cy="369332"/>
          </a:xfrm>
          <a:prstGeom prst="rect">
            <a:avLst/>
          </a:prstGeom>
          <a:noFill/>
        </p:spPr>
        <p:txBody>
          <a:bodyPr wrap="none" rtlCol="0">
            <a:spAutoFit/>
          </a:bodyPr>
          <a:lstStyle/>
          <a:p>
            <a:r>
              <a:rPr lang="pt-BR" b="1" dirty="0">
                <a:solidFill>
                  <a:srgbClr val="FF0000"/>
                </a:solidFill>
              </a:rPr>
              <a:t>Parâmetro</a:t>
            </a:r>
          </a:p>
        </p:txBody>
      </p:sp>
      <p:sp>
        <p:nvSpPr>
          <p:cNvPr id="5" name="CaixaDeTexto 4">
            <a:extLst>
              <a:ext uri="{FF2B5EF4-FFF2-40B4-BE49-F238E27FC236}">
                <a16:creationId xmlns:a16="http://schemas.microsoft.com/office/drawing/2014/main" id="{DD9E607C-ADD3-AC60-3250-BF219A6EDCF3}"/>
              </a:ext>
            </a:extLst>
          </p:cNvPr>
          <p:cNvSpPr txBox="1"/>
          <p:nvPr/>
        </p:nvSpPr>
        <p:spPr>
          <a:xfrm>
            <a:off x="4195477" y="5288991"/>
            <a:ext cx="1191801" cy="369332"/>
          </a:xfrm>
          <a:prstGeom prst="rect">
            <a:avLst/>
          </a:prstGeom>
          <a:noFill/>
        </p:spPr>
        <p:txBody>
          <a:bodyPr wrap="none" rtlCol="0">
            <a:spAutoFit/>
          </a:bodyPr>
          <a:lstStyle/>
          <a:p>
            <a:r>
              <a:rPr lang="pt-BR" b="1" dirty="0">
                <a:solidFill>
                  <a:srgbClr val="FF0000"/>
                </a:solidFill>
              </a:rPr>
              <a:t>Parâmetro</a:t>
            </a:r>
          </a:p>
        </p:txBody>
      </p:sp>
      <p:sp>
        <p:nvSpPr>
          <p:cNvPr id="7" name="CaixaDeTexto 6">
            <a:extLst>
              <a:ext uri="{FF2B5EF4-FFF2-40B4-BE49-F238E27FC236}">
                <a16:creationId xmlns:a16="http://schemas.microsoft.com/office/drawing/2014/main" id="{45FA47D1-815C-6745-7100-EB4F435A2737}"/>
              </a:ext>
            </a:extLst>
          </p:cNvPr>
          <p:cNvSpPr txBox="1"/>
          <p:nvPr/>
        </p:nvSpPr>
        <p:spPr>
          <a:xfrm>
            <a:off x="3599311" y="1817902"/>
            <a:ext cx="943592" cy="369332"/>
          </a:xfrm>
          <a:prstGeom prst="rect">
            <a:avLst/>
          </a:prstGeom>
          <a:noFill/>
        </p:spPr>
        <p:txBody>
          <a:bodyPr wrap="none" rtlCol="0">
            <a:spAutoFit/>
          </a:bodyPr>
          <a:lstStyle/>
          <a:p>
            <a:r>
              <a:rPr lang="pt-BR" b="1" dirty="0">
                <a:solidFill>
                  <a:srgbClr val="FF0000"/>
                </a:solidFill>
              </a:rPr>
              <a:t>Aptidão</a:t>
            </a:r>
          </a:p>
        </p:txBody>
      </p:sp>
      <p:sp>
        <p:nvSpPr>
          <p:cNvPr id="8" name="CaixaDeTexto 7">
            <a:extLst>
              <a:ext uri="{FF2B5EF4-FFF2-40B4-BE49-F238E27FC236}">
                <a16:creationId xmlns:a16="http://schemas.microsoft.com/office/drawing/2014/main" id="{1B2DA6F7-16FB-CC74-C44D-35D005614153}"/>
              </a:ext>
            </a:extLst>
          </p:cNvPr>
          <p:cNvSpPr txBox="1"/>
          <p:nvPr/>
        </p:nvSpPr>
        <p:spPr>
          <a:xfrm>
            <a:off x="208344" y="1724628"/>
            <a:ext cx="2951545" cy="2031325"/>
          </a:xfrm>
          <a:prstGeom prst="rect">
            <a:avLst/>
          </a:prstGeom>
          <a:noFill/>
        </p:spPr>
        <p:txBody>
          <a:bodyPr wrap="square" rtlCol="0">
            <a:spAutoFit/>
          </a:bodyPr>
          <a:lstStyle/>
          <a:p>
            <a:r>
              <a:rPr lang="pt-BR" dirty="0"/>
              <a:t>Parâmetros (x e y): são as variáveis de entrada que o algoritmo manipula.</a:t>
            </a:r>
          </a:p>
          <a:p>
            <a:r>
              <a:rPr lang="pt-BR" dirty="0"/>
              <a:t>Aptidão (z): é o valor da função objetivo (fitness), que indica quão boa é uma solução.</a:t>
            </a:r>
          </a:p>
        </p:txBody>
      </p:sp>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B2E4C17B-D9BC-F1EB-E574-752B0599B70B}"/>
                  </a:ext>
                </a:extLst>
              </p:cNvPr>
              <p:cNvSpPr txBox="1"/>
              <p:nvPr/>
            </p:nvSpPr>
            <p:spPr>
              <a:xfrm>
                <a:off x="92599" y="3755953"/>
                <a:ext cx="4102878" cy="3139321"/>
              </a:xfrm>
              <a:prstGeom prst="rect">
                <a:avLst/>
              </a:prstGeom>
              <a:noFill/>
            </p:spPr>
            <p:txBody>
              <a:bodyPr wrap="square" rtlCol="0">
                <a:spAutoFit/>
              </a:bodyPr>
              <a:lstStyle/>
              <a:p>
                <a:r>
                  <a:rPr lang="pt-BR" dirty="0"/>
                  <a:t>Em termos biológicos (a analogia da seleção natural):</a:t>
                </a:r>
              </a:p>
              <a:p>
                <a:r>
                  <a:rPr lang="pt-BR" dirty="0"/>
                  <a:t>-Os parâmetros </a:t>
                </a:r>
                <a14:m>
                  <m:oMath xmlns:m="http://schemas.openxmlformats.org/officeDocument/2006/math">
                    <m:r>
                      <a:rPr lang="pt-BR" b="0" i="1" smtClean="0">
                        <a:latin typeface="Cambria Math" panose="02040503050406030204" pitchFamily="18" charset="0"/>
                      </a:rPr>
                      <m:t>𝑥</m:t>
                    </m:r>
                    <m:r>
                      <a:rPr lang="pt-BR" b="0" smtClean="0">
                        <a:latin typeface="Cambria Math" panose="02040503050406030204" pitchFamily="18" charset="0"/>
                      </a:rPr>
                      <m:t>,</m:t>
                    </m:r>
                    <m:r>
                      <a:rPr lang="pt-BR" b="0" i="1" smtClean="0">
                        <a:latin typeface="Cambria Math" panose="02040503050406030204" pitchFamily="18" charset="0"/>
                      </a:rPr>
                      <m:t>𝑦</m:t>
                    </m:r>
                    <m:r>
                      <a:rPr lang="pt-BR" b="0" i="1" smtClean="0">
                        <a:latin typeface="Cambria Math" panose="02040503050406030204" pitchFamily="18" charset="0"/>
                      </a:rPr>
                      <m:t> </m:t>
                    </m:r>
                  </m:oMath>
                </a14:m>
                <a:r>
                  <a:rPr lang="pt-BR" dirty="0"/>
                  <a:t>seriam como os genes dos indivíduos.</a:t>
                </a:r>
              </a:p>
              <a:p>
                <a:r>
                  <a:rPr lang="pt-BR" dirty="0"/>
                  <a:t>-A aptidão </a:t>
                </a:r>
                <a14:m>
                  <m:oMath xmlns:m="http://schemas.openxmlformats.org/officeDocument/2006/math">
                    <m:r>
                      <a:rPr lang="pt-BR" b="0" i="1" smtClean="0">
                        <a:latin typeface="Cambria Math" panose="02040503050406030204" pitchFamily="18" charset="0"/>
                      </a:rPr>
                      <m:t>𝑧</m:t>
                    </m:r>
                  </m:oMath>
                </a14:m>
                <a:r>
                  <a:rPr lang="pt-BR" dirty="0"/>
                  <a:t> representa o quão adaptado esse indivíduo está ao ambiente.</a:t>
                </a:r>
              </a:p>
              <a:p>
                <a:r>
                  <a:rPr lang="pt-BR" dirty="0"/>
                  <a:t>-O AG avalia a população e seleciona os indivíduos mais aptos para reprodução, cruzamento e mutação, buscando sempre regiões melhores do espaço de busca.</a:t>
                </a:r>
              </a:p>
              <a:p>
                <a:endParaRPr lang="pt-BR" dirty="0"/>
              </a:p>
            </p:txBody>
          </p:sp>
        </mc:Choice>
        <mc:Fallback xmlns="">
          <p:sp>
            <p:nvSpPr>
              <p:cNvPr id="9" name="CaixaDeTexto 8">
                <a:extLst>
                  <a:ext uri="{FF2B5EF4-FFF2-40B4-BE49-F238E27FC236}">
                    <a16:creationId xmlns:a16="http://schemas.microsoft.com/office/drawing/2014/main" id="{B2E4C17B-D9BC-F1EB-E574-752B0599B70B}"/>
                  </a:ext>
                </a:extLst>
              </p:cNvPr>
              <p:cNvSpPr txBox="1">
                <a:spLocks noRot="1" noChangeAspect="1" noMove="1" noResize="1" noEditPoints="1" noAdjustHandles="1" noChangeArrowheads="1" noChangeShapeType="1" noTextEdit="1"/>
              </p:cNvSpPr>
              <p:nvPr/>
            </p:nvSpPr>
            <p:spPr>
              <a:xfrm>
                <a:off x="92599" y="3755953"/>
                <a:ext cx="4102878" cy="3139321"/>
              </a:xfrm>
              <a:prstGeom prst="rect">
                <a:avLst/>
              </a:prstGeom>
              <a:blipFill>
                <a:blip r:embed="rId3"/>
                <a:stretch>
                  <a:fillRect l="-1189" t="-971" r="-1783"/>
                </a:stretch>
              </a:blipFill>
            </p:spPr>
            <p:txBody>
              <a:bodyPr/>
              <a:lstStyle/>
              <a:p>
                <a:r>
                  <a:rPr lang="pt-BR">
                    <a:noFill/>
                  </a:rPr>
                  <a:t> </a:t>
                </a:r>
              </a:p>
            </p:txBody>
          </p:sp>
        </mc:Fallback>
      </mc:AlternateContent>
    </p:spTree>
    <p:extLst>
      <p:ext uri="{BB962C8B-B14F-4D97-AF65-F5344CB8AC3E}">
        <p14:creationId xmlns:p14="http://schemas.microsoft.com/office/powerpoint/2010/main" val="2641910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469DA5-6D5E-44C4-ACB2-3C2AAAB90C42}"/>
              </a:ext>
            </a:extLst>
          </p:cNvPr>
          <p:cNvSpPr>
            <a:spLocks noGrp="1"/>
          </p:cNvSpPr>
          <p:nvPr>
            <p:ph type="title"/>
          </p:nvPr>
        </p:nvSpPr>
        <p:spPr/>
        <p:txBody>
          <a:bodyPr/>
          <a:lstStyle/>
          <a:p>
            <a:r>
              <a:rPr lang="pt-BR" dirty="0"/>
              <a:t>Introdução</a:t>
            </a:r>
          </a:p>
        </p:txBody>
      </p:sp>
      <p:sp>
        <p:nvSpPr>
          <p:cNvPr id="3" name="Espaço Reservado para Conteúdo 2">
            <a:extLst>
              <a:ext uri="{FF2B5EF4-FFF2-40B4-BE49-F238E27FC236}">
                <a16:creationId xmlns:a16="http://schemas.microsoft.com/office/drawing/2014/main" id="{93281021-44EC-4123-849A-DEE84E0C6E04}"/>
              </a:ext>
            </a:extLst>
          </p:cNvPr>
          <p:cNvSpPr>
            <a:spLocks noGrp="1"/>
          </p:cNvSpPr>
          <p:nvPr>
            <p:ph idx="1"/>
          </p:nvPr>
        </p:nvSpPr>
        <p:spPr/>
        <p:txBody>
          <a:bodyPr/>
          <a:lstStyle/>
          <a:p>
            <a:pPr marL="0" indent="0" algn="just">
              <a:buNone/>
            </a:pPr>
            <a:r>
              <a:rPr lang="pt-BR" u="none" dirty="0"/>
              <a:t>	Os </a:t>
            </a:r>
            <a:r>
              <a:rPr lang="pt-BR" u="none"/>
              <a:t>AGs não </a:t>
            </a:r>
            <a:r>
              <a:rPr lang="pt-BR" u="none" dirty="0"/>
              <a:t>têm conhecimento específico do problema a ser resolvido, tendo como guia apenas a função objetivo.</a:t>
            </a:r>
          </a:p>
          <a:p>
            <a:pPr marL="0" indent="0" algn="just">
              <a:buNone/>
            </a:pPr>
            <a:endParaRPr lang="pt-BR" u="none" dirty="0"/>
          </a:p>
          <a:p>
            <a:pPr marL="0" indent="0" algn="just">
              <a:buNone/>
            </a:pPr>
            <a:r>
              <a:rPr lang="pt-BR" u="none" dirty="0"/>
              <a:t> 	São métodos codificados, pois não trabalham diretamente com o domínio do problema e sim com representações dos seus elementos.</a:t>
            </a:r>
          </a:p>
        </p:txBody>
      </p:sp>
    </p:spTree>
    <p:extLst>
      <p:ext uri="{BB962C8B-B14F-4D97-AF65-F5344CB8AC3E}">
        <p14:creationId xmlns:p14="http://schemas.microsoft.com/office/powerpoint/2010/main" val="485064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EA17C4-6011-4D7C-B5D8-126235D7B33F}"/>
              </a:ext>
            </a:extLst>
          </p:cNvPr>
          <p:cNvSpPr>
            <a:spLocks noGrp="1"/>
          </p:cNvSpPr>
          <p:nvPr>
            <p:ph type="title"/>
          </p:nvPr>
        </p:nvSpPr>
        <p:spPr/>
        <p:txBody>
          <a:bodyPr/>
          <a:lstStyle/>
          <a:p>
            <a:r>
              <a:rPr lang="pt-BR" dirty="0"/>
              <a:t>Quando usar um AG?</a:t>
            </a:r>
          </a:p>
        </p:txBody>
      </p:sp>
      <p:sp>
        <p:nvSpPr>
          <p:cNvPr id="3" name="Espaço Reservado para Conteúdo 2">
            <a:extLst>
              <a:ext uri="{FF2B5EF4-FFF2-40B4-BE49-F238E27FC236}">
                <a16:creationId xmlns:a16="http://schemas.microsoft.com/office/drawing/2014/main" id="{1C153220-7424-40A6-A133-E75640FE1E72}"/>
              </a:ext>
            </a:extLst>
          </p:cNvPr>
          <p:cNvSpPr>
            <a:spLocks noGrp="1"/>
          </p:cNvSpPr>
          <p:nvPr>
            <p:ph idx="1"/>
          </p:nvPr>
        </p:nvSpPr>
        <p:spPr/>
        <p:txBody>
          <a:bodyPr>
            <a:normAutofit fontScale="92500" lnSpcReduction="10000"/>
          </a:bodyPr>
          <a:lstStyle/>
          <a:p>
            <a:pPr marL="0" indent="0" algn="just">
              <a:buNone/>
            </a:pPr>
            <a:r>
              <a:rPr lang="pt-BR" u="none" dirty="0"/>
              <a:t>Normalmente (na maioria das vezes), os AGs têm sido mais usados para solução de funções de otimização, nas quais eles vêm se mostrando bastantes eficientes e confiáveis.</a:t>
            </a:r>
          </a:p>
          <a:p>
            <a:pPr marL="0" indent="0" algn="just">
              <a:buNone/>
            </a:pPr>
            <a:r>
              <a:rPr lang="pt-BR" u="none" dirty="0"/>
              <a:t>Características necessárias:</a:t>
            </a:r>
          </a:p>
          <a:p>
            <a:pPr marL="514350" indent="-514350" algn="just">
              <a:buAutoNum type="alphaLcParenR"/>
            </a:pPr>
            <a:r>
              <a:rPr lang="pt-BR" u="none" dirty="0"/>
              <a:t>O espaço de busca (possíveis soluções) do problema em questão deve estar delimitado dentro de uma certa faixa de valores;</a:t>
            </a:r>
          </a:p>
          <a:p>
            <a:pPr marL="514350" indent="-514350" algn="just">
              <a:buAutoNum type="alphaLcParenR"/>
            </a:pPr>
            <a:r>
              <a:rPr lang="pt-BR" u="none" dirty="0"/>
              <a:t>Deve ser possível definir uma função de aptidão (fitness) que nos indique quão boa ou ruim é uma determinada resposta. Função esta que servirá de métrica para a solução do problema;</a:t>
            </a:r>
          </a:p>
        </p:txBody>
      </p:sp>
    </p:spTree>
    <p:extLst>
      <p:ext uri="{BB962C8B-B14F-4D97-AF65-F5344CB8AC3E}">
        <p14:creationId xmlns:p14="http://schemas.microsoft.com/office/powerpoint/2010/main" val="3122899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EA17C4-6011-4D7C-B5D8-126235D7B33F}"/>
              </a:ext>
            </a:extLst>
          </p:cNvPr>
          <p:cNvSpPr>
            <a:spLocks noGrp="1"/>
          </p:cNvSpPr>
          <p:nvPr>
            <p:ph type="title"/>
          </p:nvPr>
        </p:nvSpPr>
        <p:spPr/>
        <p:txBody>
          <a:bodyPr/>
          <a:lstStyle/>
          <a:p>
            <a:r>
              <a:rPr lang="pt-BR" dirty="0"/>
              <a:t>Quando usar um AG?</a:t>
            </a:r>
          </a:p>
        </p:txBody>
      </p:sp>
      <p:sp>
        <p:nvSpPr>
          <p:cNvPr id="3" name="Espaço Reservado para Conteúdo 2">
            <a:extLst>
              <a:ext uri="{FF2B5EF4-FFF2-40B4-BE49-F238E27FC236}">
                <a16:creationId xmlns:a16="http://schemas.microsoft.com/office/drawing/2014/main" id="{1C153220-7424-40A6-A133-E75640FE1E72}"/>
              </a:ext>
            </a:extLst>
          </p:cNvPr>
          <p:cNvSpPr>
            <a:spLocks noGrp="1"/>
          </p:cNvSpPr>
          <p:nvPr>
            <p:ph idx="1"/>
          </p:nvPr>
        </p:nvSpPr>
        <p:spPr/>
        <p:txBody>
          <a:bodyPr>
            <a:normAutofit/>
          </a:bodyPr>
          <a:lstStyle/>
          <a:p>
            <a:pPr marL="514350" indent="-514350" algn="just">
              <a:buFont typeface="+mj-lt"/>
              <a:buAutoNum type="alphaLcParenR" startAt="3"/>
            </a:pPr>
            <a:r>
              <a:rPr lang="pt-BR" u="none" dirty="0"/>
              <a:t>As soluções devem poder ser codificadas de uma maneira que resulte relativamente fácil a sua implementação no computador.</a:t>
            </a:r>
          </a:p>
          <a:p>
            <a:pPr marL="0" indent="0" algn="just">
              <a:buNone/>
            </a:pPr>
            <a:endParaRPr lang="pt-BR" u="none" dirty="0"/>
          </a:p>
          <a:p>
            <a:pPr marL="0" indent="0" algn="just">
              <a:buNone/>
            </a:pPr>
            <a:r>
              <a:rPr lang="pt-BR" u="none" dirty="0"/>
              <a:t>	A literatura geralmente cita que os AGs podem ser utilizados para praticamente todo tipo de problema, porém é sempre interessante considerar as características citadas acima para que o desenvolvimento do processo não seja inviável ou mesmo atingir soluções consideradas ruins.</a:t>
            </a:r>
          </a:p>
        </p:txBody>
      </p:sp>
    </p:spTree>
    <p:extLst>
      <p:ext uri="{BB962C8B-B14F-4D97-AF65-F5344CB8AC3E}">
        <p14:creationId xmlns:p14="http://schemas.microsoft.com/office/powerpoint/2010/main" val="3811127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72414B-7F8C-9AF3-5984-EF081DDAB303}"/>
              </a:ext>
            </a:extLst>
          </p:cNvPr>
          <p:cNvSpPr>
            <a:spLocks noGrp="1"/>
          </p:cNvSpPr>
          <p:nvPr>
            <p:ph type="title"/>
          </p:nvPr>
        </p:nvSpPr>
        <p:spPr/>
        <p:txBody>
          <a:bodyPr/>
          <a:lstStyle/>
          <a:p>
            <a:r>
              <a:rPr lang="pt-BR" dirty="0"/>
              <a:t>Terminologia</a:t>
            </a:r>
          </a:p>
        </p:txBody>
      </p:sp>
      <p:pic>
        <p:nvPicPr>
          <p:cNvPr id="6" name="Imagem 5">
            <a:extLst>
              <a:ext uri="{FF2B5EF4-FFF2-40B4-BE49-F238E27FC236}">
                <a16:creationId xmlns:a16="http://schemas.microsoft.com/office/drawing/2014/main" id="{B945DB71-3DB6-7445-ED03-D6C339587D6D}"/>
              </a:ext>
            </a:extLst>
          </p:cNvPr>
          <p:cNvPicPr>
            <a:picLocks noChangeAspect="1"/>
          </p:cNvPicPr>
          <p:nvPr/>
        </p:nvPicPr>
        <p:blipFill>
          <a:blip r:embed="rId2"/>
          <a:stretch>
            <a:fillRect/>
          </a:stretch>
        </p:blipFill>
        <p:spPr>
          <a:xfrm>
            <a:off x="24293" y="2212302"/>
            <a:ext cx="9162160" cy="3169925"/>
          </a:xfrm>
          <a:prstGeom prst="rect">
            <a:avLst/>
          </a:prstGeom>
        </p:spPr>
      </p:pic>
    </p:spTree>
    <p:extLst>
      <p:ext uri="{BB962C8B-B14F-4D97-AF65-F5344CB8AC3E}">
        <p14:creationId xmlns:p14="http://schemas.microsoft.com/office/powerpoint/2010/main" val="1918213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5E7FC9-5BF9-6D0B-65C6-C541021942C7}"/>
              </a:ext>
            </a:extLst>
          </p:cNvPr>
          <p:cNvSpPr>
            <a:spLocks noGrp="1"/>
          </p:cNvSpPr>
          <p:nvPr>
            <p:ph type="title"/>
          </p:nvPr>
        </p:nvSpPr>
        <p:spPr/>
        <p:txBody>
          <a:bodyPr/>
          <a:lstStyle/>
          <a:p>
            <a:r>
              <a:rPr lang="pt-BR" dirty="0"/>
              <a:t>Terminologia</a:t>
            </a:r>
          </a:p>
        </p:txBody>
      </p:sp>
      <p:pic>
        <p:nvPicPr>
          <p:cNvPr id="6" name="Imagem 5">
            <a:extLst>
              <a:ext uri="{FF2B5EF4-FFF2-40B4-BE49-F238E27FC236}">
                <a16:creationId xmlns:a16="http://schemas.microsoft.com/office/drawing/2014/main" id="{89627200-A41F-0B62-6A45-44C5AC111E55}"/>
              </a:ext>
            </a:extLst>
          </p:cNvPr>
          <p:cNvPicPr>
            <a:picLocks noChangeAspect="1"/>
          </p:cNvPicPr>
          <p:nvPr/>
        </p:nvPicPr>
        <p:blipFill>
          <a:blip r:embed="rId2"/>
          <a:stretch>
            <a:fillRect/>
          </a:stretch>
        </p:blipFill>
        <p:spPr>
          <a:xfrm>
            <a:off x="2700337" y="2143125"/>
            <a:ext cx="3743325" cy="2571750"/>
          </a:xfrm>
          <a:prstGeom prst="rect">
            <a:avLst/>
          </a:prstGeom>
        </p:spPr>
      </p:pic>
    </p:spTree>
    <p:extLst>
      <p:ext uri="{BB962C8B-B14F-4D97-AF65-F5344CB8AC3E}">
        <p14:creationId xmlns:p14="http://schemas.microsoft.com/office/powerpoint/2010/main" val="1246542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5E7FC9-5BF9-6D0B-65C6-C541021942C7}"/>
              </a:ext>
            </a:extLst>
          </p:cNvPr>
          <p:cNvSpPr>
            <a:spLocks noGrp="1"/>
          </p:cNvSpPr>
          <p:nvPr>
            <p:ph type="title"/>
          </p:nvPr>
        </p:nvSpPr>
        <p:spPr/>
        <p:txBody>
          <a:bodyPr/>
          <a:lstStyle/>
          <a:p>
            <a:r>
              <a:rPr lang="pt-BR" dirty="0"/>
              <a:t>Terminologia</a:t>
            </a:r>
          </a:p>
        </p:txBody>
      </p:sp>
      <p:pic>
        <p:nvPicPr>
          <p:cNvPr id="6" name="Imagem 5">
            <a:extLst>
              <a:ext uri="{FF2B5EF4-FFF2-40B4-BE49-F238E27FC236}">
                <a16:creationId xmlns:a16="http://schemas.microsoft.com/office/drawing/2014/main" id="{89627200-A41F-0B62-6A45-44C5AC111E55}"/>
              </a:ext>
            </a:extLst>
          </p:cNvPr>
          <p:cNvPicPr>
            <a:picLocks noChangeAspect="1"/>
          </p:cNvPicPr>
          <p:nvPr/>
        </p:nvPicPr>
        <p:blipFill>
          <a:blip r:embed="rId2"/>
          <a:stretch>
            <a:fillRect/>
          </a:stretch>
        </p:blipFill>
        <p:spPr>
          <a:xfrm>
            <a:off x="2700337" y="2143125"/>
            <a:ext cx="3743325" cy="2571750"/>
          </a:xfrm>
          <a:prstGeom prst="rect">
            <a:avLst/>
          </a:prstGeom>
        </p:spPr>
      </p:pic>
      <p:sp>
        <p:nvSpPr>
          <p:cNvPr id="3" name="Retângulo: Cantos Arredondados 2">
            <a:extLst>
              <a:ext uri="{FF2B5EF4-FFF2-40B4-BE49-F238E27FC236}">
                <a16:creationId xmlns:a16="http://schemas.microsoft.com/office/drawing/2014/main" id="{34D1B491-581C-D0A2-A485-576F7F9BA2DD}"/>
              </a:ext>
            </a:extLst>
          </p:cNvPr>
          <p:cNvSpPr/>
          <p:nvPr/>
        </p:nvSpPr>
        <p:spPr>
          <a:xfrm>
            <a:off x="2700337" y="1983179"/>
            <a:ext cx="886011" cy="294508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9AA056A2-F897-EA52-0FED-9BF4264A007D}"/>
              </a:ext>
            </a:extLst>
          </p:cNvPr>
          <p:cNvSpPr txBox="1"/>
          <p:nvPr/>
        </p:nvSpPr>
        <p:spPr>
          <a:xfrm>
            <a:off x="1628092" y="4981615"/>
            <a:ext cx="1176669" cy="369332"/>
          </a:xfrm>
          <a:prstGeom prst="rect">
            <a:avLst/>
          </a:prstGeom>
          <a:noFill/>
        </p:spPr>
        <p:txBody>
          <a:bodyPr wrap="none" rtlCol="0">
            <a:spAutoFit/>
          </a:bodyPr>
          <a:lstStyle/>
          <a:p>
            <a:r>
              <a:rPr lang="pt-BR" b="1" dirty="0">
                <a:solidFill>
                  <a:srgbClr val="FF0000"/>
                </a:solidFill>
              </a:rPr>
              <a:t>População</a:t>
            </a:r>
          </a:p>
        </p:txBody>
      </p:sp>
    </p:spTree>
    <p:extLst>
      <p:ext uri="{BB962C8B-B14F-4D97-AF65-F5344CB8AC3E}">
        <p14:creationId xmlns:p14="http://schemas.microsoft.com/office/powerpoint/2010/main" val="3886151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5E7FC9-5BF9-6D0B-65C6-C541021942C7}"/>
              </a:ext>
            </a:extLst>
          </p:cNvPr>
          <p:cNvSpPr>
            <a:spLocks noGrp="1"/>
          </p:cNvSpPr>
          <p:nvPr>
            <p:ph type="title"/>
          </p:nvPr>
        </p:nvSpPr>
        <p:spPr/>
        <p:txBody>
          <a:bodyPr/>
          <a:lstStyle/>
          <a:p>
            <a:r>
              <a:rPr lang="pt-BR" dirty="0"/>
              <a:t>Terminologia</a:t>
            </a:r>
          </a:p>
        </p:txBody>
      </p:sp>
      <p:pic>
        <p:nvPicPr>
          <p:cNvPr id="6" name="Imagem 5">
            <a:extLst>
              <a:ext uri="{FF2B5EF4-FFF2-40B4-BE49-F238E27FC236}">
                <a16:creationId xmlns:a16="http://schemas.microsoft.com/office/drawing/2014/main" id="{89627200-A41F-0B62-6A45-44C5AC111E55}"/>
              </a:ext>
            </a:extLst>
          </p:cNvPr>
          <p:cNvPicPr>
            <a:picLocks noChangeAspect="1"/>
          </p:cNvPicPr>
          <p:nvPr/>
        </p:nvPicPr>
        <p:blipFill>
          <a:blip r:embed="rId2"/>
          <a:stretch>
            <a:fillRect/>
          </a:stretch>
        </p:blipFill>
        <p:spPr>
          <a:xfrm>
            <a:off x="2700337" y="2143125"/>
            <a:ext cx="3743325" cy="2571750"/>
          </a:xfrm>
          <a:prstGeom prst="rect">
            <a:avLst/>
          </a:prstGeom>
        </p:spPr>
      </p:pic>
      <p:sp>
        <p:nvSpPr>
          <p:cNvPr id="3" name="Retângulo: Cantos Arredondados 2">
            <a:extLst>
              <a:ext uri="{FF2B5EF4-FFF2-40B4-BE49-F238E27FC236}">
                <a16:creationId xmlns:a16="http://schemas.microsoft.com/office/drawing/2014/main" id="{C31D63D4-F3E9-0631-043F-7385B7CBAC81}"/>
              </a:ext>
            </a:extLst>
          </p:cNvPr>
          <p:cNvSpPr/>
          <p:nvPr/>
        </p:nvSpPr>
        <p:spPr>
          <a:xfrm>
            <a:off x="2735962" y="2897576"/>
            <a:ext cx="3652962" cy="35626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A671BBCD-2920-CEEF-893C-C02280E9891D}"/>
              </a:ext>
            </a:extLst>
          </p:cNvPr>
          <p:cNvSpPr txBox="1"/>
          <p:nvPr/>
        </p:nvSpPr>
        <p:spPr>
          <a:xfrm>
            <a:off x="1526023" y="2920129"/>
            <a:ext cx="1083951" cy="369332"/>
          </a:xfrm>
          <a:prstGeom prst="rect">
            <a:avLst/>
          </a:prstGeom>
          <a:noFill/>
        </p:spPr>
        <p:txBody>
          <a:bodyPr wrap="none" rtlCol="0">
            <a:spAutoFit/>
          </a:bodyPr>
          <a:lstStyle/>
          <a:p>
            <a:r>
              <a:rPr lang="pt-BR" b="1" dirty="0">
                <a:solidFill>
                  <a:srgbClr val="FF0000"/>
                </a:solidFill>
              </a:rPr>
              <a:t>Indivíduo</a:t>
            </a:r>
          </a:p>
        </p:txBody>
      </p:sp>
    </p:spTree>
    <p:extLst>
      <p:ext uri="{BB962C8B-B14F-4D97-AF65-F5344CB8AC3E}">
        <p14:creationId xmlns:p14="http://schemas.microsoft.com/office/powerpoint/2010/main" val="18038059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5E7FC9-5BF9-6D0B-65C6-C541021942C7}"/>
              </a:ext>
            </a:extLst>
          </p:cNvPr>
          <p:cNvSpPr>
            <a:spLocks noGrp="1"/>
          </p:cNvSpPr>
          <p:nvPr>
            <p:ph type="title"/>
          </p:nvPr>
        </p:nvSpPr>
        <p:spPr/>
        <p:txBody>
          <a:bodyPr/>
          <a:lstStyle/>
          <a:p>
            <a:r>
              <a:rPr lang="pt-BR" dirty="0"/>
              <a:t>Terminologia</a:t>
            </a:r>
          </a:p>
        </p:txBody>
      </p:sp>
      <p:pic>
        <p:nvPicPr>
          <p:cNvPr id="6" name="Imagem 5">
            <a:extLst>
              <a:ext uri="{FF2B5EF4-FFF2-40B4-BE49-F238E27FC236}">
                <a16:creationId xmlns:a16="http://schemas.microsoft.com/office/drawing/2014/main" id="{89627200-A41F-0B62-6A45-44C5AC111E55}"/>
              </a:ext>
            </a:extLst>
          </p:cNvPr>
          <p:cNvPicPr>
            <a:picLocks noChangeAspect="1"/>
          </p:cNvPicPr>
          <p:nvPr/>
        </p:nvPicPr>
        <p:blipFill>
          <a:blip r:embed="rId2"/>
          <a:stretch>
            <a:fillRect/>
          </a:stretch>
        </p:blipFill>
        <p:spPr>
          <a:xfrm>
            <a:off x="2700337" y="2143125"/>
            <a:ext cx="3743325" cy="2571750"/>
          </a:xfrm>
          <a:prstGeom prst="rect">
            <a:avLst/>
          </a:prstGeom>
        </p:spPr>
      </p:pic>
      <p:sp>
        <p:nvSpPr>
          <p:cNvPr id="3" name="Retângulo: Cantos Arredondados 2">
            <a:extLst>
              <a:ext uri="{FF2B5EF4-FFF2-40B4-BE49-F238E27FC236}">
                <a16:creationId xmlns:a16="http://schemas.microsoft.com/office/drawing/2014/main" id="{C31D63D4-F3E9-0631-043F-7385B7CBAC81}"/>
              </a:ext>
            </a:extLst>
          </p:cNvPr>
          <p:cNvSpPr/>
          <p:nvPr/>
        </p:nvSpPr>
        <p:spPr>
          <a:xfrm>
            <a:off x="3491344" y="2897576"/>
            <a:ext cx="2897579" cy="35626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A671BBCD-2920-CEEF-893C-C02280E9891D}"/>
              </a:ext>
            </a:extLst>
          </p:cNvPr>
          <p:cNvSpPr txBox="1"/>
          <p:nvPr/>
        </p:nvSpPr>
        <p:spPr>
          <a:xfrm>
            <a:off x="6461432" y="2884505"/>
            <a:ext cx="1436996" cy="369332"/>
          </a:xfrm>
          <a:prstGeom prst="rect">
            <a:avLst/>
          </a:prstGeom>
          <a:noFill/>
        </p:spPr>
        <p:txBody>
          <a:bodyPr wrap="none" rtlCol="0">
            <a:spAutoFit/>
          </a:bodyPr>
          <a:lstStyle/>
          <a:p>
            <a:r>
              <a:rPr lang="pt-BR" b="1" dirty="0">
                <a:solidFill>
                  <a:srgbClr val="FF0000"/>
                </a:solidFill>
              </a:rPr>
              <a:t>Cromossomo</a:t>
            </a:r>
          </a:p>
        </p:txBody>
      </p:sp>
    </p:spTree>
    <p:extLst>
      <p:ext uri="{BB962C8B-B14F-4D97-AF65-F5344CB8AC3E}">
        <p14:creationId xmlns:p14="http://schemas.microsoft.com/office/powerpoint/2010/main" val="4261125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5E7FC9-5BF9-6D0B-65C6-C541021942C7}"/>
              </a:ext>
            </a:extLst>
          </p:cNvPr>
          <p:cNvSpPr>
            <a:spLocks noGrp="1"/>
          </p:cNvSpPr>
          <p:nvPr>
            <p:ph type="title"/>
          </p:nvPr>
        </p:nvSpPr>
        <p:spPr/>
        <p:txBody>
          <a:bodyPr/>
          <a:lstStyle/>
          <a:p>
            <a:r>
              <a:rPr lang="pt-BR" dirty="0"/>
              <a:t>Terminologia</a:t>
            </a:r>
          </a:p>
        </p:txBody>
      </p:sp>
      <p:pic>
        <p:nvPicPr>
          <p:cNvPr id="6" name="Imagem 5">
            <a:extLst>
              <a:ext uri="{FF2B5EF4-FFF2-40B4-BE49-F238E27FC236}">
                <a16:creationId xmlns:a16="http://schemas.microsoft.com/office/drawing/2014/main" id="{89627200-A41F-0B62-6A45-44C5AC111E55}"/>
              </a:ext>
            </a:extLst>
          </p:cNvPr>
          <p:cNvPicPr>
            <a:picLocks noChangeAspect="1"/>
          </p:cNvPicPr>
          <p:nvPr/>
        </p:nvPicPr>
        <p:blipFill>
          <a:blip r:embed="rId2"/>
          <a:stretch>
            <a:fillRect/>
          </a:stretch>
        </p:blipFill>
        <p:spPr>
          <a:xfrm>
            <a:off x="2700337" y="2143125"/>
            <a:ext cx="3743325" cy="2571750"/>
          </a:xfrm>
          <a:prstGeom prst="rect">
            <a:avLst/>
          </a:prstGeom>
        </p:spPr>
      </p:pic>
      <p:sp>
        <p:nvSpPr>
          <p:cNvPr id="3" name="Retângulo: Cantos Arredondados 2">
            <a:extLst>
              <a:ext uri="{FF2B5EF4-FFF2-40B4-BE49-F238E27FC236}">
                <a16:creationId xmlns:a16="http://schemas.microsoft.com/office/drawing/2014/main" id="{C31D63D4-F3E9-0631-043F-7385B7CBAC81}"/>
              </a:ext>
            </a:extLst>
          </p:cNvPr>
          <p:cNvSpPr/>
          <p:nvPr/>
        </p:nvSpPr>
        <p:spPr>
          <a:xfrm>
            <a:off x="4158338" y="2203620"/>
            <a:ext cx="558141" cy="35626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A671BBCD-2920-CEEF-893C-C02280E9891D}"/>
              </a:ext>
            </a:extLst>
          </p:cNvPr>
          <p:cNvSpPr txBox="1"/>
          <p:nvPr/>
        </p:nvSpPr>
        <p:spPr>
          <a:xfrm>
            <a:off x="4048521" y="1773793"/>
            <a:ext cx="777777" cy="369332"/>
          </a:xfrm>
          <a:prstGeom prst="rect">
            <a:avLst/>
          </a:prstGeom>
          <a:noFill/>
        </p:spPr>
        <p:txBody>
          <a:bodyPr wrap="none" rtlCol="0">
            <a:spAutoFit/>
          </a:bodyPr>
          <a:lstStyle/>
          <a:p>
            <a:r>
              <a:rPr lang="pt-BR" b="1" dirty="0">
                <a:solidFill>
                  <a:srgbClr val="FF0000"/>
                </a:solidFill>
              </a:rPr>
              <a:t>Genes</a:t>
            </a:r>
          </a:p>
        </p:txBody>
      </p:sp>
      <p:sp>
        <p:nvSpPr>
          <p:cNvPr id="7" name="Retângulo: Cantos Arredondados 6">
            <a:extLst>
              <a:ext uri="{FF2B5EF4-FFF2-40B4-BE49-F238E27FC236}">
                <a16:creationId xmlns:a16="http://schemas.microsoft.com/office/drawing/2014/main" id="{3A856FD6-B117-B453-C179-3361145E279D}"/>
              </a:ext>
            </a:extLst>
          </p:cNvPr>
          <p:cNvSpPr/>
          <p:nvPr/>
        </p:nvSpPr>
        <p:spPr>
          <a:xfrm>
            <a:off x="3577064" y="2203620"/>
            <a:ext cx="558141" cy="35626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Cantos Arredondados 7">
            <a:extLst>
              <a:ext uri="{FF2B5EF4-FFF2-40B4-BE49-F238E27FC236}">
                <a16:creationId xmlns:a16="http://schemas.microsoft.com/office/drawing/2014/main" id="{B453EA6E-7211-821B-0F33-4A720678EFDB}"/>
              </a:ext>
            </a:extLst>
          </p:cNvPr>
          <p:cNvSpPr/>
          <p:nvPr/>
        </p:nvSpPr>
        <p:spPr>
          <a:xfrm>
            <a:off x="4742860" y="2203620"/>
            <a:ext cx="558141" cy="35626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5189293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5E7FC9-5BF9-6D0B-65C6-C541021942C7}"/>
              </a:ext>
            </a:extLst>
          </p:cNvPr>
          <p:cNvSpPr>
            <a:spLocks noGrp="1"/>
          </p:cNvSpPr>
          <p:nvPr>
            <p:ph type="title"/>
          </p:nvPr>
        </p:nvSpPr>
        <p:spPr/>
        <p:txBody>
          <a:bodyPr/>
          <a:lstStyle/>
          <a:p>
            <a:r>
              <a:rPr lang="pt-BR" dirty="0"/>
              <a:t>Terminologia</a:t>
            </a:r>
          </a:p>
        </p:txBody>
      </p:sp>
      <p:pic>
        <p:nvPicPr>
          <p:cNvPr id="6" name="Imagem 5">
            <a:extLst>
              <a:ext uri="{FF2B5EF4-FFF2-40B4-BE49-F238E27FC236}">
                <a16:creationId xmlns:a16="http://schemas.microsoft.com/office/drawing/2014/main" id="{89627200-A41F-0B62-6A45-44C5AC111E55}"/>
              </a:ext>
            </a:extLst>
          </p:cNvPr>
          <p:cNvPicPr>
            <a:picLocks noChangeAspect="1"/>
          </p:cNvPicPr>
          <p:nvPr/>
        </p:nvPicPr>
        <p:blipFill>
          <a:blip r:embed="rId2"/>
          <a:stretch>
            <a:fillRect/>
          </a:stretch>
        </p:blipFill>
        <p:spPr>
          <a:xfrm>
            <a:off x="2700337" y="2143125"/>
            <a:ext cx="3743325" cy="2571750"/>
          </a:xfrm>
          <a:prstGeom prst="rect">
            <a:avLst/>
          </a:prstGeom>
        </p:spPr>
      </p:pic>
      <p:sp>
        <p:nvSpPr>
          <p:cNvPr id="3" name="Retângulo: Cantos Arredondados 2">
            <a:extLst>
              <a:ext uri="{FF2B5EF4-FFF2-40B4-BE49-F238E27FC236}">
                <a16:creationId xmlns:a16="http://schemas.microsoft.com/office/drawing/2014/main" id="{C31D63D4-F3E9-0631-043F-7385B7CBAC81}"/>
              </a:ext>
            </a:extLst>
          </p:cNvPr>
          <p:cNvSpPr/>
          <p:nvPr/>
        </p:nvSpPr>
        <p:spPr>
          <a:xfrm>
            <a:off x="4158338" y="2561760"/>
            <a:ext cx="558141" cy="35626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A671BBCD-2920-CEEF-893C-C02280E9891D}"/>
              </a:ext>
            </a:extLst>
          </p:cNvPr>
          <p:cNvSpPr txBox="1"/>
          <p:nvPr/>
        </p:nvSpPr>
        <p:spPr>
          <a:xfrm>
            <a:off x="4048521" y="1773793"/>
            <a:ext cx="766557" cy="369332"/>
          </a:xfrm>
          <a:prstGeom prst="rect">
            <a:avLst/>
          </a:prstGeom>
          <a:noFill/>
        </p:spPr>
        <p:txBody>
          <a:bodyPr wrap="none" rtlCol="0">
            <a:spAutoFit/>
          </a:bodyPr>
          <a:lstStyle/>
          <a:p>
            <a:r>
              <a:rPr lang="pt-BR" b="1" dirty="0">
                <a:solidFill>
                  <a:srgbClr val="FF0000"/>
                </a:solidFill>
              </a:rPr>
              <a:t>Alelos</a:t>
            </a:r>
          </a:p>
        </p:txBody>
      </p:sp>
      <p:sp>
        <p:nvSpPr>
          <p:cNvPr id="7" name="Retângulo: Cantos Arredondados 6">
            <a:extLst>
              <a:ext uri="{FF2B5EF4-FFF2-40B4-BE49-F238E27FC236}">
                <a16:creationId xmlns:a16="http://schemas.microsoft.com/office/drawing/2014/main" id="{3A856FD6-B117-B453-C179-3361145E279D}"/>
              </a:ext>
            </a:extLst>
          </p:cNvPr>
          <p:cNvSpPr/>
          <p:nvPr/>
        </p:nvSpPr>
        <p:spPr>
          <a:xfrm>
            <a:off x="3577064" y="2561760"/>
            <a:ext cx="558141" cy="35626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Cantos Arredondados 7">
            <a:extLst>
              <a:ext uri="{FF2B5EF4-FFF2-40B4-BE49-F238E27FC236}">
                <a16:creationId xmlns:a16="http://schemas.microsoft.com/office/drawing/2014/main" id="{B453EA6E-7211-821B-0F33-4A720678EFDB}"/>
              </a:ext>
            </a:extLst>
          </p:cNvPr>
          <p:cNvSpPr/>
          <p:nvPr/>
        </p:nvSpPr>
        <p:spPr>
          <a:xfrm>
            <a:off x="4742860" y="2561760"/>
            <a:ext cx="558141" cy="35626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7464642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5E7FC9-5BF9-6D0B-65C6-C541021942C7}"/>
              </a:ext>
            </a:extLst>
          </p:cNvPr>
          <p:cNvSpPr>
            <a:spLocks noGrp="1"/>
          </p:cNvSpPr>
          <p:nvPr>
            <p:ph type="title"/>
          </p:nvPr>
        </p:nvSpPr>
        <p:spPr/>
        <p:txBody>
          <a:bodyPr/>
          <a:lstStyle/>
          <a:p>
            <a:r>
              <a:rPr lang="pt-BR" dirty="0"/>
              <a:t>Terminologia</a:t>
            </a:r>
          </a:p>
        </p:txBody>
      </p:sp>
      <p:pic>
        <p:nvPicPr>
          <p:cNvPr id="6" name="Imagem 5">
            <a:extLst>
              <a:ext uri="{FF2B5EF4-FFF2-40B4-BE49-F238E27FC236}">
                <a16:creationId xmlns:a16="http://schemas.microsoft.com/office/drawing/2014/main" id="{89627200-A41F-0B62-6A45-44C5AC111E55}"/>
              </a:ext>
            </a:extLst>
          </p:cNvPr>
          <p:cNvPicPr>
            <a:picLocks noChangeAspect="1"/>
          </p:cNvPicPr>
          <p:nvPr/>
        </p:nvPicPr>
        <p:blipFill>
          <a:blip r:embed="rId2"/>
          <a:stretch>
            <a:fillRect/>
          </a:stretch>
        </p:blipFill>
        <p:spPr>
          <a:xfrm>
            <a:off x="2700337" y="2143125"/>
            <a:ext cx="3743325" cy="2571750"/>
          </a:xfrm>
          <a:prstGeom prst="rect">
            <a:avLst/>
          </a:prstGeom>
        </p:spPr>
      </p:pic>
      <p:sp>
        <p:nvSpPr>
          <p:cNvPr id="3" name="CaixaDeTexto 2">
            <a:extLst>
              <a:ext uri="{FF2B5EF4-FFF2-40B4-BE49-F238E27FC236}">
                <a16:creationId xmlns:a16="http://schemas.microsoft.com/office/drawing/2014/main" id="{F2A5998A-B2D8-09EF-979B-5890820B08B2}"/>
              </a:ext>
            </a:extLst>
          </p:cNvPr>
          <p:cNvSpPr txBox="1"/>
          <p:nvPr/>
        </p:nvSpPr>
        <p:spPr>
          <a:xfrm>
            <a:off x="4048521" y="1773793"/>
            <a:ext cx="1077539" cy="369332"/>
          </a:xfrm>
          <a:prstGeom prst="rect">
            <a:avLst/>
          </a:prstGeom>
          <a:noFill/>
        </p:spPr>
        <p:txBody>
          <a:bodyPr wrap="none" rtlCol="0">
            <a:spAutoFit/>
          </a:bodyPr>
          <a:lstStyle/>
          <a:p>
            <a:r>
              <a:rPr lang="pt-BR" b="1" dirty="0">
                <a:solidFill>
                  <a:srgbClr val="FF0000"/>
                </a:solidFill>
              </a:rPr>
              <a:t>Genótipo</a:t>
            </a:r>
          </a:p>
        </p:txBody>
      </p:sp>
      <p:sp>
        <p:nvSpPr>
          <p:cNvPr id="5" name="Retângulo: Cantos Arredondados 4">
            <a:extLst>
              <a:ext uri="{FF2B5EF4-FFF2-40B4-BE49-F238E27FC236}">
                <a16:creationId xmlns:a16="http://schemas.microsoft.com/office/drawing/2014/main" id="{B7FCD312-677F-3D8C-B763-DE4DA5CEE117}"/>
              </a:ext>
            </a:extLst>
          </p:cNvPr>
          <p:cNvSpPr/>
          <p:nvPr/>
        </p:nvSpPr>
        <p:spPr>
          <a:xfrm>
            <a:off x="3577064" y="2203620"/>
            <a:ext cx="1711216" cy="35626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7737562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5E7FC9-5BF9-6D0B-65C6-C541021942C7}"/>
              </a:ext>
            </a:extLst>
          </p:cNvPr>
          <p:cNvSpPr>
            <a:spLocks noGrp="1"/>
          </p:cNvSpPr>
          <p:nvPr>
            <p:ph type="title"/>
          </p:nvPr>
        </p:nvSpPr>
        <p:spPr/>
        <p:txBody>
          <a:bodyPr/>
          <a:lstStyle/>
          <a:p>
            <a:r>
              <a:rPr lang="pt-BR" dirty="0"/>
              <a:t>Terminologia</a:t>
            </a:r>
          </a:p>
        </p:txBody>
      </p:sp>
      <p:pic>
        <p:nvPicPr>
          <p:cNvPr id="6" name="Imagem 5">
            <a:extLst>
              <a:ext uri="{FF2B5EF4-FFF2-40B4-BE49-F238E27FC236}">
                <a16:creationId xmlns:a16="http://schemas.microsoft.com/office/drawing/2014/main" id="{89627200-A41F-0B62-6A45-44C5AC111E55}"/>
              </a:ext>
            </a:extLst>
          </p:cNvPr>
          <p:cNvPicPr>
            <a:picLocks noChangeAspect="1"/>
          </p:cNvPicPr>
          <p:nvPr/>
        </p:nvPicPr>
        <p:blipFill>
          <a:blip r:embed="rId2"/>
          <a:stretch>
            <a:fillRect/>
          </a:stretch>
        </p:blipFill>
        <p:spPr>
          <a:xfrm>
            <a:off x="2700337" y="2143125"/>
            <a:ext cx="3743325" cy="2571750"/>
          </a:xfrm>
          <a:prstGeom prst="rect">
            <a:avLst/>
          </a:prstGeom>
        </p:spPr>
      </p:pic>
      <p:sp>
        <p:nvSpPr>
          <p:cNvPr id="3" name="CaixaDeTexto 2">
            <a:extLst>
              <a:ext uri="{FF2B5EF4-FFF2-40B4-BE49-F238E27FC236}">
                <a16:creationId xmlns:a16="http://schemas.microsoft.com/office/drawing/2014/main" id="{F2A5998A-B2D8-09EF-979B-5890820B08B2}"/>
              </a:ext>
            </a:extLst>
          </p:cNvPr>
          <p:cNvSpPr txBox="1"/>
          <p:nvPr/>
        </p:nvSpPr>
        <p:spPr>
          <a:xfrm>
            <a:off x="4048521" y="1773793"/>
            <a:ext cx="1032462" cy="369332"/>
          </a:xfrm>
          <a:prstGeom prst="rect">
            <a:avLst/>
          </a:prstGeom>
          <a:noFill/>
        </p:spPr>
        <p:txBody>
          <a:bodyPr wrap="none" rtlCol="0">
            <a:spAutoFit/>
          </a:bodyPr>
          <a:lstStyle/>
          <a:p>
            <a:r>
              <a:rPr lang="pt-BR" b="1" dirty="0">
                <a:solidFill>
                  <a:srgbClr val="FF0000"/>
                </a:solidFill>
              </a:rPr>
              <a:t>Fenótipo</a:t>
            </a:r>
          </a:p>
        </p:txBody>
      </p:sp>
      <p:sp>
        <p:nvSpPr>
          <p:cNvPr id="5" name="Retângulo: Cantos Arredondados 4">
            <a:extLst>
              <a:ext uri="{FF2B5EF4-FFF2-40B4-BE49-F238E27FC236}">
                <a16:creationId xmlns:a16="http://schemas.microsoft.com/office/drawing/2014/main" id="{B7FCD312-677F-3D8C-B763-DE4DA5CEE117}"/>
              </a:ext>
            </a:extLst>
          </p:cNvPr>
          <p:cNvSpPr/>
          <p:nvPr/>
        </p:nvSpPr>
        <p:spPr>
          <a:xfrm>
            <a:off x="5352524" y="2211240"/>
            <a:ext cx="964456" cy="35626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057021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5E7FC9-5BF9-6D0B-65C6-C541021942C7}"/>
              </a:ext>
            </a:extLst>
          </p:cNvPr>
          <p:cNvSpPr>
            <a:spLocks noGrp="1"/>
          </p:cNvSpPr>
          <p:nvPr>
            <p:ph type="title"/>
          </p:nvPr>
        </p:nvSpPr>
        <p:spPr/>
        <p:txBody>
          <a:bodyPr/>
          <a:lstStyle/>
          <a:p>
            <a:r>
              <a:rPr lang="pt-BR" dirty="0"/>
              <a:t>Terminologia</a:t>
            </a:r>
          </a:p>
        </p:txBody>
      </p:sp>
      <p:pic>
        <p:nvPicPr>
          <p:cNvPr id="6" name="Imagem 5">
            <a:extLst>
              <a:ext uri="{FF2B5EF4-FFF2-40B4-BE49-F238E27FC236}">
                <a16:creationId xmlns:a16="http://schemas.microsoft.com/office/drawing/2014/main" id="{89627200-A41F-0B62-6A45-44C5AC111E55}"/>
              </a:ext>
            </a:extLst>
          </p:cNvPr>
          <p:cNvPicPr>
            <a:picLocks noChangeAspect="1"/>
          </p:cNvPicPr>
          <p:nvPr/>
        </p:nvPicPr>
        <p:blipFill>
          <a:blip r:embed="rId2"/>
          <a:stretch>
            <a:fillRect/>
          </a:stretch>
        </p:blipFill>
        <p:spPr>
          <a:xfrm>
            <a:off x="2700337" y="2143125"/>
            <a:ext cx="3743325" cy="2571750"/>
          </a:xfrm>
          <a:prstGeom prst="rect">
            <a:avLst/>
          </a:prstGeom>
        </p:spPr>
      </p:pic>
      <p:sp>
        <p:nvSpPr>
          <p:cNvPr id="3" name="CaixaDeTexto 2">
            <a:extLst>
              <a:ext uri="{FF2B5EF4-FFF2-40B4-BE49-F238E27FC236}">
                <a16:creationId xmlns:a16="http://schemas.microsoft.com/office/drawing/2014/main" id="{F2A5998A-B2D8-09EF-979B-5890820B08B2}"/>
              </a:ext>
            </a:extLst>
          </p:cNvPr>
          <p:cNvSpPr txBox="1"/>
          <p:nvPr/>
        </p:nvSpPr>
        <p:spPr>
          <a:xfrm>
            <a:off x="4048521" y="1773793"/>
            <a:ext cx="848309" cy="369332"/>
          </a:xfrm>
          <a:prstGeom prst="rect">
            <a:avLst/>
          </a:prstGeom>
          <a:noFill/>
        </p:spPr>
        <p:txBody>
          <a:bodyPr wrap="none" rtlCol="0">
            <a:spAutoFit/>
          </a:bodyPr>
          <a:lstStyle/>
          <a:p>
            <a:r>
              <a:rPr lang="pt-BR" b="1" dirty="0">
                <a:solidFill>
                  <a:srgbClr val="FF0000"/>
                </a:solidFill>
              </a:rPr>
              <a:t>Fitness</a:t>
            </a:r>
          </a:p>
        </p:txBody>
      </p:sp>
      <p:sp>
        <p:nvSpPr>
          <p:cNvPr id="5" name="Retângulo: Cantos Arredondados 4">
            <a:extLst>
              <a:ext uri="{FF2B5EF4-FFF2-40B4-BE49-F238E27FC236}">
                <a16:creationId xmlns:a16="http://schemas.microsoft.com/office/drawing/2014/main" id="{B7FCD312-677F-3D8C-B763-DE4DA5CEE117}"/>
              </a:ext>
            </a:extLst>
          </p:cNvPr>
          <p:cNvSpPr/>
          <p:nvPr/>
        </p:nvSpPr>
        <p:spPr>
          <a:xfrm>
            <a:off x="5352524" y="2561760"/>
            <a:ext cx="964456" cy="35626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7783984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5E7FC9-5BF9-6D0B-65C6-C541021942C7}"/>
              </a:ext>
            </a:extLst>
          </p:cNvPr>
          <p:cNvSpPr>
            <a:spLocks noGrp="1"/>
          </p:cNvSpPr>
          <p:nvPr>
            <p:ph type="title"/>
          </p:nvPr>
        </p:nvSpPr>
        <p:spPr/>
        <p:txBody>
          <a:bodyPr/>
          <a:lstStyle/>
          <a:p>
            <a:r>
              <a:rPr lang="pt-BR" dirty="0"/>
              <a:t>Terminologia</a:t>
            </a:r>
          </a:p>
        </p:txBody>
      </p:sp>
      <p:pic>
        <p:nvPicPr>
          <p:cNvPr id="6" name="Imagem 5">
            <a:extLst>
              <a:ext uri="{FF2B5EF4-FFF2-40B4-BE49-F238E27FC236}">
                <a16:creationId xmlns:a16="http://schemas.microsoft.com/office/drawing/2014/main" id="{89627200-A41F-0B62-6A45-44C5AC111E55}"/>
              </a:ext>
            </a:extLst>
          </p:cNvPr>
          <p:cNvPicPr>
            <a:picLocks noChangeAspect="1"/>
          </p:cNvPicPr>
          <p:nvPr/>
        </p:nvPicPr>
        <p:blipFill>
          <a:blip r:embed="rId2"/>
          <a:stretch>
            <a:fillRect/>
          </a:stretch>
        </p:blipFill>
        <p:spPr>
          <a:xfrm>
            <a:off x="2700337" y="2143125"/>
            <a:ext cx="3743325" cy="2571750"/>
          </a:xfrm>
          <a:prstGeom prst="rect">
            <a:avLst/>
          </a:prstGeom>
        </p:spPr>
      </p:pic>
      <p:sp>
        <p:nvSpPr>
          <p:cNvPr id="3" name="CaixaDeTexto 2">
            <a:extLst>
              <a:ext uri="{FF2B5EF4-FFF2-40B4-BE49-F238E27FC236}">
                <a16:creationId xmlns:a16="http://schemas.microsoft.com/office/drawing/2014/main" id="{48AF5431-D00C-97E6-50A6-5EC17BDF6E96}"/>
              </a:ext>
            </a:extLst>
          </p:cNvPr>
          <p:cNvSpPr txBox="1"/>
          <p:nvPr/>
        </p:nvSpPr>
        <p:spPr>
          <a:xfrm>
            <a:off x="4048521" y="1773793"/>
            <a:ext cx="970137" cy="369332"/>
          </a:xfrm>
          <a:prstGeom prst="rect">
            <a:avLst/>
          </a:prstGeom>
          <a:noFill/>
        </p:spPr>
        <p:txBody>
          <a:bodyPr wrap="none" rtlCol="0">
            <a:spAutoFit/>
          </a:bodyPr>
          <a:lstStyle/>
          <a:p>
            <a:r>
              <a:rPr lang="pt-BR" b="1" dirty="0">
                <a:solidFill>
                  <a:srgbClr val="FF0000"/>
                </a:solidFill>
              </a:rPr>
              <a:t>Geração</a:t>
            </a:r>
          </a:p>
        </p:txBody>
      </p:sp>
      <p:sp>
        <p:nvSpPr>
          <p:cNvPr id="5" name="Retângulo: Cantos Arredondados 4">
            <a:extLst>
              <a:ext uri="{FF2B5EF4-FFF2-40B4-BE49-F238E27FC236}">
                <a16:creationId xmlns:a16="http://schemas.microsoft.com/office/drawing/2014/main" id="{C63734D9-6FAA-601F-095E-D4BBDCC0B2AC}"/>
              </a:ext>
            </a:extLst>
          </p:cNvPr>
          <p:cNvSpPr/>
          <p:nvPr/>
        </p:nvSpPr>
        <p:spPr>
          <a:xfrm>
            <a:off x="2700337" y="2143125"/>
            <a:ext cx="3743325" cy="257174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9155470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E4016-805D-ED63-ABD0-34F6CBE617B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82EBDB-18EA-A9E5-44CF-12E481A8D11A}"/>
              </a:ext>
            </a:extLst>
          </p:cNvPr>
          <p:cNvSpPr>
            <a:spLocks noGrp="1"/>
          </p:cNvSpPr>
          <p:nvPr>
            <p:ph type="title"/>
          </p:nvPr>
        </p:nvSpPr>
        <p:spPr/>
        <p:txBody>
          <a:bodyPr/>
          <a:lstStyle/>
          <a:p>
            <a:r>
              <a:rPr lang="pt-BR" dirty="0"/>
              <a:t>Terminologia</a:t>
            </a:r>
          </a:p>
        </p:txBody>
      </p:sp>
      <p:pic>
        <p:nvPicPr>
          <p:cNvPr id="6" name="Imagem 5">
            <a:extLst>
              <a:ext uri="{FF2B5EF4-FFF2-40B4-BE49-F238E27FC236}">
                <a16:creationId xmlns:a16="http://schemas.microsoft.com/office/drawing/2014/main" id="{FC2CFD2D-86D0-D2EB-E01E-DFAABBF558D8}"/>
              </a:ext>
            </a:extLst>
          </p:cNvPr>
          <p:cNvPicPr>
            <a:picLocks noChangeAspect="1"/>
          </p:cNvPicPr>
          <p:nvPr/>
        </p:nvPicPr>
        <p:blipFill>
          <a:blip r:embed="rId4"/>
          <a:stretch>
            <a:fillRect/>
          </a:stretch>
        </p:blipFill>
        <p:spPr>
          <a:xfrm>
            <a:off x="2700337" y="2143125"/>
            <a:ext cx="3743325" cy="2571750"/>
          </a:xfrm>
          <a:prstGeom prst="rect">
            <a:avLst/>
          </a:prstGeom>
        </p:spPr>
      </p:pic>
      <p:sp>
        <p:nvSpPr>
          <p:cNvPr id="3" name="CaixaDeTexto 2">
            <a:extLst>
              <a:ext uri="{FF2B5EF4-FFF2-40B4-BE49-F238E27FC236}">
                <a16:creationId xmlns:a16="http://schemas.microsoft.com/office/drawing/2014/main" id="{9C54CBAB-6D9A-52F5-FC01-36FD7A26E646}"/>
              </a:ext>
            </a:extLst>
          </p:cNvPr>
          <p:cNvSpPr txBox="1"/>
          <p:nvPr/>
        </p:nvSpPr>
        <p:spPr>
          <a:xfrm>
            <a:off x="4048521" y="1773793"/>
            <a:ext cx="970137" cy="369332"/>
          </a:xfrm>
          <a:prstGeom prst="rect">
            <a:avLst/>
          </a:prstGeom>
          <a:noFill/>
        </p:spPr>
        <p:txBody>
          <a:bodyPr wrap="none" rtlCol="0">
            <a:spAutoFit/>
          </a:bodyPr>
          <a:lstStyle/>
          <a:p>
            <a:r>
              <a:rPr lang="pt-BR" b="1" dirty="0">
                <a:solidFill>
                  <a:srgbClr val="FF0000"/>
                </a:solidFill>
              </a:rPr>
              <a:t>Geração</a:t>
            </a:r>
          </a:p>
        </p:txBody>
      </p:sp>
      <p:sp>
        <p:nvSpPr>
          <p:cNvPr id="5" name="Retângulo: Cantos Arredondados 4">
            <a:extLst>
              <a:ext uri="{FF2B5EF4-FFF2-40B4-BE49-F238E27FC236}">
                <a16:creationId xmlns:a16="http://schemas.microsoft.com/office/drawing/2014/main" id="{EE5D386E-A59B-3B1A-83BF-D6ED2ABEBBDD}"/>
              </a:ext>
            </a:extLst>
          </p:cNvPr>
          <p:cNvSpPr/>
          <p:nvPr/>
        </p:nvSpPr>
        <p:spPr>
          <a:xfrm>
            <a:off x="2700337" y="2143125"/>
            <a:ext cx="3743325" cy="257174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 name="Imagem 6">
            <a:extLst>
              <a:ext uri="{FF2B5EF4-FFF2-40B4-BE49-F238E27FC236}">
                <a16:creationId xmlns:a16="http://schemas.microsoft.com/office/drawing/2014/main" id="{AD63058B-BEF1-19DD-7A48-475DF70A46E1}"/>
              </a:ext>
            </a:extLst>
          </p:cNvPr>
          <p:cNvPicPr>
            <a:picLocks noChangeAspect="1"/>
          </p:cNvPicPr>
          <p:nvPr/>
        </p:nvPicPr>
        <p:blipFill>
          <a:blip r:embed="rId5"/>
          <a:stretch>
            <a:fillRect/>
          </a:stretch>
        </p:blipFill>
        <p:spPr>
          <a:xfrm>
            <a:off x="2162648" y="1346181"/>
            <a:ext cx="5235394" cy="5624047"/>
          </a:xfrm>
          <a:prstGeom prst="rect">
            <a:avLst/>
          </a:prstGeom>
        </p:spPr>
      </p:pic>
      <p:pic>
        <p:nvPicPr>
          <p:cNvPr id="8" name="remember-who-you-are-fnbamsriyy8_3S2wgC6X (mp3cut.net)">
            <a:hlinkClick r:id="" action="ppaction://media"/>
            <a:extLst>
              <a:ext uri="{FF2B5EF4-FFF2-40B4-BE49-F238E27FC236}">
                <a16:creationId xmlns:a16="http://schemas.microsoft.com/office/drawing/2014/main" id="{D7386C0C-FE00-F98D-E492-073CF99FAFD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355515" y="6145654"/>
            <a:ext cx="487363" cy="487363"/>
          </a:xfrm>
          <a:prstGeom prst="rect">
            <a:avLst/>
          </a:prstGeom>
        </p:spPr>
      </p:pic>
    </p:spTree>
    <p:extLst>
      <p:ext uri="{BB962C8B-B14F-4D97-AF65-F5344CB8AC3E}">
        <p14:creationId xmlns:p14="http://schemas.microsoft.com/office/powerpoint/2010/main" val="1323644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57"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10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3D4DB5-2F41-4638-A592-9F75C12BC9F0}"/>
              </a:ext>
            </a:extLst>
          </p:cNvPr>
          <p:cNvSpPr>
            <a:spLocks noGrp="1"/>
          </p:cNvSpPr>
          <p:nvPr>
            <p:ph type="title"/>
          </p:nvPr>
        </p:nvSpPr>
        <p:spPr/>
        <p:txBody>
          <a:bodyPr/>
          <a:lstStyle/>
          <a:p>
            <a:r>
              <a:rPr lang="pt-BR" dirty="0"/>
              <a:t>Representação</a:t>
            </a:r>
          </a:p>
        </p:txBody>
      </p:sp>
      <p:sp>
        <p:nvSpPr>
          <p:cNvPr id="3" name="Espaço Reservado para Conteúdo 2">
            <a:extLst>
              <a:ext uri="{FF2B5EF4-FFF2-40B4-BE49-F238E27FC236}">
                <a16:creationId xmlns:a16="http://schemas.microsoft.com/office/drawing/2014/main" id="{964C918A-B50D-4BBD-B55E-09B819751ECD}"/>
              </a:ext>
            </a:extLst>
          </p:cNvPr>
          <p:cNvSpPr>
            <a:spLocks noGrp="1"/>
          </p:cNvSpPr>
          <p:nvPr>
            <p:ph idx="1"/>
          </p:nvPr>
        </p:nvSpPr>
        <p:spPr/>
        <p:txBody>
          <a:bodyPr>
            <a:normAutofit/>
          </a:bodyPr>
          <a:lstStyle/>
          <a:p>
            <a:r>
              <a:rPr lang="pt-BR" dirty="0"/>
              <a:t>Binária (clássica)</a:t>
            </a:r>
          </a:p>
          <a:p>
            <a:pPr algn="just"/>
            <a:r>
              <a:rPr lang="pt-BR" sz="2400" u="none" dirty="0"/>
              <a:t>Os elementos (seus genes) são representados através de cadeias binárias. As etapas seguintes devem levar em conta tal representação. Isso é visto na função de fitness, cruzamento e mutação</a:t>
            </a:r>
          </a:p>
          <a:p>
            <a:endParaRPr lang="pt-BR" u="none" dirty="0"/>
          </a:p>
          <a:p>
            <a:r>
              <a:rPr lang="pt-BR" dirty="0"/>
              <a:t>Real</a:t>
            </a:r>
          </a:p>
          <a:p>
            <a:pPr algn="just"/>
            <a:r>
              <a:rPr lang="pt-BR" sz="2400" u="none" dirty="0"/>
              <a:t>O elementos são representados por valores literais como elementos do tipo inteiro ou real</a:t>
            </a:r>
          </a:p>
        </p:txBody>
      </p:sp>
    </p:spTree>
    <p:extLst>
      <p:ext uri="{BB962C8B-B14F-4D97-AF65-F5344CB8AC3E}">
        <p14:creationId xmlns:p14="http://schemas.microsoft.com/office/powerpoint/2010/main" val="135254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A49618-DD43-387D-1341-4C7F8BF74707}"/>
              </a:ext>
            </a:extLst>
          </p:cNvPr>
          <p:cNvSpPr>
            <a:spLocks noGrp="1"/>
          </p:cNvSpPr>
          <p:nvPr>
            <p:ph type="title"/>
          </p:nvPr>
        </p:nvSpPr>
        <p:spPr/>
        <p:txBody>
          <a:bodyPr/>
          <a:lstStyle/>
          <a:p>
            <a:endParaRPr lang="pt-BR"/>
          </a:p>
        </p:txBody>
      </p:sp>
      <p:pic>
        <p:nvPicPr>
          <p:cNvPr id="6" name="Espaço Reservado para Conteúdo 5">
            <a:extLst>
              <a:ext uri="{FF2B5EF4-FFF2-40B4-BE49-F238E27FC236}">
                <a16:creationId xmlns:a16="http://schemas.microsoft.com/office/drawing/2014/main" id="{241B12EC-DF3C-2BED-419B-44F54350AD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7736680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3A9FD7-0489-EAB4-6B89-75524DAE23E6}"/>
              </a:ext>
            </a:extLst>
          </p:cNvPr>
          <p:cNvSpPr>
            <a:spLocks noGrp="1"/>
          </p:cNvSpPr>
          <p:nvPr>
            <p:ph type="title"/>
          </p:nvPr>
        </p:nvSpPr>
        <p:spPr/>
        <p:txBody>
          <a:bodyPr/>
          <a:lstStyle/>
          <a:p>
            <a:r>
              <a:rPr lang="pt-BR" dirty="0"/>
              <a:t>AG Básico</a:t>
            </a:r>
          </a:p>
        </p:txBody>
      </p:sp>
      <p:pic>
        <p:nvPicPr>
          <p:cNvPr id="6" name="Imagem 5">
            <a:extLst>
              <a:ext uri="{FF2B5EF4-FFF2-40B4-BE49-F238E27FC236}">
                <a16:creationId xmlns:a16="http://schemas.microsoft.com/office/drawing/2014/main" id="{DFD4D2C3-86E1-82F5-193D-B2A6ADD44ADE}"/>
              </a:ext>
            </a:extLst>
          </p:cNvPr>
          <p:cNvPicPr>
            <a:picLocks noChangeAspect="1"/>
          </p:cNvPicPr>
          <p:nvPr/>
        </p:nvPicPr>
        <p:blipFill>
          <a:blip r:embed="rId2"/>
          <a:stretch>
            <a:fillRect/>
          </a:stretch>
        </p:blipFill>
        <p:spPr>
          <a:xfrm>
            <a:off x="1242019" y="1456539"/>
            <a:ext cx="6374123" cy="5434349"/>
          </a:xfrm>
          <a:prstGeom prst="rect">
            <a:avLst/>
          </a:prstGeom>
        </p:spPr>
      </p:pic>
    </p:spTree>
    <p:extLst>
      <p:ext uri="{BB962C8B-B14F-4D97-AF65-F5344CB8AC3E}">
        <p14:creationId xmlns:p14="http://schemas.microsoft.com/office/powerpoint/2010/main" val="17966631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388B6E-B6CF-46A0-82DB-6837A80B80CD}"/>
              </a:ext>
            </a:extLst>
          </p:cNvPr>
          <p:cNvSpPr>
            <a:spLocks noGrp="1"/>
          </p:cNvSpPr>
          <p:nvPr>
            <p:ph type="title"/>
          </p:nvPr>
        </p:nvSpPr>
        <p:spPr/>
        <p:txBody>
          <a:bodyPr/>
          <a:lstStyle/>
          <a:p>
            <a:r>
              <a:rPr lang="pt-BR" dirty="0"/>
              <a:t>AG Básico</a:t>
            </a:r>
          </a:p>
        </p:txBody>
      </p:sp>
      <p:pic>
        <p:nvPicPr>
          <p:cNvPr id="5" name="Imagem 4">
            <a:extLst>
              <a:ext uri="{FF2B5EF4-FFF2-40B4-BE49-F238E27FC236}">
                <a16:creationId xmlns:a16="http://schemas.microsoft.com/office/drawing/2014/main" id="{4C107F8F-2C39-31C5-78AD-BC2CDBB16B69}"/>
              </a:ext>
            </a:extLst>
          </p:cNvPr>
          <p:cNvPicPr>
            <a:picLocks noChangeAspect="1"/>
          </p:cNvPicPr>
          <p:nvPr/>
        </p:nvPicPr>
        <p:blipFill>
          <a:blip r:embed="rId2"/>
          <a:stretch>
            <a:fillRect/>
          </a:stretch>
        </p:blipFill>
        <p:spPr>
          <a:xfrm>
            <a:off x="19050" y="1745116"/>
            <a:ext cx="9105900" cy="3400425"/>
          </a:xfrm>
          <a:prstGeom prst="rect">
            <a:avLst/>
          </a:prstGeom>
        </p:spPr>
      </p:pic>
      <p:sp>
        <p:nvSpPr>
          <p:cNvPr id="7" name="Retângulo 6">
            <a:extLst>
              <a:ext uri="{FF2B5EF4-FFF2-40B4-BE49-F238E27FC236}">
                <a16:creationId xmlns:a16="http://schemas.microsoft.com/office/drawing/2014/main" id="{B7CA58FC-3D54-F108-9CCA-034452027FCE}"/>
              </a:ext>
            </a:extLst>
          </p:cNvPr>
          <p:cNvSpPr/>
          <p:nvPr/>
        </p:nvSpPr>
        <p:spPr>
          <a:xfrm>
            <a:off x="7520940" y="1870710"/>
            <a:ext cx="426720" cy="2171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2890187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9EB4-EFC1-4C0C-975F-98D176E573F5}"/>
              </a:ext>
            </a:extLst>
          </p:cNvPr>
          <p:cNvSpPr>
            <a:spLocks noGrp="1"/>
          </p:cNvSpPr>
          <p:nvPr>
            <p:ph type="title"/>
          </p:nvPr>
        </p:nvSpPr>
        <p:spPr/>
        <p:txBody>
          <a:bodyPr/>
          <a:lstStyle/>
          <a:p>
            <a:r>
              <a:rPr lang="pt-BR" dirty="0"/>
              <a:t>Inicialização</a:t>
            </a:r>
          </a:p>
        </p:txBody>
      </p:sp>
      <p:sp>
        <p:nvSpPr>
          <p:cNvPr id="3" name="Espaço Reservado para Conteúdo 2">
            <a:extLst>
              <a:ext uri="{FF2B5EF4-FFF2-40B4-BE49-F238E27FC236}">
                <a16:creationId xmlns:a16="http://schemas.microsoft.com/office/drawing/2014/main" id="{042D7984-C005-489F-A093-A81DEF641890}"/>
              </a:ext>
            </a:extLst>
          </p:cNvPr>
          <p:cNvSpPr>
            <a:spLocks noGrp="1"/>
          </p:cNvSpPr>
          <p:nvPr>
            <p:ph idx="1"/>
          </p:nvPr>
        </p:nvSpPr>
        <p:spPr/>
        <p:txBody>
          <a:bodyPr>
            <a:normAutofit fontScale="92500" lnSpcReduction="10000"/>
          </a:bodyPr>
          <a:lstStyle/>
          <a:p>
            <a:pPr marL="457200" indent="-457200" algn="just">
              <a:buFont typeface="Arial" panose="020B0604020202020204" pitchFamily="34" charset="0"/>
              <a:buChar char="•"/>
            </a:pPr>
            <a:r>
              <a:rPr lang="pt-BR" u="none" dirty="0"/>
              <a:t>Inicialmente uma população de N indivíduos é criada. Cada um destes indivíduos representa uma possível solução, viável ou não, para o problema em questão, ou seja, um ponto no espaço de soluções.</a:t>
            </a:r>
          </a:p>
          <a:p>
            <a:pPr marL="457200" indent="-457200" algn="just">
              <a:buFont typeface="Arial" panose="020B0604020202020204" pitchFamily="34" charset="0"/>
              <a:buChar char="•"/>
            </a:pPr>
            <a:endParaRPr lang="pt-BR" u="none" dirty="0"/>
          </a:p>
          <a:p>
            <a:pPr marL="457200" indent="-457200" algn="just">
              <a:buFont typeface="Arial" panose="020B0604020202020204" pitchFamily="34" charset="0"/>
              <a:buChar char="•"/>
            </a:pPr>
            <a:r>
              <a:rPr lang="pt-BR" u="none" dirty="0"/>
              <a:t>Geralmente estes indivíduos recebem valores aleatórios, mas caso o projetista tenha um conhecimento considerável do problema a ser abordado ele pode fazer com que estes indivíduos iniciais (população inicial) receba uma gama de valores direcionados, ou seja, recebe valores que não se apresentaram absurdos ao contexto do problema.</a:t>
            </a:r>
          </a:p>
        </p:txBody>
      </p:sp>
    </p:spTree>
    <p:extLst>
      <p:ext uri="{BB962C8B-B14F-4D97-AF65-F5344CB8AC3E}">
        <p14:creationId xmlns:p14="http://schemas.microsoft.com/office/powerpoint/2010/main" val="3096336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F2935C-4470-4729-A325-467295316EF2}"/>
              </a:ext>
            </a:extLst>
          </p:cNvPr>
          <p:cNvSpPr>
            <a:spLocks noGrp="1"/>
          </p:cNvSpPr>
          <p:nvPr>
            <p:ph type="title"/>
          </p:nvPr>
        </p:nvSpPr>
        <p:spPr/>
        <p:txBody>
          <a:bodyPr/>
          <a:lstStyle/>
          <a:p>
            <a:r>
              <a:rPr lang="pt-BR" dirty="0"/>
              <a:t>Inicialização</a:t>
            </a:r>
          </a:p>
        </p:txBody>
      </p:sp>
      <p:sp>
        <p:nvSpPr>
          <p:cNvPr id="3" name="Espaço Reservado para Conteúdo 2">
            <a:extLst>
              <a:ext uri="{FF2B5EF4-FFF2-40B4-BE49-F238E27FC236}">
                <a16:creationId xmlns:a16="http://schemas.microsoft.com/office/drawing/2014/main" id="{A87AA2CF-F179-46DE-B815-7563D96299DD}"/>
              </a:ext>
            </a:extLst>
          </p:cNvPr>
          <p:cNvSpPr>
            <a:spLocks noGrp="1"/>
          </p:cNvSpPr>
          <p:nvPr>
            <p:ph idx="1"/>
          </p:nvPr>
        </p:nvSpPr>
        <p:spPr/>
        <p:txBody>
          <a:bodyPr/>
          <a:lstStyle/>
          <a:p>
            <a:pPr marL="457200" indent="-457200" algn="just">
              <a:buFont typeface="Arial" panose="020B0604020202020204" pitchFamily="34" charset="0"/>
              <a:buChar char="•"/>
            </a:pPr>
            <a:r>
              <a:rPr lang="pt-BR" u="none" dirty="0"/>
              <a:t>Por exemplo, digamos que estamos trabalhando com um problema que visa encontrar a menor distância entre duas cidades, cada indivíduo representa uma distância, seria indesejável que os mesmos recebem distâncias negativas já que distâncias negativas não são possíveis neste caso.</a:t>
            </a:r>
          </a:p>
          <a:p>
            <a:pPr marL="457200" indent="-457200" algn="just">
              <a:buFont typeface="Arial" panose="020B0604020202020204" pitchFamily="34" charset="0"/>
              <a:buChar char="•"/>
            </a:pPr>
            <a:endParaRPr lang="pt-BR" u="none" dirty="0"/>
          </a:p>
          <a:p>
            <a:pPr marL="457200" indent="-457200" algn="just">
              <a:buFont typeface="Arial" panose="020B0604020202020204" pitchFamily="34" charset="0"/>
              <a:buChar char="•"/>
            </a:pPr>
            <a:r>
              <a:rPr lang="pt-BR" u="none" dirty="0"/>
              <a:t>O projetista pode especificar, por exemplo, que as distâncias sejam inferiores a um limite...</a:t>
            </a:r>
          </a:p>
        </p:txBody>
      </p:sp>
    </p:spTree>
    <p:extLst>
      <p:ext uri="{BB962C8B-B14F-4D97-AF65-F5344CB8AC3E}">
        <p14:creationId xmlns:p14="http://schemas.microsoft.com/office/powerpoint/2010/main" val="9066350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FC248A-81A0-47C1-91A1-263FCF152316}"/>
              </a:ext>
            </a:extLst>
          </p:cNvPr>
          <p:cNvSpPr>
            <a:spLocks noGrp="1"/>
          </p:cNvSpPr>
          <p:nvPr>
            <p:ph type="title"/>
          </p:nvPr>
        </p:nvSpPr>
        <p:spPr/>
        <p:txBody>
          <a:bodyPr>
            <a:normAutofit fontScale="90000"/>
          </a:bodyPr>
          <a:lstStyle/>
          <a:p>
            <a:r>
              <a:rPr lang="pt-BR" dirty="0"/>
              <a:t>Cálculo da Aptidão (Fitness)</a:t>
            </a:r>
          </a:p>
        </p:txBody>
      </p:sp>
      <p:sp>
        <p:nvSpPr>
          <p:cNvPr id="3" name="Espaço Reservado para Conteúdo 2">
            <a:extLst>
              <a:ext uri="{FF2B5EF4-FFF2-40B4-BE49-F238E27FC236}">
                <a16:creationId xmlns:a16="http://schemas.microsoft.com/office/drawing/2014/main" id="{6A597090-E3D1-4DC1-A6B1-EAF4107C971B}"/>
              </a:ext>
            </a:extLst>
          </p:cNvPr>
          <p:cNvSpPr>
            <a:spLocks noGrp="1"/>
          </p:cNvSpPr>
          <p:nvPr>
            <p:ph idx="1"/>
          </p:nvPr>
        </p:nvSpPr>
        <p:spPr/>
        <p:txBody>
          <a:bodyPr>
            <a:normAutofit fontScale="92500" lnSpcReduction="20000"/>
          </a:bodyPr>
          <a:lstStyle/>
          <a:p>
            <a:pPr marL="457200" indent="-457200" algn="just">
              <a:buFont typeface="Arial" panose="020B0604020202020204" pitchFamily="34" charset="0"/>
              <a:buChar char="•"/>
            </a:pPr>
            <a:r>
              <a:rPr lang="pt-BR" u="none" dirty="0"/>
              <a:t>Neste passo são calculados os valores de aptidão para cada um dos n indivíduos da população. É comum que esta aptidão seja calculada através da função objetivo, que depende diretamente das especificações do projeto. </a:t>
            </a:r>
          </a:p>
          <a:p>
            <a:pPr marL="457200" indent="-457200" algn="just">
              <a:buFont typeface="Arial" panose="020B0604020202020204" pitchFamily="34" charset="0"/>
              <a:buChar char="•"/>
            </a:pPr>
            <a:endParaRPr lang="pt-BR" u="none" dirty="0"/>
          </a:p>
          <a:p>
            <a:pPr marL="457200" indent="-457200" algn="just">
              <a:buFont typeface="Arial" panose="020B0604020202020204" pitchFamily="34" charset="0"/>
              <a:buChar char="•"/>
            </a:pPr>
            <a:r>
              <a:rPr lang="pt-BR" u="none" dirty="0"/>
              <a:t>Após o cálculo os indivíduos são ordenados conforme sua aptidão.</a:t>
            </a:r>
          </a:p>
          <a:p>
            <a:pPr marL="457200" indent="-457200" algn="just">
              <a:buFont typeface="Arial" panose="020B0604020202020204" pitchFamily="34" charset="0"/>
              <a:buChar char="•"/>
            </a:pPr>
            <a:endParaRPr lang="pt-BR" u="none" dirty="0"/>
          </a:p>
          <a:p>
            <a:pPr marL="457200" indent="-457200" algn="just">
              <a:buFont typeface="Arial" panose="020B0604020202020204" pitchFamily="34" charset="0"/>
              <a:buChar char="•"/>
            </a:pPr>
            <a:r>
              <a:rPr lang="pt-BR" u="none" dirty="0"/>
              <a:t>Normalmente envolve a necessidade da decodificação dos indivíduos para outra representação para poder calcular o fitness.</a:t>
            </a:r>
          </a:p>
        </p:txBody>
      </p:sp>
    </p:spTree>
    <p:extLst>
      <p:ext uri="{BB962C8B-B14F-4D97-AF65-F5344CB8AC3E}">
        <p14:creationId xmlns:p14="http://schemas.microsoft.com/office/powerpoint/2010/main" val="4359639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FC248A-81A0-47C1-91A1-263FCF152316}"/>
              </a:ext>
            </a:extLst>
          </p:cNvPr>
          <p:cNvSpPr>
            <a:spLocks noGrp="1"/>
          </p:cNvSpPr>
          <p:nvPr>
            <p:ph type="title"/>
          </p:nvPr>
        </p:nvSpPr>
        <p:spPr/>
        <p:txBody>
          <a:bodyPr>
            <a:normAutofit fontScale="90000"/>
          </a:bodyPr>
          <a:lstStyle/>
          <a:p>
            <a:r>
              <a:rPr lang="pt-BR" dirty="0"/>
              <a:t>Cálculo da Aptidão (Fitness)</a:t>
            </a:r>
          </a:p>
        </p:txBody>
      </p:sp>
      <p:sp>
        <p:nvSpPr>
          <p:cNvPr id="3" name="Espaço Reservado para Conteúdo 2">
            <a:extLst>
              <a:ext uri="{FF2B5EF4-FFF2-40B4-BE49-F238E27FC236}">
                <a16:creationId xmlns:a16="http://schemas.microsoft.com/office/drawing/2014/main" id="{6A597090-E3D1-4DC1-A6B1-EAF4107C971B}"/>
              </a:ext>
            </a:extLst>
          </p:cNvPr>
          <p:cNvSpPr>
            <a:spLocks noGrp="1"/>
          </p:cNvSpPr>
          <p:nvPr>
            <p:ph idx="1"/>
          </p:nvPr>
        </p:nvSpPr>
        <p:spPr/>
        <p:txBody>
          <a:bodyPr/>
          <a:lstStyle/>
          <a:p>
            <a:pPr marL="457200" indent="-457200" algn="just">
              <a:buFont typeface="Arial" panose="020B0604020202020204" pitchFamily="34" charset="0"/>
              <a:buChar char="•"/>
            </a:pPr>
            <a:r>
              <a:rPr lang="pt-BR" u="none" dirty="0"/>
              <a:t>A função é totalmente dependente do problema a ser resolvida</a:t>
            </a:r>
          </a:p>
          <a:p>
            <a:pPr marL="457200" indent="-457200" algn="just">
              <a:buFont typeface="Arial" panose="020B0604020202020204" pitchFamily="34" charset="0"/>
              <a:buChar char="•"/>
            </a:pPr>
            <a:endParaRPr lang="pt-BR" u="none" dirty="0"/>
          </a:p>
          <a:p>
            <a:pPr marL="457200" indent="-457200" algn="just">
              <a:buFont typeface="Arial" panose="020B0604020202020204" pitchFamily="34" charset="0"/>
              <a:buChar char="•"/>
            </a:pPr>
            <a:r>
              <a:rPr lang="pt-BR" u="none" dirty="0"/>
              <a:t>O resultado da função de fitness é usado para estimar o grau de competência daquele indivíduo para resolver o problema (aptidão)</a:t>
            </a:r>
          </a:p>
          <a:p>
            <a:pPr marL="457200" indent="-457200" algn="just">
              <a:buFont typeface="Arial" panose="020B0604020202020204" pitchFamily="34" charset="0"/>
              <a:buChar char="•"/>
            </a:pPr>
            <a:endParaRPr lang="pt-BR" u="none" dirty="0"/>
          </a:p>
          <a:p>
            <a:pPr marL="457200" indent="-457200" algn="just">
              <a:buFont typeface="Arial" panose="020B0604020202020204" pitchFamily="34" charset="0"/>
              <a:buChar char="•"/>
            </a:pPr>
            <a:r>
              <a:rPr lang="pt-BR" u="none" dirty="0"/>
              <a:t>O valor obtido para o fitness pode ser usado em etapas seguintes como o Cruzamento e o Elitismo</a:t>
            </a:r>
          </a:p>
        </p:txBody>
      </p:sp>
    </p:spTree>
    <p:extLst>
      <p:ext uri="{BB962C8B-B14F-4D97-AF65-F5344CB8AC3E}">
        <p14:creationId xmlns:p14="http://schemas.microsoft.com/office/powerpoint/2010/main" val="36556036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FC248A-81A0-47C1-91A1-263FCF152316}"/>
              </a:ext>
            </a:extLst>
          </p:cNvPr>
          <p:cNvSpPr>
            <a:spLocks noGrp="1"/>
          </p:cNvSpPr>
          <p:nvPr>
            <p:ph type="title"/>
          </p:nvPr>
        </p:nvSpPr>
        <p:spPr/>
        <p:txBody>
          <a:bodyPr>
            <a:normAutofit/>
          </a:bodyPr>
          <a:lstStyle/>
          <a:p>
            <a:r>
              <a:rPr lang="pt-BR" dirty="0"/>
              <a:t>Seleção</a:t>
            </a:r>
          </a:p>
        </p:txBody>
      </p:sp>
      <p:sp>
        <p:nvSpPr>
          <p:cNvPr id="3" name="Espaço Reservado para Conteúdo 2">
            <a:extLst>
              <a:ext uri="{FF2B5EF4-FFF2-40B4-BE49-F238E27FC236}">
                <a16:creationId xmlns:a16="http://schemas.microsoft.com/office/drawing/2014/main" id="{6A597090-E3D1-4DC1-A6B1-EAF4107C971B}"/>
              </a:ext>
            </a:extLst>
          </p:cNvPr>
          <p:cNvSpPr>
            <a:spLocks noGrp="1"/>
          </p:cNvSpPr>
          <p:nvPr>
            <p:ph idx="1"/>
          </p:nvPr>
        </p:nvSpPr>
        <p:spPr/>
        <p:txBody>
          <a:bodyPr>
            <a:normAutofit/>
          </a:bodyPr>
          <a:lstStyle/>
          <a:p>
            <a:pPr algn="just"/>
            <a:r>
              <a:rPr lang="pt-BR" u="none" dirty="0"/>
              <a:t>	Segundo SCHNEIDER (1998) a ideia principal do operador de seleção, em um algoritmo genético, é </a:t>
            </a:r>
            <a:r>
              <a:rPr lang="pt-BR" b="1" u="none" dirty="0"/>
              <a:t>oferecer aos melhores indivíduos da população corrente preferência para o processo de reprodução</a:t>
            </a:r>
            <a:r>
              <a:rPr lang="pt-BR" u="none" dirty="0"/>
              <a:t>, permitindo que estes indivíduos possam passar as suas características às próximas gerações. Isto funciona como na natureza, onde os indivíduos altamente adaptados ao seu ambiente possuem naturalmente mais oportunidades para reproduzir do que aqueles indivíduos considerados mais fracos.</a:t>
            </a:r>
          </a:p>
        </p:txBody>
      </p:sp>
    </p:spTree>
    <p:extLst>
      <p:ext uri="{BB962C8B-B14F-4D97-AF65-F5344CB8AC3E}">
        <p14:creationId xmlns:p14="http://schemas.microsoft.com/office/powerpoint/2010/main" val="2585695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5EC1EA-BF84-4059-8CF4-B46927F1BAFF}"/>
              </a:ext>
            </a:extLst>
          </p:cNvPr>
          <p:cNvSpPr>
            <a:spLocks noGrp="1"/>
          </p:cNvSpPr>
          <p:nvPr>
            <p:ph type="title"/>
          </p:nvPr>
        </p:nvSpPr>
        <p:spPr/>
        <p:txBody>
          <a:bodyPr/>
          <a:lstStyle/>
          <a:p>
            <a:r>
              <a:rPr lang="pt-BR" dirty="0"/>
              <a:t>Seleção</a:t>
            </a:r>
          </a:p>
        </p:txBody>
      </p:sp>
      <p:sp>
        <p:nvSpPr>
          <p:cNvPr id="3" name="Espaço Reservado para Conteúdo 2">
            <a:extLst>
              <a:ext uri="{FF2B5EF4-FFF2-40B4-BE49-F238E27FC236}">
                <a16:creationId xmlns:a16="http://schemas.microsoft.com/office/drawing/2014/main" id="{44098307-4F42-4E27-AE69-2FFF0B335148}"/>
              </a:ext>
            </a:extLst>
          </p:cNvPr>
          <p:cNvSpPr>
            <a:spLocks noGrp="1"/>
          </p:cNvSpPr>
          <p:nvPr>
            <p:ph idx="1"/>
          </p:nvPr>
        </p:nvSpPr>
        <p:spPr/>
        <p:txBody>
          <a:bodyPr>
            <a:normAutofit fontScale="92500" lnSpcReduction="10000"/>
          </a:bodyPr>
          <a:lstStyle/>
          <a:p>
            <a:pPr algn="just"/>
            <a:r>
              <a:rPr lang="pt-BR" u="none" dirty="0"/>
              <a:t>Nesta fase, os indivíduos que se mostraram mais aptos da geração atual são utilizados para gerar uma nova população através do cruzamento, ao menos teoricamente, visto que alguns métodos não necessariamente selecionam apenas os melhores elementos de cada geração.</a:t>
            </a:r>
          </a:p>
          <a:p>
            <a:pPr algn="just"/>
            <a:endParaRPr lang="pt-BR" u="none" dirty="0"/>
          </a:p>
          <a:p>
            <a:pPr algn="just"/>
            <a:r>
              <a:rPr lang="pt-BR" dirty="0"/>
              <a:t>Amostragem direta</a:t>
            </a:r>
          </a:p>
          <a:p>
            <a:pPr algn="just"/>
            <a:r>
              <a:rPr lang="pt-BR" u="none" dirty="0"/>
              <a:t>O conjunto de indivíduos representantes da geração é selecionado baseados em um critério fixo. Pode ser visto como escolha “a dedo’’ ou “os n melhores”</a:t>
            </a:r>
          </a:p>
        </p:txBody>
      </p:sp>
    </p:spTree>
    <p:extLst>
      <p:ext uri="{BB962C8B-B14F-4D97-AF65-F5344CB8AC3E}">
        <p14:creationId xmlns:p14="http://schemas.microsoft.com/office/powerpoint/2010/main" val="27719673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56AA3E-42EA-4186-9848-30A324079B91}"/>
              </a:ext>
            </a:extLst>
          </p:cNvPr>
          <p:cNvSpPr>
            <a:spLocks noGrp="1"/>
          </p:cNvSpPr>
          <p:nvPr>
            <p:ph type="title"/>
          </p:nvPr>
        </p:nvSpPr>
        <p:spPr/>
        <p:txBody>
          <a:bodyPr/>
          <a:lstStyle/>
          <a:p>
            <a:r>
              <a:rPr lang="pt-BR" dirty="0"/>
              <a:t>Seleção</a:t>
            </a:r>
          </a:p>
        </p:txBody>
      </p:sp>
      <p:sp>
        <p:nvSpPr>
          <p:cNvPr id="3" name="Espaço Reservado para Conteúdo 2">
            <a:extLst>
              <a:ext uri="{FF2B5EF4-FFF2-40B4-BE49-F238E27FC236}">
                <a16:creationId xmlns:a16="http://schemas.microsoft.com/office/drawing/2014/main" id="{D55E8BE7-C73B-44E0-8399-AA482EDBB4AB}"/>
              </a:ext>
            </a:extLst>
          </p:cNvPr>
          <p:cNvSpPr>
            <a:spLocks noGrp="1"/>
          </p:cNvSpPr>
          <p:nvPr>
            <p:ph idx="1"/>
          </p:nvPr>
        </p:nvSpPr>
        <p:spPr/>
        <p:txBody>
          <a:bodyPr>
            <a:normAutofit fontScale="92500" lnSpcReduction="10000"/>
          </a:bodyPr>
          <a:lstStyle/>
          <a:p>
            <a:pPr algn="just"/>
            <a:r>
              <a:rPr lang="pt-BR" dirty="0"/>
              <a:t>Amostragem aleatória simples ou equiprovável</a:t>
            </a:r>
          </a:p>
          <a:p>
            <a:pPr algn="just"/>
            <a:r>
              <a:rPr lang="pt-BR" u="none" dirty="0"/>
              <a:t>Todos os elementos possuem a mesma chance de serem escolhidos para compor o conjunto que gerará a prole seguinte </a:t>
            </a:r>
          </a:p>
          <a:p>
            <a:pPr algn="just"/>
            <a:endParaRPr lang="pt-BR" u="none" dirty="0"/>
          </a:p>
          <a:p>
            <a:pPr algn="just"/>
            <a:r>
              <a:rPr lang="pt-BR" dirty="0"/>
              <a:t>Seleção por torneio</a:t>
            </a:r>
          </a:p>
          <a:p>
            <a:pPr marL="457200" indent="-457200" algn="just">
              <a:buFont typeface="Arial" panose="020B0604020202020204" pitchFamily="34" charset="0"/>
              <a:buChar char="•"/>
            </a:pPr>
            <a:r>
              <a:rPr lang="pt-BR" u="none" dirty="0"/>
              <a:t>Mistura entre amostragem direta e aleatória.</a:t>
            </a:r>
          </a:p>
          <a:p>
            <a:pPr marL="457200" indent="-457200" algn="just">
              <a:buFont typeface="Arial" panose="020B0604020202020204" pitchFamily="34" charset="0"/>
              <a:buChar char="•"/>
            </a:pPr>
            <a:r>
              <a:rPr lang="pt-BR" u="none" dirty="0"/>
              <a:t>Seleciona-se n (n &lt; N) indivíduos onde todos têm a mesma chance de serem escolhidos</a:t>
            </a:r>
          </a:p>
          <a:p>
            <a:pPr marL="457200" indent="-457200" algn="just">
              <a:buFont typeface="Arial" panose="020B0604020202020204" pitchFamily="34" charset="0"/>
              <a:buChar char="•"/>
            </a:pPr>
            <a:r>
              <a:rPr lang="pt-BR" u="none" dirty="0"/>
              <a:t>Dentre este n escolhe-se aquele com maior aptidão</a:t>
            </a:r>
          </a:p>
        </p:txBody>
      </p:sp>
    </p:spTree>
    <p:extLst>
      <p:ext uri="{BB962C8B-B14F-4D97-AF65-F5344CB8AC3E}">
        <p14:creationId xmlns:p14="http://schemas.microsoft.com/office/powerpoint/2010/main" val="20500129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DB2E0-502F-E984-F660-06F6497C32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8F5F63-7263-A9FC-2039-5C7328BF61DF}"/>
              </a:ext>
            </a:extLst>
          </p:cNvPr>
          <p:cNvSpPr>
            <a:spLocks noGrp="1"/>
          </p:cNvSpPr>
          <p:nvPr>
            <p:ph type="title"/>
          </p:nvPr>
        </p:nvSpPr>
        <p:spPr/>
        <p:txBody>
          <a:bodyPr/>
          <a:lstStyle/>
          <a:p>
            <a:r>
              <a:rPr lang="pt-BR" dirty="0"/>
              <a:t>Seleção</a:t>
            </a:r>
          </a:p>
        </p:txBody>
      </p:sp>
      <p:sp>
        <p:nvSpPr>
          <p:cNvPr id="3" name="Espaço Reservado para Conteúdo 2">
            <a:extLst>
              <a:ext uri="{FF2B5EF4-FFF2-40B4-BE49-F238E27FC236}">
                <a16:creationId xmlns:a16="http://schemas.microsoft.com/office/drawing/2014/main" id="{137E642C-A24A-06DD-B735-4BCFDEADC23F}"/>
              </a:ext>
            </a:extLst>
          </p:cNvPr>
          <p:cNvSpPr>
            <a:spLocks noGrp="1"/>
          </p:cNvSpPr>
          <p:nvPr>
            <p:ph idx="1"/>
          </p:nvPr>
        </p:nvSpPr>
        <p:spPr/>
        <p:txBody>
          <a:bodyPr>
            <a:normAutofit/>
          </a:bodyPr>
          <a:lstStyle/>
          <a:p>
            <a:pPr algn="just"/>
            <a:r>
              <a:rPr lang="pt-BR" dirty="0"/>
              <a:t>Seleção por Ranking</a:t>
            </a:r>
          </a:p>
          <a:p>
            <a:pPr marL="457200" indent="-457200" algn="just">
              <a:buFont typeface="Arial" panose="020B0604020202020204" pitchFamily="34" charset="0"/>
              <a:buChar char="•"/>
            </a:pPr>
            <a:r>
              <a:rPr lang="pt-BR" u="none" dirty="0"/>
              <a:t>Os indivíduos são ranqueados de acordo com seu fitness. Indivíduos menos aptos têm menor ranking (pior = 1º e melhor = nº).</a:t>
            </a:r>
          </a:p>
          <a:p>
            <a:pPr marL="457200" indent="-457200" algn="just">
              <a:buFont typeface="Arial" panose="020B0604020202020204" pitchFamily="34" charset="0"/>
              <a:buChar char="•"/>
            </a:pPr>
            <a:r>
              <a:rPr lang="pt-BR" u="none" dirty="0"/>
              <a:t>Então, cada indivíduo recebe uma probabilidade de ser selecionado proporcional ao seu rank. </a:t>
            </a:r>
          </a:p>
          <a:p>
            <a:pPr marL="457200" indent="-457200" algn="just">
              <a:buFont typeface="Arial" panose="020B0604020202020204" pitchFamily="34" charset="0"/>
              <a:buChar char="•"/>
            </a:pPr>
            <a:r>
              <a:rPr lang="pt-BR" u="none" dirty="0"/>
              <a:t>Indivíduos com maior rank têm mais chance de serrem escolhidos</a:t>
            </a:r>
          </a:p>
        </p:txBody>
      </p:sp>
    </p:spTree>
    <p:extLst>
      <p:ext uri="{BB962C8B-B14F-4D97-AF65-F5344CB8AC3E}">
        <p14:creationId xmlns:p14="http://schemas.microsoft.com/office/powerpoint/2010/main" val="30546167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C87FC-6171-0A94-C2A8-4E4A2E1AA12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80D0E7-8984-D220-04E1-29226ACA4679}"/>
              </a:ext>
            </a:extLst>
          </p:cNvPr>
          <p:cNvSpPr>
            <a:spLocks noGrp="1"/>
          </p:cNvSpPr>
          <p:nvPr>
            <p:ph type="title"/>
          </p:nvPr>
        </p:nvSpPr>
        <p:spPr/>
        <p:txBody>
          <a:bodyPr/>
          <a:lstStyle/>
          <a:p>
            <a:r>
              <a:rPr lang="pt-BR" dirty="0"/>
              <a:t>Seleção</a:t>
            </a:r>
          </a:p>
        </p:txBody>
      </p:sp>
      <p:sp>
        <p:nvSpPr>
          <p:cNvPr id="7" name="Espaço Reservado para Conteúdo 2">
            <a:extLst>
              <a:ext uri="{FF2B5EF4-FFF2-40B4-BE49-F238E27FC236}">
                <a16:creationId xmlns:a16="http://schemas.microsoft.com/office/drawing/2014/main" id="{1102EEFF-C7CE-44BE-F675-AF1F035BF856}"/>
              </a:ext>
            </a:extLst>
          </p:cNvPr>
          <p:cNvSpPr>
            <a:spLocks noGrp="1"/>
          </p:cNvSpPr>
          <p:nvPr>
            <p:ph idx="1"/>
          </p:nvPr>
        </p:nvSpPr>
        <p:spPr>
          <a:xfrm>
            <a:off x="628650" y="1825625"/>
            <a:ext cx="7886700" cy="4351338"/>
          </a:xfrm>
        </p:spPr>
        <p:txBody>
          <a:bodyPr>
            <a:normAutofit/>
          </a:bodyPr>
          <a:lstStyle/>
          <a:p>
            <a:pPr algn="just"/>
            <a:r>
              <a:rPr lang="pt-BR" dirty="0"/>
              <a:t>Seleção por Ranking</a:t>
            </a:r>
          </a:p>
        </p:txBody>
      </p:sp>
      <p:pic>
        <p:nvPicPr>
          <p:cNvPr id="5" name="Imagem 4">
            <a:extLst>
              <a:ext uri="{FF2B5EF4-FFF2-40B4-BE49-F238E27FC236}">
                <a16:creationId xmlns:a16="http://schemas.microsoft.com/office/drawing/2014/main" id="{89F6B2CC-C19E-3023-BA25-E59AEFA773C5}"/>
              </a:ext>
            </a:extLst>
          </p:cNvPr>
          <p:cNvPicPr>
            <a:picLocks noChangeAspect="1"/>
          </p:cNvPicPr>
          <p:nvPr/>
        </p:nvPicPr>
        <p:blipFill>
          <a:blip r:embed="rId2"/>
          <a:stretch>
            <a:fillRect/>
          </a:stretch>
        </p:blipFill>
        <p:spPr>
          <a:xfrm>
            <a:off x="2629221" y="2793872"/>
            <a:ext cx="3885557" cy="2692527"/>
          </a:xfrm>
          <a:prstGeom prst="rect">
            <a:avLst/>
          </a:prstGeom>
        </p:spPr>
      </p:pic>
    </p:spTree>
    <p:extLst>
      <p:ext uri="{BB962C8B-B14F-4D97-AF65-F5344CB8AC3E}">
        <p14:creationId xmlns:p14="http://schemas.microsoft.com/office/powerpoint/2010/main" val="6155090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AF2CC5-FE32-0422-2C0B-20B04131C585}"/>
              </a:ext>
            </a:extLst>
          </p:cNvPr>
          <p:cNvSpPr>
            <a:spLocks noGrp="1"/>
          </p:cNvSpPr>
          <p:nvPr>
            <p:ph type="title"/>
          </p:nvPr>
        </p:nvSpPr>
        <p:spPr/>
        <p:txBody>
          <a:bodyPr/>
          <a:lstStyle/>
          <a:p>
            <a:r>
              <a:rPr lang="pt-BR" dirty="0"/>
              <a:t>Seleção</a:t>
            </a:r>
          </a:p>
        </p:txBody>
      </p:sp>
      <p:sp>
        <p:nvSpPr>
          <p:cNvPr id="7" name="Espaço Reservado para Conteúdo 2">
            <a:extLst>
              <a:ext uri="{FF2B5EF4-FFF2-40B4-BE49-F238E27FC236}">
                <a16:creationId xmlns:a16="http://schemas.microsoft.com/office/drawing/2014/main" id="{E8DDD810-4913-CE08-C133-4E50F867C645}"/>
              </a:ext>
            </a:extLst>
          </p:cNvPr>
          <p:cNvSpPr>
            <a:spLocks noGrp="1"/>
          </p:cNvSpPr>
          <p:nvPr>
            <p:ph idx="1"/>
          </p:nvPr>
        </p:nvSpPr>
        <p:spPr>
          <a:xfrm>
            <a:off x="628650" y="1825625"/>
            <a:ext cx="7886700" cy="4351338"/>
          </a:xfrm>
        </p:spPr>
        <p:txBody>
          <a:bodyPr>
            <a:normAutofit/>
          </a:bodyPr>
          <a:lstStyle/>
          <a:p>
            <a:pPr algn="just"/>
            <a:r>
              <a:rPr lang="pt-BR" dirty="0"/>
              <a:t>Seleção por Ranking</a:t>
            </a:r>
          </a:p>
        </p:txBody>
      </p:sp>
      <p:pic>
        <p:nvPicPr>
          <p:cNvPr id="15" name="Imagem 14">
            <a:extLst>
              <a:ext uri="{FF2B5EF4-FFF2-40B4-BE49-F238E27FC236}">
                <a16:creationId xmlns:a16="http://schemas.microsoft.com/office/drawing/2014/main" id="{0D35A66B-3FE0-7A8B-4CBE-EA07D0CC779E}"/>
              </a:ext>
            </a:extLst>
          </p:cNvPr>
          <p:cNvPicPr>
            <a:picLocks noChangeAspect="1"/>
          </p:cNvPicPr>
          <p:nvPr/>
        </p:nvPicPr>
        <p:blipFill>
          <a:blip r:embed="rId2"/>
          <a:stretch>
            <a:fillRect/>
          </a:stretch>
        </p:blipFill>
        <p:spPr>
          <a:xfrm>
            <a:off x="2910459" y="2510243"/>
            <a:ext cx="3323082" cy="3813024"/>
          </a:xfrm>
          <a:prstGeom prst="rect">
            <a:avLst/>
          </a:prstGeom>
        </p:spPr>
      </p:pic>
    </p:spTree>
    <p:extLst>
      <p:ext uri="{BB962C8B-B14F-4D97-AF65-F5344CB8AC3E}">
        <p14:creationId xmlns:p14="http://schemas.microsoft.com/office/powerpoint/2010/main" val="11022188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A93EB2-C77A-48F1-8F59-E8E56E5B2301}"/>
              </a:ext>
            </a:extLst>
          </p:cNvPr>
          <p:cNvSpPr>
            <a:spLocks noGrp="1"/>
          </p:cNvSpPr>
          <p:nvPr>
            <p:ph type="title"/>
          </p:nvPr>
        </p:nvSpPr>
        <p:spPr/>
        <p:txBody>
          <a:bodyPr/>
          <a:lstStyle/>
          <a:p>
            <a:r>
              <a:rPr lang="pt-BR" dirty="0"/>
              <a:t>Seleção</a:t>
            </a:r>
          </a:p>
        </p:txBody>
      </p:sp>
      <p:sp>
        <p:nvSpPr>
          <p:cNvPr id="3" name="Espaço Reservado para Conteúdo 2">
            <a:extLst>
              <a:ext uri="{FF2B5EF4-FFF2-40B4-BE49-F238E27FC236}">
                <a16:creationId xmlns:a16="http://schemas.microsoft.com/office/drawing/2014/main" id="{ABF171B8-4C33-435D-ACF0-4810B88281D3}"/>
              </a:ext>
            </a:extLst>
          </p:cNvPr>
          <p:cNvSpPr>
            <a:spLocks noGrp="1"/>
          </p:cNvSpPr>
          <p:nvPr>
            <p:ph idx="1"/>
          </p:nvPr>
        </p:nvSpPr>
        <p:spPr/>
        <p:txBody>
          <a:bodyPr>
            <a:normAutofit fontScale="92500" lnSpcReduction="20000"/>
          </a:bodyPr>
          <a:lstStyle/>
          <a:p>
            <a:pPr algn="just"/>
            <a:r>
              <a:rPr lang="pt-BR" dirty="0"/>
              <a:t>Amostragem estocástica (Roleta)</a:t>
            </a:r>
          </a:p>
          <a:p>
            <a:pPr algn="just"/>
            <a:r>
              <a:rPr lang="pt-BR" u="none" dirty="0"/>
              <a:t>A chance de cada indivíduo ser selecionado é diretamente proporcional ao valor de seu fitness. Um método de seleção, baseado no mecanismo de amostragem estocástico, bastante conhecido é o Universal ou “</a:t>
            </a:r>
            <a:r>
              <a:rPr lang="pt-BR" b="1" u="none" dirty="0"/>
              <a:t>Por roleta</a:t>
            </a:r>
            <a:r>
              <a:rPr lang="pt-BR" u="none" dirty="0"/>
              <a:t>” proposto por GOLDBERG em 1989</a:t>
            </a:r>
          </a:p>
          <a:p>
            <a:pPr algn="just"/>
            <a:endParaRPr lang="pt-BR" u="none" dirty="0"/>
          </a:p>
          <a:p>
            <a:pPr algn="just"/>
            <a:r>
              <a:rPr lang="pt-BR" u="none" dirty="0"/>
              <a:t>O método é considerado simples, pois consiste em criar uma roleta na qual cada cromossomo possui um segmento proporcional à sua aptidão</a:t>
            </a:r>
          </a:p>
          <a:p>
            <a:pPr algn="just"/>
            <a:endParaRPr lang="pt-BR" u="none" dirty="0"/>
          </a:p>
          <a:p>
            <a:pPr algn="just"/>
            <a:r>
              <a:rPr lang="pt-BR" u="none" dirty="0"/>
              <a:t>Estratégia bastante usada na literatura</a:t>
            </a:r>
          </a:p>
        </p:txBody>
      </p:sp>
    </p:spTree>
    <p:extLst>
      <p:ext uri="{BB962C8B-B14F-4D97-AF65-F5344CB8AC3E}">
        <p14:creationId xmlns:p14="http://schemas.microsoft.com/office/powerpoint/2010/main" val="5846693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FAF1D0-198F-4230-B481-5E10FDC92C1F}"/>
              </a:ext>
            </a:extLst>
          </p:cNvPr>
          <p:cNvSpPr>
            <a:spLocks noGrp="1"/>
          </p:cNvSpPr>
          <p:nvPr>
            <p:ph type="title"/>
          </p:nvPr>
        </p:nvSpPr>
        <p:spPr/>
        <p:txBody>
          <a:bodyPr/>
          <a:lstStyle/>
          <a:p>
            <a:r>
              <a:rPr lang="pt-BR" dirty="0"/>
              <a:t>Seleção</a:t>
            </a:r>
          </a:p>
        </p:txBody>
      </p:sp>
      <p:pic>
        <p:nvPicPr>
          <p:cNvPr id="5" name="Imagem 4">
            <a:extLst>
              <a:ext uri="{FF2B5EF4-FFF2-40B4-BE49-F238E27FC236}">
                <a16:creationId xmlns:a16="http://schemas.microsoft.com/office/drawing/2014/main" id="{1F63544A-07EB-6585-3AB6-FED6301BCDD7}"/>
              </a:ext>
            </a:extLst>
          </p:cNvPr>
          <p:cNvPicPr>
            <a:picLocks noChangeAspect="1"/>
          </p:cNvPicPr>
          <p:nvPr/>
        </p:nvPicPr>
        <p:blipFill>
          <a:blip r:embed="rId3"/>
          <a:stretch>
            <a:fillRect/>
          </a:stretch>
        </p:blipFill>
        <p:spPr>
          <a:xfrm>
            <a:off x="2664009" y="2911535"/>
            <a:ext cx="3840365" cy="3132056"/>
          </a:xfrm>
          <a:prstGeom prst="rect">
            <a:avLst/>
          </a:prstGeom>
        </p:spPr>
      </p:pic>
      <p:sp>
        <p:nvSpPr>
          <p:cNvPr id="3" name="Espaço Reservado para Conteúdo 2">
            <a:extLst>
              <a:ext uri="{FF2B5EF4-FFF2-40B4-BE49-F238E27FC236}">
                <a16:creationId xmlns:a16="http://schemas.microsoft.com/office/drawing/2014/main" id="{0F65D3D3-7F36-3EB0-3CCA-BDEA39A03297}"/>
              </a:ext>
            </a:extLst>
          </p:cNvPr>
          <p:cNvSpPr>
            <a:spLocks noGrp="1"/>
          </p:cNvSpPr>
          <p:nvPr>
            <p:ph idx="1"/>
          </p:nvPr>
        </p:nvSpPr>
        <p:spPr>
          <a:xfrm>
            <a:off x="628650" y="1825625"/>
            <a:ext cx="7886700" cy="4351338"/>
          </a:xfrm>
        </p:spPr>
        <p:txBody>
          <a:bodyPr>
            <a:normAutofit/>
          </a:bodyPr>
          <a:lstStyle/>
          <a:p>
            <a:pPr algn="just"/>
            <a:r>
              <a:rPr lang="pt-BR" dirty="0"/>
              <a:t>Amostragem estocástica (Roleta)</a:t>
            </a:r>
          </a:p>
        </p:txBody>
      </p:sp>
    </p:spTree>
    <p:extLst>
      <p:ext uri="{BB962C8B-B14F-4D97-AF65-F5344CB8AC3E}">
        <p14:creationId xmlns:p14="http://schemas.microsoft.com/office/powerpoint/2010/main" val="14358017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BAEE07-5247-4FBE-9B03-15ECF878F2A1}"/>
              </a:ext>
            </a:extLst>
          </p:cNvPr>
          <p:cNvSpPr>
            <a:spLocks noGrp="1"/>
          </p:cNvSpPr>
          <p:nvPr>
            <p:ph type="title"/>
          </p:nvPr>
        </p:nvSpPr>
        <p:spPr/>
        <p:txBody>
          <a:bodyPr/>
          <a:lstStyle/>
          <a:p>
            <a:r>
              <a:rPr lang="pt-BR" dirty="0"/>
              <a:t>Seleção</a:t>
            </a:r>
          </a:p>
        </p:txBody>
      </p:sp>
      <p:pic>
        <p:nvPicPr>
          <p:cNvPr id="6" name="Imagem 5">
            <a:extLst>
              <a:ext uri="{FF2B5EF4-FFF2-40B4-BE49-F238E27FC236}">
                <a16:creationId xmlns:a16="http://schemas.microsoft.com/office/drawing/2014/main" id="{4AB1370D-FE2F-40F1-950E-9B42657EC8C7}"/>
              </a:ext>
            </a:extLst>
          </p:cNvPr>
          <p:cNvPicPr>
            <a:picLocks noChangeAspect="1"/>
          </p:cNvPicPr>
          <p:nvPr/>
        </p:nvPicPr>
        <p:blipFill>
          <a:blip r:embed="rId3"/>
          <a:stretch>
            <a:fillRect/>
          </a:stretch>
        </p:blipFill>
        <p:spPr>
          <a:xfrm>
            <a:off x="3162268" y="2366776"/>
            <a:ext cx="2843213" cy="3811780"/>
          </a:xfrm>
          <a:prstGeom prst="rect">
            <a:avLst/>
          </a:prstGeom>
        </p:spPr>
      </p:pic>
      <p:sp>
        <p:nvSpPr>
          <p:cNvPr id="3" name="Espaço Reservado para Conteúdo 2">
            <a:extLst>
              <a:ext uri="{FF2B5EF4-FFF2-40B4-BE49-F238E27FC236}">
                <a16:creationId xmlns:a16="http://schemas.microsoft.com/office/drawing/2014/main" id="{5C72712E-085A-7E2D-1C1D-BA4989CB0B23}"/>
              </a:ext>
            </a:extLst>
          </p:cNvPr>
          <p:cNvSpPr>
            <a:spLocks noGrp="1"/>
          </p:cNvSpPr>
          <p:nvPr>
            <p:ph idx="1"/>
          </p:nvPr>
        </p:nvSpPr>
        <p:spPr>
          <a:xfrm>
            <a:off x="628650" y="1825625"/>
            <a:ext cx="7886700" cy="4351338"/>
          </a:xfrm>
        </p:spPr>
        <p:txBody>
          <a:bodyPr>
            <a:normAutofit/>
          </a:bodyPr>
          <a:lstStyle/>
          <a:p>
            <a:pPr algn="just"/>
            <a:r>
              <a:rPr lang="pt-BR" dirty="0"/>
              <a:t>Amostragem estocástica (Roleta)</a:t>
            </a:r>
          </a:p>
        </p:txBody>
      </p:sp>
    </p:spTree>
    <p:extLst>
      <p:ext uri="{BB962C8B-B14F-4D97-AF65-F5344CB8AC3E}">
        <p14:creationId xmlns:p14="http://schemas.microsoft.com/office/powerpoint/2010/main" val="25755925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27FE13-206F-DA6C-FB49-367EB6FA7603}"/>
              </a:ext>
            </a:extLst>
          </p:cNvPr>
          <p:cNvSpPr>
            <a:spLocks noGrp="1"/>
          </p:cNvSpPr>
          <p:nvPr>
            <p:ph type="title"/>
          </p:nvPr>
        </p:nvSpPr>
        <p:spPr/>
        <p:txBody>
          <a:bodyPr/>
          <a:lstStyle/>
          <a:p>
            <a:r>
              <a:rPr lang="pt-BR" dirty="0"/>
              <a:t>Seleção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4D34C5A7-C097-FCE2-2D33-4E25B42D6782}"/>
                  </a:ext>
                </a:extLst>
              </p:cNvPr>
              <p:cNvSpPr>
                <a:spLocks noGrp="1"/>
              </p:cNvSpPr>
              <p:nvPr>
                <p:ph idx="1"/>
              </p:nvPr>
            </p:nvSpPr>
            <p:spPr/>
            <p:txBody>
              <a:bodyPr/>
              <a:lstStyle/>
              <a:p>
                <a:r>
                  <a:rPr lang="pt-BR" dirty="0"/>
                  <a:t>Tratamentos</a:t>
                </a:r>
              </a:p>
              <a:p>
                <a:pPr marL="457200" indent="-457200">
                  <a:buFont typeface="Arial" panose="020B0604020202020204" pitchFamily="34" charset="0"/>
                  <a:buChar char="•"/>
                </a:pPr>
                <a:r>
                  <a:rPr lang="pt-BR" u="none" dirty="0"/>
                  <a:t>Problema de Minimização</a:t>
                </a:r>
              </a:p>
              <a:p>
                <a:pPr lvl="1" indent="0">
                  <a:buNone/>
                </a:pPr>
                <a:r>
                  <a:rPr lang="pt-BR" dirty="0"/>
                  <a:t>Exemplo: </a:t>
                </a:r>
              </a:p>
              <a:p>
                <a:pPr marL="1143000" lvl="1" indent="-457200"/>
                <a:r>
                  <a:rPr lang="pt-BR" dirty="0"/>
                  <a:t>Minimizar </a:t>
                </a:r>
                <a14:m>
                  <m:oMath xmlns:m="http://schemas.openxmlformats.org/officeDocument/2006/math">
                    <m:r>
                      <a:rPr lang="pt-BR" b="0" i="1" smtClean="0">
                        <a:latin typeface="Cambria Math" panose="02040503050406030204" pitchFamily="18" charset="0"/>
                      </a:rPr>
                      <m:t>𝑍</m:t>
                    </m:r>
                    <m:r>
                      <a:rPr lang="pt-BR" b="0" i="1" smtClean="0">
                        <a:latin typeface="Cambria Math" panose="02040503050406030204" pitchFamily="18" charset="0"/>
                      </a:rPr>
                      <m:t>=</m:t>
                    </m:r>
                    <m:sSup>
                      <m:sSupPr>
                        <m:ctrlPr>
                          <a:rPr lang="pt-BR" b="0" i="1" smtClean="0">
                            <a:latin typeface="Cambria Math" panose="02040503050406030204" pitchFamily="18" charset="0"/>
                          </a:rPr>
                        </m:ctrlPr>
                      </m:sSupPr>
                      <m:e>
                        <m:r>
                          <a:rPr lang="pt-BR" b="0" i="1" smtClean="0">
                            <a:latin typeface="Cambria Math" panose="02040503050406030204" pitchFamily="18" charset="0"/>
                          </a:rPr>
                          <m:t>𝑥</m:t>
                        </m:r>
                      </m:e>
                      <m:sup>
                        <m:r>
                          <a:rPr lang="pt-BR" b="0" i="1" smtClean="0">
                            <a:latin typeface="Cambria Math" panose="02040503050406030204" pitchFamily="18" charset="0"/>
                          </a:rPr>
                          <m:t>2</m:t>
                        </m:r>
                      </m:sup>
                    </m:sSup>
                    <m:r>
                      <a:rPr lang="pt-BR" b="0" i="1" smtClean="0">
                        <a:latin typeface="Cambria Math" panose="02040503050406030204" pitchFamily="18" charset="0"/>
                      </a:rPr>
                      <m:t>+12</m:t>
                    </m:r>
                    <m:r>
                      <a:rPr lang="pt-BR" b="0" i="1" smtClean="0">
                        <a:latin typeface="Cambria Math" panose="02040503050406030204" pitchFamily="18" charset="0"/>
                      </a:rPr>
                      <m:t>𝑦</m:t>
                    </m:r>
                  </m:oMath>
                </a14:m>
                <a:endParaRPr lang="pt-BR" dirty="0"/>
              </a:p>
              <a:p>
                <a:pPr marL="1143000" lvl="1" indent="-457200"/>
                <a:r>
                  <a:rPr lang="pt-BR" dirty="0"/>
                  <a:t>Em que </a:t>
                </a:r>
                <a14:m>
                  <m:oMath xmlns:m="http://schemas.openxmlformats.org/officeDocument/2006/math">
                    <m:r>
                      <a:rPr lang="pt-BR" b="0" i="1" smtClean="0">
                        <a:latin typeface="Cambria Math" panose="02040503050406030204" pitchFamily="18" charset="0"/>
                      </a:rPr>
                      <m:t>𝑥</m:t>
                    </m:r>
                    <m:r>
                      <a:rPr lang="pt-BR" b="0" i="1" smtClean="0">
                        <a:latin typeface="Cambria Math" panose="02040503050406030204" pitchFamily="18" charset="0"/>
                        <a:ea typeface="Cambria Math" panose="02040503050406030204" pitchFamily="18" charset="0"/>
                      </a:rPr>
                      <m:t>∈[0,100]</m:t>
                    </m:r>
                  </m:oMath>
                </a14:m>
                <a:r>
                  <a:rPr lang="pt-BR" dirty="0"/>
                  <a:t> e </a:t>
                </a:r>
                <a14:m>
                  <m:oMath xmlns:m="http://schemas.openxmlformats.org/officeDocument/2006/math">
                    <m:r>
                      <m:rPr>
                        <m:sty m:val="p"/>
                      </m:rPr>
                      <a:rPr lang="pt-BR" b="0" i="0" smtClean="0">
                        <a:latin typeface="Cambria Math" panose="02040503050406030204" pitchFamily="18" charset="0"/>
                        <a:ea typeface="Cambria Math" panose="02040503050406030204" pitchFamily="18" charset="0"/>
                      </a:rPr>
                      <m:t>y</m:t>
                    </m:r>
                    <m:r>
                      <a:rPr lang="pt-BR" i="1">
                        <a:latin typeface="Cambria Math" panose="02040503050406030204" pitchFamily="18" charset="0"/>
                        <a:ea typeface="Cambria Math" panose="02040503050406030204" pitchFamily="18" charset="0"/>
                      </a:rPr>
                      <m:t>∈[0,100]</m:t>
                    </m:r>
                  </m:oMath>
                </a14:m>
                <a:endParaRPr lang="pt-BR" dirty="0"/>
              </a:p>
              <a:p>
                <a:pPr marL="1143000" lvl="1" indent="-457200"/>
                <a:endParaRPr lang="pt-BR" u="none" dirty="0"/>
              </a:p>
              <a:p>
                <a:pPr marL="457200" indent="-457200">
                  <a:buFont typeface="Arial" panose="020B0604020202020204" pitchFamily="34" charset="0"/>
                  <a:buChar char="•"/>
                </a:pPr>
                <a:r>
                  <a:rPr lang="pt-BR" u="none" dirty="0"/>
                  <a:t>Problemas que permitem fitness negativo</a:t>
                </a:r>
              </a:p>
              <a:p>
                <a:pPr lvl="1" indent="0">
                  <a:buNone/>
                </a:pPr>
                <a:r>
                  <a:rPr lang="pt-BR" dirty="0"/>
                  <a:t>Exemplo: </a:t>
                </a:r>
              </a:p>
              <a:p>
                <a:pPr marL="1143000" lvl="1" indent="-457200"/>
                <a:r>
                  <a:rPr lang="pt-BR" dirty="0"/>
                  <a:t>Minimizar </a:t>
                </a:r>
                <a14:m>
                  <m:oMath xmlns:m="http://schemas.openxmlformats.org/officeDocument/2006/math">
                    <m:r>
                      <a:rPr lang="pt-BR" b="0" i="1" smtClean="0">
                        <a:latin typeface="Cambria Math" panose="02040503050406030204" pitchFamily="18" charset="0"/>
                      </a:rPr>
                      <m:t>𝑍</m:t>
                    </m:r>
                    <m:r>
                      <a:rPr lang="pt-BR" b="0" i="1" smtClean="0">
                        <a:latin typeface="Cambria Math" panose="02040503050406030204" pitchFamily="18" charset="0"/>
                      </a:rPr>
                      <m:t>=</m:t>
                    </m:r>
                    <m:sSup>
                      <m:sSupPr>
                        <m:ctrlPr>
                          <a:rPr lang="pt-BR" b="0" i="1" smtClean="0">
                            <a:latin typeface="Cambria Math" panose="02040503050406030204" pitchFamily="18" charset="0"/>
                          </a:rPr>
                        </m:ctrlPr>
                      </m:sSupPr>
                      <m:e>
                        <m:r>
                          <a:rPr lang="pt-BR" b="0" i="1" smtClean="0">
                            <a:latin typeface="Cambria Math" panose="02040503050406030204" pitchFamily="18" charset="0"/>
                          </a:rPr>
                          <m:t>𝑥</m:t>
                        </m:r>
                      </m:e>
                      <m:sup>
                        <m:r>
                          <a:rPr lang="pt-BR" b="0" i="1" smtClean="0">
                            <a:latin typeface="Cambria Math" panose="02040503050406030204" pitchFamily="18" charset="0"/>
                          </a:rPr>
                          <m:t>2</m:t>
                        </m:r>
                      </m:sup>
                    </m:sSup>
                    <m:r>
                      <a:rPr lang="pt-BR" b="0" i="1" smtClean="0">
                        <a:latin typeface="Cambria Math" panose="02040503050406030204" pitchFamily="18" charset="0"/>
                      </a:rPr>
                      <m:t>−</m:t>
                    </m:r>
                    <m:r>
                      <a:rPr lang="pt-BR" b="0" i="1" smtClean="0">
                        <a:latin typeface="Cambria Math" panose="02040503050406030204" pitchFamily="18" charset="0"/>
                      </a:rPr>
                      <m:t>𝑦</m:t>
                    </m:r>
                  </m:oMath>
                </a14:m>
                <a:endParaRPr lang="pt-BR" dirty="0"/>
              </a:p>
              <a:p>
                <a:pPr marL="1143000" lvl="1" indent="-457200"/>
                <a:r>
                  <a:rPr lang="pt-BR" dirty="0"/>
                  <a:t>Em que </a:t>
                </a:r>
                <a14:m>
                  <m:oMath xmlns:m="http://schemas.openxmlformats.org/officeDocument/2006/math">
                    <m:r>
                      <a:rPr lang="pt-BR" b="0" i="1" smtClean="0">
                        <a:latin typeface="Cambria Math" panose="02040503050406030204" pitchFamily="18" charset="0"/>
                      </a:rPr>
                      <m:t>𝑥</m:t>
                    </m:r>
                    <m:r>
                      <a:rPr lang="pt-BR" b="0" i="1" smtClean="0">
                        <a:latin typeface="Cambria Math" panose="02040503050406030204" pitchFamily="18" charset="0"/>
                        <a:ea typeface="Cambria Math" panose="02040503050406030204" pitchFamily="18" charset="0"/>
                      </a:rPr>
                      <m:t>∈[0,100]</m:t>
                    </m:r>
                  </m:oMath>
                </a14:m>
                <a:r>
                  <a:rPr lang="pt-BR" dirty="0"/>
                  <a:t> e </a:t>
                </a:r>
                <a14:m>
                  <m:oMath xmlns:m="http://schemas.openxmlformats.org/officeDocument/2006/math">
                    <m:r>
                      <m:rPr>
                        <m:sty m:val="p"/>
                      </m:rPr>
                      <a:rPr lang="pt-BR" b="0" i="0" smtClean="0">
                        <a:latin typeface="Cambria Math" panose="02040503050406030204" pitchFamily="18" charset="0"/>
                        <a:ea typeface="Cambria Math" panose="02040503050406030204" pitchFamily="18" charset="0"/>
                      </a:rPr>
                      <m:t>y</m:t>
                    </m:r>
                    <m:r>
                      <a:rPr lang="pt-BR" i="1">
                        <a:latin typeface="Cambria Math" panose="02040503050406030204" pitchFamily="18" charset="0"/>
                        <a:ea typeface="Cambria Math" panose="02040503050406030204" pitchFamily="18" charset="0"/>
                      </a:rPr>
                      <m:t>∈[0,100]</m:t>
                    </m:r>
                  </m:oMath>
                </a14:m>
                <a:endParaRPr lang="pt-BR" dirty="0"/>
              </a:p>
              <a:p>
                <a:endParaRPr lang="pt-BR" u="none" dirty="0"/>
              </a:p>
              <a:p>
                <a:pPr marL="457200" indent="-457200">
                  <a:buFont typeface="Arial" panose="020B0604020202020204" pitchFamily="34" charset="0"/>
                  <a:buChar char="•"/>
                </a:pPr>
                <a:endParaRPr lang="pt-BR" u="none" dirty="0"/>
              </a:p>
            </p:txBody>
          </p:sp>
        </mc:Choice>
        <mc:Fallback xmlns="">
          <p:sp>
            <p:nvSpPr>
              <p:cNvPr id="3" name="Espaço Reservado para Conteúdo 2">
                <a:extLst>
                  <a:ext uri="{FF2B5EF4-FFF2-40B4-BE49-F238E27FC236}">
                    <a16:creationId xmlns:a16="http://schemas.microsoft.com/office/drawing/2014/main" id="{4D34C5A7-C097-FCE2-2D33-4E25B42D6782}"/>
                  </a:ext>
                </a:extLst>
              </p:cNvPr>
              <p:cNvSpPr>
                <a:spLocks noGrp="1" noRot="1" noChangeAspect="1" noMove="1" noResize="1" noEditPoints="1" noAdjustHandles="1" noChangeArrowheads="1" noChangeShapeType="1" noTextEdit="1"/>
              </p:cNvSpPr>
              <p:nvPr>
                <p:ph idx="1"/>
              </p:nvPr>
            </p:nvSpPr>
            <p:spPr>
              <a:blipFill>
                <a:blip r:embed="rId2"/>
                <a:stretch>
                  <a:fillRect l="-1546" t="-2241" b="-840"/>
                </a:stretch>
              </a:blipFill>
            </p:spPr>
            <p:txBody>
              <a:bodyPr/>
              <a:lstStyle/>
              <a:p>
                <a:r>
                  <a:rPr lang="pt-BR">
                    <a:noFill/>
                  </a:rPr>
                  <a:t> </a:t>
                </a:r>
              </a:p>
            </p:txBody>
          </p:sp>
        </mc:Fallback>
      </mc:AlternateContent>
    </p:spTree>
    <p:extLst>
      <p:ext uri="{BB962C8B-B14F-4D97-AF65-F5344CB8AC3E}">
        <p14:creationId xmlns:p14="http://schemas.microsoft.com/office/powerpoint/2010/main" val="4588953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07F72A-35AE-4759-89F5-F01E64FA800F}"/>
              </a:ext>
            </a:extLst>
          </p:cNvPr>
          <p:cNvSpPr>
            <a:spLocks noGrp="1"/>
          </p:cNvSpPr>
          <p:nvPr>
            <p:ph type="title"/>
          </p:nvPr>
        </p:nvSpPr>
        <p:spPr/>
        <p:txBody>
          <a:bodyPr/>
          <a:lstStyle/>
          <a:p>
            <a:r>
              <a:rPr lang="pt-BR" dirty="0"/>
              <a:t>Cruzamento</a:t>
            </a:r>
          </a:p>
        </p:txBody>
      </p:sp>
      <p:sp>
        <p:nvSpPr>
          <p:cNvPr id="3" name="Espaço Reservado para Conteúdo 2">
            <a:extLst>
              <a:ext uri="{FF2B5EF4-FFF2-40B4-BE49-F238E27FC236}">
                <a16:creationId xmlns:a16="http://schemas.microsoft.com/office/drawing/2014/main" id="{012EE753-60D8-4791-A020-650234A5D327}"/>
              </a:ext>
            </a:extLst>
          </p:cNvPr>
          <p:cNvSpPr>
            <a:spLocks noGrp="1"/>
          </p:cNvSpPr>
          <p:nvPr>
            <p:ph idx="1"/>
          </p:nvPr>
        </p:nvSpPr>
        <p:spPr/>
        <p:txBody>
          <a:bodyPr/>
          <a:lstStyle/>
          <a:p>
            <a:pPr algn="just"/>
            <a:r>
              <a:rPr lang="pt-BR" sz="2400" u="none" dirty="0"/>
              <a:t>Após selecionados dois elementos pais, realiza-se o cruzamento entre seus cromossomos.</a:t>
            </a:r>
          </a:p>
          <a:p>
            <a:pPr algn="just"/>
            <a:r>
              <a:rPr lang="pt-BR" sz="2400" u="none" dirty="0"/>
              <a:t>Na codificação </a:t>
            </a:r>
            <a:r>
              <a:rPr lang="pt-BR" sz="2400" b="1" u="none" dirty="0"/>
              <a:t>binária</a:t>
            </a:r>
            <a:r>
              <a:rPr lang="pt-BR" sz="2400" u="none" dirty="0"/>
              <a:t> tal operação é realizada pela troca de segmentos de bits entre os elementos</a:t>
            </a:r>
          </a:p>
          <a:p>
            <a:pPr algn="just"/>
            <a:endParaRPr lang="pt-BR" u="none" dirty="0"/>
          </a:p>
          <a:p>
            <a:pPr algn="just"/>
            <a:r>
              <a:rPr lang="pt-BR" dirty="0"/>
              <a:t>Cruzamento de um ponto:</a:t>
            </a:r>
          </a:p>
        </p:txBody>
      </p:sp>
      <p:pic>
        <p:nvPicPr>
          <p:cNvPr id="6" name="Imagem 5">
            <a:extLst>
              <a:ext uri="{FF2B5EF4-FFF2-40B4-BE49-F238E27FC236}">
                <a16:creationId xmlns:a16="http://schemas.microsoft.com/office/drawing/2014/main" id="{E0F8FC42-620A-455B-BCE2-925B1A6419E6}"/>
              </a:ext>
            </a:extLst>
          </p:cNvPr>
          <p:cNvPicPr>
            <a:picLocks noChangeAspect="1"/>
          </p:cNvPicPr>
          <p:nvPr/>
        </p:nvPicPr>
        <p:blipFill>
          <a:blip r:embed="rId3"/>
          <a:stretch>
            <a:fillRect/>
          </a:stretch>
        </p:blipFill>
        <p:spPr>
          <a:xfrm>
            <a:off x="1825120" y="4512370"/>
            <a:ext cx="5493760" cy="1735843"/>
          </a:xfrm>
          <a:prstGeom prst="rect">
            <a:avLst/>
          </a:prstGeom>
        </p:spPr>
      </p:pic>
    </p:spTree>
    <p:extLst>
      <p:ext uri="{BB962C8B-B14F-4D97-AF65-F5344CB8AC3E}">
        <p14:creationId xmlns:p14="http://schemas.microsoft.com/office/powerpoint/2010/main" val="7979422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78AE40-16B0-4E19-85BA-1F4AEEF328A9}"/>
              </a:ext>
            </a:extLst>
          </p:cNvPr>
          <p:cNvSpPr>
            <a:spLocks noGrp="1"/>
          </p:cNvSpPr>
          <p:nvPr>
            <p:ph type="title"/>
          </p:nvPr>
        </p:nvSpPr>
        <p:spPr/>
        <p:txBody>
          <a:bodyPr/>
          <a:lstStyle/>
          <a:p>
            <a:r>
              <a:rPr lang="pt-BR" dirty="0"/>
              <a:t>Cruzamento</a:t>
            </a:r>
          </a:p>
        </p:txBody>
      </p:sp>
      <p:sp>
        <p:nvSpPr>
          <p:cNvPr id="3" name="Espaço Reservado para Conteúdo 2">
            <a:extLst>
              <a:ext uri="{FF2B5EF4-FFF2-40B4-BE49-F238E27FC236}">
                <a16:creationId xmlns:a16="http://schemas.microsoft.com/office/drawing/2014/main" id="{7F09B4F0-676B-4EF0-91E9-EBC9C7E4DD48}"/>
              </a:ext>
            </a:extLst>
          </p:cNvPr>
          <p:cNvSpPr>
            <a:spLocks noGrp="1"/>
          </p:cNvSpPr>
          <p:nvPr>
            <p:ph idx="1"/>
          </p:nvPr>
        </p:nvSpPr>
        <p:spPr/>
        <p:txBody>
          <a:bodyPr/>
          <a:lstStyle/>
          <a:p>
            <a:r>
              <a:rPr lang="pt-BR" dirty="0"/>
              <a:t>Cruzamento de dois pontos:</a:t>
            </a:r>
          </a:p>
          <a:p>
            <a:endParaRPr lang="pt-BR" dirty="0"/>
          </a:p>
        </p:txBody>
      </p:sp>
      <p:pic>
        <p:nvPicPr>
          <p:cNvPr id="6" name="Imagem 5">
            <a:extLst>
              <a:ext uri="{FF2B5EF4-FFF2-40B4-BE49-F238E27FC236}">
                <a16:creationId xmlns:a16="http://schemas.microsoft.com/office/drawing/2014/main" id="{A27923A9-2187-4D53-B754-DC2BA7218416}"/>
              </a:ext>
            </a:extLst>
          </p:cNvPr>
          <p:cNvPicPr>
            <a:picLocks noChangeAspect="1"/>
          </p:cNvPicPr>
          <p:nvPr/>
        </p:nvPicPr>
        <p:blipFill>
          <a:blip r:embed="rId3"/>
          <a:stretch>
            <a:fillRect/>
          </a:stretch>
        </p:blipFill>
        <p:spPr>
          <a:xfrm>
            <a:off x="1800225" y="2939575"/>
            <a:ext cx="5543550" cy="1952625"/>
          </a:xfrm>
          <a:prstGeom prst="rect">
            <a:avLst/>
          </a:prstGeom>
        </p:spPr>
      </p:pic>
    </p:spTree>
    <p:extLst>
      <p:ext uri="{BB962C8B-B14F-4D97-AF65-F5344CB8AC3E}">
        <p14:creationId xmlns:p14="http://schemas.microsoft.com/office/powerpoint/2010/main" val="40442058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2E7F55-1F35-4B0D-A706-5FB13F11C26D}"/>
              </a:ext>
            </a:extLst>
          </p:cNvPr>
          <p:cNvSpPr>
            <a:spLocks noGrp="1"/>
          </p:cNvSpPr>
          <p:nvPr>
            <p:ph type="title"/>
          </p:nvPr>
        </p:nvSpPr>
        <p:spPr/>
        <p:txBody>
          <a:bodyPr/>
          <a:lstStyle/>
          <a:p>
            <a:r>
              <a:rPr lang="pt-BR" dirty="0"/>
              <a:t>Cruzamento</a:t>
            </a:r>
          </a:p>
        </p:txBody>
      </p:sp>
      <p:sp>
        <p:nvSpPr>
          <p:cNvPr id="3" name="Espaço Reservado para Conteúdo 2">
            <a:extLst>
              <a:ext uri="{FF2B5EF4-FFF2-40B4-BE49-F238E27FC236}">
                <a16:creationId xmlns:a16="http://schemas.microsoft.com/office/drawing/2014/main" id="{2F9BDAD7-1474-46E5-8F2B-E7C856CD9AE3}"/>
              </a:ext>
            </a:extLst>
          </p:cNvPr>
          <p:cNvSpPr>
            <a:spLocks noGrp="1"/>
          </p:cNvSpPr>
          <p:nvPr>
            <p:ph idx="1"/>
          </p:nvPr>
        </p:nvSpPr>
        <p:spPr/>
        <p:txBody>
          <a:bodyPr/>
          <a:lstStyle/>
          <a:p>
            <a:pPr algn="just"/>
            <a:r>
              <a:rPr lang="pt-BR" dirty="0"/>
              <a:t>Cruzamento de pontos aleatórios</a:t>
            </a:r>
          </a:p>
          <a:p>
            <a:pPr algn="just"/>
            <a:r>
              <a:rPr lang="pt-BR" sz="2400" u="none" dirty="0"/>
              <a:t>A posição (ou posições) de troca dos segmentos é definida de forma aleatória, variando para cada operação de cruzamento.</a:t>
            </a:r>
          </a:p>
          <a:p>
            <a:pPr algn="just"/>
            <a:endParaRPr lang="pt-BR" u="none" dirty="0"/>
          </a:p>
          <a:p>
            <a:pPr algn="just"/>
            <a:r>
              <a:rPr lang="pt-BR" dirty="0"/>
              <a:t>Cruzamento uniforme</a:t>
            </a:r>
          </a:p>
          <a:p>
            <a:pPr algn="just"/>
            <a:r>
              <a:rPr lang="pt-BR" sz="2400" u="none" dirty="0"/>
              <a:t>A posição (ou posições) de troca de segmentos é definida à priori e não varia ao longo do processo. Funciona como uma espécie de “máscara”.</a:t>
            </a:r>
          </a:p>
        </p:txBody>
      </p:sp>
    </p:spTree>
    <p:extLst>
      <p:ext uri="{BB962C8B-B14F-4D97-AF65-F5344CB8AC3E}">
        <p14:creationId xmlns:p14="http://schemas.microsoft.com/office/powerpoint/2010/main" val="17492278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F36348-3595-763D-CFD0-5AD7057A037F}"/>
              </a:ext>
            </a:extLst>
          </p:cNvPr>
          <p:cNvSpPr>
            <a:spLocks noGrp="1"/>
          </p:cNvSpPr>
          <p:nvPr>
            <p:ph type="title"/>
          </p:nvPr>
        </p:nvSpPr>
        <p:spPr/>
        <p:txBody>
          <a:bodyPr/>
          <a:lstStyle/>
          <a:p>
            <a:r>
              <a:rPr lang="pt-BR" dirty="0"/>
              <a:t>Cruzamento</a:t>
            </a:r>
          </a:p>
        </p:txBody>
      </p:sp>
      <p:sp>
        <p:nvSpPr>
          <p:cNvPr id="3" name="Espaço Reservado para Conteúdo 2">
            <a:extLst>
              <a:ext uri="{FF2B5EF4-FFF2-40B4-BE49-F238E27FC236}">
                <a16:creationId xmlns:a16="http://schemas.microsoft.com/office/drawing/2014/main" id="{66007E40-39AE-ADBB-E5CF-FAD44B974A5D}"/>
              </a:ext>
            </a:extLst>
          </p:cNvPr>
          <p:cNvSpPr>
            <a:spLocks noGrp="1"/>
          </p:cNvSpPr>
          <p:nvPr>
            <p:ph idx="1"/>
          </p:nvPr>
        </p:nvSpPr>
        <p:spPr/>
        <p:txBody>
          <a:bodyPr/>
          <a:lstStyle/>
          <a:p>
            <a:r>
              <a:rPr lang="pt-BR" dirty="0"/>
              <a:t>Cruzamento Uniforme</a:t>
            </a:r>
          </a:p>
          <a:p>
            <a:pPr marL="457200" indent="-457200" algn="just">
              <a:buFont typeface="Arial" panose="020B0604020202020204" pitchFamily="34" charset="0"/>
              <a:buChar char="•"/>
            </a:pPr>
            <a:r>
              <a:rPr lang="pt-BR" u="none" dirty="0"/>
              <a:t>Baseia-se em uma máscara definida pelo projetista</a:t>
            </a:r>
          </a:p>
          <a:p>
            <a:pPr marL="457200" indent="-457200" algn="just">
              <a:buFont typeface="Arial" panose="020B0604020202020204" pitchFamily="34" charset="0"/>
              <a:buChar char="•"/>
            </a:pPr>
            <a:endParaRPr lang="pt-BR" u="none" dirty="0"/>
          </a:p>
        </p:txBody>
      </p:sp>
      <p:pic>
        <p:nvPicPr>
          <p:cNvPr id="6" name="Imagem 5">
            <a:extLst>
              <a:ext uri="{FF2B5EF4-FFF2-40B4-BE49-F238E27FC236}">
                <a16:creationId xmlns:a16="http://schemas.microsoft.com/office/drawing/2014/main" id="{D1C1575B-AFB7-D741-6B47-CA1065B4C10C}"/>
              </a:ext>
            </a:extLst>
          </p:cNvPr>
          <p:cNvPicPr>
            <a:picLocks noChangeAspect="1"/>
          </p:cNvPicPr>
          <p:nvPr/>
        </p:nvPicPr>
        <p:blipFill>
          <a:blip r:embed="rId2"/>
          <a:stretch>
            <a:fillRect/>
          </a:stretch>
        </p:blipFill>
        <p:spPr>
          <a:xfrm>
            <a:off x="1495425" y="3618877"/>
            <a:ext cx="6153150" cy="1924050"/>
          </a:xfrm>
          <a:prstGeom prst="rect">
            <a:avLst/>
          </a:prstGeom>
        </p:spPr>
      </p:pic>
    </p:spTree>
    <p:extLst>
      <p:ext uri="{BB962C8B-B14F-4D97-AF65-F5344CB8AC3E}">
        <p14:creationId xmlns:p14="http://schemas.microsoft.com/office/powerpoint/2010/main" val="1423640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FFB3EA-8CDE-411A-A1E2-30ADB4971A02}"/>
              </a:ext>
            </a:extLst>
          </p:cNvPr>
          <p:cNvSpPr>
            <a:spLocks noGrp="1"/>
          </p:cNvSpPr>
          <p:nvPr>
            <p:ph type="title"/>
          </p:nvPr>
        </p:nvSpPr>
        <p:spPr/>
        <p:txBody>
          <a:bodyPr/>
          <a:lstStyle/>
          <a:p>
            <a:r>
              <a:rPr lang="pt-BR" dirty="0"/>
              <a:t>Cruzamento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76ECB179-8744-4728-A385-1E35EDC771F8}"/>
                  </a:ext>
                </a:extLst>
              </p:cNvPr>
              <p:cNvSpPr>
                <a:spLocks noGrp="1"/>
              </p:cNvSpPr>
              <p:nvPr>
                <p:ph idx="1"/>
              </p:nvPr>
            </p:nvSpPr>
            <p:spPr/>
            <p:txBody>
              <a:bodyPr>
                <a:normAutofit/>
              </a:bodyPr>
              <a:lstStyle/>
              <a:p>
                <a:pPr algn="just"/>
                <a:r>
                  <a:rPr lang="pt-BR" u="none" dirty="0"/>
                  <a:t>Cruzamento de com representação </a:t>
                </a:r>
                <a:r>
                  <a:rPr lang="pt-BR" b="1" u="none" dirty="0"/>
                  <a:t>real</a:t>
                </a:r>
                <a:r>
                  <a:rPr lang="pt-BR" u="none" dirty="0"/>
                  <a:t>: neste caso são aplicados operadores distintos, baseados diretamente nos valores dos pais</a:t>
                </a:r>
              </a:p>
              <a:p>
                <a:pPr algn="just"/>
                <a:r>
                  <a:rPr lang="pt-BR" dirty="0"/>
                  <a:t>Média simples</a:t>
                </a:r>
              </a:p>
              <a:p>
                <a:pPr algn="ctr"/>
                <a14:m>
                  <m:oMathPara xmlns:m="http://schemas.openxmlformats.org/officeDocument/2006/math">
                    <m:oMath>
                      <m:sSub>
                        <m:sSubPr>
                          <m:ctrlPr>
                            <a:rPr lang="pt-BR" b="0" i="1" u="none" smtClean="0">
                              <a:latin typeface="Cambria Math" panose="02040503050406030204" pitchFamily="18" charset="0"/>
                            </a:rPr>
                          </m:ctrlPr>
                        </m:sSubPr>
                        <m:e>
                          <m:r>
                            <a:rPr lang="pt-BR" b="0" i="1" u="none" smtClean="0">
                              <a:latin typeface="Cambria Math" panose="02040503050406030204" pitchFamily="18" charset="0"/>
                            </a:rPr>
                            <m:t>𝐹</m:t>
                          </m:r>
                        </m:e>
                        <m:sub>
                          <m:r>
                            <a:rPr lang="pt-BR" b="0" i="1" u="none" smtClean="0">
                              <a:latin typeface="Cambria Math" panose="02040503050406030204" pitchFamily="18" charset="0"/>
                            </a:rPr>
                            <m:t>1</m:t>
                          </m:r>
                        </m:sub>
                      </m:sSub>
                      <m:r>
                        <a:rPr lang="pt-BR" b="0" i="1" u="none" smtClean="0">
                          <a:latin typeface="Cambria Math" panose="02040503050406030204" pitchFamily="18" charset="0"/>
                        </a:rPr>
                        <m:t>=</m:t>
                      </m:r>
                      <m:f>
                        <m:fPr>
                          <m:ctrlPr>
                            <a:rPr lang="pt-BR" b="0" i="1" u="none" smtClean="0">
                              <a:latin typeface="Cambria Math" panose="02040503050406030204" pitchFamily="18" charset="0"/>
                            </a:rPr>
                          </m:ctrlPr>
                        </m:fPr>
                        <m:num>
                          <m:d>
                            <m:dPr>
                              <m:ctrlPr>
                                <a:rPr lang="pt-BR" b="0" i="1" u="none" smtClean="0">
                                  <a:latin typeface="Cambria Math" panose="02040503050406030204" pitchFamily="18" charset="0"/>
                                </a:rPr>
                              </m:ctrlPr>
                            </m:dPr>
                            <m:e>
                              <m:sSub>
                                <m:sSubPr>
                                  <m:ctrlPr>
                                    <a:rPr lang="pt-BR" b="0" i="1" u="none" smtClean="0">
                                      <a:latin typeface="Cambria Math" panose="02040503050406030204" pitchFamily="18" charset="0"/>
                                    </a:rPr>
                                  </m:ctrlPr>
                                </m:sSubPr>
                                <m:e>
                                  <m:r>
                                    <a:rPr lang="pt-BR" b="0" i="1" u="none" smtClean="0">
                                      <a:latin typeface="Cambria Math" panose="02040503050406030204" pitchFamily="18" charset="0"/>
                                    </a:rPr>
                                    <m:t>𝑃</m:t>
                                  </m:r>
                                </m:e>
                                <m:sub>
                                  <m:r>
                                    <a:rPr lang="pt-BR" b="0" i="1" u="none" smtClean="0">
                                      <a:latin typeface="Cambria Math" panose="02040503050406030204" pitchFamily="18" charset="0"/>
                                    </a:rPr>
                                    <m:t>1</m:t>
                                  </m:r>
                                </m:sub>
                              </m:sSub>
                              <m:r>
                                <a:rPr lang="pt-BR" b="0" i="1" u="none" smtClean="0">
                                  <a:latin typeface="Cambria Math" panose="02040503050406030204" pitchFamily="18" charset="0"/>
                                </a:rPr>
                                <m:t>+</m:t>
                              </m:r>
                              <m:sSub>
                                <m:sSubPr>
                                  <m:ctrlPr>
                                    <a:rPr lang="pt-BR" b="0" i="1" u="none" smtClean="0">
                                      <a:latin typeface="Cambria Math" panose="02040503050406030204" pitchFamily="18" charset="0"/>
                                    </a:rPr>
                                  </m:ctrlPr>
                                </m:sSubPr>
                                <m:e>
                                  <m:r>
                                    <a:rPr lang="pt-BR" b="0" i="1" u="none" smtClean="0">
                                      <a:latin typeface="Cambria Math" panose="02040503050406030204" pitchFamily="18" charset="0"/>
                                    </a:rPr>
                                    <m:t>𝑃</m:t>
                                  </m:r>
                                </m:e>
                                <m:sub>
                                  <m:r>
                                    <a:rPr lang="pt-BR" b="0" i="1" u="none" smtClean="0">
                                      <a:latin typeface="Cambria Math" panose="02040503050406030204" pitchFamily="18" charset="0"/>
                                    </a:rPr>
                                    <m:t>2</m:t>
                                  </m:r>
                                </m:sub>
                              </m:sSub>
                            </m:e>
                          </m:d>
                        </m:num>
                        <m:den>
                          <m:r>
                            <a:rPr lang="pt-BR" b="0" i="1" u="none" smtClean="0">
                              <a:latin typeface="Cambria Math" panose="02040503050406030204" pitchFamily="18" charset="0"/>
                            </a:rPr>
                            <m:t>2</m:t>
                          </m:r>
                        </m:den>
                      </m:f>
                    </m:oMath>
                  </m:oMathPara>
                </a14:m>
                <a:endParaRPr lang="pt-BR" u="none" dirty="0"/>
              </a:p>
              <a:p>
                <a:pPr algn="just"/>
                <a:endParaRPr lang="pt-BR" dirty="0"/>
              </a:p>
              <a:p>
                <a:pPr algn="just"/>
                <a:r>
                  <a:rPr lang="pt-BR" dirty="0"/>
                  <a:t>Média geométrica</a:t>
                </a:r>
              </a:p>
              <a:p>
                <a:pPr algn="just"/>
                <a14:m>
                  <m:oMathPara xmlns:m="http://schemas.openxmlformats.org/officeDocument/2006/math">
                    <m:oMath>
                      <m:sSub>
                        <m:sSubPr>
                          <m:ctrlPr>
                            <a:rPr lang="pt-BR" b="0" i="1" u="none" smtClean="0">
                              <a:latin typeface="Cambria Math" panose="02040503050406030204" pitchFamily="18" charset="0"/>
                            </a:rPr>
                          </m:ctrlPr>
                        </m:sSubPr>
                        <m:e>
                          <m:r>
                            <a:rPr lang="pt-BR" b="0" i="1" u="none" smtClean="0">
                              <a:latin typeface="Cambria Math" panose="02040503050406030204" pitchFamily="18" charset="0"/>
                            </a:rPr>
                            <m:t>𝐹</m:t>
                          </m:r>
                        </m:e>
                        <m:sub>
                          <m:r>
                            <a:rPr lang="pt-BR" b="0" i="1" u="none" smtClean="0">
                              <a:latin typeface="Cambria Math" panose="02040503050406030204" pitchFamily="18" charset="0"/>
                            </a:rPr>
                            <m:t>1</m:t>
                          </m:r>
                        </m:sub>
                      </m:sSub>
                      <m:r>
                        <a:rPr lang="pt-BR" b="0" i="1" u="none" smtClean="0">
                          <a:latin typeface="Cambria Math" panose="02040503050406030204" pitchFamily="18" charset="0"/>
                        </a:rPr>
                        <m:t>=</m:t>
                      </m:r>
                      <m:rad>
                        <m:radPr>
                          <m:degHide m:val="on"/>
                          <m:ctrlPr>
                            <a:rPr lang="pt-BR" b="0" i="1" u="none" smtClean="0">
                              <a:latin typeface="Cambria Math" panose="02040503050406030204" pitchFamily="18" charset="0"/>
                            </a:rPr>
                          </m:ctrlPr>
                        </m:radPr>
                        <m:deg/>
                        <m:e>
                          <m:sSub>
                            <m:sSubPr>
                              <m:ctrlPr>
                                <a:rPr lang="pt-BR" b="0" i="1" u="none" smtClean="0">
                                  <a:latin typeface="Cambria Math" panose="02040503050406030204" pitchFamily="18" charset="0"/>
                                </a:rPr>
                              </m:ctrlPr>
                            </m:sSubPr>
                            <m:e>
                              <m:r>
                                <a:rPr lang="pt-BR" b="0" i="1" u="none" smtClean="0">
                                  <a:latin typeface="Cambria Math" panose="02040503050406030204" pitchFamily="18" charset="0"/>
                                </a:rPr>
                                <m:t>𝑃</m:t>
                              </m:r>
                            </m:e>
                            <m:sub>
                              <m:r>
                                <a:rPr lang="pt-BR" b="0" i="1" u="none" smtClean="0">
                                  <a:latin typeface="Cambria Math" panose="02040503050406030204" pitchFamily="18" charset="0"/>
                                </a:rPr>
                                <m:t>1</m:t>
                              </m:r>
                            </m:sub>
                          </m:sSub>
                          <m:r>
                            <a:rPr lang="pt-BR" b="0" i="1" u="none" smtClean="0">
                              <a:latin typeface="Cambria Math" panose="02040503050406030204" pitchFamily="18" charset="0"/>
                            </a:rPr>
                            <m:t>∗</m:t>
                          </m:r>
                          <m:sSub>
                            <m:sSubPr>
                              <m:ctrlPr>
                                <a:rPr lang="pt-BR" b="0" i="1" u="none" smtClean="0">
                                  <a:latin typeface="Cambria Math" panose="02040503050406030204" pitchFamily="18" charset="0"/>
                                </a:rPr>
                              </m:ctrlPr>
                            </m:sSubPr>
                            <m:e>
                              <m:r>
                                <a:rPr lang="pt-BR" b="0" i="1" u="none" smtClean="0">
                                  <a:latin typeface="Cambria Math" panose="02040503050406030204" pitchFamily="18" charset="0"/>
                                </a:rPr>
                                <m:t>𝑃</m:t>
                              </m:r>
                            </m:e>
                            <m:sub>
                              <m:r>
                                <a:rPr lang="pt-BR" b="0" i="1" u="none" smtClean="0">
                                  <a:latin typeface="Cambria Math" panose="02040503050406030204" pitchFamily="18" charset="0"/>
                                </a:rPr>
                                <m:t>2</m:t>
                              </m:r>
                            </m:sub>
                          </m:sSub>
                        </m:e>
                      </m:rad>
                    </m:oMath>
                  </m:oMathPara>
                </a14:m>
                <a:endParaRPr lang="pt-BR" u="none" dirty="0"/>
              </a:p>
              <a:p>
                <a:pPr algn="just"/>
                <a:endParaRPr lang="pt-BR" u="none" dirty="0"/>
              </a:p>
            </p:txBody>
          </p:sp>
        </mc:Choice>
        <mc:Fallback xmlns="">
          <p:sp>
            <p:nvSpPr>
              <p:cNvPr id="3" name="Espaço Reservado para Conteúdo 2">
                <a:extLst>
                  <a:ext uri="{FF2B5EF4-FFF2-40B4-BE49-F238E27FC236}">
                    <a16:creationId xmlns:a16="http://schemas.microsoft.com/office/drawing/2014/main" id="{76ECB179-8744-4728-A385-1E35EDC771F8}"/>
                  </a:ext>
                </a:extLst>
              </p:cNvPr>
              <p:cNvSpPr>
                <a:spLocks noGrp="1" noRot="1" noChangeAspect="1" noMove="1" noResize="1" noEditPoints="1" noAdjustHandles="1" noChangeArrowheads="1" noChangeShapeType="1" noTextEdit="1"/>
              </p:cNvSpPr>
              <p:nvPr>
                <p:ph idx="1"/>
              </p:nvPr>
            </p:nvSpPr>
            <p:spPr>
              <a:blipFill>
                <a:blip r:embed="rId2"/>
                <a:stretch>
                  <a:fillRect l="-1546" t="-2241" r="-1623"/>
                </a:stretch>
              </a:blipFill>
            </p:spPr>
            <p:txBody>
              <a:bodyPr/>
              <a:lstStyle/>
              <a:p>
                <a:r>
                  <a:rPr lang="pt-BR">
                    <a:noFill/>
                  </a:rPr>
                  <a:t> </a:t>
                </a:r>
              </a:p>
            </p:txBody>
          </p:sp>
        </mc:Fallback>
      </mc:AlternateContent>
    </p:spTree>
    <p:extLst>
      <p:ext uri="{BB962C8B-B14F-4D97-AF65-F5344CB8AC3E}">
        <p14:creationId xmlns:p14="http://schemas.microsoft.com/office/powerpoint/2010/main" val="7250613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FFB3EA-8CDE-411A-A1E2-30ADB4971A02}"/>
              </a:ext>
            </a:extLst>
          </p:cNvPr>
          <p:cNvSpPr>
            <a:spLocks noGrp="1"/>
          </p:cNvSpPr>
          <p:nvPr>
            <p:ph type="title"/>
          </p:nvPr>
        </p:nvSpPr>
        <p:spPr/>
        <p:txBody>
          <a:bodyPr/>
          <a:lstStyle/>
          <a:p>
            <a:r>
              <a:rPr lang="pt-BR" dirty="0"/>
              <a:t>Cruzamento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76ECB179-8744-4728-A385-1E35EDC771F8}"/>
                  </a:ext>
                </a:extLst>
              </p:cNvPr>
              <p:cNvSpPr>
                <a:spLocks noGrp="1"/>
              </p:cNvSpPr>
              <p:nvPr>
                <p:ph idx="1"/>
              </p:nvPr>
            </p:nvSpPr>
            <p:spPr/>
            <p:txBody>
              <a:bodyPr>
                <a:normAutofit fontScale="77500" lnSpcReduction="20000"/>
              </a:bodyPr>
              <a:lstStyle/>
              <a:p>
                <a:pPr algn="just"/>
                <a:r>
                  <a:rPr lang="pt-BR" dirty="0"/>
                  <a:t>Aritmético</a:t>
                </a:r>
              </a:p>
              <a:p>
                <a:pPr algn="just"/>
                <a14:m>
                  <m:oMathPara xmlns:m="http://schemas.openxmlformats.org/officeDocument/2006/math">
                    <m:oMath>
                      <m:sSub>
                        <m:sSubPr>
                          <m:ctrlPr>
                            <a:rPr lang="pt-BR" b="0" i="1" u="none" smtClean="0">
                              <a:latin typeface="Cambria Math" panose="02040503050406030204" pitchFamily="18" charset="0"/>
                            </a:rPr>
                          </m:ctrlPr>
                        </m:sSubPr>
                        <m:e>
                          <m:r>
                            <a:rPr lang="pt-BR" b="0" i="1" u="none" smtClean="0">
                              <a:latin typeface="Cambria Math" panose="02040503050406030204" pitchFamily="18" charset="0"/>
                            </a:rPr>
                            <m:t>𝐹</m:t>
                          </m:r>
                        </m:e>
                        <m:sub>
                          <m:r>
                            <a:rPr lang="pt-BR" b="0" i="1" u="none" smtClean="0">
                              <a:latin typeface="Cambria Math" panose="02040503050406030204" pitchFamily="18" charset="0"/>
                            </a:rPr>
                            <m:t>1</m:t>
                          </m:r>
                        </m:sub>
                      </m:sSub>
                      <m:r>
                        <a:rPr lang="pt-BR" b="0" i="1" u="none" smtClean="0">
                          <a:latin typeface="Cambria Math" panose="02040503050406030204" pitchFamily="18" charset="0"/>
                        </a:rPr>
                        <m:t>=</m:t>
                      </m:r>
                      <m:r>
                        <a:rPr lang="pt-BR" b="0" i="1" u="none" smtClean="0">
                          <a:latin typeface="Cambria Math" panose="02040503050406030204" pitchFamily="18" charset="0"/>
                          <a:ea typeface="Cambria Math" panose="02040503050406030204" pitchFamily="18" charset="0"/>
                        </a:rPr>
                        <m:t>𝛽</m:t>
                      </m:r>
                      <m:r>
                        <a:rPr lang="pt-BR" b="0" i="1" u="none" smtClean="0">
                          <a:latin typeface="Cambria Math" panose="02040503050406030204" pitchFamily="18" charset="0"/>
                          <a:ea typeface="Cambria Math" panose="02040503050406030204" pitchFamily="18" charset="0"/>
                        </a:rPr>
                        <m:t>∗</m:t>
                      </m:r>
                      <m:sSub>
                        <m:sSubPr>
                          <m:ctrlPr>
                            <a:rPr lang="pt-BR" b="0" i="1" u="none" smtClean="0">
                              <a:latin typeface="Cambria Math" panose="02040503050406030204" pitchFamily="18" charset="0"/>
                              <a:ea typeface="Cambria Math" panose="02040503050406030204" pitchFamily="18" charset="0"/>
                            </a:rPr>
                          </m:ctrlPr>
                        </m:sSubPr>
                        <m:e>
                          <m:r>
                            <a:rPr lang="pt-BR" b="0" i="1" u="none" smtClean="0">
                              <a:latin typeface="Cambria Math" panose="02040503050406030204" pitchFamily="18" charset="0"/>
                              <a:ea typeface="Cambria Math" panose="02040503050406030204" pitchFamily="18" charset="0"/>
                            </a:rPr>
                            <m:t>𝑃</m:t>
                          </m:r>
                        </m:e>
                        <m:sub>
                          <m:r>
                            <a:rPr lang="pt-BR" b="0" i="1" u="none" smtClean="0">
                              <a:latin typeface="Cambria Math" panose="02040503050406030204" pitchFamily="18" charset="0"/>
                              <a:ea typeface="Cambria Math" panose="02040503050406030204" pitchFamily="18" charset="0"/>
                            </a:rPr>
                            <m:t>1</m:t>
                          </m:r>
                        </m:sub>
                      </m:sSub>
                      <m:r>
                        <a:rPr lang="pt-BR" b="0" i="1" u="none" smtClean="0">
                          <a:latin typeface="Cambria Math" panose="02040503050406030204" pitchFamily="18" charset="0"/>
                          <a:ea typeface="Cambria Math" panose="02040503050406030204" pitchFamily="18" charset="0"/>
                        </a:rPr>
                        <m:t>+</m:t>
                      </m:r>
                      <m:d>
                        <m:dPr>
                          <m:ctrlPr>
                            <a:rPr lang="pt-BR" b="0" i="1" u="none" smtClean="0">
                              <a:latin typeface="Cambria Math" panose="02040503050406030204" pitchFamily="18" charset="0"/>
                              <a:ea typeface="Cambria Math" panose="02040503050406030204" pitchFamily="18" charset="0"/>
                            </a:rPr>
                          </m:ctrlPr>
                        </m:dPr>
                        <m:e>
                          <m:r>
                            <a:rPr lang="pt-BR" b="0" i="1" u="none" smtClean="0">
                              <a:latin typeface="Cambria Math" panose="02040503050406030204" pitchFamily="18" charset="0"/>
                              <a:ea typeface="Cambria Math" panose="02040503050406030204" pitchFamily="18" charset="0"/>
                            </a:rPr>
                            <m:t>1−</m:t>
                          </m:r>
                          <m:r>
                            <a:rPr lang="pt-BR" b="0" i="1" u="none" smtClean="0">
                              <a:latin typeface="Cambria Math" panose="02040503050406030204" pitchFamily="18" charset="0"/>
                              <a:ea typeface="Cambria Math" panose="02040503050406030204" pitchFamily="18" charset="0"/>
                            </a:rPr>
                            <m:t>𝛽</m:t>
                          </m:r>
                        </m:e>
                      </m:d>
                      <m:r>
                        <a:rPr lang="pt-BR" b="0" i="1" u="none" smtClean="0">
                          <a:latin typeface="Cambria Math" panose="02040503050406030204" pitchFamily="18" charset="0"/>
                          <a:ea typeface="Cambria Math" panose="02040503050406030204" pitchFamily="18" charset="0"/>
                        </a:rPr>
                        <m:t>∗</m:t>
                      </m:r>
                      <m:sSub>
                        <m:sSubPr>
                          <m:ctrlPr>
                            <a:rPr lang="pt-BR" b="0" i="1" u="none" smtClean="0">
                              <a:latin typeface="Cambria Math" panose="02040503050406030204" pitchFamily="18" charset="0"/>
                              <a:ea typeface="Cambria Math" panose="02040503050406030204" pitchFamily="18" charset="0"/>
                            </a:rPr>
                          </m:ctrlPr>
                        </m:sSubPr>
                        <m:e>
                          <m:r>
                            <a:rPr lang="pt-BR" b="0" i="1" u="none" smtClean="0">
                              <a:latin typeface="Cambria Math" panose="02040503050406030204" pitchFamily="18" charset="0"/>
                              <a:ea typeface="Cambria Math" panose="02040503050406030204" pitchFamily="18" charset="0"/>
                            </a:rPr>
                            <m:t>𝑃</m:t>
                          </m:r>
                        </m:e>
                        <m:sub>
                          <m:r>
                            <a:rPr lang="pt-BR" b="0" i="1" u="none" smtClean="0">
                              <a:latin typeface="Cambria Math" panose="02040503050406030204" pitchFamily="18" charset="0"/>
                              <a:ea typeface="Cambria Math" panose="02040503050406030204" pitchFamily="18" charset="0"/>
                            </a:rPr>
                            <m:t>2</m:t>
                          </m:r>
                        </m:sub>
                      </m:sSub>
                    </m:oMath>
                  </m:oMathPara>
                </a14:m>
                <a:endParaRPr lang="pt-BR" u="none" dirty="0"/>
              </a:p>
              <a:p>
                <a:pPr algn="just"/>
                <a14:m>
                  <m:oMathPara xmlns:m="http://schemas.openxmlformats.org/officeDocument/2006/math">
                    <m:oMath>
                      <m:sSub>
                        <m:sSubPr>
                          <m:ctrlPr>
                            <a:rPr lang="pt-BR" b="0" i="1" u="none" smtClean="0">
                              <a:latin typeface="Cambria Math" panose="02040503050406030204" pitchFamily="18" charset="0"/>
                            </a:rPr>
                          </m:ctrlPr>
                        </m:sSubPr>
                        <m:e>
                          <m:r>
                            <a:rPr lang="pt-BR" b="0" i="1" u="none" smtClean="0">
                              <a:latin typeface="Cambria Math" panose="02040503050406030204" pitchFamily="18" charset="0"/>
                            </a:rPr>
                            <m:t>𝐹</m:t>
                          </m:r>
                        </m:e>
                        <m:sub>
                          <m:r>
                            <a:rPr lang="pt-BR" b="0" i="1" u="none" smtClean="0">
                              <a:latin typeface="Cambria Math" panose="02040503050406030204" pitchFamily="18" charset="0"/>
                            </a:rPr>
                            <m:t>2</m:t>
                          </m:r>
                        </m:sub>
                      </m:sSub>
                      <m:r>
                        <a:rPr lang="pt-BR" b="0" i="1" u="none" smtClean="0">
                          <a:latin typeface="Cambria Math" panose="02040503050406030204" pitchFamily="18" charset="0"/>
                        </a:rPr>
                        <m:t>=</m:t>
                      </m:r>
                      <m:r>
                        <a:rPr lang="pt-BR" b="0" i="1" u="none" smtClean="0">
                          <a:latin typeface="Cambria Math" panose="02040503050406030204" pitchFamily="18" charset="0"/>
                          <a:ea typeface="Cambria Math" panose="02040503050406030204" pitchFamily="18" charset="0"/>
                        </a:rPr>
                        <m:t>𝛽</m:t>
                      </m:r>
                      <m:r>
                        <a:rPr lang="pt-BR" b="0" i="1" u="none" smtClean="0">
                          <a:latin typeface="Cambria Math" panose="02040503050406030204" pitchFamily="18" charset="0"/>
                          <a:ea typeface="Cambria Math" panose="02040503050406030204" pitchFamily="18" charset="0"/>
                        </a:rPr>
                        <m:t>∗</m:t>
                      </m:r>
                      <m:sSub>
                        <m:sSubPr>
                          <m:ctrlPr>
                            <a:rPr lang="pt-BR" b="0" i="1" u="none" smtClean="0">
                              <a:latin typeface="Cambria Math" panose="02040503050406030204" pitchFamily="18" charset="0"/>
                              <a:ea typeface="Cambria Math" panose="02040503050406030204" pitchFamily="18" charset="0"/>
                            </a:rPr>
                          </m:ctrlPr>
                        </m:sSubPr>
                        <m:e>
                          <m:r>
                            <a:rPr lang="pt-BR" b="0" i="1" u="none" smtClean="0">
                              <a:latin typeface="Cambria Math" panose="02040503050406030204" pitchFamily="18" charset="0"/>
                              <a:ea typeface="Cambria Math" panose="02040503050406030204" pitchFamily="18" charset="0"/>
                            </a:rPr>
                            <m:t>𝑃</m:t>
                          </m:r>
                        </m:e>
                        <m:sub>
                          <m:r>
                            <a:rPr lang="pt-BR" b="0" i="1" u="none" smtClean="0">
                              <a:latin typeface="Cambria Math" panose="02040503050406030204" pitchFamily="18" charset="0"/>
                              <a:ea typeface="Cambria Math" panose="02040503050406030204" pitchFamily="18" charset="0"/>
                            </a:rPr>
                            <m:t>2</m:t>
                          </m:r>
                        </m:sub>
                      </m:sSub>
                      <m:r>
                        <a:rPr lang="pt-BR" b="0" i="1" u="none" smtClean="0">
                          <a:latin typeface="Cambria Math" panose="02040503050406030204" pitchFamily="18" charset="0"/>
                          <a:ea typeface="Cambria Math" panose="02040503050406030204" pitchFamily="18" charset="0"/>
                        </a:rPr>
                        <m:t>+</m:t>
                      </m:r>
                      <m:d>
                        <m:dPr>
                          <m:ctrlPr>
                            <a:rPr lang="pt-BR" b="0" i="1" u="none" smtClean="0">
                              <a:latin typeface="Cambria Math" panose="02040503050406030204" pitchFamily="18" charset="0"/>
                              <a:ea typeface="Cambria Math" panose="02040503050406030204" pitchFamily="18" charset="0"/>
                            </a:rPr>
                          </m:ctrlPr>
                        </m:dPr>
                        <m:e>
                          <m:r>
                            <a:rPr lang="pt-BR" b="0" i="1" u="none" smtClean="0">
                              <a:latin typeface="Cambria Math" panose="02040503050406030204" pitchFamily="18" charset="0"/>
                              <a:ea typeface="Cambria Math" panose="02040503050406030204" pitchFamily="18" charset="0"/>
                            </a:rPr>
                            <m:t>1−</m:t>
                          </m:r>
                          <m:r>
                            <a:rPr lang="pt-BR" b="0" i="1" u="none" smtClean="0">
                              <a:latin typeface="Cambria Math" panose="02040503050406030204" pitchFamily="18" charset="0"/>
                              <a:ea typeface="Cambria Math" panose="02040503050406030204" pitchFamily="18" charset="0"/>
                            </a:rPr>
                            <m:t>𝛽</m:t>
                          </m:r>
                        </m:e>
                      </m:d>
                      <m:r>
                        <a:rPr lang="pt-BR" b="0" i="1" u="none" smtClean="0">
                          <a:latin typeface="Cambria Math" panose="02040503050406030204" pitchFamily="18" charset="0"/>
                          <a:ea typeface="Cambria Math" panose="02040503050406030204" pitchFamily="18" charset="0"/>
                        </a:rPr>
                        <m:t>∗</m:t>
                      </m:r>
                      <m:sSub>
                        <m:sSubPr>
                          <m:ctrlPr>
                            <a:rPr lang="pt-BR" b="0" i="1" u="none" smtClean="0">
                              <a:latin typeface="Cambria Math" panose="02040503050406030204" pitchFamily="18" charset="0"/>
                              <a:ea typeface="Cambria Math" panose="02040503050406030204" pitchFamily="18" charset="0"/>
                            </a:rPr>
                          </m:ctrlPr>
                        </m:sSubPr>
                        <m:e>
                          <m:r>
                            <a:rPr lang="pt-BR" b="0" i="1" u="none" smtClean="0">
                              <a:latin typeface="Cambria Math" panose="02040503050406030204" pitchFamily="18" charset="0"/>
                              <a:ea typeface="Cambria Math" panose="02040503050406030204" pitchFamily="18" charset="0"/>
                            </a:rPr>
                            <m:t>𝑃</m:t>
                          </m:r>
                        </m:e>
                        <m:sub>
                          <m:r>
                            <a:rPr lang="pt-BR" b="0" i="1" u="none" smtClean="0">
                              <a:latin typeface="Cambria Math" panose="02040503050406030204" pitchFamily="18" charset="0"/>
                              <a:ea typeface="Cambria Math" panose="02040503050406030204" pitchFamily="18" charset="0"/>
                            </a:rPr>
                            <m:t>1</m:t>
                          </m:r>
                        </m:sub>
                      </m:sSub>
                    </m:oMath>
                  </m:oMathPara>
                </a14:m>
                <a:endParaRPr lang="pt-BR" u="none" dirty="0"/>
              </a:p>
              <a:p>
                <a:pPr algn="just"/>
                <a:endParaRPr lang="pt-BR" u="none" dirty="0"/>
              </a:p>
              <a:p>
                <a:pPr algn="just"/>
                <a:r>
                  <a:rPr lang="pt-BR" u="none" dirty="0"/>
                  <a:t>em que </a:t>
                </a:r>
                <a14:m>
                  <m:oMath xmlns:m="http://schemas.openxmlformats.org/officeDocument/2006/math">
                    <m:r>
                      <a:rPr lang="pt-BR" b="0" i="1" u="none" smtClean="0">
                        <a:latin typeface="Cambria Math" panose="02040503050406030204" pitchFamily="18" charset="0"/>
                        <a:ea typeface="Cambria Math" panose="02040503050406030204" pitchFamily="18" charset="0"/>
                      </a:rPr>
                      <m:t>𝛽</m:t>
                    </m:r>
                    <m:r>
                      <a:rPr lang="pt-BR" b="0" i="1" u="none" smtClean="0">
                        <a:latin typeface="Cambria Math" panose="02040503050406030204" pitchFamily="18" charset="0"/>
                        <a:ea typeface="Cambria Math" panose="02040503050406030204" pitchFamily="18" charset="0"/>
                      </a:rPr>
                      <m:t>∈</m:t>
                    </m:r>
                    <m:r>
                      <a:rPr lang="pt-BR" b="0" i="1" u="none" smtClean="0">
                        <a:latin typeface="Cambria Math" panose="02040503050406030204" pitchFamily="18" charset="0"/>
                        <a:ea typeface="Cambria Math" panose="02040503050406030204" pitchFamily="18" charset="0"/>
                      </a:rPr>
                      <m:t>𝑈</m:t>
                    </m:r>
                    <m:r>
                      <a:rPr lang="pt-BR" b="0" i="1" u="none" smtClean="0">
                        <a:latin typeface="Cambria Math" panose="02040503050406030204" pitchFamily="18" charset="0"/>
                        <a:ea typeface="Cambria Math" panose="02040503050406030204" pitchFamily="18" charset="0"/>
                      </a:rPr>
                      <m:t>[0,1</m:t>
                    </m:r>
                  </m:oMath>
                </a14:m>
                <a:r>
                  <a:rPr lang="pt-BR" u="none" dirty="0"/>
                  <a:t>] onde </a:t>
                </a:r>
                <a14:m>
                  <m:oMath xmlns:m="http://schemas.openxmlformats.org/officeDocument/2006/math">
                    <m:r>
                      <a:rPr lang="pt-BR" i="1" u="none" dirty="0" smtClean="0">
                        <a:latin typeface="Cambria Math" panose="02040503050406030204" pitchFamily="18" charset="0"/>
                        <a:sym typeface="Wingdings" panose="05000000000000000000" pitchFamily="2" charset="2"/>
                      </a:rPr>
                      <m:t>𝑈</m:t>
                    </m:r>
                  </m:oMath>
                </a14:m>
                <a:r>
                  <a:rPr lang="pt-BR" u="none" dirty="0">
                    <a:sym typeface="Wingdings" panose="05000000000000000000" pitchFamily="2" charset="2"/>
                  </a:rPr>
                  <a:t> refere-se a uma distribuição uniforme entre os dois limites</a:t>
                </a:r>
                <a:endParaRPr lang="pt-BR" u="none" dirty="0"/>
              </a:p>
              <a:p>
                <a:pPr algn="just"/>
                <a:endParaRPr lang="pt-BR" u="none" dirty="0"/>
              </a:p>
              <a:p>
                <a:pPr algn="just"/>
                <a:r>
                  <a:rPr lang="pt-BR" dirty="0"/>
                  <a:t>BLX-</a:t>
                </a:r>
                <a:r>
                  <a:rPr lang="el-GR" dirty="0"/>
                  <a:t>α</a:t>
                </a:r>
                <a:r>
                  <a:rPr lang="pt-BR" dirty="0"/>
                  <a:t> </a:t>
                </a:r>
                <a:endParaRPr lang="pt-BR" b="0" i="1" dirty="0">
                  <a:latin typeface="Cambria Math" panose="02040503050406030204" pitchFamily="18" charset="0"/>
                </a:endParaRPr>
              </a:p>
              <a:p>
                <a:pPr algn="just"/>
                <a14:m>
                  <m:oMathPara xmlns:m="http://schemas.openxmlformats.org/officeDocument/2006/math">
                    <m:oMath>
                      <m:sSub>
                        <m:sSubPr>
                          <m:ctrlPr>
                            <a:rPr lang="pt-BR" b="0" i="1" u="none" smtClean="0">
                              <a:latin typeface="Cambria Math" panose="02040503050406030204" pitchFamily="18" charset="0"/>
                            </a:rPr>
                          </m:ctrlPr>
                        </m:sSubPr>
                        <m:e>
                          <m:r>
                            <a:rPr lang="pt-BR" b="0" i="1" u="none" smtClean="0">
                              <a:latin typeface="Cambria Math" panose="02040503050406030204" pitchFamily="18" charset="0"/>
                            </a:rPr>
                            <m:t>𝐹</m:t>
                          </m:r>
                        </m:e>
                        <m:sub>
                          <m:r>
                            <a:rPr lang="pt-BR" b="0" i="1" u="none" smtClean="0">
                              <a:latin typeface="Cambria Math" panose="02040503050406030204" pitchFamily="18" charset="0"/>
                            </a:rPr>
                            <m:t>1</m:t>
                          </m:r>
                        </m:sub>
                      </m:sSub>
                      <m:r>
                        <a:rPr lang="pt-BR" b="0" i="1" u="none" smtClean="0">
                          <a:latin typeface="Cambria Math" panose="02040503050406030204" pitchFamily="18" charset="0"/>
                        </a:rPr>
                        <m:t>=</m:t>
                      </m:r>
                      <m:sSub>
                        <m:sSubPr>
                          <m:ctrlPr>
                            <a:rPr lang="pt-BR" b="0" i="1" u="none" smtClean="0">
                              <a:latin typeface="Cambria Math" panose="02040503050406030204" pitchFamily="18" charset="0"/>
                            </a:rPr>
                          </m:ctrlPr>
                        </m:sSubPr>
                        <m:e>
                          <m:r>
                            <a:rPr lang="pt-BR" b="0" i="1" u="none" smtClean="0">
                              <a:latin typeface="Cambria Math" panose="02040503050406030204" pitchFamily="18" charset="0"/>
                            </a:rPr>
                            <m:t>𝑃</m:t>
                          </m:r>
                        </m:e>
                        <m:sub>
                          <m:r>
                            <a:rPr lang="pt-BR" b="0" i="1" u="none" smtClean="0">
                              <a:latin typeface="Cambria Math" panose="02040503050406030204" pitchFamily="18" charset="0"/>
                            </a:rPr>
                            <m:t>1</m:t>
                          </m:r>
                        </m:sub>
                      </m:sSub>
                      <m:r>
                        <a:rPr lang="pt-BR" b="0" i="1" u="none" smtClean="0">
                          <a:latin typeface="Cambria Math" panose="02040503050406030204" pitchFamily="18" charset="0"/>
                        </a:rPr>
                        <m:t>+</m:t>
                      </m:r>
                      <m:r>
                        <a:rPr lang="pt-BR" b="0" i="1" u="none" smtClean="0">
                          <a:latin typeface="Cambria Math" panose="02040503050406030204" pitchFamily="18" charset="0"/>
                          <a:ea typeface="Cambria Math" panose="02040503050406030204" pitchFamily="18" charset="0"/>
                        </a:rPr>
                        <m:t>𝛽</m:t>
                      </m:r>
                      <m:r>
                        <a:rPr lang="pt-BR" b="0" i="1" u="none" smtClean="0">
                          <a:latin typeface="Cambria Math" panose="02040503050406030204" pitchFamily="18" charset="0"/>
                          <a:ea typeface="Cambria Math" panose="02040503050406030204" pitchFamily="18" charset="0"/>
                        </a:rPr>
                        <m:t>(</m:t>
                      </m:r>
                      <m:sSub>
                        <m:sSubPr>
                          <m:ctrlPr>
                            <a:rPr lang="pt-BR" b="0" i="1" u="none" smtClean="0">
                              <a:latin typeface="Cambria Math" panose="02040503050406030204" pitchFamily="18" charset="0"/>
                              <a:ea typeface="Cambria Math" panose="02040503050406030204" pitchFamily="18" charset="0"/>
                            </a:rPr>
                          </m:ctrlPr>
                        </m:sSubPr>
                        <m:e>
                          <m:r>
                            <a:rPr lang="pt-BR" b="0" i="1" u="none" smtClean="0">
                              <a:latin typeface="Cambria Math" panose="02040503050406030204" pitchFamily="18" charset="0"/>
                              <a:ea typeface="Cambria Math" panose="02040503050406030204" pitchFamily="18" charset="0"/>
                            </a:rPr>
                            <m:t>𝑃</m:t>
                          </m:r>
                        </m:e>
                        <m:sub>
                          <m:r>
                            <a:rPr lang="pt-BR" b="0" i="1" u="none" smtClean="0">
                              <a:latin typeface="Cambria Math" panose="02040503050406030204" pitchFamily="18" charset="0"/>
                              <a:ea typeface="Cambria Math" panose="02040503050406030204" pitchFamily="18" charset="0"/>
                            </a:rPr>
                            <m:t>2</m:t>
                          </m:r>
                        </m:sub>
                      </m:sSub>
                      <m:r>
                        <a:rPr lang="pt-BR" b="0" i="1" u="none" smtClean="0">
                          <a:latin typeface="Cambria Math" panose="02040503050406030204" pitchFamily="18" charset="0"/>
                          <a:ea typeface="Cambria Math" panose="02040503050406030204" pitchFamily="18" charset="0"/>
                        </a:rPr>
                        <m:t>−</m:t>
                      </m:r>
                      <m:sSub>
                        <m:sSubPr>
                          <m:ctrlPr>
                            <a:rPr lang="pt-BR" i="1" u="none">
                              <a:latin typeface="Cambria Math" panose="02040503050406030204" pitchFamily="18" charset="0"/>
                              <a:ea typeface="Cambria Math" panose="02040503050406030204" pitchFamily="18" charset="0"/>
                            </a:rPr>
                          </m:ctrlPr>
                        </m:sSubPr>
                        <m:e>
                          <m:r>
                            <a:rPr lang="pt-BR" i="1" u="none">
                              <a:latin typeface="Cambria Math" panose="02040503050406030204" pitchFamily="18" charset="0"/>
                              <a:ea typeface="Cambria Math" panose="02040503050406030204" pitchFamily="18" charset="0"/>
                            </a:rPr>
                            <m:t>𝑃</m:t>
                          </m:r>
                        </m:e>
                        <m:sub>
                          <m:r>
                            <a:rPr lang="pt-BR" b="0" i="1" u="none" smtClean="0">
                              <a:latin typeface="Cambria Math" panose="02040503050406030204" pitchFamily="18" charset="0"/>
                              <a:ea typeface="Cambria Math" panose="02040503050406030204" pitchFamily="18" charset="0"/>
                            </a:rPr>
                            <m:t>1</m:t>
                          </m:r>
                        </m:sub>
                      </m:sSub>
                      <m:r>
                        <a:rPr lang="pt-BR" b="0" i="1" u="none" smtClean="0">
                          <a:latin typeface="Cambria Math" panose="02040503050406030204" pitchFamily="18" charset="0"/>
                          <a:ea typeface="Cambria Math" panose="02040503050406030204" pitchFamily="18" charset="0"/>
                        </a:rPr>
                        <m:t>)</m:t>
                      </m:r>
                    </m:oMath>
                  </m:oMathPara>
                </a14:m>
                <a:endParaRPr lang="pt-BR" u="none" dirty="0"/>
              </a:p>
              <a:p>
                <a:pPr algn="just"/>
                <a:r>
                  <a:rPr lang="pt-BR" u="none" dirty="0"/>
                  <a:t>em que:</a:t>
                </a:r>
              </a:p>
              <a:p>
                <a:pPr marL="457200" indent="-457200" algn="just">
                  <a:buFont typeface="Arial" panose="020B0604020202020204" pitchFamily="34" charset="0"/>
                  <a:buChar char="•"/>
                </a:pPr>
                <a:r>
                  <a:rPr lang="pt-BR" u="none" dirty="0"/>
                  <a:t> </a:t>
                </a:r>
                <a14:m>
                  <m:oMath xmlns:m="http://schemas.openxmlformats.org/officeDocument/2006/math">
                    <m:r>
                      <a:rPr lang="pt-BR" b="0" i="1" u="none" smtClean="0">
                        <a:latin typeface="Cambria Math" panose="02040503050406030204" pitchFamily="18" charset="0"/>
                        <a:ea typeface="Cambria Math" panose="02040503050406030204" pitchFamily="18" charset="0"/>
                      </a:rPr>
                      <m:t>𝛽</m:t>
                    </m:r>
                    <m:r>
                      <a:rPr lang="pt-BR" b="0" i="1" u="none" smtClean="0">
                        <a:latin typeface="Cambria Math" panose="02040503050406030204" pitchFamily="18" charset="0"/>
                        <a:ea typeface="Cambria Math" panose="02040503050406030204" pitchFamily="18" charset="0"/>
                      </a:rPr>
                      <m:t>∈</m:t>
                    </m:r>
                    <m:r>
                      <a:rPr lang="pt-BR" b="0" i="1" u="none" smtClean="0">
                        <a:latin typeface="Cambria Math" panose="02040503050406030204" pitchFamily="18" charset="0"/>
                        <a:ea typeface="Cambria Math" panose="02040503050406030204" pitchFamily="18" charset="0"/>
                      </a:rPr>
                      <m:t>𝑈</m:t>
                    </m:r>
                    <m:r>
                      <a:rPr lang="pt-BR" b="0" i="1" u="none" smtClean="0">
                        <a:latin typeface="Cambria Math" panose="02040503050406030204" pitchFamily="18" charset="0"/>
                        <a:ea typeface="Cambria Math" panose="02040503050406030204" pitchFamily="18" charset="0"/>
                      </a:rPr>
                      <m:t>[−</m:t>
                    </m:r>
                    <m:r>
                      <a:rPr lang="pt-BR" b="0" i="1" u="none" smtClean="0">
                        <a:latin typeface="Cambria Math" panose="02040503050406030204" pitchFamily="18" charset="0"/>
                        <a:ea typeface="Cambria Math" panose="02040503050406030204" pitchFamily="18" charset="0"/>
                      </a:rPr>
                      <m:t>𝛼</m:t>
                    </m:r>
                    <m:r>
                      <a:rPr lang="pt-BR" b="0" i="1" u="none" smtClean="0">
                        <a:latin typeface="Cambria Math" panose="02040503050406030204" pitchFamily="18" charset="0"/>
                        <a:ea typeface="Cambria Math" panose="02040503050406030204" pitchFamily="18" charset="0"/>
                      </a:rPr>
                      <m:t>,1+</m:t>
                    </m:r>
                    <m:r>
                      <a:rPr lang="pt-BR" b="0" i="1" u="none" smtClean="0">
                        <a:latin typeface="Cambria Math" panose="02040503050406030204" pitchFamily="18" charset="0"/>
                        <a:ea typeface="Cambria Math" panose="02040503050406030204" pitchFamily="18" charset="0"/>
                      </a:rPr>
                      <m:t>𝛼</m:t>
                    </m:r>
                  </m:oMath>
                </a14:m>
                <a:r>
                  <a:rPr lang="pt-BR" u="none" dirty="0"/>
                  <a:t>]</a:t>
                </a:r>
              </a:p>
              <a:p>
                <a:pPr marL="457200" indent="-457200" algn="just">
                  <a:buFont typeface="Arial" panose="020B0604020202020204" pitchFamily="34" charset="0"/>
                  <a:buChar char="•"/>
                </a:pPr>
                <a14:m>
                  <m:oMath xmlns:m="http://schemas.openxmlformats.org/officeDocument/2006/math">
                    <m:r>
                      <a:rPr lang="pt-BR" b="0" i="1" u="none" smtClean="0">
                        <a:latin typeface="Cambria Math" panose="02040503050406030204" pitchFamily="18" charset="0"/>
                        <a:ea typeface="Cambria Math" panose="02040503050406030204" pitchFamily="18" charset="0"/>
                      </a:rPr>
                      <m:t>𝛼</m:t>
                    </m:r>
                  </m:oMath>
                </a14:m>
                <a:r>
                  <a:rPr lang="pt-BR" u="none" dirty="0"/>
                  <a:t> é um pequeno valor que estende os limites para a definição de </a:t>
                </a:r>
                <a14:m>
                  <m:oMath xmlns:m="http://schemas.openxmlformats.org/officeDocument/2006/math">
                    <m:sSub>
                      <m:sSubPr>
                        <m:ctrlPr>
                          <a:rPr lang="pt-BR" i="1" u="none">
                            <a:latin typeface="Cambria Math" panose="02040503050406030204" pitchFamily="18" charset="0"/>
                          </a:rPr>
                        </m:ctrlPr>
                      </m:sSubPr>
                      <m:e>
                        <m:r>
                          <a:rPr lang="pt-BR" i="1" u="none">
                            <a:latin typeface="Cambria Math" panose="02040503050406030204" pitchFamily="18" charset="0"/>
                          </a:rPr>
                          <m:t>𝐹</m:t>
                        </m:r>
                      </m:e>
                      <m:sub>
                        <m:r>
                          <a:rPr lang="pt-BR" i="1" u="none">
                            <a:latin typeface="Cambria Math" panose="02040503050406030204" pitchFamily="18" charset="0"/>
                          </a:rPr>
                          <m:t>1</m:t>
                        </m:r>
                      </m:sub>
                    </m:sSub>
                  </m:oMath>
                </a14:m>
                <a:endParaRPr lang="pt-BR" u="none" dirty="0"/>
              </a:p>
            </p:txBody>
          </p:sp>
        </mc:Choice>
        <mc:Fallback xmlns="">
          <p:sp>
            <p:nvSpPr>
              <p:cNvPr id="3" name="Espaço Reservado para Conteúdo 2">
                <a:extLst>
                  <a:ext uri="{FF2B5EF4-FFF2-40B4-BE49-F238E27FC236}">
                    <a16:creationId xmlns:a16="http://schemas.microsoft.com/office/drawing/2014/main" id="{76ECB179-8744-4728-A385-1E35EDC771F8}"/>
                  </a:ext>
                </a:extLst>
              </p:cNvPr>
              <p:cNvSpPr>
                <a:spLocks noGrp="1" noRot="1" noChangeAspect="1" noMove="1" noResize="1" noEditPoints="1" noAdjustHandles="1" noChangeArrowheads="1" noChangeShapeType="1" noTextEdit="1"/>
              </p:cNvSpPr>
              <p:nvPr>
                <p:ph idx="1"/>
              </p:nvPr>
            </p:nvSpPr>
            <p:spPr>
              <a:blipFill>
                <a:blip r:embed="rId2"/>
                <a:stretch>
                  <a:fillRect l="-1005" t="-2801" r="-1005" b="-560"/>
                </a:stretch>
              </a:blipFill>
            </p:spPr>
            <p:txBody>
              <a:bodyPr/>
              <a:lstStyle/>
              <a:p>
                <a:r>
                  <a:rPr lang="pt-BR">
                    <a:noFill/>
                  </a:rPr>
                  <a:t> </a:t>
                </a:r>
              </a:p>
            </p:txBody>
          </p:sp>
        </mc:Fallback>
      </mc:AlternateContent>
    </p:spTree>
    <p:extLst>
      <p:ext uri="{BB962C8B-B14F-4D97-AF65-F5344CB8AC3E}">
        <p14:creationId xmlns:p14="http://schemas.microsoft.com/office/powerpoint/2010/main" val="20007446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FFB3EA-8CDE-411A-A1E2-30ADB4971A02}"/>
              </a:ext>
            </a:extLst>
          </p:cNvPr>
          <p:cNvSpPr>
            <a:spLocks noGrp="1"/>
          </p:cNvSpPr>
          <p:nvPr>
            <p:ph type="title"/>
          </p:nvPr>
        </p:nvSpPr>
        <p:spPr/>
        <p:txBody>
          <a:bodyPr/>
          <a:lstStyle/>
          <a:p>
            <a:r>
              <a:rPr lang="pt-BR" dirty="0"/>
              <a:t>Cruzamento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76ECB179-8744-4728-A385-1E35EDC771F8}"/>
                  </a:ext>
                </a:extLst>
              </p:cNvPr>
              <p:cNvSpPr>
                <a:spLocks noGrp="1"/>
              </p:cNvSpPr>
              <p:nvPr>
                <p:ph idx="1"/>
              </p:nvPr>
            </p:nvSpPr>
            <p:spPr/>
            <p:txBody>
              <a:bodyPr>
                <a:normAutofit/>
              </a:bodyPr>
              <a:lstStyle/>
              <a:p>
                <a:pPr algn="just"/>
                <a:r>
                  <a:rPr lang="pt-BR" dirty="0"/>
                  <a:t>Heurístico</a:t>
                </a:r>
              </a:p>
              <a:p>
                <a:pPr algn="just"/>
                <a14:m>
                  <m:oMathPara xmlns:m="http://schemas.openxmlformats.org/officeDocument/2006/math">
                    <m:oMath>
                      <m:sSub>
                        <m:sSubPr>
                          <m:ctrlPr>
                            <a:rPr lang="pt-BR" b="0" i="1" u="none" smtClean="0">
                              <a:latin typeface="Cambria Math" panose="02040503050406030204" pitchFamily="18" charset="0"/>
                            </a:rPr>
                          </m:ctrlPr>
                        </m:sSubPr>
                        <m:e>
                          <m:r>
                            <a:rPr lang="pt-BR" b="0" i="1" u="none" smtClean="0">
                              <a:latin typeface="Cambria Math" panose="02040503050406030204" pitchFamily="18" charset="0"/>
                            </a:rPr>
                            <m:t>𝐹</m:t>
                          </m:r>
                        </m:e>
                        <m:sub>
                          <m:r>
                            <a:rPr lang="pt-BR" b="0" i="1" u="none" smtClean="0">
                              <a:latin typeface="Cambria Math" panose="02040503050406030204" pitchFamily="18" charset="0"/>
                            </a:rPr>
                            <m:t>1</m:t>
                          </m:r>
                        </m:sub>
                      </m:sSub>
                      <m:r>
                        <a:rPr lang="pt-BR" b="0" i="1" u="none" smtClean="0">
                          <a:latin typeface="Cambria Math" panose="02040503050406030204" pitchFamily="18" charset="0"/>
                        </a:rPr>
                        <m:t>=</m:t>
                      </m:r>
                      <m:d>
                        <m:dPr>
                          <m:begChr m:val="{"/>
                          <m:endChr m:val=""/>
                          <m:ctrlPr>
                            <a:rPr lang="pt-BR" b="0" i="1" u="none" smtClean="0">
                              <a:latin typeface="Cambria Math" panose="02040503050406030204" pitchFamily="18" charset="0"/>
                            </a:rPr>
                          </m:ctrlPr>
                        </m:dPr>
                        <m:e>
                          <m:eqArr>
                            <m:eqArrPr>
                              <m:ctrlPr>
                                <a:rPr lang="pt-BR" b="0" i="1" u="none" smtClean="0">
                                  <a:latin typeface="Cambria Math" panose="02040503050406030204" pitchFamily="18" charset="0"/>
                                </a:rPr>
                              </m:ctrlPr>
                            </m:eqArrPr>
                            <m:e>
                              <m:sSub>
                                <m:sSubPr>
                                  <m:ctrlPr>
                                    <a:rPr lang="pt-BR" i="1" u="none">
                                      <a:latin typeface="Cambria Math" panose="02040503050406030204" pitchFamily="18" charset="0"/>
                                    </a:rPr>
                                  </m:ctrlPr>
                                </m:sSubPr>
                                <m:e>
                                  <m:r>
                                    <a:rPr lang="pt-BR" i="1" u="none">
                                      <a:latin typeface="Cambria Math" panose="02040503050406030204" pitchFamily="18" charset="0"/>
                                    </a:rPr>
                                    <m:t>𝑃</m:t>
                                  </m:r>
                                </m:e>
                                <m:sub>
                                  <m:r>
                                    <a:rPr lang="pt-BR" b="0" i="1" u="none" smtClean="0">
                                      <a:latin typeface="Cambria Math" panose="02040503050406030204" pitchFamily="18" charset="0"/>
                                    </a:rPr>
                                    <m:t>1</m:t>
                                  </m:r>
                                </m:sub>
                              </m:sSub>
                              <m:r>
                                <a:rPr lang="pt-BR" i="1" u="none">
                                  <a:latin typeface="Cambria Math" panose="02040503050406030204" pitchFamily="18" charset="0"/>
                                </a:rPr>
                                <m:t>+</m:t>
                              </m:r>
                              <m:r>
                                <a:rPr lang="pt-BR" i="1" u="none">
                                  <a:latin typeface="Cambria Math" panose="02040503050406030204" pitchFamily="18" charset="0"/>
                                </a:rPr>
                                <m:t>𝑟</m:t>
                              </m:r>
                              <m:r>
                                <a:rPr lang="pt-BR" i="1" u="none">
                                  <a:latin typeface="Cambria Math" panose="02040503050406030204" pitchFamily="18" charset="0"/>
                                  <a:ea typeface="Cambria Math" panose="02040503050406030204" pitchFamily="18" charset="0"/>
                                </a:rPr>
                                <m:t>(</m:t>
                              </m:r>
                              <m:sSub>
                                <m:sSubPr>
                                  <m:ctrlPr>
                                    <a:rPr lang="pt-BR" i="1" u="none">
                                      <a:latin typeface="Cambria Math" panose="02040503050406030204" pitchFamily="18" charset="0"/>
                                      <a:ea typeface="Cambria Math" panose="02040503050406030204" pitchFamily="18" charset="0"/>
                                    </a:rPr>
                                  </m:ctrlPr>
                                </m:sSubPr>
                                <m:e>
                                  <m:r>
                                    <a:rPr lang="pt-BR" i="1" u="none">
                                      <a:latin typeface="Cambria Math" panose="02040503050406030204" pitchFamily="18" charset="0"/>
                                      <a:ea typeface="Cambria Math" panose="02040503050406030204" pitchFamily="18" charset="0"/>
                                    </a:rPr>
                                    <m:t>𝑃</m:t>
                                  </m:r>
                                </m:e>
                                <m:sub>
                                  <m:r>
                                    <a:rPr lang="pt-BR" b="0" i="1" u="none" smtClean="0">
                                      <a:latin typeface="Cambria Math" panose="02040503050406030204" pitchFamily="18" charset="0"/>
                                      <a:ea typeface="Cambria Math" panose="02040503050406030204" pitchFamily="18" charset="0"/>
                                    </a:rPr>
                                    <m:t>1</m:t>
                                  </m:r>
                                </m:sub>
                              </m:sSub>
                              <m:r>
                                <a:rPr lang="pt-BR" i="1" u="none">
                                  <a:latin typeface="Cambria Math" panose="02040503050406030204" pitchFamily="18" charset="0"/>
                                  <a:ea typeface="Cambria Math" panose="02040503050406030204" pitchFamily="18" charset="0"/>
                                </a:rPr>
                                <m:t>−</m:t>
                              </m:r>
                              <m:sSub>
                                <m:sSubPr>
                                  <m:ctrlPr>
                                    <a:rPr lang="pt-BR" i="1" u="none">
                                      <a:latin typeface="Cambria Math" panose="02040503050406030204" pitchFamily="18" charset="0"/>
                                      <a:ea typeface="Cambria Math" panose="02040503050406030204" pitchFamily="18" charset="0"/>
                                    </a:rPr>
                                  </m:ctrlPr>
                                </m:sSubPr>
                                <m:e>
                                  <m:r>
                                    <a:rPr lang="pt-BR" i="1" u="none">
                                      <a:latin typeface="Cambria Math" panose="02040503050406030204" pitchFamily="18" charset="0"/>
                                      <a:ea typeface="Cambria Math" panose="02040503050406030204" pitchFamily="18" charset="0"/>
                                    </a:rPr>
                                    <m:t>𝑃</m:t>
                                  </m:r>
                                </m:e>
                                <m:sub>
                                  <m:r>
                                    <a:rPr lang="pt-BR" b="0" i="1" u="none" smtClean="0">
                                      <a:latin typeface="Cambria Math" panose="02040503050406030204" pitchFamily="18" charset="0"/>
                                      <a:ea typeface="Cambria Math" panose="02040503050406030204" pitchFamily="18" charset="0"/>
                                    </a:rPr>
                                    <m:t>2</m:t>
                                  </m:r>
                                </m:sub>
                              </m:sSub>
                              <m:r>
                                <a:rPr lang="pt-BR" i="1" u="none">
                                  <a:latin typeface="Cambria Math" panose="02040503050406030204" pitchFamily="18" charset="0"/>
                                  <a:ea typeface="Cambria Math" panose="02040503050406030204" pitchFamily="18" charset="0"/>
                                </a:rPr>
                                <m:t>)</m:t>
                              </m:r>
                              <m:r>
                                <m:rPr>
                                  <m:nor/>
                                </m:rPr>
                                <a:rPr lang="pt-BR" b="0" i="0" u="none" smtClean="0">
                                  <a:latin typeface="Cambria Math" panose="02040503050406030204" pitchFamily="18" charset="0"/>
                                  <a:ea typeface="Cambria Math" panose="02040503050406030204" pitchFamily="18" charset="0"/>
                                </a:rPr>
                                <m:t>      se f(</m:t>
                              </m:r>
                              <m:sSub>
                                <m:sSubPr>
                                  <m:ctrlPr>
                                    <a:rPr lang="pt-BR" i="1" u="none">
                                      <a:latin typeface="Cambria Math" panose="02040503050406030204" pitchFamily="18" charset="0"/>
                                      <a:ea typeface="Cambria Math" panose="02040503050406030204" pitchFamily="18" charset="0"/>
                                    </a:rPr>
                                  </m:ctrlPr>
                                </m:sSubPr>
                                <m:e>
                                  <m:r>
                                    <a:rPr lang="pt-BR" i="1" u="none">
                                      <a:latin typeface="Cambria Math" panose="02040503050406030204" pitchFamily="18" charset="0"/>
                                      <a:ea typeface="Cambria Math" panose="02040503050406030204" pitchFamily="18" charset="0"/>
                                    </a:rPr>
                                    <m:t>𝑃</m:t>
                                  </m:r>
                                </m:e>
                                <m:sub>
                                  <m:r>
                                    <a:rPr lang="pt-BR" i="1" u="none">
                                      <a:latin typeface="Cambria Math" panose="02040503050406030204" pitchFamily="18" charset="0"/>
                                      <a:ea typeface="Cambria Math" panose="02040503050406030204" pitchFamily="18" charset="0"/>
                                    </a:rPr>
                                    <m:t>1</m:t>
                                  </m:r>
                                </m:sub>
                              </m:sSub>
                              <m:r>
                                <a:rPr lang="pt-BR" b="0" i="1" u="none" smtClean="0">
                                  <a:latin typeface="Cambria Math" panose="02040503050406030204" pitchFamily="18" charset="0"/>
                                  <a:ea typeface="Cambria Math" panose="02040503050406030204" pitchFamily="18" charset="0"/>
                                </a:rPr>
                                <m:t>)≥</m:t>
                              </m:r>
                              <m:r>
                                <a:rPr lang="pt-BR" b="0" i="1" u="none" smtClean="0">
                                  <a:latin typeface="Cambria Math" panose="02040503050406030204" pitchFamily="18" charset="0"/>
                                  <a:ea typeface="Cambria Math" panose="02040503050406030204" pitchFamily="18" charset="0"/>
                                </a:rPr>
                                <m:t>𝑓</m:t>
                              </m:r>
                              <m:r>
                                <a:rPr lang="pt-BR" b="0" i="1" u="none" smtClean="0">
                                  <a:latin typeface="Cambria Math" panose="02040503050406030204" pitchFamily="18" charset="0"/>
                                  <a:ea typeface="Cambria Math" panose="02040503050406030204" pitchFamily="18" charset="0"/>
                                </a:rPr>
                                <m:t>(</m:t>
                              </m:r>
                              <m:sSub>
                                <m:sSubPr>
                                  <m:ctrlPr>
                                    <a:rPr lang="pt-BR" i="1" u="none">
                                      <a:latin typeface="Cambria Math" panose="02040503050406030204" pitchFamily="18" charset="0"/>
                                      <a:ea typeface="Cambria Math" panose="02040503050406030204" pitchFamily="18" charset="0"/>
                                    </a:rPr>
                                  </m:ctrlPr>
                                </m:sSubPr>
                                <m:e>
                                  <m:r>
                                    <a:rPr lang="pt-BR" i="1" u="none">
                                      <a:latin typeface="Cambria Math" panose="02040503050406030204" pitchFamily="18" charset="0"/>
                                      <a:ea typeface="Cambria Math" panose="02040503050406030204" pitchFamily="18" charset="0"/>
                                    </a:rPr>
                                    <m:t>𝑃</m:t>
                                  </m:r>
                                </m:e>
                                <m:sub>
                                  <m:r>
                                    <a:rPr lang="pt-BR" b="0" i="1" u="none" smtClean="0">
                                      <a:latin typeface="Cambria Math" panose="02040503050406030204" pitchFamily="18" charset="0"/>
                                      <a:ea typeface="Cambria Math" panose="02040503050406030204" pitchFamily="18" charset="0"/>
                                    </a:rPr>
                                    <m:t>2</m:t>
                                  </m:r>
                                </m:sub>
                              </m:sSub>
                              <m:r>
                                <a:rPr lang="pt-BR" b="0" i="1" u="none" smtClean="0">
                                  <a:latin typeface="Cambria Math" panose="02040503050406030204" pitchFamily="18" charset="0"/>
                                  <a:ea typeface="Cambria Math" panose="02040503050406030204" pitchFamily="18" charset="0"/>
                                </a:rPr>
                                <m:t>)</m:t>
                              </m:r>
                            </m:e>
                            <m:e>
                              <m:sSub>
                                <m:sSubPr>
                                  <m:ctrlPr>
                                    <a:rPr lang="pt-BR" i="1" u="none">
                                      <a:latin typeface="Cambria Math" panose="02040503050406030204" pitchFamily="18" charset="0"/>
                                    </a:rPr>
                                  </m:ctrlPr>
                                </m:sSubPr>
                                <m:e>
                                  <m:r>
                                    <a:rPr lang="pt-BR" i="1" u="none">
                                      <a:latin typeface="Cambria Math" panose="02040503050406030204" pitchFamily="18" charset="0"/>
                                    </a:rPr>
                                    <m:t>𝑃</m:t>
                                  </m:r>
                                </m:e>
                                <m:sub>
                                  <m:r>
                                    <a:rPr lang="pt-BR" b="0" i="1" u="none" smtClean="0">
                                      <a:latin typeface="Cambria Math" panose="02040503050406030204" pitchFamily="18" charset="0"/>
                                    </a:rPr>
                                    <m:t>2</m:t>
                                  </m:r>
                                </m:sub>
                              </m:sSub>
                              <m:r>
                                <a:rPr lang="pt-BR" i="1" u="none">
                                  <a:latin typeface="Cambria Math" panose="02040503050406030204" pitchFamily="18" charset="0"/>
                                </a:rPr>
                                <m:t>+</m:t>
                              </m:r>
                              <m:r>
                                <a:rPr lang="pt-BR" i="1" u="none">
                                  <a:latin typeface="Cambria Math" panose="02040503050406030204" pitchFamily="18" charset="0"/>
                                </a:rPr>
                                <m:t>𝑟</m:t>
                              </m:r>
                              <m:r>
                                <a:rPr lang="pt-BR" i="1" u="none">
                                  <a:latin typeface="Cambria Math" panose="02040503050406030204" pitchFamily="18" charset="0"/>
                                  <a:ea typeface="Cambria Math" panose="02040503050406030204" pitchFamily="18" charset="0"/>
                                </a:rPr>
                                <m:t>(</m:t>
                              </m:r>
                              <m:sSub>
                                <m:sSubPr>
                                  <m:ctrlPr>
                                    <a:rPr lang="pt-BR" i="1" u="none">
                                      <a:latin typeface="Cambria Math" panose="02040503050406030204" pitchFamily="18" charset="0"/>
                                      <a:ea typeface="Cambria Math" panose="02040503050406030204" pitchFamily="18" charset="0"/>
                                    </a:rPr>
                                  </m:ctrlPr>
                                </m:sSubPr>
                                <m:e>
                                  <m:r>
                                    <a:rPr lang="pt-BR" i="1" u="none">
                                      <a:latin typeface="Cambria Math" panose="02040503050406030204" pitchFamily="18" charset="0"/>
                                      <a:ea typeface="Cambria Math" panose="02040503050406030204" pitchFamily="18" charset="0"/>
                                    </a:rPr>
                                    <m:t>𝑃</m:t>
                                  </m:r>
                                </m:e>
                                <m:sub>
                                  <m:r>
                                    <a:rPr lang="pt-BR" b="0" i="1" u="none" smtClean="0">
                                      <a:latin typeface="Cambria Math" panose="02040503050406030204" pitchFamily="18" charset="0"/>
                                      <a:ea typeface="Cambria Math" panose="02040503050406030204" pitchFamily="18" charset="0"/>
                                    </a:rPr>
                                    <m:t>2</m:t>
                                  </m:r>
                                </m:sub>
                              </m:sSub>
                              <m:r>
                                <a:rPr lang="pt-BR" i="1" u="none">
                                  <a:latin typeface="Cambria Math" panose="02040503050406030204" pitchFamily="18" charset="0"/>
                                  <a:ea typeface="Cambria Math" panose="02040503050406030204" pitchFamily="18" charset="0"/>
                                </a:rPr>
                                <m:t>−</m:t>
                              </m:r>
                              <m:sSub>
                                <m:sSubPr>
                                  <m:ctrlPr>
                                    <a:rPr lang="pt-BR" i="1" u="none">
                                      <a:latin typeface="Cambria Math" panose="02040503050406030204" pitchFamily="18" charset="0"/>
                                      <a:ea typeface="Cambria Math" panose="02040503050406030204" pitchFamily="18" charset="0"/>
                                    </a:rPr>
                                  </m:ctrlPr>
                                </m:sSubPr>
                                <m:e>
                                  <m:r>
                                    <a:rPr lang="pt-BR" i="1" u="none">
                                      <a:latin typeface="Cambria Math" panose="02040503050406030204" pitchFamily="18" charset="0"/>
                                      <a:ea typeface="Cambria Math" panose="02040503050406030204" pitchFamily="18" charset="0"/>
                                    </a:rPr>
                                    <m:t>𝑃</m:t>
                                  </m:r>
                                </m:e>
                                <m:sub>
                                  <m:r>
                                    <a:rPr lang="pt-BR" b="0" i="1" u="none" smtClean="0">
                                      <a:latin typeface="Cambria Math" panose="02040503050406030204" pitchFamily="18" charset="0"/>
                                      <a:ea typeface="Cambria Math" panose="02040503050406030204" pitchFamily="18" charset="0"/>
                                    </a:rPr>
                                    <m:t>1</m:t>
                                  </m:r>
                                </m:sub>
                              </m:sSub>
                              <m:r>
                                <a:rPr lang="pt-BR" i="1" u="none">
                                  <a:latin typeface="Cambria Math" panose="02040503050406030204" pitchFamily="18" charset="0"/>
                                  <a:ea typeface="Cambria Math" panose="02040503050406030204" pitchFamily="18" charset="0"/>
                                </a:rPr>
                                <m:t>)</m:t>
                              </m:r>
                              <m:r>
                                <m:rPr>
                                  <m:nor/>
                                </m:rPr>
                                <a:rPr lang="pt-BR" i="0" u="none">
                                  <a:latin typeface="Cambria Math" panose="02040503050406030204" pitchFamily="18" charset="0"/>
                                  <a:ea typeface="Cambria Math" panose="02040503050406030204" pitchFamily="18" charset="0"/>
                                </a:rPr>
                                <m:t>      se f(</m:t>
                              </m:r>
                              <m:sSub>
                                <m:sSubPr>
                                  <m:ctrlPr>
                                    <a:rPr lang="pt-BR" i="1" u="none">
                                      <a:latin typeface="Cambria Math" panose="02040503050406030204" pitchFamily="18" charset="0"/>
                                      <a:ea typeface="Cambria Math" panose="02040503050406030204" pitchFamily="18" charset="0"/>
                                    </a:rPr>
                                  </m:ctrlPr>
                                </m:sSubPr>
                                <m:e>
                                  <m:r>
                                    <a:rPr lang="pt-BR" i="1" u="none">
                                      <a:latin typeface="Cambria Math" panose="02040503050406030204" pitchFamily="18" charset="0"/>
                                      <a:ea typeface="Cambria Math" panose="02040503050406030204" pitchFamily="18" charset="0"/>
                                    </a:rPr>
                                    <m:t>𝑃</m:t>
                                  </m:r>
                                </m:e>
                                <m:sub>
                                  <m:r>
                                    <a:rPr lang="pt-BR" b="0" i="1" u="none" smtClean="0">
                                      <a:latin typeface="Cambria Math" panose="02040503050406030204" pitchFamily="18" charset="0"/>
                                      <a:ea typeface="Cambria Math" panose="02040503050406030204" pitchFamily="18" charset="0"/>
                                    </a:rPr>
                                    <m:t>2</m:t>
                                  </m:r>
                                </m:sub>
                              </m:sSub>
                              <m:r>
                                <a:rPr lang="pt-BR" i="1" u="none">
                                  <a:latin typeface="Cambria Math" panose="02040503050406030204" pitchFamily="18" charset="0"/>
                                  <a:ea typeface="Cambria Math" panose="02040503050406030204" pitchFamily="18" charset="0"/>
                                </a:rPr>
                                <m:t>)&gt;</m:t>
                              </m:r>
                              <m:r>
                                <a:rPr lang="pt-BR" i="1" u="none">
                                  <a:latin typeface="Cambria Math" panose="02040503050406030204" pitchFamily="18" charset="0"/>
                                  <a:ea typeface="Cambria Math" panose="02040503050406030204" pitchFamily="18" charset="0"/>
                                </a:rPr>
                                <m:t>𝑓</m:t>
                              </m:r>
                              <m:r>
                                <a:rPr lang="pt-BR" i="1" u="none">
                                  <a:latin typeface="Cambria Math" panose="02040503050406030204" pitchFamily="18" charset="0"/>
                                  <a:ea typeface="Cambria Math" panose="02040503050406030204" pitchFamily="18" charset="0"/>
                                </a:rPr>
                                <m:t>(</m:t>
                              </m:r>
                              <m:sSub>
                                <m:sSubPr>
                                  <m:ctrlPr>
                                    <a:rPr lang="pt-BR" i="1" u="none">
                                      <a:latin typeface="Cambria Math" panose="02040503050406030204" pitchFamily="18" charset="0"/>
                                      <a:ea typeface="Cambria Math" panose="02040503050406030204" pitchFamily="18" charset="0"/>
                                    </a:rPr>
                                  </m:ctrlPr>
                                </m:sSubPr>
                                <m:e>
                                  <m:r>
                                    <a:rPr lang="pt-BR" i="1" u="none">
                                      <a:latin typeface="Cambria Math" panose="02040503050406030204" pitchFamily="18" charset="0"/>
                                      <a:ea typeface="Cambria Math" panose="02040503050406030204" pitchFamily="18" charset="0"/>
                                    </a:rPr>
                                    <m:t>𝑃</m:t>
                                  </m:r>
                                </m:e>
                                <m:sub>
                                  <m:r>
                                    <a:rPr lang="pt-BR" b="0" i="1" u="none" smtClean="0">
                                      <a:latin typeface="Cambria Math" panose="02040503050406030204" pitchFamily="18" charset="0"/>
                                      <a:ea typeface="Cambria Math" panose="02040503050406030204" pitchFamily="18" charset="0"/>
                                    </a:rPr>
                                    <m:t>1</m:t>
                                  </m:r>
                                </m:sub>
                              </m:sSub>
                              <m:r>
                                <a:rPr lang="pt-BR" i="1" u="none">
                                  <a:latin typeface="Cambria Math" panose="02040503050406030204" pitchFamily="18" charset="0"/>
                                  <a:ea typeface="Cambria Math" panose="02040503050406030204" pitchFamily="18" charset="0"/>
                                </a:rPr>
                                <m:t>)</m:t>
                              </m:r>
                            </m:e>
                          </m:eqArr>
                        </m:e>
                      </m:d>
                    </m:oMath>
                  </m:oMathPara>
                </a14:m>
                <a:endParaRPr lang="pt-BR" u="none" dirty="0"/>
              </a:p>
              <a:p>
                <a:pPr algn="just"/>
                <a:endParaRPr lang="pt-BR" u="none" dirty="0"/>
              </a:p>
              <a:p>
                <a:pPr algn="just"/>
                <a:r>
                  <a:rPr lang="pt-BR" u="none" dirty="0"/>
                  <a:t>em que </a:t>
                </a:r>
                <a14:m>
                  <m:oMath xmlns:m="http://schemas.openxmlformats.org/officeDocument/2006/math">
                    <m:r>
                      <a:rPr lang="pt-BR" b="0" i="1" u="none" smtClean="0">
                        <a:latin typeface="Cambria Math" panose="02040503050406030204" pitchFamily="18" charset="0"/>
                        <a:ea typeface="Cambria Math" panose="02040503050406030204" pitchFamily="18" charset="0"/>
                      </a:rPr>
                      <m:t>𝑟</m:t>
                    </m:r>
                    <m:r>
                      <a:rPr lang="pt-BR" b="0" i="1" u="none" smtClean="0">
                        <a:latin typeface="Cambria Math" panose="02040503050406030204" pitchFamily="18" charset="0"/>
                        <a:ea typeface="Cambria Math" panose="02040503050406030204" pitchFamily="18" charset="0"/>
                      </a:rPr>
                      <m:t>∈</m:t>
                    </m:r>
                    <m:r>
                      <a:rPr lang="pt-BR" b="0" i="1" u="none" smtClean="0">
                        <a:latin typeface="Cambria Math" panose="02040503050406030204" pitchFamily="18" charset="0"/>
                        <a:ea typeface="Cambria Math" panose="02040503050406030204" pitchFamily="18" charset="0"/>
                      </a:rPr>
                      <m:t>𝑈</m:t>
                    </m:r>
                    <m:r>
                      <a:rPr lang="pt-BR" b="0" i="1" u="none" smtClean="0">
                        <a:latin typeface="Cambria Math" panose="02040503050406030204" pitchFamily="18" charset="0"/>
                        <a:ea typeface="Cambria Math" panose="02040503050406030204" pitchFamily="18" charset="0"/>
                      </a:rPr>
                      <m:t>[0,1</m:t>
                    </m:r>
                  </m:oMath>
                </a14:m>
                <a:r>
                  <a:rPr lang="pt-BR" u="none" dirty="0"/>
                  <a:t>]</a:t>
                </a:r>
              </a:p>
              <a:p>
                <a:pPr algn="just"/>
                <a:endParaRPr lang="pt-BR" u="none" dirty="0"/>
              </a:p>
              <a:p>
                <a:pPr algn="just"/>
                <a:r>
                  <a:rPr lang="pt-BR" u="none" dirty="0"/>
                  <a:t>Se for um problema de minimização, basta inverter a interpretação dos testes lógicos...</a:t>
                </a:r>
              </a:p>
              <a:p>
                <a:pPr algn="just"/>
                <a:endParaRPr lang="pt-BR" u="none" dirty="0"/>
              </a:p>
              <a:p>
                <a:pPr algn="just"/>
                <a:endParaRPr lang="pt-BR" u="none" dirty="0"/>
              </a:p>
              <a:p>
                <a:pPr algn="just"/>
                <a:endParaRPr lang="pt-BR" u="none" dirty="0"/>
              </a:p>
            </p:txBody>
          </p:sp>
        </mc:Choice>
        <mc:Fallback xmlns="">
          <p:sp>
            <p:nvSpPr>
              <p:cNvPr id="3" name="Espaço Reservado para Conteúdo 2">
                <a:extLst>
                  <a:ext uri="{FF2B5EF4-FFF2-40B4-BE49-F238E27FC236}">
                    <a16:creationId xmlns:a16="http://schemas.microsoft.com/office/drawing/2014/main" id="{76ECB179-8744-4728-A385-1E35EDC771F8}"/>
                  </a:ext>
                </a:extLst>
              </p:cNvPr>
              <p:cNvSpPr>
                <a:spLocks noGrp="1" noRot="1" noChangeAspect="1" noMove="1" noResize="1" noEditPoints="1" noAdjustHandles="1" noChangeArrowheads="1" noChangeShapeType="1" noTextEdit="1"/>
              </p:cNvSpPr>
              <p:nvPr>
                <p:ph idx="1"/>
              </p:nvPr>
            </p:nvSpPr>
            <p:spPr>
              <a:blipFill>
                <a:blip r:embed="rId2"/>
                <a:stretch>
                  <a:fillRect l="-1546" t="-2241" r="-1623"/>
                </a:stretch>
              </a:blipFill>
            </p:spPr>
            <p:txBody>
              <a:bodyPr/>
              <a:lstStyle/>
              <a:p>
                <a:r>
                  <a:rPr lang="pt-BR">
                    <a:noFill/>
                  </a:rPr>
                  <a:t> </a:t>
                </a:r>
              </a:p>
            </p:txBody>
          </p:sp>
        </mc:Fallback>
      </mc:AlternateContent>
    </p:spTree>
    <p:extLst>
      <p:ext uri="{BB962C8B-B14F-4D97-AF65-F5344CB8AC3E}">
        <p14:creationId xmlns:p14="http://schemas.microsoft.com/office/powerpoint/2010/main" val="21158759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1DB864-E601-4D94-87B0-21D484C5B46E}"/>
              </a:ext>
            </a:extLst>
          </p:cNvPr>
          <p:cNvSpPr>
            <a:spLocks noGrp="1"/>
          </p:cNvSpPr>
          <p:nvPr>
            <p:ph type="title"/>
          </p:nvPr>
        </p:nvSpPr>
        <p:spPr/>
        <p:txBody>
          <a:bodyPr/>
          <a:lstStyle/>
          <a:p>
            <a:r>
              <a:rPr lang="pt-BR" dirty="0"/>
              <a:t>Cruzamento</a:t>
            </a:r>
          </a:p>
        </p:txBody>
      </p:sp>
      <p:sp>
        <p:nvSpPr>
          <p:cNvPr id="3" name="Espaço Reservado para Conteúdo 2">
            <a:extLst>
              <a:ext uri="{FF2B5EF4-FFF2-40B4-BE49-F238E27FC236}">
                <a16:creationId xmlns:a16="http://schemas.microsoft.com/office/drawing/2014/main" id="{954F50F6-07D4-49D8-B839-F1E158B2ABD0}"/>
              </a:ext>
            </a:extLst>
          </p:cNvPr>
          <p:cNvSpPr>
            <a:spLocks noGrp="1"/>
          </p:cNvSpPr>
          <p:nvPr>
            <p:ph idx="1"/>
          </p:nvPr>
        </p:nvSpPr>
        <p:spPr/>
        <p:txBody>
          <a:bodyPr>
            <a:normAutofit lnSpcReduction="10000"/>
          </a:bodyPr>
          <a:lstStyle/>
          <a:p>
            <a:r>
              <a:rPr lang="pt-BR" dirty="0"/>
              <a:t>Taxa de Cruzamento</a:t>
            </a:r>
          </a:p>
          <a:p>
            <a:pPr algn="just"/>
            <a:r>
              <a:rPr lang="pt-BR" sz="2400" b="0" i="0" u="none" dirty="0">
                <a:solidFill>
                  <a:srgbClr val="000000"/>
                </a:solidFill>
                <a:effectLst/>
                <a:latin typeface="Calibri" panose="020F0502020204030204" pitchFamily="34" charset="0"/>
              </a:rPr>
              <a:t>Normalmente varia entre 60% (0,6) e 90% (0,9) </a:t>
            </a:r>
          </a:p>
          <a:p>
            <a:pPr algn="just"/>
            <a:endParaRPr lang="pt-BR" sz="2400" b="0" i="0" u="none" dirty="0">
              <a:solidFill>
                <a:srgbClr val="000000"/>
              </a:solidFill>
              <a:effectLst/>
              <a:latin typeface="Calibri" panose="020F0502020204030204" pitchFamily="34" charset="0"/>
            </a:endParaRPr>
          </a:p>
          <a:p>
            <a:pPr algn="just"/>
            <a:r>
              <a:rPr lang="pt-BR" sz="2400" b="0" i="0" u="none" dirty="0">
                <a:solidFill>
                  <a:srgbClr val="000000"/>
                </a:solidFill>
                <a:effectLst/>
                <a:latin typeface="Calibri" panose="020F0502020204030204" pitchFamily="34" charset="0"/>
              </a:rPr>
              <a:t>Sorteia-se um valor α no intervalo [0,1]</a:t>
            </a:r>
          </a:p>
          <a:p>
            <a:pPr algn="just"/>
            <a:endParaRPr lang="pt-BR" sz="2400" b="0" i="0" u="none" dirty="0">
              <a:solidFill>
                <a:srgbClr val="000000"/>
              </a:solidFill>
              <a:effectLst/>
              <a:latin typeface="Calibri" panose="020F0502020204030204" pitchFamily="34" charset="0"/>
            </a:endParaRPr>
          </a:p>
          <a:p>
            <a:pPr algn="just"/>
            <a:r>
              <a:rPr lang="pt-BR" sz="2400" b="0" i="0" u="none" dirty="0">
                <a:solidFill>
                  <a:srgbClr val="000000"/>
                </a:solidFill>
                <a:effectLst/>
                <a:latin typeface="Calibri" panose="020F0502020204030204" pitchFamily="34" charset="0"/>
              </a:rPr>
              <a:t>Se α for menor que a taxa adotada, o cruzamento é realizado, gerando um ou dois filhos que farão parte da geração seguinte.</a:t>
            </a:r>
          </a:p>
          <a:p>
            <a:pPr algn="just"/>
            <a:br>
              <a:rPr lang="pt-BR" sz="2400" b="0" i="0" u="none" dirty="0">
                <a:solidFill>
                  <a:srgbClr val="000000"/>
                </a:solidFill>
                <a:effectLst/>
                <a:latin typeface="Calibri" panose="020F0502020204030204" pitchFamily="34" charset="0"/>
              </a:rPr>
            </a:br>
            <a:r>
              <a:rPr lang="pt-BR" sz="2400" b="0" i="0" u="none" dirty="0">
                <a:solidFill>
                  <a:srgbClr val="000000"/>
                </a:solidFill>
                <a:effectLst/>
                <a:latin typeface="Calibri" panose="020F0502020204030204" pitchFamily="34" charset="0"/>
              </a:rPr>
              <a:t>Se α for maior que a taxa o cruzamento não é realizado e um ou os dois pais vão a geração seguinte.</a:t>
            </a:r>
            <a:endParaRPr lang="pt-BR" dirty="0"/>
          </a:p>
        </p:txBody>
      </p:sp>
    </p:spTree>
    <p:extLst>
      <p:ext uri="{BB962C8B-B14F-4D97-AF65-F5344CB8AC3E}">
        <p14:creationId xmlns:p14="http://schemas.microsoft.com/office/powerpoint/2010/main" val="29212710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7291FD-CDC7-436D-8EEC-0E2B6C397EE0}"/>
              </a:ext>
            </a:extLst>
          </p:cNvPr>
          <p:cNvSpPr>
            <a:spLocks noGrp="1"/>
          </p:cNvSpPr>
          <p:nvPr>
            <p:ph type="title"/>
          </p:nvPr>
        </p:nvSpPr>
        <p:spPr/>
        <p:txBody>
          <a:bodyPr/>
          <a:lstStyle/>
          <a:p>
            <a:r>
              <a:rPr lang="pt-BR" dirty="0"/>
              <a:t>Mutação</a:t>
            </a:r>
          </a:p>
        </p:txBody>
      </p:sp>
      <p:sp>
        <p:nvSpPr>
          <p:cNvPr id="5" name="Espaço Reservado para Conteúdo 2">
            <a:extLst>
              <a:ext uri="{FF2B5EF4-FFF2-40B4-BE49-F238E27FC236}">
                <a16:creationId xmlns:a16="http://schemas.microsoft.com/office/drawing/2014/main" id="{FA5CBD07-5C96-4E32-A621-D387B989E470}"/>
              </a:ext>
            </a:extLst>
          </p:cNvPr>
          <p:cNvSpPr>
            <a:spLocks noGrp="1"/>
          </p:cNvSpPr>
          <p:nvPr>
            <p:ph idx="1"/>
          </p:nvPr>
        </p:nvSpPr>
        <p:spPr>
          <a:xfrm>
            <a:off x="628650" y="1825625"/>
            <a:ext cx="7886700" cy="4351338"/>
          </a:xfrm>
        </p:spPr>
        <p:txBody>
          <a:bodyPr>
            <a:normAutofit/>
          </a:bodyPr>
          <a:lstStyle/>
          <a:p>
            <a:pPr algn="just"/>
            <a:r>
              <a:rPr lang="pt-BR" sz="2400" b="0" i="0" u="none" dirty="0">
                <a:solidFill>
                  <a:srgbClr val="000000"/>
                </a:solidFill>
                <a:effectLst/>
                <a:latin typeface="Calibri" panose="020F0502020204030204" pitchFamily="34" charset="0"/>
              </a:rPr>
              <a:t>A mutação é aplicada aos cromossomos dos filhos.</a:t>
            </a:r>
          </a:p>
          <a:p>
            <a:pPr algn="just"/>
            <a:endParaRPr lang="pt-BR" sz="2400" b="0" i="0" u="none" dirty="0">
              <a:solidFill>
                <a:srgbClr val="000000"/>
              </a:solidFill>
              <a:effectLst/>
              <a:latin typeface="Calibri" panose="020F0502020204030204" pitchFamily="34" charset="0"/>
            </a:endParaRPr>
          </a:p>
          <a:p>
            <a:pPr algn="just"/>
            <a:r>
              <a:rPr lang="pt-BR" sz="2400" b="0" i="0" u="none" dirty="0">
                <a:solidFill>
                  <a:srgbClr val="000000"/>
                </a:solidFill>
                <a:effectLst/>
                <a:latin typeface="Calibri" panose="020F0502020204030204" pitchFamily="34" charset="0"/>
              </a:rPr>
              <a:t>O operador de mutação é aplicado aos indivíduos com uma probabilidade dada por uma taxa de mutação definida pelo projetista.</a:t>
            </a:r>
          </a:p>
          <a:p>
            <a:pPr algn="just"/>
            <a:endParaRPr lang="pt-BR" sz="2400" b="0" i="0" u="none" dirty="0">
              <a:solidFill>
                <a:srgbClr val="000000"/>
              </a:solidFill>
              <a:effectLst/>
              <a:latin typeface="Calibri" panose="020F0502020204030204" pitchFamily="34" charset="0"/>
            </a:endParaRPr>
          </a:p>
          <a:p>
            <a:pPr algn="just"/>
            <a:r>
              <a:rPr lang="pt-BR" sz="2400" b="1" i="0" u="none" dirty="0">
                <a:solidFill>
                  <a:srgbClr val="000000"/>
                </a:solidFill>
                <a:effectLst/>
                <a:latin typeface="Calibri" panose="020F0502020204030204" pitchFamily="34" charset="0"/>
              </a:rPr>
              <a:t>O cromossomo tem todos seus genes percorridos</a:t>
            </a:r>
            <a:r>
              <a:rPr lang="pt-BR" sz="2400" b="0" i="0" u="none" dirty="0">
                <a:solidFill>
                  <a:srgbClr val="000000"/>
                </a:solidFill>
                <a:effectLst/>
                <a:latin typeface="Calibri" panose="020F0502020204030204" pitchFamily="34" charset="0"/>
              </a:rPr>
              <a:t>. Cada um dos genes pode ser ou não mutado, dependendo diretamente do resultado do sorteio.</a:t>
            </a:r>
          </a:p>
        </p:txBody>
      </p:sp>
    </p:spTree>
    <p:extLst>
      <p:ext uri="{BB962C8B-B14F-4D97-AF65-F5344CB8AC3E}">
        <p14:creationId xmlns:p14="http://schemas.microsoft.com/office/powerpoint/2010/main" val="39262582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57BFFE-CB80-425C-90D0-F3EF141F256A}"/>
              </a:ext>
            </a:extLst>
          </p:cNvPr>
          <p:cNvSpPr>
            <a:spLocks noGrp="1"/>
          </p:cNvSpPr>
          <p:nvPr>
            <p:ph type="title"/>
          </p:nvPr>
        </p:nvSpPr>
        <p:spPr/>
        <p:txBody>
          <a:bodyPr/>
          <a:lstStyle/>
          <a:p>
            <a:r>
              <a:rPr lang="pt-BR" dirty="0"/>
              <a:t>Mutação</a:t>
            </a:r>
          </a:p>
        </p:txBody>
      </p:sp>
      <p:pic>
        <p:nvPicPr>
          <p:cNvPr id="6" name="Imagem 5">
            <a:extLst>
              <a:ext uri="{FF2B5EF4-FFF2-40B4-BE49-F238E27FC236}">
                <a16:creationId xmlns:a16="http://schemas.microsoft.com/office/drawing/2014/main" id="{F069CD78-81B3-434F-9207-F0600F6B722C}"/>
              </a:ext>
            </a:extLst>
          </p:cNvPr>
          <p:cNvPicPr>
            <a:picLocks noChangeAspect="1"/>
          </p:cNvPicPr>
          <p:nvPr/>
        </p:nvPicPr>
        <p:blipFill>
          <a:blip r:embed="rId2"/>
          <a:stretch>
            <a:fillRect/>
          </a:stretch>
        </p:blipFill>
        <p:spPr>
          <a:xfrm>
            <a:off x="2809875" y="2030742"/>
            <a:ext cx="3524250" cy="3152775"/>
          </a:xfrm>
          <a:prstGeom prst="rect">
            <a:avLst/>
          </a:prstGeom>
        </p:spPr>
      </p:pic>
    </p:spTree>
    <p:extLst>
      <p:ext uri="{BB962C8B-B14F-4D97-AF65-F5344CB8AC3E}">
        <p14:creationId xmlns:p14="http://schemas.microsoft.com/office/powerpoint/2010/main" val="30289602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8D48B3-05AC-4B48-9BE2-473C671DB2A4}"/>
              </a:ext>
            </a:extLst>
          </p:cNvPr>
          <p:cNvSpPr>
            <a:spLocks noGrp="1"/>
          </p:cNvSpPr>
          <p:nvPr>
            <p:ph type="title"/>
          </p:nvPr>
        </p:nvSpPr>
        <p:spPr/>
        <p:txBody>
          <a:bodyPr/>
          <a:lstStyle/>
          <a:p>
            <a:r>
              <a:rPr lang="pt-BR" dirty="0"/>
              <a:t>Mutação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F992B59-2C1F-40B8-9281-04EAB103A163}"/>
                  </a:ext>
                </a:extLst>
              </p:cNvPr>
              <p:cNvSpPr>
                <a:spLocks noGrp="1"/>
              </p:cNvSpPr>
              <p:nvPr>
                <p:ph idx="1"/>
              </p:nvPr>
            </p:nvSpPr>
            <p:spPr/>
            <p:txBody>
              <a:bodyPr>
                <a:normAutofit fontScale="77500" lnSpcReduction="20000"/>
              </a:bodyPr>
              <a:lstStyle/>
              <a:p>
                <a:pPr algn="just"/>
                <a:r>
                  <a:rPr lang="pt-BR" u="none" dirty="0"/>
                  <a:t>No caso da representação real, a mutação implica em uma variação controlada sobre o valor (gene) que representa cada filho.</a:t>
                </a:r>
              </a:p>
              <a:p>
                <a:pPr algn="just"/>
                <a:endParaRPr lang="pt-BR" u="none" dirty="0"/>
              </a:p>
              <a:p>
                <a:pPr algn="just"/>
                <a:r>
                  <a:rPr lang="pt-BR" dirty="0"/>
                  <a:t>Mutação Uniforme</a:t>
                </a:r>
              </a:p>
              <a:p>
                <a:pPr algn="just"/>
                <a:r>
                  <a:rPr lang="pt-BR" u="none" dirty="0"/>
                  <a:t>consiste em substituir o gene selecionado por outro gerado aleatoriamente, segundo uma distribuição uniforme, entre os limites mínimo e máximo</a:t>
                </a:r>
              </a:p>
              <a:p>
                <a:pPr algn="just"/>
                <a:endParaRPr lang="pt-BR" u="none" dirty="0"/>
              </a:p>
              <a:p>
                <a:pPr algn="just"/>
                <a:r>
                  <a:rPr lang="pt-BR" dirty="0"/>
                  <a:t>Mutação gaussiana</a:t>
                </a:r>
                <a:endParaRPr lang="pt-BR" b="0" i="1" dirty="0">
                  <a:latin typeface="Cambria Math" panose="02040503050406030204" pitchFamily="18" charset="0"/>
                </a:endParaRPr>
              </a:p>
              <a:p>
                <a:pPr algn="just"/>
                <a:r>
                  <a:rPr lang="pt-BR" u="none" dirty="0"/>
                  <a:t>consiste em substituir o gene selecionado por outro gerado a partir da distribuição</a:t>
                </a:r>
                <a14:m>
                  <m:oMath xmlns:m="http://schemas.openxmlformats.org/officeDocument/2006/math">
                    <m:r>
                      <a:rPr lang="pt-BR" b="0" i="0" u="none" smtClean="0">
                        <a:latin typeface="Cambria Math" panose="02040503050406030204" pitchFamily="18" charset="0"/>
                      </a:rPr>
                      <m:t> </m:t>
                    </m:r>
                    <m:r>
                      <a:rPr lang="pt-BR" b="0" i="1" u="none" smtClean="0">
                        <a:latin typeface="Cambria Math" panose="02040503050406030204" pitchFamily="18" charset="0"/>
                      </a:rPr>
                      <m:t>𝑁</m:t>
                    </m:r>
                    <m:r>
                      <a:rPr lang="pt-BR" b="0" i="1" u="none" smtClean="0">
                        <a:latin typeface="Cambria Math" panose="02040503050406030204" pitchFamily="18" charset="0"/>
                      </a:rPr>
                      <m:t>(</m:t>
                    </m:r>
                    <m:sSub>
                      <m:sSubPr>
                        <m:ctrlPr>
                          <a:rPr lang="pt-BR" b="0" i="1" u="none" smtClean="0">
                            <a:latin typeface="Cambria Math" panose="02040503050406030204" pitchFamily="18" charset="0"/>
                          </a:rPr>
                        </m:ctrlPr>
                      </m:sSubPr>
                      <m:e>
                        <m:r>
                          <a:rPr lang="pt-BR" b="0" i="1" u="none" smtClean="0">
                            <a:latin typeface="Cambria Math" panose="02040503050406030204" pitchFamily="18" charset="0"/>
                          </a:rPr>
                          <m:t>𝐹</m:t>
                        </m:r>
                      </m:e>
                      <m:sub>
                        <m:r>
                          <a:rPr lang="pt-BR" b="0" i="1" u="none" smtClean="0">
                            <a:latin typeface="Cambria Math" panose="02040503050406030204" pitchFamily="18" charset="0"/>
                          </a:rPr>
                          <m:t>𝑖</m:t>
                        </m:r>
                      </m:sub>
                    </m:sSub>
                    <m:r>
                      <a:rPr lang="pt-BR" b="0" i="1" u="none" smtClean="0">
                        <a:latin typeface="Cambria Math" panose="02040503050406030204" pitchFamily="18" charset="0"/>
                      </a:rPr>
                      <m:t>,</m:t>
                    </m:r>
                    <m:sSup>
                      <m:sSupPr>
                        <m:ctrlPr>
                          <a:rPr lang="pt-BR" b="0" i="1" u="none" smtClean="0">
                            <a:latin typeface="Cambria Math" panose="02040503050406030204" pitchFamily="18" charset="0"/>
                            <a:ea typeface="Cambria Math" panose="02040503050406030204" pitchFamily="18" charset="0"/>
                          </a:rPr>
                        </m:ctrlPr>
                      </m:sSupPr>
                      <m:e>
                        <m:r>
                          <a:rPr lang="pt-BR" b="0" i="1" u="none" smtClean="0">
                            <a:latin typeface="Cambria Math" panose="02040503050406030204" pitchFamily="18" charset="0"/>
                            <a:ea typeface="Cambria Math" panose="02040503050406030204" pitchFamily="18" charset="0"/>
                          </a:rPr>
                          <m:t>𝜎</m:t>
                        </m:r>
                      </m:e>
                      <m:sup>
                        <m:r>
                          <a:rPr lang="pt-BR" b="0" i="1" u="none" smtClean="0">
                            <a:latin typeface="Cambria Math" panose="02040503050406030204" pitchFamily="18" charset="0"/>
                          </a:rPr>
                          <m:t>2</m:t>
                        </m:r>
                      </m:sup>
                    </m:sSup>
                    <m:r>
                      <a:rPr lang="pt-BR" b="0" i="1" u="none" smtClean="0">
                        <a:latin typeface="Cambria Math" panose="02040503050406030204" pitchFamily="18" charset="0"/>
                      </a:rPr>
                      <m:t>)</m:t>
                    </m:r>
                  </m:oMath>
                </a14:m>
                <a:r>
                  <a:rPr lang="pt-BR" u="none" dirty="0"/>
                  <a:t> em que:</a:t>
                </a:r>
              </a:p>
              <a:p>
                <a:pPr marL="457200" indent="-457200" algn="just">
                  <a:buFont typeface="Arial" panose="020B0604020202020204" pitchFamily="34" charset="0"/>
                  <a:buChar char="•"/>
                </a:pPr>
                <a14:m>
                  <m:oMath xmlns:m="http://schemas.openxmlformats.org/officeDocument/2006/math">
                    <m:sSup>
                      <m:sSupPr>
                        <m:ctrlPr>
                          <a:rPr lang="pt-BR" b="0" i="1" u="none" smtClean="0">
                            <a:latin typeface="Cambria Math" panose="02040503050406030204" pitchFamily="18" charset="0"/>
                            <a:ea typeface="Cambria Math" panose="02040503050406030204" pitchFamily="18" charset="0"/>
                          </a:rPr>
                        </m:ctrlPr>
                      </m:sSupPr>
                      <m:e>
                        <m:r>
                          <a:rPr lang="pt-BR" b="0" i="1" u="none" smtClean="0">
                            <a:latin typeface="Cambria Math" panose="02040503050406030204" pitchFamily="18" charset="0"/>
                            <a:ea typeface="Cambria Math" panose="02040503050406030204" pitchFamily="18" charset="0"/>
                          </a:rPr>
                          <m:t>𝜎</m:t>
                        </m:r>
                      </m:e>
                      <m:sup>
                        <m:r>
                          <a:rPr lang="pt-BR" b="0" i="1" u="none" smtClean="0">
                            <a:latin typeface="Cambria Math" panose="02040503050406030204" pitchFamily="18" charset="0"/>
                          </a:rPr>
                          <m:t>2</m:t>
                        </m:r>
                      </m:sup>
                    </m:sSup>
                  </m:oMath>
                </a14:m>
                <a:r>
                  <a:rPr lang="pt-BR" u="none" dirty="0"/>
                  <a:t> corresponde a uma variância definida pelo projetista</a:t>
                </a:r>
              </a:p>
              <a:p>
                <a:pPr marL="457200" indent="-457200" algn="just">
                  <a:buFont typeface="Arial" panose="020B0604020202020204" pitchFamily="34" charset="0"/>
                  <a:buChar char="•"/>
                </a:pPr>
                <a:r>
                  <a:rPr lang="pt-BR" u="none" dirty="0"/>
                  <a:t>O valor de </a:t>
                </a:r>
                <a14:m>
                  <m:oMath xmlns:m="http://schemas.openxmlformats.org/officeDocument/2006/math">
                    <m:sSup>
                      <m:sSupPr>
                        <m:ctrlPr>
                          <a:rPr lang="pt-BR" b="0" i="1" u="none" smtClean="0">
                            <a:latin typeface="Cambria Math" panose="02040503050406030204" pitchFamily="18" charset="0"/>
                            <a:ea typeface="Cambria Math" panose="02040503050406030204" pitchFamily="18" charset="0"/>
                          </a:rPr>
                        </m:ctrlPr>
                      </m:sSupPr>
                      <m:e>
                        <m:r>
                          <a:rPr lang="pt-BR" b="0" i="1" u="none" smtClean="0">
                            <a:latin typeface="Cambria Math" panose="02040503050406030204" pitchFamily="18" charset="0"/>
                            <a:ea typeface="Cambria Math" panose="02040503050406030204" pitchFamily="18" charset="0"/>
                          </a:rPr>
                          <m:t>𝜎</m:t>
                        </m:r>
                      </m:e>
                      <m:sup>
                        <m:r>
                          <a:rPr lang="pt-BR" b="0" i="1" u="none" smtClean="0">
                            <a:latin typeface="Cambria Math" panose="02040503050406030204" pitchFamily="18" charset="0"/>
                          </a:rPr>
                          <m:t>2</m:t>
                        </m:r>
                      </m:sup>
                    </m:sSup>
                  </m:oMath>
                </a14:m>
                <a:r>
                  <a:rPr lang="pt-BR" u="none" dirty="0"/>
                  <a:t> pode ir decaindo ao longo das gerações</a:t>
                </a:r>
              </a:p>
              <a:p>
                <a:pPr algn="just"/>
                <a:endParaRPr lang="pt-BR" u="none" dirty="0"/>
              </a:p>
              <a:p>
                <a:pPr algn="just"/>
                <a:endParaRPr lang="pt-BR" u="none" dirty="0"/>
              </a:p>
            </p:txBody>
          </p:sp>
        </mc:Choice>
        <mc:Fallback xmlns="">
          <p:sp>
            <p:nvSpPr>
              <p:cNvPr id="3" name="Espaço Reservado para Conteúdo 2">
                <a:extLst>
                  <a:ext uri="{FF2B5EF4-FFF2-40B4-BE49-F238E27FC236}">
                    <a16:creationId xmlns:a16="http://schemas.microsoft.com/office/drawing/2014/main" id="{6F992B59-2C1F-40B8-9281-04EAB103A163}"/>
                  </a:ext>
                </a:extLst>
              </p:cNvPr>
              <p:cNvSpPr>
                <a:spLocks noGrp="1" noRot="1" noChangeAspect="1" noMove="1" noResize="1" noEditPoints="1" noAdjustHandles="1" noChangeArrowheads="1" noChangeShapeType="1" noTextEdit="1"/>
              </p:cNvSpPr>
              <p:nvPr>
                <p:ph idx="1"/>
              </p:nvPr>
            </p:nvSpPr>
            <p:spPr>
              <a:blipFill>
                <a:blip r:embed="rId2"/>
                <a:stretch>
                  <a:fillRect l="-1005" t="-2801" r="-1005"/>
                </a:stretch>
              </a:blipFill>
            </p:spPr>
            <p:txBody>
              <a:bodyPr/>
              <a:lstStyle/>
              <a:p>
                <a:r>
                  <a:rPr lang="pt-BR">
                    <a:noFill/>
                  </a:rPr>
                  <a:t> </a:t>
                </a:r>
              </a:p>
            </p:txBody>
          </p:sp>
        </mc:Fallback>
      </mc:AlternateContent>
    </p:spTree>
    <p:extLst>
      <p:ext uri="{BB962C8B-B14F-4D97-AF65-F5344CB8AC3E}">
        <p14:creationId xmlns:p14="http://schemas.microsoft.com/office/powerpoint/2010/main" val="38521575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8D48B3-05AC-4B48-9BE2-473C671DB2A4}"/>
              </a:ext>
            </a:extLst>
          </p:cNvPr>
          <p:cNvSpPr>
            <a:spLocks noGrp="1"/>
          </p:cNvSpPr>
          <p:nvPr>
            <p:ph type="title"/>
          </p:nvPr>
        </p:nvSpPr>
        <p:spPr/>
        <p:txBody>
          <a:bodyPr/>
          <a:lstStyle/>
          <a:p>
            <a:r>
              <a:rPr lang="pt-BR" dirty="0"/>
              <a:t>Mutação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F992B59-2C1F-40B8-9281-04EAB103A163}"/>
                  </a:ext>
                </a:extLst>
              </p:cNvPr>
              <p:cNvSpPr>
                <a:spLocks noGrp="1"/>
              </p:cNvSpPr>
              <p:nvPr>
                <p:ph idx="1"/>
              </p:nvPr>
            </p:nvSpPr>
            <p:spPr/>
            <p:txBody>
              <a:bodyPr>
                <a:normAutofit fontScale="92500"/>
              </a:bodyPr>
              <a:lstStyle/>
              <a:p>
                <a:pPr algn="just"/>
                <a:r>
                  <a:rPr lang="pt-BR" dirty="0"/>
                  <a:t>Mutação </a:t>
                </a:r>
                <a:r>
                  <a:rPr lang="pt-BR" dirty="0" err="1"/>
                  <a:t>creep</a:t>
                </a:r>
                <a:endParaRPr lang="pt-BR" b="0" i="1" dirty="0">
                  <a:latin typeface="Cambria Math" panose="02040503050406030204" pitchFamily="18" charset="0"/>
                </a:endParaRPr>
              </a:p>
              <a:p>
                <a:pPr algn="just"/>
                <a:r>
                  <a:rPr lang="pt-BR" u="none" dirty="0"/>
                  <a:t>consiste em acrescentar ou subtrair do gene selecionado um valor aleatório obtido de uma distribuição </a:t>
                </a:r>
                <a14:m>
                  <m:oMath xmlns:m="http://schemas.openxmlformats.org/officeDocument/2006/math">
                    <m:r>
                      <a:rPr lang="pt-BR" b="0" i="1" u="none" smtClean="0">
                        <a:latin typeface="Cambria Math" panose="02040503050406030204" pitchFamily="18" charset="0"/>
                      </a:rPr>
                      <m:t>𝑁</m:t>
                    </m:r>
                    <m:r>
                      <a:rPr lang="pt-BR" b="0" i="1" u="none" smtClean="0">
                        <a:latin typeface="Cambria Math" panose="02040503050406030204" pitchFamily="18" charset="0"/>
                      </a:rPr>
                      <m:t>(0,</m:t>
                    </m:r>
                    <m:sSup>
                      <m:sSupPr>
                        <m:ctrlPr>
                          <a:rPr lang="pt-BR" b="0" i="1" u="none" smtClean="0">
                            <a:latin typeface="Cambria Math" panose="02040503050406030204" pitchFamily="18" charset="0"/>
                            <a:ea typeface="Cambria Math" panose="02040503050406030204" pitchFamily="18" charset="0"/>
                          </a:rPr>
                        </m:ctrlPr>
                      </m:sSupPr>
                      <m:e>
                        <m:r>
                          <a:rPr lang="pt-BR" b="0" i="1" u="none" smtClean="0">
                            <a:latin typeface="Cambria Math" panose="02040503050406030204" pitchFamily="18" charset="0"/>
                            <a:ea typeface="Cambria Math" panose="02040503050406030204" pitchFamily="18" charset="0"/>
                          </a:rPr>
                          <m:t>𝜎</m:t>
                        </m:r>
                      </m:e>
                      <m:sup>
                        <m:r>
                          <a:rPr lang="pt-BR" b="0" i="1" u="none" smtClean="0">
                            <a:latin typeface="Cambria Math" panose="02040503050406030204" pitchFamily="18" charset="0"/>
                          </a:rPr>
                          <m:t>2</m:t>
                        </m:r>
                      </m:sup>
                    </m:sSup>
                    <m:r>
                      <a:rPr lang="pt-BR" b="0" i="1" u="none" smtClean="0">
                        <a:latin typeface="Cambria Math" panose="02040503050406030204" pitchFamily="18" charset="0"/>
                      </a:rPr>
                      <m:t>)</m:t>
                    </m:r>
                  </m:oMath>
                </a14:m>
                <a:r>
                  <a:rPr lang="pt-BR" u="none" dirty="0"/>
                  <a:t> considerando para </a:t>
                </a:r>
                <a14:m>
                  <m:oMath xmlns:m="http://schemas.openxmlformats.org/officeDocument/2006/math">
                    <m:sSup>
                      <m:sSupPr>
                        <m:ctrlPr>
                          <a:rPr lang="pt-BR" i="1" u="none">
                            <a:latin typeface="Cambria Math" panose="02040503050406030204" pitchFamily="18" charset="0"/>
                            <a:ea typeface="Cambria Math" panose="02040503050406030204" pitchFamily="18" charset="0"/>
                          </a:rPr>
                        </m:ctrlPr>
                      </m:sSupPr>
                      <m:e>
                        <m:r>
                          <a:rPr lang="pt-BR" i="1" u="none">
                            <a:latin typeface="Cambria Math" panose="02040503050406030204" pitchFamily="18" charset="0"/>
                            <a:ea typeface="Cambria Math" panose="02040503050406030204" pitchFamily="18" charset="0"/>
                          </a:rPr>
                          <m:t>𝜎</m:t>
                        </m:r>
                      </m:e>
                      <m:sup>
                        <m:r>
                          <a:rPr lang="pt-BR" i="1" u="none">
                            <a:latin typeface="Cambria Math" panose="02040503050406030204" pitchFamily="18" charset="0"/>
                          </a:rPr>
                          <m:t>2</m:t>
                        </m:r>
                      </m:sup>
                    </m:sSup>
                  </m:oMath>
                </a14:m>
                <a:r>
                  <a:rPr lang="pt-BR" u="none" dirty="0"/>
                  <a:t> um valor pequeno</a:t>
                </a:r>
              </a:p>
              <a:p>
                <a:pPr algn="just"/>
                <a:endParaRPr lang="pt-BR" u="none" dirty="0"/>
              </a:p>
              <a:p>
                <a:pPr algn="just"/>
                <a:r>
                  <a:rPr lang="pt-BR" dirty="0"/>
                  <a:t>Mutação Não-uniforme</a:t>
                </a:r>
              </a:p>
              <a:p>
                <a:pPr algn="just"/>
                <a:r>
                  <a:rPr lang="pt-BR" u="none" dirty="0"/>
                  <a:t>consiste em substituir o gene selecionado por outro gerado aleatoriamente, segundo uma distribuição não-uniforme (Exponencial, Bernoulli, </a:t>
                </a:r>
                <a:r>
                  <a:rPr lang="pt-BR" u="none" dirty="0" err="1"/>
                  <a:t>Qui</a:t>
                </a:r>
                <a:r>
                  <a:rPr lang="pt-BR" u="none" dirty="0"/>
                  <a:t>-quadrado, Geométrica), entre os limites mínimo e máximo</a:t>
                </a:r>
              </a:p>
              <a:p>
                <a:pPr algn="just"/>
                <a:endParaRPr lang="pt-BR" u="none" dirty="0"/>
              </a:p>
              <a:p>
                <a:pPr algn="just"/>
                <a:endParaRPr lang="pt-BR" u="none" dirty="0"/>
              </a:p>
            </p:txBody>
          </p:sp>
        </mc:Choice>
        <mc:Fallback xmlns="">
          <p:sp>
            <p:nvSpPr>
              <p:cNvPr id="3" name="Espaço Reservado para Conteúdo 2">
                <a:extLst>
                  <a:ext uri="{FF2B5EF4-FFF2-40B4-BE49-F238E27FC236}">
                    <a16:creationId xmlns:a16="http://schemas.microsoft.com/office/drawing/2014/main" id="{6F992B59-2C1F-40B8-9281-04EAB103A163}"/>
                  </a:ext>
                </a:extLst>
              </p:cNvPr>
              <p:cNvSpPr>
                <a:spLocks noGrp="1" noRot="1" noChangeAspect="1" noMove="1" noResize="1" noEditPoints="1" noAdjustHandles="1" noChangeArrowheads="1" noChangeShapeType="1" noTextEdit="1"/>
              </p:cNvSpPr>
              <p:nvPr>
                <p:ph idx="1"/>
              </p:nvPr>
            </p:nvSpPr>
            <p:spPr>
              <a:blipFill>
                <a:blip r:embed="rId2"/>
                <a:stretch>
                  <a:fillRect l="-1391" t="-1961" r="-1391"/>
                </a:stretch>
              </a:blipFill>
            </p:spPr>
            <p:txBody>
              <a:bodyPr/>
              <a:lstStyle/>
              <a:p>
                <a:r>
                  <a:rPr lang="pt-BR">
                    <a:noFill/>
                  </a:rPr>
                  <a:t> </a:t>
                </a:r>
              </a:p>
            </p:txBody>
          </p:sp>
        </mc:Fallback>
      </mc:AlternateContent>
    </p:spTree>
    <p:extLst>
      <p:ext uri="{BB962C8B-B14F-4D97-AF65-F5344CB8AC3E}">
        <p14:creationId xmlns:p14="http://schemas.microsoft.com/office/powerpoint/2010/main" val="36087713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B2D150-8C07-492E-BB2B-EBECA1C2265B}"/>
              </a:ext>
            </a:extLst>
          </p:cNvPr>
          <p:cNvSpPr>
            <a:spLocks noGrp="1"/>
          </p:cNvSpPr>
          <p:nvPr>
            <p:ph type="title"/>
          </p:nvPr>
        </p:nvSpPr>
        <p:spPr/>
        <p:txBody>
          <a:bodyPr/>
          <a:lstStyle/>
          <a:p>
            <a:r>
              <a:rPr lang="pt-BR" dirty="0"/>
              <a:t>Mutação</a:t>
            </a:r>
          </a:p>
        </p:txBody>
      </p:sp>
      <p:sp>
        <p:nvSpPr>
          <p:cNvPr id="3" name="Espaço Reservado para Conteúdo 2">
            <a:extLst>
              <a:ext uri="{FF2B5EF4-FFF2-40B4-BE49-F238E27FC236}">
                <a16:creationId xmlns:a16="http://schemas.microsoft.com/office/drawing/2014/main" id="{C83E0F44-06D9-424E-95AC-8B2AA2E576AA}"/>
              </a:ext>
            </a:extLst>
          </p:cNvPr>
          <p:cNvSpPr>
            <a:spLocks noGrp="1"/>
          </p:cNvSpPr>
          <p:nvPr>
            <p:ph idx="1"/>
          </p:nvPr>
        </p:nvSpPr>
        <p:spPr/>
        <p:txBody>
          <a:bodyPr>
            <a:normAutofit fontScale="92500" lnSpcReduction="10000"/>
          </a:bodyPr>
          <a:lstStyle/>
          <a:p>
            <a:r>
              <a:rPr lang="pt-BR" dirty="0"/>
              <a:t>Taxa de Mutação</a:t>
            </a:r>
          </a:p>
          <a:p>
            <a:pPr algn="just"/>
            <a:r>
              <a:rPr lang="pt-BR" u="none" dirty="0"/>
              <a:t>Normalmente varia entre 1% (0,01) e 5% (0,05) </a:t>
            </a:r>
          </a:p>
          <a:p>
            <a:pPr algn="just"/>
            <a:endParaRPr lang="pt-BR" u="none" dirty="0"/>
          </a:p>
          <a:p>
            <a:pPr algn="just"/>
            <a:r>
              <a:rPr lang="pt-BR" u="none" dirty="0"/>
              <a:t>Sorteia-se um valor α no intervalo [0,1] </a:t>
            </a:r>
          </a:p>
          <a:p>
            <a:pPr algn="just"/>
            <a:endParaRPr lang="pt-BR" u="none" dirty="0"/>
          </a:p>
          <a:p>
            <a:pPr algn="just"/>
            <a:r>
              <a:rPr lang="pt-BR" u="none" dirty="0"/>
              <a:t>Se α for menor que a taxa adotada, a mutação é realizada para aquele gene em questão. Se α for maior que a taxa a mutação não é realizada.</a:t>
            </a:r>
          </a:p>
          <a:p>
            <a:pPr algn="just"/>
            <a:endParaRPr lang="pt-BR" u="none" dirty="0"/>
          </a:p>
          <a:p>
            <a:pPr algn="just"/>
            <a:r>
              <a:rPr lang="pt-BR" u="none" dirty="0"/>
              <a:t>O processo é repetido para todos os genes dos filhos.</a:t>
            </a:r>
          </a:p>
        </p:txBody>
      </p:sp>
    </p:spTree>
    <p:extLst>
      <p:ext uri="{BB962C8B-B14F-4D97-AF65-F5344CB8AC3E}">
        <p14:creationId xmlns:p14="http://schemas.microsoft.com/office/powerpoint/2010/main" val="31848744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97E6AB-BDB8-4F9A-8442-F40EA428F7E1}"/>
              </a:ext>
            </a:extLst>
          </p:cNvPr>
          <p:cNvSpPr>
            <a:spLocks noGrp="1"/>
          </p:cNvSpPr>
          <p:nvPr>
            <p:ph type="title"/>
          </p:nvPr>
        </p:nvSpPr>
        <p:spPr/>
        <p:txBody>
          <a:bodyPr/>
          <a:lstStyle/>
          <a:p>
            <a:r>
              <a:rPr lang="pt-BR" dirty="0"/>
              <a:t>Elitismo</a:t>
            </a:r>
          </a:p>
        </p:txBody>
      </p:sp>
      <p:sp>
        <p:nvSpPr>
          <p:cNvPr id="3" name="Espaço Reservado para Conteúdo 2">
            <a:extLst>
              <a:ext uri="{FF2B5EF4-FFF2-40B4-BE49-F238E27FC236}">
                <a16:creationId xmlns:a16="http://schemas.microsoft.com/office/drawing/2014/main" id="{4D770ADF-320C-451A-A2AD-F214B214E5BA}"/>
              </a:ext>
            </a:extLst>
          </p:cNvPr>
          <p:cNvSpPr>
            <a:spLocks noGrp="1"/>
          </p:cNvSpPr>
          <p:nvPr>
            <p:ph idx="1"/>
          </p:nvPr>
        </p:nvSpPr>
        <p:spPr/>
        <p:txBody>
          <a:bodyPr>
            <a:normAutofit fontScale="85000" lnSpcReduction="10000"/>
          </a:bodyPr>
          <a:lstStyle/>
          <a:p>
            <a:pPr algn="just">
              <a:lnSpc>
                <a:spcPct val="120000"/>
              </a:lnSpc>
            </a:pPr>
            <a:r>
              <a:rPr lang="pt-BR" sz="3000" b="0" i="0" u="none" dirty="0">
                <a:solidFill>
                  <a:srgbClr val="000000"/>
                </a:solidFill>
                <a:effectLst/>
              </a:rPr>
              <a:t>O elitismo é uma técnica utilizada para melhorar a convergência dos algoritmos. A técnica consiste em se escolher o melhor (ou melhores) indivíduo de cada geração e passá-lo à geração seguinte sem que o mesmo (ou mesmos) sofra cruzamento e mutação, para que conserve suas características consideradas boas. A utilização do elitismo faz com que o algoritmo convirja mais cedo, principalmente pois evita que os elementos mais aptos sejam perdidos ou modificados.</a:t>
            </a:r>
          </a:p>
        </p:txBody>
      </p:sp>
    </p:spTree>
    <p:extLst>
      <p:ext uri="{BB962C8B-B14F-4D97-AF65-F5344CB8AC3E}">
        <p14:creationId xmlns:p14="http://schemas.microsoft.com/office/powerpoint/2010/main" val="33944250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8D839-60B2-4F69-B9D8-62A827B17A75}"/>
              </a:ext>
            </a:extLst>
          </p:cNvPr>
          <p:cNvSpPr>
            <a:spLocks noGrp="1"/>
          </p:cNvSpPr>
          <p:nvPr>
            <p:ph type="title"/>
          </p:nvPr>
        </p:nvSpPr>
        <p:spPr/>
        <p:txBody>
          <a:bodyPr/>
          <a:lstStyle/>
          <a:p>
            <a:r>
              <a:rPr lang="pt-BR" dirty="0"/>
              <a:t>Parâmetros Genéticos</a:t>
            </a:r>
          </a:p>
        </p:txBody>
      </p:sp>
      <p:sp>
        <p:nvSpPr>
          <p:cNvPr id="3" name="Espaço Reservado para Conteúdo 2">
            <a:extLst>
              <a:ext uri="{FF2B5EF4-FFF2-40B4-BE49-F238E27FC236}">
                <a16:creationId xmlns:a16="http://schemas.microsoft.com/office/drawing/2014/main" id="{8CC967D7-27E0-4CAE-A8D1-FC3CAF6F27AC}"/>
              </a:ext>
            </a:extLst>
          </p:cNvPr>
          <p:cNvSpPr>
            <a:spLocks noGrp="1"/>
          </p:cNvSpPr>
          <p:nvPr>
            <p:ph idx="1"/>
          </p:nvPr>
        </p:nvSpPr>
        <p:spPr/>
        <p:txBody>
          <a:bodyPr>
            <a:noAutofit/>
          </a:bodyPr>
          <a:lstStyle/>
          <a:p>
            <a:pPr algn="just"/>
            <a:r>
              <a:rPr lang="pt-BR" sz="2200" b="1" i="0" dirty="0">
                <a:solidFill>
                  <a:srgbClr val="000000"/>
                </a:solidFill>
                <a:effectLst/>
              </a:rPr>
              <a:t>Tamanho da População</a:t>
            </a:r>
            <a:r>
              <a:rPr lang="pt-BR" sz="2200" b="1" i="0" u="none" dirty="0">
                <a:solidFill>
                  <a:srgbClr val="000000"/>
                </a:solidFill>
                <a:effectLst/>
              </a:rPr>
              <a:t>: </a:t>
            </a:r>
            <a:r>
              <a:rPr lang="pt-BR" sz="2200" b="0" i="0" u="none" dirty="0">
                <a:solidFill>
                  <a:srgbClr val="000000"/>
                </a:solidFill>
                <a:effectLst/>
              </a:rPr>
              <a:t>O tamanho da população</a:t>
            </a:r>
            <a:br>
              <a:rPr lang="pt-BR" sz="2200" b="0" i="0" u="none" dirty="0">
                <a:solidFill>
                  <a:srgbClr val="000000"/>
                </a:solidFill>
                <a:effectLst/>
              </a:rPr>
            </a:br>
            <a:r>
              <a:rPr lang="pt-BR" sz="2200" b="0" i="0" u="none" dirty="0">
                <a:solidFill>
                  <a:srgbClr val="000000"/>
                </a:solidFill>
                <a:effectLst/>
              </a:rPr>
              <a:t>estabelece o número de cromossomos na população, o</a:t>
            </a:r>
            <a:br>
              <a:rPr lang="pt-BR" sz="2200" b="0" i="0" u="none" dirty="0">
                <a:solidFill>
                  <a:srgbClr val="000000"/>
                </a:solidFill>
                <a:effectLst/>
              </a:rPr>
            </a:br>
            <a:r>
              <a:rPr lang="pt-BR" sz="2200" b="0" i="0" u="none" dirty="0">
                <a:solidFill>
                  <a:srgbClr val="000000"/>
                </a:solidFill>
                <a:effectLst/>
              </a:rPr>
              <a:t>número de elementos de cada geração. Afeta</a:t>
            </a:r>
            <a:br>
              <a:rPr lang="pt-BR" sz="2200" b="0" i="0" u="none" dirty="0">
                <a:solidFill>
                  <a:srgbClr val="000000"/>
                </a:solidFill>
                <a:effectLst/>
              </a:rPr>
            </a:br>
            <a:r>
              <a:rPr lang="pt-BR" sz="2200" b="0" i="0" u="none" dirty="0">
                <a:solidFill>
                  <a:srgbClr val="000000"/>
                </a:solidFill>
                <a:effectLst/>
              </a:rPr>
              <a:t>diretamente o desempenho geral e a eficiência dos </a:t>
            </a:r>
            <a:r>
              <a:rPr lang="pt-BR" sz="2200" b="0" i="0" u="none" dirty="0" err="1">
                <a:solidFill>
                  <a:srgbClr val="000000"/>
                </a:solidFill>
                <a:effectLst/>
              </a:rPr>
              <a:t>AG’s</a:t>
            </a:r>
            <a:r>
              <a:rPr lang="pt-BR" sz="2200" b="0" i="0" u="none" dirty="0">
                <a:solidFill>
                  <a:srgbClr val="000000"/>
                </a:solidFill>
                <a:effectLst/>
              </a:rPr>
              <a:t>.</a:t>
            </a:r>
            <a:br>
              <a:rPr lang="pt-BR" sz="2200" b="0" i="0" u="none" dirty="0">
                <a:solidFill>
                  <a:srgbClr val="000000"/>
                </a:solidFill>
                <a:effectLst/>
              </a:rPr>
            </a:br>
            <a:endParaRPr lang="pt-BR" sz="2200" b="0" i="0" u="none" dirty="0">
              <a:solidFill>
                <a:srgbClr val="000000"/>
              </a:solidFill>
              <a:effectLst/>
            </a:endParaRPr>
          </a:p>
          <a:p>
            <a:pPr algn="just"/>
            <a:r>
              <a:rPr lang="pt-BR" sz="2200" b="0" i="0" u="none" dirty="0">
                <a:solidFill>
                  <a:srgbClr val="000000"/>
                </a:solidFill>
                <a:effectLst/>
              </a:rPr>
              <a:t>Trabalhando com uma população de poucos indivíduos o</a:t>
            </a:r>
            <a:br>
              <a:rPr lang="pt-BR" sz="2200" b="0" i="0" u="none" dirty="0">
                <a:solidFill>
                  <a:srgbClr val="000000"/>
                </a:solidFill>
                <a:effectLst/>
              </a:rPr>
            </a:br>
            <a:r>
              <a:rPr lang="pt-BR" sz="2200" b="0" i="0" u="none" dirty="0">
                <a:solidFill>
                  <a:srgbClr val="000000"/>
                </a:solidFill>
                <a:effectLst/>
              </a:rPr>
              <a:t>desempenho pode ser comprometido visto que o espaço</a:t>
            </a:r>
            <a:br>
              <a:rPr lang="pt-BR" sz="2200" b="0" i="0" u="none" dirty="0">
                <a:solidFill>
                  <a:srgbClr val="000000"/>
                </a:solidFill>
                <a:effectLst/>
              </a:rPr>
            </a:br>
            <a:r>
              <a:rPr lang="pt-BR" sz="2200" b="0" i="0" u="none" dirty="0">
                <a:solidFill>
                  <a:srgbClr val="000000"/>
                </a:solidFill>
                <a:effectLst/>
              </a:rPr>
              <a:t>de busca coberto será pequeno. Já uma população</a:t>
            </a:r>
            <a:br>
              <a:rPr lang="pt-BR" sz="2200" b="0" i="0" u="none" dirty="0">
                <a:solidFill>
                  <a:srgbClr val="000000"/>
                </a:solidFill>
                <a:effectLst/>
              </a:rPr>
            </a:br>
            <a:r>
              <a:rPr lang="pt-BR" sz="2200" b="0" i="0" u="none" dirty="0">
                <a:solidFill>
                  <a:srgbClr val="000000"/>
                </a:solidFill>
                <a:effectLst/>
              </a:rPr>
              <a:t>grande oferece uma cobertura representativa do domínio</a:t>
            </a:r>
            <a:br>
              <a:rPr lang="pt-BR" sz="2200" b="0" i="0" u="none" dirty="0">
                <a:solidFill>
                  <a:srgbClr val="000000"/>
                </a:solidFill>
                <a:effectLst/>
              </a:rPr>
            </a:br>
            <a:r>
              <a:rPr lang="pt-BR" sz="2200" b="0" i="0" u="none" dirty="0">
                <a:solidFill>
                  <a:srgbClr val="000000"/>
                </a:solidFill>
                <a:effectLst/>
              </a:rPr>
              <a:t>do problema e ainda evita o problema de uma</a:t>
            </a:r>
            <a:br>
              <a:rPr lang="pt-BR" sz="2200" b="0" i="0" u="none" dirty="0">
                <a:solidFill>
                  <a:srgbClr val="000000"/>
                </a:solidFill>
                <a:effectLst/>
              </a:rPr>
            </a:br>
            <a:r>
              <a:rPr lang="pt-BR" sz="2200" b="0" i="0" u="none" dirty="0">
                <a:solidFill>
                  <a:srgbClr val="000000"/>
                </a:solidFill>
                <a:effectLst/>
              </a:rPr>
              <a:t>convergência prematura para soluções locais. Porém,</a:t>
            </a:r>
            <a:br>
              <a:rPr lang="pt-BR" sz="2200" b="0" i="0" u="none" dirty="0">
                <a:solidFill>
                  <a:srgbClr val="000000"/>
                </a:solidFill>
                <a:effectLst/>
              </a:rPr>
            </a:br>
            <a:r>
              <a:rPr lang="pt-BR" sz="2200" b="0" i="0" u="none" dirty="0">
                <a:solidFill>
                  <a:srgbClr val="000000"/>
                </a:solidFill>
                <a:effectLst/>
              </a:rPr>
              <a:t>trabalhar com uma população de tamanho considerável</a:t>
            </a:r>
            <a:br>
              <a:rPr lang="pt-BR" sz="2200" b="0" i="0" u="none" dirty="0">
                <a:solidFill>
                  <a:srgbClr val="000000"/>
                </a:solidFill>
                <a:effectLst/>
              </a:rPr>
            </a:br>
            <a:r>
              <a:rPr lang="pt-BR" sz="2200" b="0" i="0" u="none" dirty="0">
                <a:solidFill>
                  <a:srgbClr val="000000"/>
                </a:solidFill>
                <a:effectLst/>
              </a:rPr>
              <a:t>acarreta em uma necessidade maior de recursos</a:t>
            </a:r>
            <a:br>
              <a:rPr lang="pt-BR" sz="2200" b="0" i="0" u="none" dirty="0">
                <a:solidFill>
                  <a:srgbClr val="000000"/>
                </a:solidFill>
                <a:effectLst/>
              </a:rPr>
            </a:br>
            <a:r>
              <a:rPr lang="pt-BR" sz="2200" b="0" i="0" u="none" dirty="0">
                <a:solidFill>
                  <a:srgbClr val="000000"/>
                </a:solidFill>
                <a:effectLst/>
              </a:rPr>
              <a:t>computacionais e também de um consumo de tempo</a:t>
            </a:r>
            <a:br>
              <a:rPr lang="pt-BR" sz="2200" b="0" i="0" u="none" dirty="0">
                <a:solidFill>
                  <a:srgbClr val="000000"/>
                </a:solidFill>
                <a:effectLst/>
              </a:rPr>
            </a:br>
            <a:r>
              <a:rPr lang="pt-BR" sz="2200" b="0" i="0" u="none" dirty="0">
                <a:solidFill>
                  <a:srgbClr val="000000"/>
                </a:solidFill>
                <a:effectLst/>
              </a:rPr>
              <a:t>maior.</a:t>
            </a:r>
            <a:r>
              <a:rPr lang="pt-BR" sz="2200" u="none" dirty="0"/>
              <a:t> </a:t>
            </a:r>
          </a:p>
        </p:txBody>
      </p:sp>
    </p:spTree>
    <p:extLst>
      <p:ext uri="{BB962C8B-B14F-4D97-AF65-F5344CB8AC3E}">
        <p14:creationId xmlns:p14="http://schemas.microsoft.com/office/powerpoint/2010/main" val="3637338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8D839-60B2-4F69-B9D8-62A827B17A75}"/>
              </a:ext>
            </a:extLst>
          </p:cNvPr>
          <p:cNvSpPr>
            <a:spLocks noGrp="1"/>
          </p:cNvSpPr>
          <p:nvPr>
            <p:ph type="title"/>
          </p:nvPr>
        </p:nvSpPr>
        <p:spPr/>
        <p:txBody>
          <a:bodyPr/>
          <a:lstStyle/>
          <a:p>
            <a:r>
              <a:rPr lang="pt-BR" dirty="0"/>
              <a:t>Parâmetros Genéticos</a:t>
            </a:r>
          </a:p>
        </p:txBody>
      </p:sp>
      <p:sp>
        <p:nvSpPr>
          <p:cNvPr id="3" name="Espaço Reservado para Conteúdo 2">
            <a:extLst>
              <a:ext uri="{FF2B5EF4-FFF2-40B4-BE49-F238E27FC236}">
                <a16:creationId xmlns:a16="http://schemas.microsoft.com/office/drawing/2014/main" id="{8CC967D7-27E0-4CAE-A8D1-FC3CAF6F27AC}"/>
              </a:ext>
            </a:extLst>
          </p:cNvPr>
          <p:cNvSpPr>
            <a:spLocks noGrp="1"/>
          </p:cNvSpPr>
          <p:nvPr>
            <p:ph idx="1"/>
          </p:nvPr>
        </p:nvSpPr>
        <p:spPr/>
        <p:txBody>
          <a:bodyPr>
            <a:noAutofit/>
          </a:bodyPr>
          <a:lstStyle/>
          <a:p>
            <a:pPr algn="just"/>
            <a:r>
              <a:rPr lang="pt-BR" sz="2400" b="1" i="0" dirty="0">
                <a:solidFill>
                  <a:srgbClr val="000000"/>
                </a:solidFill>
                <a:effectLst/>
              </a:rPr>
              <a:t>Taxa de Cruzamento</a:t>
            </a:r>
            <a:r>
              <a:rPr lang="pt-BR" sz="2400" i="0" u="none" dirty="0">
                <a:solidFill>
                  <a:srgbClr val="000000"/>
                </a:solidFill>
                <a:effectLst/>
              </a:rPr>
              <a:t>: A rapidez com que novas estruturas são introduzidas na população depende da taxa de cruzamento. Quanto maior for esta taxa, mais rapidamente novas estruturas serão introduzidas.</a:t>
            </a:r>
          </a:p>
          <a:p>
            <a:pPr algn="just"/>
            <a:endParaRPr lang="pt-BR" sz="2400" i="0" u="none" dirty="0">
              <a:solidFill>
                <a:srgbClr val="000000"/>
              </a:solidFill>
              <a:effectLst/>
            </a:endParaRPr>
          </a:p>
          <a:p>
            <a:pPr algn="just"/>
            <a:r>
              <a:rPr lang="pt-BR" sz="2400" i="0" u="none" dirty="0">
                <a:solidFill>
                  <a:srgbClr val="000000"/>
                </a:solidFill>
                <a:effectLst/>
              </a:rPr>
              <a:t>Porém, se esta for muito alta, a maior parte da população será substituída, e pode ocorrer perda de estruturas de alta aptidão. Com um valor baixo, o algoritmo pode tornar-se muito lento, demorando para convergir.</a:t>
            </a:r>
          </a:p>
        </p:txBody>
      </p:sp>
    </p:spTree>
    <p:extLst>
      <p:ext uri="{BB962C8B-B14F-4D97-AF65-F5344CB8AC3E}">
        <p14:creationId xmlns:p14="http://schemas.microsoft.com/office/powerpoint/2010/main" val="41330338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8D839-60B2-4F69-B9D8-62A827B17A75}"/>
              </a:ext>
            </a:extLst>
          </p:cNvPr>
          <p:cNvSpPr>
            <a:spLocks noGrp="1"/>
          </p:cNvSpPr>
          <p:nvPr>
            <p:ph type="title"/>
          </p:nvPr>
        </p:nvSpPr>
        <p:spPr/>
        <p:txBody>
          <a:bodyPr/>
          <a:lstStyle/>
          <a:p>
            <a:r>
              <a:rPr lang="pt-BR" dirty="0"/>
              <a:t>Parâmetros Genéticos</a:t>
            </a:r>
          </a:p>
        </p:txBody>
      </p:sp>
      <p:sp>
        <p:nvSpPr>
          <p:cNvPr id="3" name="Espaço Reservado para Conteúdo 2">
            <a:extLst>
              <a:ext uri="{FF2B5EF4-FFF2-40B4-BE49-F238E27FC236}">
                <a16:creationId xmlns:a16="http://schemas.microsoft.com/office/drawing/2014/main" id="{8CC967D7-27E0-4CAE-A8D1-FC3CAF6F27AC}"/>
              </a:ext>
            </a:extLst>
          </p:cNvPr>
          <p:cNvSpPr>
            <a:spLocks noGrp="1"/>
          </p:cNvSpPr>
          <p:nvPr>
            <p:ph idx="1"/>
          </p:nvPr>
        </p:nvSpPr>
        <p:spPr/>
        <p:txBody>
          <a:bodyPr>
            <a:noAutofit/>
          </a:bodyPr>
          <a:lstStyle/>
          <a:p>
            <a:pPr algn="just"/>
            <a:r>
              <a:rPr lang="pt-BR" sz="2600" b="1" i="0" dirty="0">
                <a:solidFill>
                  <a:srgbClr val="000000"/>
                </a:solidFill>
                <a:effectLst/>
              </a:rPr>
              <a:t>Taxa de Mutação</a:t>
            </a:r>
            <a:r>
              <a:rPr lang="pt-BR" sz="2600" i="0" u="none" dirty="0">
                <a:solidFill>
                  <a:srgbClr val="000000"/>
                </a:solidFill>
                <a:effectLst/>
              </a:rPr>
              <a:t>: é responsável por determinar a probabilidade em que uma mutação ocorrerá. Uma baixa taxa de mutação evita que uma dada posição entre em estagnação, possuindo sempre o mesmo valor. </a:t>
            </a:r>
          </a:p>
          <a:p>
            <a:pPr algn="just"/>
            <a:endParaRPr lang="pt-BR" sz="2600" i="0" u="none" dirty="0">
              <a:solidFill>
                <a:srgbClr val="000000"/>
              </a:solidFill>
              <a:effectLst/>
            </a:endParaRPr>
          </a:p>
          <a:p>
            <a:pPr algn="just"/>
            <a:r>
              <a:rPr lang="pt-BR" sz="2600" i="0" u="none" dirty="0">
                <a:solidFill>
                  <a:srgbClr val="000000"/>
                </a:solidFill>
                <a:effectLst/>
              </a:rPr>
              <a:t>Com uma taxa muito alta a busca tende a se tornar estritamente aleatória, além de aumentar muito a chance de que uma boa solução do problema seja destruída. A melhor taxa de mutação varia de acordo com o problema em questão, mas acredita-se que para a maioria dos casos.</a:t>
            </a:r>
          </a:p>
        </p:txBody>
      </p:sp>
    </p:spTree>
    <p:extLst>
      <p:ext uri="{BB962C8B-B14F-4D97-AF65-F5344CB8AC3E}">
        <p14:creationId xmlns:p14="http://schemas.microsoft.com/office/powerpoint/2010/main" val="1758965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8D839-60B2-4F69-B9D8-62A827B17A75}"/>
              </a:ext>
            </a:extLst>
          </p:cNvPr>
          <p:cNvSpPr>
            <a:spLocks noGrp="1"/>
          </p:cNvSpPr>
          <p:nvPr>
            <p:ph type="title"/>
          </p:nvPr>
        </p:nvSpPr>
        <p:spPr/>
        <p:txBody>
          <a:bodyPr/>
          <a:lstStyle/>
          <a:p>
            <a:r>
              <a:rPr lang="pt-BR" dirty="0"/>
              <a:t>Critérios de Parada</a:t>
            </a:r>
          </a:p>
        </p:txBody>
      </p:sp>
      <p:sp>
        <p:nvSpPr>
          <p:cNvPr id="3" name="Espaço Reservado para Conteúdo 2">
            <a:extLst>
              <a:ext uri="{FF2B5EF4-FFF2-40B4-BE49-F238E27FC236}">
                <a16:creationId xmlns:a16="http://schemas.microsoft.com/office/drawing/2014/main" id="{8CC967D7-27E0-4CAE-A8D1-FC3CAF6F27AC}"/>
              </a:ext>
            </a:extLst>
          </p:cNvPr>
          <p:cNvSpPr>
            <a:spLocks noGrp="1"/>
          </p:cNvSpPr>
          <p:nvPr>
            <p:ph idx="1"/>
          </p:nvPr>
        </p:nvSpPr>
        <p:spPr/>
        <p:txBody>
          <a:bodyPr>
            <a:noAutofit/>
          </a:bodyPr>
          <a:lstStyle/>
          <a:p>
            <a:pPr algn="just"/>
            <a:r>
              <a:rPr lang="pt-BR" sz="2600" i="0" u="none" dirty="0">
                <a:solidFill>
                  <a:srgbClr val="000000"/>
                </a:solidFill>
                <a:effectLst/>
              </a:rPr>
              <a:t>• Número máximo de gerações</a:t>
            </a:r>
          </a:p>
          <a:p>
            <a:pPr algn="just"/>
            <a:endParaRPr lang="pt-BR" sz="2600" i="0" u="none" dirty="0">
              <a:solidFill>
                <a:srgbClr val="000000"/>
              </a:solidFill>
              <a:effectLst/>
            </a:endParaRPr>
          </a:p>
          <a:p>
            <a:pPr algn="just"/>
            <a:r>
              <a:rPr lang="pt-BR" sz="2600" i="0" u="none" dirty="0">
                <a:solidFill>
                  <a:srgbClr val="000000"/>
                </a:solidFill>
                <a:effectLst/>
              </a:rPr>
              <a:t>• Função objetivo já ter alcançado o valor ótimo (só é possível se tal valor for conhecido)</a:t>
            </a:r>
          </a:p>
          <a:p>
            <a:pPr algn="just"/>
            <a:endParaRPr lang="pt-BR" sz="2600" i="0" u="none" dirty="0">
              <a:solidFill>
                <a:srgbClr val="000000"/>
              </a:solidFill>
              <a:effectLst/>
            </a:endParaRPr>
          </a:p>
          <a:p>
            <a:pPr algn="just"/>
            <a:r>
              <a:rPr lang="pt-BR" sz="2600" i="0" u="none" dirty="0">
                <a:solidFill>
                  <a:srgbClr val="000000"/>
                </a:solidFill>
                <a:effectLst/>
              </a:rPr>
              <a:t>• Convergência na função objetivo: depois de várias gerações os valores da função objetivo não mudam mais.</a:t>
            </a:r>
          </a:p>
          <a:p>
            <a:pPr algn="just"/>
            <a:r>
              <a:rPr lang="pt-BR" sz="2600" u="none" dirty="0">
                <a:solidFill>
                  <a:srgbClr val="000000"/>
                </a:solidFill>
              </a:rPr>
              <a:t>	</a:t>
            </a:r>
            <a:r>
              <a:rPr lang="pt-BR" sz="2400" i="0" u="none" dirty="0">
                <a:solidFill>
                  <a:srgbClr val="000000"/>
                </a:solidFill>
                <a:effectLst/>
              </a:rPr>
              <a:t>• Pode ter chego à melhor solução ou a um máximo local</a:t>
            </a:r>
          </a:p>
        </p:txBody>
      </p:sp>
    </p:spTree>
    <p:extLst>
      <p:ext uri="{BB962C8B-B14F-4D97-AF65-F5344CB8AC3E}">
        <p14:creationId xmlns:p14="http://schemas.microsoft.com/office/powerpoint/2010/main" val="33228394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24855-6DDB-4F9D-A8A0-921A79121115}"/>
              </a:ext>
            </a:extLst>
          </p:cNvPr>
          <p:cNvSpPr>
            <a:spLocks noGrp="1"/>
          </p:cNvSpPr>
          <p:nvPr>
            <p:ph type="title"/>
          </p:nvPr>
        </p:nvSpPr>
        <p:spPr/>
        <p:txBody>
          <a:bodyPr/>
          <a:lstStyle/>
          <a:p>
            <a:r>
              <a:rPr lang="pt-BR" dirty="0"/>
              <a:t>Bibliografia</a:t>
            </a:r>
          </a:p>
        </p:txBody>
      </p:sp>
      <p:sp>
        <p:nvSpPr>
          <p:cNvPr id="3" name="Espaço Reservado para Conteúdo 2">
            <a:extLst>
              <a:ext uri="{FF2B5EF4-FFF2-40B4-BE49-F238E27FC236}">
                <a16:creationId xmlns:a16="http://schemas.microsoft.com/office/drawing/2014/main" id="{1F88C19F-F650-45C9-BD74-76A9FBE6EF7D}"/>
              </a:ext>
            </a:extLst>
          </p:cNvPr>
          <p:cNvSpPr>
            <a:spLocks noGrp="1"/>
          </p:cNvSpPr>
          <p:nvPr>
            <p:ph idx="1"/>
          </p:nvPr>
        </p:nvSpPr>
        <p:spPr/>
        <p:txBody>
          <a:bodyPr>
            <a:normAutofit fontScale="77500" lnSpcReduction="20000"/>
          </a:bodyPr>
          <a:lstStyle/>
          <a:p>
            <a:pPr algn="just"/>
            <a:r>
              <a:rPr lang="pt-BR" sz="2000" u="none" dirty="0"/>
              <a:t>CK-12 FOUNDATION. </a:t>
            </a:r>
            <a:r>
              <a:rPr lang="pt-BR" sz="2000" u="none" dirty="0" err="1"/>
              <a:t>Theory</a:t>
            </a:r>
            <a:r>
              <a:rPr lang="pt-BR" sz="2000" u="none" dirty="0"/>
              <a:t> </a:t>
            </a:r>
            <a:r>
              <a:rPr lang="pt-BR" sz="2000" u="none" dirty="0" err="1"/>
              <a:t>of</a:t>
            </a:r>
            <a:r>
              <a:rPr lang="pt-BR" sz="2000" u="none" dirty="0"/>
              <a:t> Evolution. Disponível em </a:t>
            </a:r>
            <a:r>
              <a:rPr lang="pt-BR" sz="1800" b="0" i="0" dirty="0">
                <a:solidFill>
                  <a:srgbClr val="0563C1"/>
                </a:solidFill>
                <a:effectLst/>
                <a:latin typeface="Calibri" panose="020F0502020204030204" pitchFamily="34" charset="0"/>
              </a:rPr>
              <a:t>https://tinyurl.com/4yt9bask</a:t>
            </a:r>
            <a:r>
              <a:rPr lang="pt-BR" sz="1400" dirty="0"/>
              <a:t> </a:t>
            </a:r>
            <a:r>
              <a:rPr lang="pt-BR" sz="2000" u="none" dirty="0"/>
              <a:t>. Acesso em 15/09/2022.</a:t>
            </a:r>
          </a:p>
          <a:p>
            <a:pPr algn="just"/>
            <a:endParaRPr lang="pt-BR" sz="2000" u="none" dirty="0"/>
          </a:p>
          <a:p>
            <a:pPr algn="just"/>
            <a:r>
              <a:rPr lang="pt-BR" sz="2000" u="none" dirty="0"/>
              <a:t>KHAN ACADEMY. Espécies &amp; especiação. Disponível em </a:t>
            </a:r>
            <a:r>
              <a:rPr lang="pt-BR" sz="2000" u="none" dirty="0">
                <a:hlinkClick r:id="rId2"/>
              </a:rPr>
              <a:t>https://pt.khanacademy.org/science/biology/her/tree-of-life/a/species-speciation</a:t>
            </a:r>
            <a:r>
              <a:rPr lang="pt-BR" sz="2000" u="none" dirty="0"/>
              <a:t> .  Acesso em 05/05/2022.</a:t>
            </a:r>
          </a:p>
          <a:p>
            <a:pPr algn="just"/>
            <a:endParaRPr lang="pt-BR" sz="2000" u="none" dirty="0"/>
          </a:p>
          <a:p>
            <a:pPr algn="just"/>
            <a:r>
              <a:rPr lang="pt-BR" sz="2000" u="none" dirty="0"/>
              <a:t>NUNES, Teresa. Como se formam novas espécies? Disponível em </a:t>
            </a:r>
            <a:r>
              <a:rPr lang="pt-BR" sz="2000" u="none" dirty="0">
                <a:hlinkClick r:id="rId3"/>
              </a:rPr>
              <a:t>https://pontobiologia.com.br/como-se-formam-novas-especies/</a:t>
            </a:r>
            <a:r>
              <a:rPr lang="pt-BR" sz="2000" u="none" dirty="0"/>
              <a:t> Acesso em 05/05/2022.</a:t>
            </a:r>
          </a:p>
          <a:p>
            <a:pPr algn="just"/>
            <a:endParaRPr lang="pt-BR" sz="2000" u="none" dirty="0"/>
          </a:p>
          <a:p>
            <a:pPr algn="just"/>
            <a:r>
              <a:rPr lang="pt-BR" sz="2000" u="none" dirty="0"/>
              <a:t>SARAMAGO, Simone; STEFFEN JR, </a:t>
            </a:r>
            <a:r>
              <a:rPr lang="pt-BR" sz="2000" u="none" dirty="0" err="1"/>
              <a:t>Valder</a:t>
            </a:r>
            <a:r>
              <a:rPr lang="pt-BR" sz="2000" u="none" dirty="0"/>
              <a:t>; &amp; SILVA, Jefferson; Saramago, </a:t>
            </a:r>
            <a:r>
              <a:rPr lang="pt-BR" sz="2000" u="none" dirty="0" err="1"/>
              <a:t>Sezimaria</a:t>
            </a:r>
            <a:r>
              <a:rPr lang="pt-BR" sz="2000" u="none" dirty="0"/>
              <a:t>, F. P. (2008). Planejamento de experimentos e otimização de sistemas mistos. FAMAT em Revista, 11, p.231-246.</a:t>
            </a:r>
          </a:p>
          <a:p>
            <a:pPr algn="just"/>
            <a:endParaRPr lang="pt-BR" sz="2000" u="none" dirty="0"/>
          </a:p>
          <a:p>
            <a:pPr algn="just"/>
            <a:r>
              <a:rPr lang="pt-BR" sz="2000" u="none" dirty="0"/>
              <a:t>SCHNEIDER, A. M. Algoritmo Adaptativo Genético para Acompanhamento da Trajetória de Alvos Móveis. - Dissertação de Mestrado - Porto Alegre: Instituto de Informática - Universidade Federal do Rio Grande do Sul, 1998.</a:t>
            </a:r>
          </a:p>
          <a:p>
            <a:pPr algn="just"/>
            <a:endParaRPr lang="pt-BR" sz="2000" u="none" dirty="0"/>
          </a:p>
        </p:txBody>
      </p:sp>
    </p:spTree>
    <p:extLst>
      <p:ext uri="{BB962C8B-B14F-4D97-AF65-F5344CB8AC3E}">
        <p14:creationId xmlns:p14="http://schemas.microsoft.com/office/powerpoint/2010/main" val="2453143713"/>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8D299CD1DAE4D9305D8EAE7F0A000" ma:contentTypeVersion="3" ma:contentTypeDescription="Crie um novo documento." ma:contentTypeScope="" ma:versionID="0d447589f79d1efb351422d2b65b39e9">
  <xsd:schema xmlns:xsd="http://www.w3.org/2001/XMLSchema" xmlns:xs="http://www.w3.org/2001/XMLSchema" xmlns:p="http://schemas.microsoft.com/office/2006/metadata/properties" xmlns:ns2="4c79e324-12e2-4fd5-8ce7-78a0fe476cfa" targetNamespace="http://schemas.microsoft.com/office/2006/metadata/properties" ma:root="true" ma:fieldsID="add556f28c95cf5ad6719a1c46c4ad42" ns2:_="">
    <xsd:import namespace="4c79e324-12e2-4fd5-8ce7-78a0fe476cf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79e324-12e2-4fd5-8ce7-78a0fe476c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6D9AE75-7C8B-481A-BBE4-B0E52D5FFBE7}"/>
</file>

<file path=customXml/itemProps2.xml><?xml version="1.0" encoding="utf-8"?>
<ds:datastoreItem xmlns:ds="http://schemas.openxmlformats.org/officeDocument/2006/customXml" ds:itemID="{29CE8B23-9879-415F-9A88-598F0E0C688B}"/>
</file>

<file path=customXml/itemProps3.xml><?xml version="1.0" encoding="utf-8"?>
<ds:datastoreItem xmlns:ds="http://schemas.openxmlformats.org/officeDocument/2006/customXml" ds:itemID="{5A619E68-02FF-47DA-9E2D-2F4FD2F51451}"/>
</file>

<file path=docProps/app.xml><?xml version="1.0" encoding="utf-8"?>
<Properties xmlns="http://schemas.openxmlformats.org/officeDocument/2006/extended-properties" xmlns:vt="http://schemas.openxmlformats.org/officeDocument/2006/docPropsVTypes">
  <Template>Office Theme</Template>
  <TotalTime>3299</TotalTime>
  <Words>3877</Words>
  <Application>Microsoft Office PowerPoint</Application>
  <PresentationFormat>Apresentação na tela (4:3)</PresentationFormat>
  <Paragraphs>345</Paragraphs>
  <Slides>70</Slides>
  <Notes>7</Notes>
  <HiddenSlides>0</HiddenSlides>
  <MMClips>1</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70</vt:i4>
      </vt:variant>
    </vt:vector>
  </HeadingPairs>
  <TitlesOfParts>
    <vt:vector size="76" baseType="lpstr">
      <vt:lpstr>Arial</vt:lpstr>
      <vt:lpstr>Calibri</vt:lpstr>
      <vt:lpstr>Calibri Light</vt:lpstr>
      <vt:lpstr>Cambria Math</vt:lpstr>
      <vt:lpstr>Wingdings</vt:lpstr>
      <vt:lpstr>Tema do Office</vt:lpstr>
      <vt:lpstr>Apresentação do PowerPoint</vt:lpstr>
      <vt:lpstr>Introdução</vt:lpstr>
      <vt:lpstr>Introdução</vt:lpstr>
      <vt:lpstr>Introdução</vt:lpstr>
      <vt:lpstr>Introdução</vt:lpstr>
      <vt:lpstr>Introdução</vt:lpstr>
      <vt:lpstr>Introdução</vt:lpstr>
      <vt:lpstr>Introdução</vt:lpstr>
      <vt:lpstr>Introdução</vt:lpstr>
      <vt:lpstr>Introdução</vt:lpstr>
      <vt:lpstr>Introdução</vt:lpstr>
      <vt:lpstr>Introdução</vt:lpstr>
      <vt:lpstr>Introdução</vt:lpstr>
      <vt:lpstr>Introdução</vt:lpstr>
      <vt:lpstr>Introdução</vt:lpstr>
      <vt:lpstr>Introdução</vt:lpstr>
      <vt:lpstr>Introdução</vt:lpstr>
      <vt:lpstr>Introdução</vt:lpstr>
      <vt:lpstr>Introdução</vt:lpstr>
      <vt:lpstr>Quando usar um AG?</vt:lpstr>
      <vt:lpstr>Quando usar um AG?</vt:lpstr>
      <vt:lpstr>Terminologia</vt:lpstr>
      <vt:lpstr>Terminologia</vt:lpstr>
      <vt:lpstr>Terminologia</vt:lpstr>
      <vt:lpstr>Terminologia</vt:lpstr>
      <vt:lpstr>Terminologia</vt:lpstr>
      <vt:lpstr>Terminologia</vt:lpstr>
      <vt:lpstr>Terminologia</vt:lpstr>
      <vt:lpstr>Terminologia</vt:lpstr>
      <vt:lpstr>Terminologia</vt:lpstr>
      <vt:lpstr>Terminologia</vt:lpstr>
      <vt:lpstr>Terminologia</vt:lpstr>
      <vt:lpstr>Terminologia</vt:lpstr>
      <vt:lpstr>Representação</vt:lpstr>
      <vt:lpstr>Apresentação do PowerPoint</vt:lpstr>
      <vt:lpstr>AG Básico</vt:lpstr>
      <vt:lpstr>AG Básico</vt:lpstr>
      <vt:lpstr>Inicialização</vt:lpstr>
      <vt:lpstr>Inicialização</vt:lpstr>
      <vt:lpstr>Cálculo da Aptidão (Fitness)</vt:lpstr>
      <vt:lpstr>Cálculo da Aptidão (Fitness)</vt:lpstr>
      <vt:lpstr>Seleção</vt:lpstr>
      <vt:lpstr>Seleção</vt:lpstr>
      <vt:lpstr>Seleção</vt:lpstr>
      <vt:lpstr>Seleção</vt:lpstr>
      <vt:lpstr>Seleção</vt:lpstr>
      <vt:lpstr>Seleção</vt:lpstr>
      <vt:lpstr>Seleção</vt:lpstr>
      <vt:lpstr>Seleção</vt:lpstr>
      <vt:lpstr>Seleção</vt:lpstr>
      <vt:lpstr>Seleção</vt:lpstr>
      <vt:lpstr>Cruzamento</vt:lpstr>
      <vt:lpstr>Cruzamento</vt:lpstr>
      <vt:lpstr>Cruzamento</vt:lpstr>
      <vt:lpstr>Cruzamento</vt:lpstr>
      <vt:lpstr>Cruzamento</vt:lpstr>
      <vt:lpstr>Cruzamento</vt:lpstr>
      <vt:lpstr>Cruzamento</vt:lpstr>
      <vt:lpstr>Cruzamento</vt:lpstr>
      <vt:lpstr>Mutação</vt:lpstr>
      <vt:lpstr>Mutação</vt:lpstr>
      <vt:lpstr>Mutação</vt:lpstr>
      <vt:lpstr>Mutação</vt:lpstr>
      <vt:lpstr>Mutação</vt:lpstr>
      <vt:lpstr>Elitismo</vt:lpstr>
      <vt:lpstr>Parâmetros Genéticos</vt:lpstr>
      <vt:lpstr>Parâmetros Genéticos</vt:lpstr>
      <vt:lpstr>Parâmetros Genéticos</vt:lpstr>
      <vt:lpstr>Critérios de Parada</vt:lpstr>
      <vt:lpstr>Bibliografia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Abrun</dc:creator>
  <cp:lastModifiedBy>matheus raffael simon</cp:lastModifiedBy>
  <cp:revision>390</cp:revision>
  <dcterms:created xsi:type="dcterms:W3CDTF">2018-02-28T17:45:29Z</dcterms:created>
  <dcterms:modified xsi:type="dcterms:W3CDTF">2026-08-11T01:22:35Z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0x010100EEB8D299CD1DAE4D9305D8EAE7F0A000</vt:lpwstr>
  </property>
</Properties>
</file>